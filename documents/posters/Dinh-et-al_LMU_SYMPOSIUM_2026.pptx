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9" r:id="rId2"/>
  </p:sldIdLst>
  <p:sldSz cx="43891200" cy="32918400"/>
  <p:notesSz cx="7010400" cy="92964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501-4BB1-3555-C1AF-A3C31A0E7D23}" name="Dionisio, John David" initials="DJ" userId="S::johndavid.dionisio@lmu.edu::e3b1f1c0-3270-469a-82f5-d004832549cb" providerId="AD"/>
  <p188:author id="{6F227806-E95D-5485-E6B9-405FA85D3409}" name="Phelps, A'Kaia" initials="PA" userId="S::aphelps5@lion.lmu.edu::f2693090-8fba-49bf-9ef1-ed0d66f44d6e" providerId="AD"/>
  <p188:author id="{FE991029-72C8-7399-63DD-8B75DA6EDB8B}" name="Dahlquist, Kam" initials="KD" userId="S::Kam.Dahlquist@lmu.edu::40b18385-251d-4a80-b9c3-d2dafbeb4f50" providerId="AD"/>
  <p188:author id="{056EB339-A00B-16F7-7973-D7EC51194E92}" name="Zekarias, Milka" initials="ZM" userId="S::mzekaria@lion.lmu.edu::450d914f-7c24-4505-a2c7-a9ef6dfa0a42" providerId="AD"/>
  <p188:author id="{BAC06F59-438C-6D96-1AC3-A20BD7A03934}" name="Dinh, Amelie" initials="DA" userId="S::adinh2@lion.lmu.edu::baf4b9a4-b367-4299-98d8-5f10e43cf7dc" providerId="AD"/>
  <p188:author id="{45D20B7D-4004-C4B1-FB1E-27168D811655}" name="Tran, Ngoc Kim Ngan" initials="NT" userId="S::ntran18@lion.lmu.edu::f1a20c60-f6cc-4486-9ea1-ef2fe2f42ea5" providerId="AD"/>
  <p188:author id="{81AFC9C0-94CF-1F08-B603-C41C896D1D0E}" name="Zaragoza, Cecilia" initials="ZC" userId="S::czarago3@lion.lmu.edu::ba79d74b-ac7e-4e1f-8231-f254b0908332" providerId="AD"/>
  <p188:author id="{F30846FF-0436-857E-6A61-7F15FB93B6D2}" name="Dahlquist, Kam" initials="DK" userId="S::kam.dahlquist@lmu.edu::40b18385-251d-4a80-b9c3-d2dafbeb4f5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93F"/>
    <a:srgbClr val="C33B3B"/>
    <a:srgbClr val="E1E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D276F1-084F-7379-AAF3-D49294AD24A1}" v="171" dt="2026-03-18T16:04:46.417"/>
    <p1510:client id="{68E8292D-3ED6-7643-BB0C-F74B2DFB376C}" v="23" dt="2026-03-17T18:51:05.315"/>
    <p1510:client id="{CC0B8055-AE58-C0B6-9328-D98608881209}" v="65" dt="2026-03-17T00:00:14.069"/>
  </p1510:revLst>
</p1510:revInfo>
</file>

<file path=ppt/tableStyles.xml><?xml version="1.0" encoding="utf-8"?>
<a:tblStyleLst xmlns:a="http://schemas.openxmlformats.org/drawingml/2006/main" def="{B6AFFA0F-1E04-4A8A-9273-D587D5D4E392}">
  <a:tblStyle styleId="{B6AFFA0F-1E04-4A8A-9273-D587D5D4E392}" styleName="Table_0">
    <a:wholeTbl>
      <a:tcTxStyle b="off" i="off">
        <a:font>
          <a:latin typeface="Calibri"/>
          <a:ea typeface="Calibri"/>
          <a:cs typeface="Calibri"/>
        </a:font>
        <a:schemeClr val="dk1"/>
      </a:tcTxStyle>
      <a:tcStyle>
        <a:tcBdr>
          <a:left>
            <a:ln w="9525" cap="flat">
              <a:solidFill>
                <a:srgbClr val="000000">
                  <a:alpha val="0"/>
                </a:srgbClr>
              </a:solidFill>
              <a:prstDash val="solid"/>
              <a:round/>
              <a:headEnd type="none" w="med" len="med"/>
              <a:tailEnd type="none" w="med" len="med"/>
            </a:ln>
          </a:left>
          <a:right>
            <a:ln w="9525" cap="flat">
              <a:solidFill>
                <a:srgbClr val="000000">
                  <a:alpha val="0"/>
                </a:srgbClr>
              </a:solidFill>
              <a:prstDash val="solid"/>
              <a:round/>
              <a:headEnd type="none" w="med" len="med"/>
              <a:tailEnd type="none" w="med" len="med"/>
            </a:ln>
          </a:right>
          <a:top>
            <a:ln w="9525" cap="flat">
              <a:solidFill>
                <a:srgbClr val="000000">
                  <a:alpha val="0"/>
                </a:srgbClr>
              </a:solidFill>
              <a:prstDash val="solid"/>
              <a:round/>
              <a:headEnd type="none" w="med" len="med"/>
              <a:tailEnd type="none" w="med" len="med"/>
            </a:ln>
          </a:top>
          <a:bottom>
            <a:ln w="9525" cap="flat">
              <a:solidFill>
                <a:srgbClr val="000000">
                  <a:alpha val="0"/>
                </a:srgbClr>
              </a:solidFill>
              <a:prstDash val="solid"/>
              <a:round/>
              <a:headEnd type="none" w="med" len="med"/>
              <a:tailEnd type="none" w="med" len="med"/>
            </a:ln>
          </a:bottom>
          <a:insideH>
            <a:ln w="9525" cap="flat">
              <a:solidFill>
                <a:srgbClr val="000000">
                  <a:alpha val="0"/>
                </a:srgbClr>
              </a:solidFill>
              <a:prstDash val="solid"/>
              <a:round/>
              <a:headEnd type="none" w="med" len="med"/>
              <a:tailEnd type="none" w="med" len="med"/>
            </a:ln>
          </a:insideH>
          <a:insideV>
            <a:ln w="9525" cap="flat">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 styleId="{9DAB2FBC-741B-4774-8CB7-E9F43E21F9E4}" styleName="Table_1">
    <a:wholeTbl>
      <a:tcTxStyle b="off" i="off">
        <a:font>
          <a:latin typeface="Calibri"/>
          <a:ea typeface="Calibri"/>
          <a:cs typeface="Calibri"/>
        </a:font>
        <a:schemeClr val="dk1"/>
      </a:tcTxStyle>
      <a:tcStyle>
        <a:tcBdr>
          <a:left>
            <a:ln w="9525" cap="flat">
              <a:solidFill>
                <a:srgbClr val="000000">
                  <a:alpha val="0"/>
                </a:srgbClr>
              </a:solidFill>
              <a:prstDash val="solid"/>
              <a:round/>
              <a:headEnd type="none" w="med" len="med"/>
              <a:tailEnd type="none" w="med" len="med"/>
            </a:ln>
          </a:left>
          <a:right>
            <a:ln w="9525" cap="flat">
              <a:solidFill>
                <a:srgbClr val="000000">
                  <a:alpha val="0"/>
                </a:srgbClr>
              </a:solidFill>
              <a:prstDash val="solid"/>
              <a:round/>
              <a:headEnd type="none" w="med" len="med"/>
              <a:tailEnd type="none" w="med" len="med"/>
            </a:ln>
          </a:right>
          <a:top>
            <a:ln w="9525" cap="flat">
              <a:solidFill>
                <a:srgbClr val="000000">
                  <a:alpha val="0"/>
                </a:srgbClr>
              </a:solidFill>
              <a:prstDash val="solid"/>
              <a:round/>
              <a:headEnd type="none" w="med" len="med"/>
              <a:tailEnd type="none" w="med" len="med"/>
            </a:ln>
          </a:top>
          <a:bottom>
            <a:ln w="9525" cap="flat">
              <a:solidFill>
                <a:srgbClr val="000000">
                  <a:alpha val="0"/>
                </a:srgbClr>
              </a:solidFill>
              <a:prstDash val="solid"/>
              <a:round/>
              <a:headEnd type="none" w="med" len="med"/>
              <a:tailEnd type="none" w="med" len="med"/>
            </a:ln>
          </a:bottom>
          <a:insideH>
            <a:ln w="9525" cap="flat">
              <a:solidFill>
                <a:srgbClr val="000000">
                  <a:alpha val="0"/>
                </a:srgbClr>
              </a:solidFill>
              <a:prstDash val="solid"/>
              <a:round/>
              <a:headEnd type="none" w="med" len="med"/>
              <a:tailEnd type="none" w="med" len="med"/>
            </a:ln>
          </a:insideH>
          <a:insideV>
            <a:ln w="9525" cap="flat">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2"/>
    <p:restoredTop sz="94715"/>
  </p:normalViewPr>
  <p:slideViewPr>
    <p:cSldViewPr snapToGrid="0">
      <p:cViewPr varScale="1">
        <p:scale>
          <a:sx n="15" d="100"/>
          <a:sy n="15" d="100"/>
        </p:scale>
        <p:origin x="1829" y="115"/>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2" y="0"/>
            <a:ext cx="3037839" cy="464820"/>
          </a:xfrm>
          <a:prstGeom prst="rect">
            <a:avLst/>
          </a:prstGeom>
          <a:noFill/>
          <a:ln>
            <a:noFill/>
          </a:ln>
        </p:spPr>
        <p:txBody>
          <a:bodyPr lIns="93148" tIns="93148" rIns="93148" bIns="93148" anchor="t" anchorCtr="0"/>
          <a:lstStyle>
            <a:lvl1pPr marL="0" marR="0" indent="0" algn="l" rtl="0">
              <a:lnSpc>
                <a:spcPct val="100000"/>
              </a:lnSpc>
              <a:spcBef>
                <a:spcPts val="0"/>
              </a:spcBef>
              <a:spcAft>
                <a:spcPts val="0"/>
              </a:spcAft>
              <a:buClr>
                <a:srgbClr val="000000"/>
              </a:buClr>
              <a:buFont typeface="Arial"/>
              <a:buNone/>
              <a:defRPr/>
            </a:lvl1pPr>
            <a:lvl2pPr marL="2448854" marR="0" indent="-3306" algn="l" rtl="0">
              <a:lnSpc>
                <a:spcPct val="100000"/>
              </a:lnSpc>
              <a:spcBef>
                <a:spcPts val="0"/>
              </a:spcBef>
              <a:spcAft>
                <a:spcPts val="0"/>
              </a:spcAft>
              <a:buClr>
                <a:srgbClr val="000000"/>
              </a:buClr>
              <a:buFont typeface="Arial"/>
              <a:buNone/>
              <a:defRPr/>
            </a:lvl2pPr>
            <a:lvl3pPr marL="4897709" marR="0" indent="-6613" algn="l" rtl="0">
              <a:lnSpc>
                <a:spcPct val="100000"/>
              </a:lnSpc>
              <a:spcBef>
                <a:spcPts val="0"/>
              </a:spcBef>
              <a:spcAft>
                <a:spcPts val="0"/>
              </a:spcAft>
              <a:buClr>
                <a:srgbClr val="000000"/>
              </a:buClr>
              <a:buFont typeface="Arial"/>
              <a:buNone/>
              <a:defRPr/>
            </a:lvl3pPr>
            <a:lvl4pPr marL="7346563" marR="0" indent="-9921" algn="l" rtl="0">
              <a:lnSpc>
                <a:spcPct val="100000"/>
              </a:lnSpc>
              <a:spcBef>
                <a:spcPts val="0"/>
              </a:spcBef>
              <a:spcAft>
                <a:spcPts val="0"/>
              </a:spcAft>
              <a:buClr>
                <a:srgbClr val="000000"/>
              </a:buClr>
              <a:buFont typeface="Arial"/>
              <a:buNone/>
              <a:defRPr/>
            </a:lvl4pPr>
            <a:lvl5pPr marL="9795418" marR="0" indent="-288" algn="l" rtl="0">
              <a:lnSpc>
                <a:spcPct val="100000"/>
              </a:lnSpc>
              <a:spcBef>
                <a:spcPts val="0"/>
              </a:spcBef>
              <a:spcAft>
                <a:spcPts val="0"/>
              </a:spcAft>
              <a:buClr>
                <a:srgbClr val="000000"/>
              </a:buClr>
              <a:buFont typeface="Arial"/>
              <a:buNone/>
              <a:defRPr/>
            </a:lvl5pPr>
            <a:lvl6pPr marL="12244273" marR="0" indent="-3596" algn="l" rtl="0">
              <a:lnSpc>
                <a:spcPct val="100000"/>
              </a:lnSpc>
              <a:spcBef>
                <a:spcPts val="0"/>
              </a:spcBef>
              <a:spcAft>
                <a:spcPts val="0"/>
              </a:spcAft>
              <a:buClr>
                <a:srgbClr val="000000"/>
              </a:buClr>
              <a:buFont typeface="Arial"/>
              <a:buNone/>
              <a:defRPr/>
            </a:lvl6pPr>
            <a:lvl7pPr marL="14693127" marR="0" indent="-6904" algn="l" rtl="0">
              <a:lnSpc>
                <a:spcPct val="100000"/>
              </a:lnSpc>
              <a:spcBef>
                <a:spcPts val="0"/>
              </a:spcBef>
              <a:spcAft>
                <a:spcPts val="0"/>
              </a:spcAft>
              <a:buClr>
                <a:srgbClr val="000000"/>
              </a:buClr>
              <a:buFont typeface="Arial"/>
              <a:buNone/>
              <a:defRPr/>
            </a:lvl7pPr>
            <a:lvl8pPr marL="17141984" marR="0" indent="-10213" algn="l" rtl="0">
              <a:lnSpc>
                <a:spcPct val="100000"/>
              </a:lnSpc>
              <a:spcBef>
                <a:spcPts val="0"/>
              </a:spcBef>
              <a:spcAft>
                <a:spcPts val="0"/>
              </a:spcAft>
              <a:buClr>
                <a:srgbClr val="000000"/>
              </a:buClr>
              <a:buFont typeface="Arial"/>
              <a:buNone/>
              <a:defRPr/>
            </a:lvl8pPr>
            <a:lvl9pPr marL="19590836" marR="0" indent="-578" algn="l" rtl="0">
              <a:lnSpc>
                <a:spcPct val="100000"/>
              </a:lnSpc>
              <a:spcBef>
                <a:spcPts val="0"/>
              </a:spcBef>
              <a:spcAft>
                <a:spcPts val="0"/>
              </a:spcAft>
              <a:buClr>
                <a:srgbClr val="000000"/>
              </a:buClr>
              <a:buFont typeface="Arial"/>
              <a:buNone/>
              <a:defRPr/>
            </a:lvl9pPr>
          </a:lstStyle>
          <a:p>
            <a:endParaRPr/>
          </a:p>
        </p:txBody>
      </p:sp>
      <p:sp>
        <p:nvSpPr>
          <p:cNvPr id="3" name="Shape 3"/>
          <p:cNvSpPr txBox="1">
            <a:spLocks noGrp="1"/>
          </p:cNvSpPr>
          <p:nvPr>
            <p:ph type="dt" idx="10"/>
          </p:nvPr>
        </p:nvSpPr>
        <p:spPr>
          <a:xfrm>
            <a:off x="3970938" y="0"/>
            <a:ext cx="3037839" cy="464820"/>
          </a:xfrm>
          <a:prstGeom prst="rect">
            <a:avLst/>
          </a:prstGeom>
          <a:noFill/>
          <a:ln>
            <a:noFill/>
          </a:ln>
        </p:spPr>
        <p:txBody>
          <a:bodyPr lIns="93148" tIns="93148" rIns="93148" bIns="93148" anchor="t" anchorCtr="0"/>
          <a:lstStyle>
            <a:lvl1pPr marL="0" marR="0" indent="0" algn="r" rtl="0">
              <a:lnSpc>
                <a:spcPct val="100000"/>
              </a:lnSpc>
              <a:spcBef>
                <a:spcPts val="0"/>
              </a:spcBef>
              <a:spcAft>
                <a:spcPts val="0"/>
              </a:spcAft>
              <a:buClr>
                <a:srgbClr val="000000"/>
              </a:buClr>
              <a:buFont typeface="Arial"/>
              <a:buNone/>
              <a:defRPr/>
            </a:lvl1pPr>
            <a:lvl2pPr marL="2448854" marR="0" indent="-3306" algn="l" rtl="0">
              <a:lnSpc>
                <a:spcPct val="100000"/>
              </a:lnSpc>
              <a:spcBef>
                <a:spcPts val="0"/>
              </a:spcBef>
              <a:spcAft>
                <a:spcPts val="0"/>
              </a:spcAft>
              <a:buClr>
                <a:srgbClr val="000000"/>
              </a:buClr>
              <a:buFont typeface="Arial"/>
              <a:buNone/>
              <a:defRPr/>
            </a:lvl2pPr>
            <a:lvl3pPr marL="4897709" marR="0" indent="-6613" algn="l" rtl="0">
              <a:lnSpc>
                <a:spcPct val="100000"/>
              </a:lnSpc>
              <a:spcBef>
                <a:spcPts val="0"/>
              </a:spcBef>
              <a:spcAft>
                <a:spcPts val="0"/>
              </a:spcAft>
              <a:buClr>
                <a:srgbClr val="000000"/>
              </a:buClr>
              <a:buFont typeface="Arial"/>
              <a:buNone/>
              <a:defRPr/>
            </a:lvl3pPr>
            <a:lvl4pPr marL="7346563" marR="0" indent="-9921" algn="l" rtl="0">
              <a:lnSpc>
                <a:spcPct val="100000"/>
              </a:lnSpc>
              <a:spcBef>
                <a:spcPts val="0"/>
              </a:spcBef>
              <a:spcAft>
                <a:spcPts val="0"/>
              </a:spcAft>
              <a:buClr>
                <a:srgbClr val="000000"/>
              </a:buClr>
              <a:buFont typeface="Arial"/>
              <a:buNone/>
              <a:defRPr/>
            </a:lvl4pPr>
            <a:lvl5pPr marL="9795418" marR="0" indent="-288" algn="l" rtl="0">
              <a:lnSpc>
                <a:spcPct val="100000"/>
              </a:lnSpc>
              <a:spcBef>
                <a:spcPts val="0"/>
              </a:spcBef>
              <a:spcAft>
                <a:spcPts val="0"/>
              </a:spcAft>
              <a:buClr>
                <a:srgbClr val="000000"/>
              </a:buClr>
              <a:buFont typeface="Arial"/>
              <a:buNone/>
              <a:defRPr/>
            </a:lvl5pPr>
            <a:lvl6pPr marL="12244273" marR="0" indent="-3596" algn="l" rtl="0">
              <a:lnSpc>
                <a:spcPct val="100000"/>
              </a:lnSpc>
              <a:spcBef>
                <a:spcPts val="0"/>
              </a:spcBef>
              <a:spcAft>
                <a:spcPts val="0"/>
              </a:spcAft>
              <a:buClr>
                <a:srgbClr val="000000"/>
              </a:buClr>
              <a:buFont typeface="Arial"/>
              <a:buNone/>
              <a:defRPr/>
            </a:lvl6pPr>
            <a:lvl7pPr marL="14693127" marR="0" indent="-6904" algn="l" rtl="0">
              <a:lnSpc>
                <a:spcPct val="100000"/>
              </a:lnSpc>
              <a:spcBef>
                <a:spcPts val="0"/>
              </a:spcBef>
              <a:spcAft>
                <a:spcPts val="0"/>
              </a:spcAft>
              <a:buClr>
                <a:srgbClr val="000000"/>
              </a:buClr>
              <a:buFont typeface="Arial"/>
              <a:buNone/>
              <a:defRPr/>
            </a:lvl7pPr>
            <a:lvl8pPr marL="17141984" marR="0" indent="-10213" algn="l" rtl="0">
              <a:lnSpc>
                <a:spcPct val="100000"/>
              </a:lnSpc>
              <a:spcBef>
                <a:spcPts val="0"/>
              </a:spcBef>
              <a:spcAft>
                <a:spcPts val="0"/>
              </a:spcAft>
              <a:buClr>
                <a:srgbClr val="000000"/>
              </a:buClr>
              <a:buFont typeface="Arial"/>
              <a:buNone/>
              <a:defRPr/>
            </a:lvl8pPr>
            <a:lvl9pPr marL="19590836" marR="0" indent="-578" algn="l" rtl="0">
              <a:lnSpc>
                <a:spcPct val="100000"/>
              </a:lnSpc>
              <a:spcBef>
                <a:spcPts val="0"/>
              </a:spcBef>
              <a:spcAft>
                <a:spcPts val="0"/>
              </a:spcAft>
              <a:buClr>
                <a:srgbClr val="000000"/>
              </a:buClr>
              <a:buFont typeface="Arial"/>
              <a:buNone/>
              <a:defRPr/>
            </a:lvl9pPr>
          </a:lstStyle>
          <a:p>
            <a:endParaRPr/>
          </a:p>
        </p:txBody>
      </p:sp>
      <p:sp>
        <p:nvSpPr>
          <p:cNvPr id="4" name="Shape 4"/>
          <p:cNvSpPr>
            <a:spLocks noGrp="1" noRot="1" noChangeAspect="1"/>
          </p:cNvSpPr>
          <p:nvPr>
            <p:ph type="sldImg" idx="3"/>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5" name="Shape 5"/>
          <p:cNvSpPr txBox="1">
            <a:spLocks noGrp="1"/>
          </p:cNvSpPr>
          <p:nvPr>
            <p:ph type="body" idx="1"/>
          </p:nvPr>
        </p:nvSpPr>
        <p:spPr>
          <a:xfrm>
            <a:off x="701042" y="4415790"/>
            <a:ext cx="5608319" cy="4183380"/>
          </a:xfrm>
          <a:prstGeom prst="rect">
            <a:avLst/>
          </a:prstGeom>
          <a:noFill/>
          <a:ln>
            <a:noFill/>
          </a:ln>
        </p:spPr>
        <p:txBody>
          <a:bodyPr lIns="93148" tIns="93148" rIns="93148" bIns="93148" anchor="t"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6" name="Shape 6"/>
          <p:cNvSpPr txBox="1">
            <a:spLocks noGrp="1"/>
          </p:cNvSpPr>
          <p:nvPr>
            <p:ph type="ftr" idx="11"/>
          </p:nvPr>
        </p:nvSpPr>
        <p:spPr>
          <a:xfrm>
            <a:off x="2" y="8829967"/>
            <a:ext cx="3037839" cy="464820"/>
          </a:xfrm>
          <a:prstGeom prst="rect">
            <a:avLst/>
          </a:prstGeom>
          <a:noFill/>
          <a:ln>
            <a:noFill/>
          </a:ln>
        </p:spPr>
        <p:txBody>
          <a:bodyPr lIns="93148" tIns="93148" rIns="93148" bIns="93148" anchor="b" anchorCtr="0"/>
          <a:lstStyle>
            <a:lvl1pPr marL="0" marR="0" indent="0" algn="l" rtl="0">
              <a:lnSpc>
                <a:spcPct val="100000"/>
              </a:lnSpc>
              <a:spcBef>
                <a:spcPts val="0"/>
              </a:spcBef>
              <a:spcAft>
                <a:spcPts val="0"/>
              </a:spcAft>
              <a:buClr>
                <a:srgbClr val="000000"/>
              </a:buClr>
              <a:buFont typeface="Arial"/>
              <a:buNone/>
              <a:defRPr/>
            </a:lvl1pPr>
            <a:lvl2pPr marL="2448854" marR="0" indent="-3306" algn="l" rtl="0">
              <a:lnSpc>
                <a:spcPct val="100000"/>
              </a:lnSpc>
              <a:spcBef>
                <a:spcPts val="0"/>
              </a:spcBef>
              <a:spcAft>
                <a:spcPts val="0"/>
              </a:spcAft>
              <a:buClr>
                <a:srgbClr val="000000"/>
              </a:buClr>
              <a:buFont typeface="Arial"/>
              <a:buNone/>
              <a:defRPr/>
            </a:lvl2pPr>
            <a:lvl3pPr marL="4897709" marR="0" indent="-6613" algn="l" rtl="0">
              <a:lnSpc>
                <a:spcPct val="100000"/>
              </a:lnSpc>
              <a:spcBef>
                <a:spcPts val="0"/>
              </a:spcBef>
              <a:spcAft>
                <a:spcPts val="0"/>
              </a:spcAft>
              <a:buClr>
                <a:srgbClr val="000000"/>
              </a:buClr>
              <a:buFont typeface="Arial"/>
              <a:buNone/>
              <a:defRPr/>
            </a:lvl3pPr>
            <a:lvl4pPr marL="7346563" marR="0" indent="-9921" algn="l" rtl="0">
              <a:lnSpc>
                <a:spcPct val="100000"/>
              </a:lnSpc>
              <a:spcBef>
                <a:spcPts val="0"/>
              </a:spcBef>
              <a:spcAft>
                <a:spcPts val="0"/>
              </a:spcAft>
              <a:buClr>
                <a:srgbClr val="000000"/>
              </a:buClr>
              <a:buFont typeface="Arial"/>
              <a:buNone/>
              <a:defRPr/>
            </a:lvl4pPr>
            <a:lvl5pPr marL="9795418" marR="0" indent="-288" algn="l" rtl="0">
              <a:lnSpc>
                <a:spcPct val="100000"/>
              </a:lnSpc>
              <a:spcBef>
                <a:spcPts val="0"/>
              </a:spcBef>
              <a:spcAft>
                <a:spcPts val="0"/>
              </a:spcAft>
              <a:buClr>
                <a:srgbClr val="000000"/>
              </a:buClr>
              <a:buFont typeface="Arial"/>
              <a:buNone/>
              <a:defRPr/>
            </a:lvl5pPr>
            <a:lvl6pPr marL="12244273" marR="0" indent="-3596" algn="l" rtl="0">
              <a:lnSpc>
                <a:spcPct val="100000"/>
              </a:lnSpc>
              <a:spcBef>
                <a:spcPts val="0"/>
              </a:spcBef>
              <a:spcAft>
                <a:spcPts val="0"/>
              </a:spcAft>
              <a:buClr>
                <a:srgbClr val="000000"/>
              </a:buClr>
              <a:buFont typeface="Arial"/>
              <a:buNone/>
              <a:defRPr/>
            </a:lvl6pPr>
            <a:lvl7pPr marL="14693127" marR="0" indent="-6904" algn="l" rtl="0">
              <a:lnSpc>
                <a:spcPct val="100000"/>
              </a:lnSpc>
              <a:spcBef>
                <a:spcPts val="0"/>
              </a:spcBef>
              <a:spcAft>
                <a:spcPts val="0"/>
              </a:spcAft>
              <a:buClr>
                <a:srgbClr val="000000"/>
              </a:buClr>
              <a:buFont typeface="Arial"/>
              <a:buNone/>
              <a:defRPr/>
            </a:lvl7pPr>
            <a:lvl8pPr marL="17141984" marR="0" indent="-10213" algn="l" rtl="0">
              <a:lnSpc>
                <a:spcPct val="100000"/>
              </a:lnSpc>
              <a:spcBef>
                <a:spcPts val="0"/>
              </a:spcBef>
              <a:spcAft>
                <a:spcPts val="0"/>
              </a:spcAft>
              <a:buClr>
                <a:srgbClr val="000000"/>
              </a:buClr>
              <a:buFont typeface="Arial"/>
              <a:buNone/>
              <a:defRPr/>
            </a:lvl8pPr>
            <a:lvl9pPr marL="19590836" marR="0" indent="-578" algn="l" rtl="0">
              <a:lnSpc>
                <a:spcPct val="100000"/>
              </a:lnSpc>
              <a:spcBef>
                <a:spcPts val="0"/>
              </a:spcBef>
              <a:spcAft>
                <a:spcPts val="0"/>
              </a:spcAft>
              <a:buClr>
                <a:srgbClr val="000000"/>
              </a:buClr>
              <a:buFont typeface="Arial"/>
              <a:buNone/>
              <a:defRPr/>
            </a:lvl9pPr>
          </a:lstStyle>
          <a:p>
            <a:endParaRPr/>
          </a:p>
        </p:txBody>
      </p:sp>
      <p:sp>
        <p:nvSpPr>
          <p:cNvPr id="7" name="Shape 7"/>
          <p:cNvSpPr txBox="1">
            <a:spLocks noGrp="1"/>
          </p:cNvSpPr>
          <p:nvPr>
            <p:ph type="sldNum" idx="12"/>
          </p:nvPr>
        </p:nvSpPr>
        <p:spPr>
          <a:xfrm>
            <a:off x="3970938" y="8829967"/>
            <a:ext cx="3037839" cy="464820"/>
          </a:xfrm>
          <a:prstGeom prst="rect">
            <a:avLst/>
          </a:prstGeom>
          <a:noFill/>
          <a:ln>
            <a:noFill/>
          </a:ln>
        </p:spPr>
        <p:txBody>
          <a:bodyPr lIns="93148" tIns="93148" rIns="93148" bIns="93148" anchor="b" anchorCtr="0">
            <a:noAutofit/>
          </a:bodyPr>
          <a:lstStyle/>
          <a:p>
            <a:pPr>
              <a:buClr>
                <a:srgbClr val="000000"/>
              </a:buClr>
            </a:pPr>
            <a:endParaRPr lang="en-US"/>
          </a:p>
          <a:p>
            <a:pPr lvl="1">
              <a:buClr>
                <a:srgbClr val="000000"/>
              </a:buClr>
              <a:buFont typeface="Arial"/>
              <a:buNone/>
            </a:pPr>
            <a:endParaRPr lang="en-US"/>
          </a:p>
          <a:p>
            <a:pPr lvl="2">
              <a:buClr>
                <a:srgbClr val="000000"/>
              </a:buClr>
              <a:buFont typeface="Arial"/>
              <a:buNone/>
            </a:pPr>
            <a:endParaRPr lang="en-US"/>
          </a:p>
          <a:p>
            <a:pPr lvl="3">
              <a:buClr>
                <a:srgbClr val="000000"/>
              </a:buClr>
              <a:buFont typeface="Arial"/>
              <a:buNone/>
            </a:pPr>
            <a:endParaRPr lang="en-US"/>
          </a:p>
          <a:p>
            <a:pPr lvl="4">
              <a:buClr>
                <a:srgbClr val="000000"/>
              </a:buClr>
              <a:buFont typeface="Arial"/>
              <a:buNone/>
            </a:pPr>
            <a:endParaRPr lang="en-US"/>
          </a:p>
          <a:p>
            <a:pPr lvl="5">
              <a:buClr>
                <a:srgbClr val="000000"/>
              </a:buClr>
              <a:buFont typeface="Arial"/>
              <a:buNone/>
            </a:pPr>
            <a:endParaRPr lang="en-US"/>
          </a:p>
          <a:p>
            <a:pPr lvl="6">
              <a:buClr>
                <a:srgbClr val="000000"/>
              </a:buClr>
              <a:buFont typeface="Arial"/>
              <a:buNone/>
            </a:pPr>
            <a:endParaRPr lang="en-US"/>
          </a:p>
          <a:p>
            <a:pPr lvl="7">
              <a:buClr>
                <a:srgbClr val="000000"/>
              </a:buClr>
              <a:buFont typeface="Arial"/>
              <a:buNone/>
            </a:pPr>
            <a:endParaRPr lang="en-US"/>
          </a:p>
          <a:p>
            <a:pPr lvl="8">
              <a:buClr>
                <a:srgbClr val="000000"/>
              </a:buClr>
              <a:buFont typeface="Arial"/>
              <a:buNone/>
            </a:pPr>
            <a:endParaRPr lang="en-US"/>
          </a:p>
        </p:txBody>
      </p:sp>
    </p:spTree>
    <p:extLst>
      <p:ext uri="{BB962C8B-B14F-4D97-AF65-F5344CB8AC3E}">
        <p14:creationId xmlns:p14="http://schemas.microsoft.com/office/powerpoint/2010/main" val="3942484264"/>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4C88CB19-858D-2C2F-EEB4-D3A6D933B2CE}"/>
            </a:ext>
          </a:extLst>
        </p:cNvPr>
        <p:cNvGrpSpPr/>
        <p:nvPr/>
      </p:nvGrpSpPr>
      <p:grpSpPr>
        <a:xfrm>
          <a:off x="0" y="0"/>
          <a:ext cx="0" cy="0"/>
          <a:chOff x="0" y="0"/>
          <a:chExt cx="0" cy="0"/>
        </a:xfrm>
      </p:grpSpPr>
      <p:sp>
        <p:nvSpPr>
          <p:cNvPr id="137" name="Shape 137">
            <a:extLst>
              <a:ext uri="{FF2B5EF4-FFF2-40B4-BE49-F238E27FC236}">
                <a16:creationId xmlns:a16="http://schemas.microsoft.com/office/drawing/2014/main" id="{17604386-15F1-0B9F-C4D7-0CCDFABDD72D}"/>
              </a:ext>
            </a:extLst>
          </p:cNvPr>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38" name="Shape 138">
            <a:extLst>
              <a:ext uri="{FF2B5EF4-FFF2-40B4-BE49-F238E27FC236}">
                <a16:creationId xmlns:a16="http://schemas.microsoft.com/office/drawing/2014/main" id="{742C4E14-9978-9EF9-1E2C-04BE7916EB65}"/>
              </a:ext>
            </a:extLst>
          </p:cNvPr>
          <p:cNvSpPr txBox="1">
            <a:spLocks noGrp="1"/>
          </p:cNvSpPr>
          <p:nvPr>
            <p:ph type="body" idx="1"/>
          </p:nvPr>
        </p:nvSpPr>
        <p:spPr>
          <a:xfrm>
            <a:off x="701042" y="4415790"/>
            <a:ext cx="5608319" cy="4183380"/>
          </a:xfrm>
          <a:prstGeom prst="rect">
            <a:avLst/>
          </a:prstGeom>
          <a:noFill/>
          <a:ln>
            <a:noFill/>
          </a:ln>
        </p:spPr>
        <p:txBody>
          <a:bodyPr lIns="93148" tIns="46561" rIns="93148" bIns="46561" anchor="t" anchorCtr="0">
            <a:noAutofit/>
          </a:bodyPr>
          <a:lstStyle/>
          <a:p>
            <a:pPr marL="174683" indent="-174683">
              <a:buClr>
                <a:schemeClr val="dk1"/>
              </a:buClr>
              <a:buSzPct val="100000"/>
              <a:buFont typeface="Calibri"/>
              <a:buChar char="-"/>
            </a:pPr>
            <a:endParaRPr lang="en-US">
              <a:solidFill>
                <a:schemeClr val="dk1"/>
              </a:solidFill>
              <a:latin typeface="Calibri"/>
              <a:ea typeface="Calibri"/>
              <a:cs typeface="Calibri"/>
              <a:sym typeface="Calibri"/>
            </a:endParaRPr>
          </a:p>
        </p:txBody>
      </p:sp>
      <p:sp>
        <p:nvSpPr>
          <p:cNvPr id="139" name="Shape 139">
            <a:extLst>
              <a:ext uri="{FF2B5EF4-FFF2-40B4-BE49-F238E27FC236}">
                <a16:creationId xmlns:a16="http://schemas.microsoft.com/office/drawing/2014/main" id="{8667385C-2DD8-B314-1911-48A67F2235E2}"/>
              </a:ext>
            </a:extLst>
          </p:cNvPr>
          <p:cNvSpPr txBox="1">
            <a:spLocks noGrp="1"/>
          </p:cNvSpPr>
          <p:nvPr>
            <p:ph type="sldNum" idx="12"/>
          </p:nvPr>
        </p:nvSpPr>
        <p:spPr>
          <a:xfrm>
            <a:off x="3970938" y="8829967"/>
            <a:ext cx="3037839" cy="464820"/>
          </a:xfrm>
          <a:prstGeom prst="rect">
            <a:avLst/>
          </a:prstGeom>
          <a:noFill/>
          <a:ln>
            <a:noFill/>
          </a:ln>
        </p:spPr>
        <p:txBody>
          <a:bodyPr lIns="93148" tIns="46561" rIns="93148" bIns="46561" anchor="b" anchorCtr="0">
            <a:noAutofit/>
          </a:bodyPr>
          <a:lstStyle/>
          <a:p>
            <a:pPr algn="r">
              <a:buClr>
                <a:srgbClr val="000000"/>
              </a:buClr>
              <a:buSzPct val="25000"/>
            </a:pPr>
            <a:r>
              <a:rPr lang="en-US"/>
              <a:t> </a:t>
            </a:r>
          </a:p>
        </p:txBody>
      </p:sp>
    </p:spTree>
    <p:extLst>
      <p:ext uri="{BB962C8B-B14F-4D97-AF65-F5344CB8AC3E}">
        <p14:creationId xmlns:p14="http://schemas.microsoft.com/office/powerpoint/2010/main" val="1193602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4"/>
        <p:cNvGrpSpPr/>
        <p:nvPr/>
      </p:nvGrpSpPr>
      <p:grpSpPr>
        <a:xfrm>
          <a:off x="0" y="0"/>
          <a:ext cx="0" cy="0"/>
          <a:chOff x="0" y="0"/>
          <a:chExt cx="0" cy="0"/>
        </a:xfrm>
      </p:grpSpPr>
      <p:sp>
        <p:nvSpPr>
          <p:cNvPr id="15" name="Shape 15"/>
          <p:cNvSpPr txBox="1">
            <a:spLocks noGrp="1"/>
          </p:cNvSpPr>
          <p:nvPr>
            <p:ph type="ctrTitle"/>
          </p:nvPr>
        </p:nvSpPr>
        <p:spPr>
          <a:xfrm>
            <a:off x="3291839" y="10226042"/>
            <a:ext cx="37307518" cy="705612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chemeClr val="dk1"/>
              </a:buClr>
              <a:buFont typeface="Calibri"/>
              <a:buNone/>
              <a:defRPr/>
            </a:lvl1pPr>
            <a:lvl2pPr marL="0" marR="0" indent="0" algn="l" rtl="0">
              <a:lnSpc>
                <a:spcPct val="100000"/>
              </a:lnSpc>
              <a:spcBef>
                <a:spcPts val="0"/>
              </a:spcBef>
              <a:spcAft>
                <a:spcPts val="0"/>
              </a:spcAft>
              <a:buClr>
                <a:srgbClr val="000000"/>
              </a:buClr>
              <a:buFont typeface="Arial"/>
              <a:buNone/>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16" name="Shape 16"/>
          <p:cNvSpPr txBox="1">
            <a:spLocks noGrp="1"/>
          </p:cNvSpPr>
          <p:nvPr>
            <p:ph type="subTitle" idx="1"/>
          </p:nvPr>
        </p:nvSpPr>
        <p:spPr>
          <a:xfrm>
            <a:off x="6583678" y="18653759"/>
            <a:ext cx="30723838" cy="8412480"/>
          </a:xfrm>
          <a:prstGeom prst="rect">
            <a:avLst/>
          </a:prstGeom>
          <a:noFill/>
          <a:ln>
            <a:noFill/>
          </a:ln>
        </p:spPr>
        <p:txBody>
          <a:bodyPr lIns="91425" tIns="91425" rIns="91425" bIns="91425" anchor="t" anchorCtr="0"/>
          <a:lstStyle>
            <a:lvl1pPr marL="0" marR="0" indent="0" algn="ctr" rtl="0">
              <a:lnSpc>
                <a:spcPct val="100000"/>
              </a:lnSpc>
              <a:spcBef>
                <a:spcPts val="3360"/>
              </a:spcBef>
              <a:spcAft>
                <a:spcPts val="0"/>
              </a:spcAft>
              <a:buClr>
                <a:srgbClr val="888888"/>
              </a:buClr>
              <a:buFont typeface="Arial"/>
              <a:buNone/>
              <a:defRPr/>
            </a:lvl1pPr>
            <a:lvl2pPr marL="2403546" marR="0" indent="-3245" algn="ctr" rtl="0">
              <a:lnSpc>
                <a:spcPct val="100000"/>
              </a:lnSpc>
              <a:spcBef>
                <a:spcPts val="2940"/>
              </a:spcBef>
              <a:spcAft>
                <a:spcPts val="0"/>
              </a:spcAft>
              <a:buClr>
                <a:srgbClr val="888888"/>
              </a:buClr>
              <a:buFont typeface="Arial"/>
              <a:buNone/>
              <a:defRPr/>
            </a:lvl2pPr>
            <a:lvl3pPr marL="4807092" marR="0" indent="-6491" algn="ctr" rtl="0">
              <a:lnSpc>
                <a:spcPct val="100000"/>
              </a:lnSpc>
              <a:spcBef>
                <a:spcPts val="2520"/>
              </a:spcBef>
              <a:spcAft>
                <a:spcPts val="0"/>
              </a:spcAft>
              <a:buClr>
                <a:srgbClr val="888888"/>
              </a:buClr>
              <a:buFont typeface="Arial"/>
              <a:buNone/>
              <a:defRPr/>
            </a:lvl3pPr>
            <a:lvl4pPr marL="7210638" marR="0" indent="-9738" algn="ctr" rtl="0">
              <a:lnSpc>
                <a:spcPct val="100000"/>
              </a:lnSpc>
              <a:spcBef>
                <a:spcPts val="2100"/>
              </a:spcBef>
              <a:spcAft>
                <a:spcPts val="0"/>
              </a:spcAft>
              <a:buClr>
                <a:srgbClr val="888888"/>
              </a:buClr>
              <a:buFont typeface="Arial"/>
              <a:buNone/>
              <a:defRPr/>
            </a:lvl4pPr>
            <a:lvl5pPr marL="9614184" marR="0" indent="-283" algn="ctr" rtl="0">
              <a:lnSpc>
                <a:spcPct val="100000"/>
              </a:lnSpc>
              <a:spcBef>
                <a:spcPts val="2100"/>
              </a:spcBef>
              <a:spcAft>
                <a:spcPts val="0"/>
              </a:spcAft>
              <a:buClr>
                <a:srgbClr val="888888"/>
              </a:buClr>
              <a:buFont typeface="Arial"/>
              <a:buNone/>
              <a:defRPr/>
            </a:lvl5pPr>
            <a:lvl6pPr marL="12017731" marR="0" indent="-3530" algn="ctr" rtl="0">
              <a:lnSpc>
                <a:spcPct val="100000"/>
              </a:lnSpc>
              <a:spcBef>
                <a:spcPts val="2100"/>
              </a:spcBef>
              <a:spcAft>
                <a:spcPts val="0"/>
              </a:spcAft>
              <a:buClr>
                <a:srgbClr val="888888"/>
              </a:buClr>
              <a:buFont typeface="Arial"/>
              <a:buNone/>
              <a:defRPr/>
            </a:lvl6pPr>
            <a:lvl7pPr marL="14421276" marR="0" indent="-6776" algn="ctr" rtl="0">
              <a:lnSpc>
                <a:spcPct val="100000"/>
              </a:lnSpc>
              <a:spcBef>
                <a:spcPts val="2100"/>
              </a:spcBef>
              <a:spcAft>
                <a:spcPts val="0"/>
              </a:spcAft>
              <a:buClr>
                <a:srgbClr val="888888"/>
              </a:buClr>
              <a:buFont typeface="Arial"/>
              <a:buNone/>
              <a:defRPr/>
            </a:lvl7pPr>
            <a:lvl8pPr marL="16824824" marR="0" indent="-10024" algn="ctr" rtl="0">
              <a:lnSpc>
                <a:spcPct val="100000"/>
              </a:lnSpc>
              <a:spcBef>
                <a:spcPts val="2100"/>
              </a:spcBef>
              <a:spcAft>
                <a:spcPts val="0"/>
              </a:spcAft>
              <a:buClr>
                <a:srgbClr val="888888"/>
              </a:buClr>
              <a:buFont typeface="Arial"/>
              <a:buNone/>
              <a:defRPr/>
            </a:lvl8pPr>
            <a:lvl9pPr marL="19228368" marR="0" indent="-567" algn="ctr" rtl="0">
              <a:lnSpc>
                <a:spcPct val="100000"/>
              </a:lnSpc>
              <a:spcBef>
                <a:spcPts val="2100"/>
              </a:spcBef>
              <a:spcAft>
                <a:spcPts val="0"/>
              </a:spcAft>
              <a:buClr>
                <a:srgbClr val="888888"/>
              </a:buClr>
              <a:buFont typeface="Arial"/>
              <a:buNone/>
              <a:defRPr/>
            </a:lvl9pPr>
          </a:lstStyle>
          <a:p>
            <a:endParaRPr/>
          </a:p>
        </p:txBody>
      </p:sp>
      <p:sp>
        <p:nvSpPr>
          <p:cNvPr id="17" name="Shape 17"/>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8" name="Shape 18"/>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9" name="Shape 19"/>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9"/>
        <p:cNvGrpSpPr/>
        <p:nvPr/>
      </p:nvGrpSpPr>
      <p:grpSpPr>
        <a:xfrm>
          <a:off x="0" y="0"/>
          <a:ext cx="0" cy="0"/>
          <a:chOff x="0" y="0"/>
          <a:chExt cx="0" cy="0"/>
        </a:xfrm>
      </p:grpSpPr>
      <p:sp>
        <p:nvSpPr>
          <p:cNvPr id="40" name="Shape 40"/>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1" name="Shape 41"/>
          <p:cNvSpPr txBox="1">
            <a:spLocks noGrp="1"/>
          </p:cNvSpPr>
          <p:nvPr>
            <p:ph type="body" idx="1"/>
          </p:nvPr>
        </p:nvSpPr>
        <p:spPr>
          <a:xfrm>
            <a:off x="2194558" y="7368542"/>
            <a:ext cx="19392903" cy="3070857"/>
          </a:xfrm>
          <a:prstGeom prst="rect">
            <a:avLst/>
          </a:prstGeom>
          <a:noFill/>
          <a:ln>
            <a:noFill/>
          </a:ln>
        </p:spPr>
        <p:txBody>
          <a:bodyPr lIns="91425" tIns="91425" rIns="91425" bIns="91425" anchor="b"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endParaRPr/>
          </a:p>
        </p:txBody>
      </p:sp>
      <p:sp>
        <p:nvSpPr>
          <p:cNvPr id="42" name="Shape 42"/>
          <p:cNvSpPr txBox="1">
            <a:spLocks noGrp="1"/>
          </p:cNvSpPr>
          <p:nvPr>
            <p:ph type="body" idx="2"/>
          </p:nvPr>
        </p:nvSpPr>
        <p:spPr>
          <a:xfrm>
            <a:off x="2194558" y="10439400"/>
            <a:ext cx="19392903" cy="1896618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3" name="Shape 43"/>
          <p:cNvSpPr txBox="1">
            <a:spLocks noGrp="1"/>
          </p:cNvSpPr>
          <p:nvPr>
            <p:ph type="body" idx="3"/>
          </p:nvPr>
        </p:nvSpPr>
        <p:spPr>
          <a:xfrm>
            <a:off x="22296123" y="7368542"/>
            <a:ext cx="19400519" cy="3070857"/>
          </a:xfrm>
          <a:prstGeom prst="rect">
            <a:avLst/>
          </a:prstGeom>
          <a:noFill/>
          <a:ln>
            <a:noFill/>
          </a:ln>
        </p:spPr>
        <p:txBody>
          <a:bodyPr lIns="91425" tIns="91425" rIns="91425" bIns="91425" anchor="b"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endParaRPr/>
          </a:p>
        </p:txBody>
      </p:sp>
      <p:sp>
        <p:nvSpPr>
          <p:cNvPr id="44" name="Shape 44"/>
          <p:cNvSpPr txBox="1">
            <a:spLocks noGrp="1"/>
          </p:cNvSpPr>
          <p:nvPr>
            <p:ph type="body" idx="4"/>
          </p:nvPr>
        </p:nvSpPr>
        <p:spPr>
          <a:xfrm>
            <a:off x="22296123" y="10439400"/>
            <a:ext cx="19400519" cy="1896618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 name="Shape 45"/>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46" name="Shape 46"/>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47" name="Shape 47"/>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8"/>
        <p:cNvGrpSpPr/>
        <p:nvPr/>
      </p:nvGrpSpPr>
      <p:grpSpPr>
        <a:xfrm>
          <a:off x="0" y="0"/>
          <a:ext cx="0" cy="0"/>
          <a:chOff x="0" y="0"/>
          <a:chExt cx="0" cy="0"/>
        </a:xfrm>
      </p:grpSpPr>
      <p:sp>
        <p:nvSpPr>
          <p:cNvPr id="49" name="Shape 49"/>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50" name="Shape 50"/>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1" name="Shape 51"/>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2" name="Shape 52"/>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3"/>
        <p:cNvGrpSpPr/>
        <p:nvPr/>
      </p:nvGrpSpPr>
      <p:grpSpPr>
        <a:xfrm>
          <a:off x="0" y="0"/>
          <a:ext cx="0" cy="0"/>
          <a:chOff x="0" y="0"/>
          <a:chExt cx="0" cy="0"/>
        </a:xfrm>
      </p:grpSpPr>
      <p:sp>
        <p:nvSpPr>
          <p:cNvPr id="54" name="Shape 54"/>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5" name="Shape 55"/>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6" name="Shape 56"/>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7"/>
        <p:cNvGrpSpPr/>
        <p:nvPr/>
      </p:nvGrpSpPr>
      <p:grpSpPr>
        <a:xfrm>
          <a:off x="0" y="0"/>
          <a:ext cx="0" cy="0"/>
          <a:chOff x="0" y="0"/>
          <a:chExt cx="0" cy="0"/>
        </a:xfrm>
      </p:grpSpPr>
      <p:sp>
        <p:nvSpPr>
          <p:cNvPr id="58" name="Shape 58"/>
          <p:cNvSpPr txBox="1">
            <a:spLocks noGrp="1"/>
          </p:cNvSpPr>
          <p:nvPr>
            <p:ph type="title"/>
          </p:nvPr>
        </p:nvSpPr>
        <p:spPr>
          <a:xfrm>
            <a:off x="2194564" y="1310640"/>
            <a:ext cx="14439903" cy="5577837"/>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59" name="Shape 59"/>
          <p:cNvSpPr txBox="1">
            <a:spLocks noGrp="1"/>
          </p:cNvSpPr>
          <p:nvPr>
            <p:ph type="body" idx="1"/>
          </p:nvPr>
        </p:nvSpPr>
        <p:spPr>
          <a:xfrm>
            <a:off x="17160240" y="1310641"/>
            <a:ext cx="24536398" cy="28094942"/>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0" name="Shape 60"/>
          <p:cNvSpPr txBox="1">
            <a:spLocks noGrp="1"/>
          </p:cNvSpPr>
          <p:nvPr>
            <p:ph type="body" idx="2"/>
          </p:nvPr>
        </p:nvSpPr>
        <p:spPr>
          <a:xfrm>
            <a:off x="2194564" y="6888482"/>
            <a:ext cx="14439903" cy="22517103"/>
          </a:xfrm>
          <a:prstGeom prst="rect">
            <a:avLst/>
          </a:prstGeom>
          <a:noFill/>
          <a:ln>
            <a:noFill/>
          </a:ln>
        </p:spPr>
        <p:txBody>
          <a:bodyPr lIns="91425" tIns="91425" rIns="91425" bIns="91425" anchor="t"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endParaRPr/>
          </a:p>
        </p:txBody>
      </p:sp>
      <p:sp>
        <p:nvSpPr>
          <p:cNvPr id="61" name="Shape 61"/>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62" name="Shape 62"/>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63" name="Shape 63"/>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8602982" y="23042881"/>
            <a:ext cx="26334720" cy="2720343"/>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6" name="Shape 66"/>
          <p:cNvSpPr>
            <a:spLocks noGrp="1"/>
          </p:cNvSpPr>
          <p:nvPr>
            <p:ph type="pic" idx="2"/>
          </p:nvPr>
        </p:nvSpPr>
        <p:spPr>
          <a:xfrm>
            <a:off x="8602982" y="2941317"/>
            <a:ext cx="26334720" cy="19751040"/>
          </a:xfrm>
          <a:prstGeom prst="rect">
            <a:avLst/>
          </a:prstGeom>
          <a:noFill/>
          <a:ln>
            <a:noFill/>
          </a:ln>
        </p:spPr>
      </p:sp>
      <p:sp>
        <p:nvSpPr>
          <p:cNvPr id="67" name="Shape 67"/>
          <p:cNvSpPr txBox="1">
            <a:spLocks noGrp="1"/>
          </p:cNvSpPr>
          <p:nvPr>
            <p:ph type="body" idx="1"/>
          </p:nvPr>
        </p:nvSpPr>
        <p:spPr>
          <a:xfrm>
            <a:off x="8602982" y="25763223"/>
            <a:ext cx="26334720" cy="3863335"/>
          </a:xfrm>
          <a:prstGeom prst="rect">
            <a:avLst/>
          </a:prstGeom>
          <a:noFill/>
          <a:ln>
            <a:noFill/>
          </a:ln>
        </p:spPr>
        <p:txBody>
          <a:bodyPr lIns="91425" tIns="91425" rIns="91425" bIns="91425" anchor="t"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endParaRPr/>
          </a:p>
        </p:txBody>
      </p:sp>
      <p:sp>
        <p:nvSpPr>
          <p:cNvPr id="68" name="Shape 68"/>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69" name="Shape 69"/>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70" name="Shape 70"/>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3" name="Shape 73"/>
          <p:cNvSpPr txBox="1">
            <a:spLocks noGrp="1"/>
          </p:cNvSpPr>
          <p:nvPr>
            <p:ph type="body" idx="1"/>
          </p:nvPr>
        </p:nvSpPr>
        <p:spPr>
          <a:xfrm rot="5400000">
            <a:off x="11083289" y="-1207766"/>
            <a:ext cx="21724621" cy="39502080"/>
          </a:xfrm>
          <a:prstGeom prst="rect">
            <a:avLst/>
          </a:prstGeom>
          <a:noFill/>
          <a:ln>
            <a:noFill/>
          </a:ln>
        </p:spPr>
        <p:txBody>
          <a:bodyPr lIns="91425" tIns="91425" rIns="91425" bIns="91425" anchor="t" anchorCtr="0"/>
          <a:lstStyle>
            <a:lvl1pPr marL="1802659" indent="-558058" algn="l" rtl="0">
              <a:spcBef>
                <a:spcPts val="3360"/>
              </a:spcBef>
              <a:buClr>
                <a:schemeClr val="dk1"/>
              </a:buClr>
              <a:buFont typeface="Arial"/>
              <a:buChar char="•"/>
              <a:defRPr/>
            </a:lvl1pPr>
            <a:lvl2pPr marL="3905762" indent="-400561" algn="l" rtl="0">
              <a:spcBef>
                <a:spcPts val="2940"/>
              </a:spcBef>
              <a:buClr>
                <a:schemeClr val="dk1"/>
              </a:buClr>
              <a:buFont typeface="Arial"/>
              <a:buChar char="–"/>
              <a:defRPr/>
            </a:lvl2pPr>
            <a:lvl3pPr marL="6008865" indent="-230365" algn="l" rtl="0">
              <a:spcBef>
                <a:spcPts val="2520"/>
              </a:spcBef>
              <a:buClr>
                <a:schemeClr val="dk1"/>
              </a:buClr>
              <a:buFont typeface="Arial"/>
              <a:buChar char="•"/>
              <a:defRPr/>
            </a:lvl3pPr>
            <a:lvl4pPr marL="8412411" indent="-373311" algn="l" rtl="0">
              <a:spcBef>
                <a:spcPts val="2100"/>
              </a:spcBef>
              <a:buClr>
                <a:schemeClr val="dk1"/>
              </a:buClr>
              <a:buFont typeface="Arial"/>
              <a:buChar char="–"/>
              <a:defRPr/>
            </a:lvl4pPr>
            <a:lvl5pPr marL="10815958" indent="-363857" algn="l" rtl="0">
              <a:spcBef>
                <a:spcPts val="2100"/>
              </a:spcBef>
              <a:buClr>
                <a:schemeClr val="dk1"/>
              </a:buClr>
              <a:buFont typeface="Arial"/>
              <a:buChar char="»"/>
              <a:defRPr/>
            </a:lvl5pPr>
            <a:lvl6pPr marL="13219505" indent="-367104" algn="l" rtl="0">
              <a:spcBef>
                <a:spcPts val="2100"/>
              </a:spcBef>
              <a:buClr>
                <a:schemeClr val="dk1"/>
              </a:buClr>
              <a:buFont typeface="Arial"/>
              <a:buChar char="•"/>
              <a:defRPr/>
            </a:lvl6pPr>
            <a:lvl7pPr marL="15623049" indent="-370349" algn="l" rtl="0">
              <a:spcBef>
                <a:spcPts val="2100"/>
              </a:spcBef>
              <a:buClr>
                <a:schemeClr val="dk1"/>
              </a:buClr>
              <a:buFont typeface="Arial"/>
              <a:buChar char="•"/>
              <a:defRPr/>
            </a:lvl7pPr>
            <a:lvl8pPr marL="18026596" indent="-373595" algn="l" rtl="0">
              <a:spcBef>
                <a:spcPts val="2100"/>
              </a:spcBef>
              <a:buClr>
                <a:schemeClr val="dk1"/>
              </a:buClr>
              <a:buFont typeface="Arial"/>
              <a:buChar char="•"/>
              <a:defRPr/>
            </a:lvl8pPr>
            <a:lvl9pPr marL="20430142" indent="-364142" algn="l" rtl="0">
              <a:spcBef>
                <a:spcPts val="2100"/>
              </a:spcBef>
              <a:buClr>
                <a:schemeClr val="dk1"/>
              </a:buClr>
              <a:buFont typeface="Arial"/>
              <a:buChar char="•"/>
              <a:defRPr/>
            </a:lvl9pPr>
          </a:lstStyle>
          <a:p>
            <a:endParaRPr/>
          </a:p>
        </p:txBody>
      </p:sp>
      <p:sp>
        <p:nvSpPr>
          <p:cNvPr id="74" name="Shape 74"/>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75" name="Shape 75"/>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76" name="Shape 76"/>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7"/>
        <p:cNvGrpSpPr/>
        <p:nvPr/>
      </p:nvGrpSpPr>
      <p:grpSpPr>
        <a:xfrm>
          <a:off x="0" y="0"/>
          <a:ext cx="0" cy="0"/>
          <a:chOff x="0" y="0"/>
          <a:chExt cx="0" cy="0"/>
        </a:xfrm>
      </p:grpSpPr>
      <p:sp>
        <p:nvSpPr>
          <p:cNvPr id="78" name="Shape 78"/>
          <p:cNvSpPr txBox="1">
            <a:spLocks noGrp="1"/>
          </p:cNvSpPr>
          <p:nvPr>
            <p:ph type="title"/>
          </p:nvPr>
        </p:nvSpPr>
        <p:spPr>
          <a:xfrm rot="5400000">
            <a:off x="22715220" y="10424165"/>
            <a:ext cx="28087320" cy="9875520"/>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9" name="Shape 79"/>
          <p:cNvSpPr txBox="1">
            <a:spLocks noGrp="1"/>
          </p:cNvSpPr>
          <p:nvPr>
            <p:ph type="body" idx="1"/>
          </p:nvPr>
        </p:nvSpPr>
        <p:spPr>
          <a:xfrm rot="5400000">
            <a:off x="2598420" y="914403"/>
            <a:ext cx="28087320" cy="28895038"/>
          </a:xfrm>
          <a:prstGeom prst="rect">
            <a:avLst/>
          </a:prstGeom>
          <a:noFill/>
          <a:ln>
            <a:noFill/>
          </a:ln>
        </p:spPr>
        <p:txBody>
          <a:bodyPr lIns="91425" tIns="91425" rIns="91425" bIns="91425" anchor="t" anchorCtr="0"/>
          <a:lstStyle>
            <a:lvl1pPr marL="1802659" indent="-558058" algn="l" rtl="0">
              <a:spcBef>
                <a:spcPts val="3360"/>
              </a:spcBef>
              <a:buClr>
                <a:schemeClr val="dk1"/>
              </a:buClr>
              <a:buFont typeface="Arial"/>
              <a:buChar char="•"/>
              <a:defRPr/>
            </a:lvl1pPr>
            <a:lvl2pPr marL="3905762" indent="-400561" algn="l" rtl="0">
              <a:spcBef>
                <a:spcPts val="2940"/>
              </a:spcBef>
              <a:buClr>
                <a:schemeClr val="dk1"/>
              </a:buClr>
              <a:buFont typeface="Arial"/>
              <a:buChar char="–"/>
              <a:defRPr/>
            </a:lvl2pPr>
            <a:lvl3pPr marL="6008865" indent="-230365" algn="l" rtl="0">
              <a:spcBef>
                <a:spcPts val="2520"/>
              </a:spcBef>
              <a:buClr>
                <a:schemeClr val="dk1"/>
              </a:buClr>
              <a:buFont typeface="Arial"/>
              <a:buChar char="•"/>
              <a:defRPr/>
            </a:lvl3pPr>
            <a:lvl4pPr marL="8412411" indent="-373311" algn="l" rtl="0">
              <a:spcBef>
                <a:spcPts val="2100"/>
              </a:spcBef>
              <a:buClr>
                <a:schemeClr val="dk1"/>
              </a:buClr>
              <a:buFont typeface="Arial"/>
              <a:buChar char="–"/>
              <a:defRPr/>
            </a:lvl4pPr>
            <a:lvl5pPr marL="10815958" indent="-363857" algn="l" rtl="0">
              <a:spcBef>
                <a:spcPts val="2100"/>
              </a:spcBef>
              <a:buClr>
                <a:schemeClr val="dk1"/>
              </a:buClr>
              <a:buFont typeface="Arial"/>
              <a:buChar char="»"/>
              <a:defRPr/>
            </a:lvl5pPr>
            <a:lvl6pPr marL="13219505" indent="-367104" algn="l" rtl="0">
              <a:spcBef>
                <a:spcPts val="2100"/>
              </a:spcBef>
              <a:buClr>
                <a:schemeClr val="dk1"/>
              </a:buClr>
              <a:buFont typeface="Arial"/>
              <a:buChar char="•"/>
              <a:defRPr/>
            </a:lvl6pPr>
            <a:lvl7pPr marL="15623049" indent="-370349" algn="l" rtl="0">
              <a:spcBef>
                <a:spcPts val="2100"/>
              </a:spcBef>
              <a:buClr>
                <a:schemeClr val="dk1"/>
              </a:buClr>
              <a:buFont typeface="Arial"/>
              <a:buChar char="•"/>
              <a:defRPr/>
            </a:lvl7pPr>
            <a:lvl8pPr marL="18026596" indent="-373595" algn="l" rtl="0">
              <a:spcBef>
                <a:spcPts val="2100"/>
              </a:spcBef>
              <a:buClr>
                <a:schemeClr val="dk1"/>
              </a:buClr>
              <a:buFont typeface="Arial"/>
              <a:buChar char="•"/>
              <a:defRPr/>
            </a:lvl8pPr>
            <a:lvl9pPr marL="20430142" indent="-364142" algn="l" rtl="0">
              <a:spcBef>
                <a:spcPts val="2100"/>
              </a:spcBef>
              <a:buClr>
                <a:schemeClr val="dk1"/>
              </a:buClr>
              <a:buFont typeface="Arial"/>
              <a:buChar char="•"/>
              <a:defRPr/>
            </a:lvl9pPr>
          </a:lstStyle>
          <a:p>
            <a:endParaRPr/>
          </a:p>
        </p:txBody>
      </p:sp>
      <p:sp>
        <p:nvSpPr>
          <p:cNvPr id="80" name="Shape 80"/>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81" name="Shape 81"/>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82" name="Shape 82"/>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chemeClr val="dk1"/>
              </a:buClr>
              <a:buFont typeface="Calibri"/>
              <a:buNone/>
              <a:defRPr/>
            </a:lvl1pPr>
            <a:lvl2pPr marL="0" marR="0" indent="0" algn="l" rtl="0">
              <a:lnSpc>
                <a:spcPct val="100000"/>
              </a:lnSpc>
              <a:spcBef>
                <a:spcPts val="0"/>
              </a:spcBef>
              <a:spcAft>
                <a:spcPts val="0"/>
              </a:spcAft>
              <a:buClr>
                <a:srgbClr val="000000"/>
              </a:buClr>
              <a:buFont typeface="Arial"/>
              <a:buNone/>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10" name="Shape 10"/>
          <p:cNvSpPr txBox="1">
            <a:spLocks noGrp="1"/>
          </p:cNvSpPr>
          <p:nvPr>
            <p:ph type="body" idx="1"/>
          </p:nvPr>
        </p:nvSpPr>
        <p:spPr>
          <a:xfrm>
            <a:off x="2194558" y="7680963"/>
            <a:ext cx="39502080" cy="21724621"/>
          </a:xfrm>
          <a:prstGeom prst="rect">
            <a:avLst/>
          </a:prstGeom>
          <a:noFill/>
          <a:ln>
            <a:noFill/>
          </a:ln>
        </p:spPr>
        <p:txBody>
          <a:bodyPr lIns="91425" tIns="91425" rIns="91425" bIns="91425" anchor="t" anchorCtr="0"/>
          <a:lstStyle>
            <a:lvl1pPr marL="1802659" marR="0" indent="-558058" algn="l" rtl="0">
              <a:lnSpc>
                <a:spcPct val="100000"/>
              </a:lnSpc>
              <a:spcBef>
                <a:spcPts val="3360"/>
              </a:spcBef>
              <a:spcAft>
                <a:spcPts val="0"/>
              </a:spcAft>
              <a:buClr>
                <a:schemeClr val="dk1"/>
              </a:buClr>
              <a:buFont typeface="Arial"/>
              <a:buChar char="•"/>
              <a:defRPr/>
            </a:lvl1pPr>
            <a:lvl2pPr marL="3905762" marR="0" indent="-400561" algn="l" rtl="0">
              <a:lnSpc>
                <a:spcPct val="100000"/>
              </a:lnSpc>
              <a:spcBef>
                <a:spcPts val="2940"/>
              </a:spcBef>
              <a:spcAft>
                <a:spcPts val="0"/>
              </a:spcAft>
              <a:buClr>
                <a:schemeClr val="dk1"/>
              </a:buClr>
              <a:buFont typeface="Arial"/>
              <a:buChar char="–"/>
              <a:defRPr/>
            </a:lvl2pPr>
            <a:lvl3pPr marL="6008865" marR="0" indent="-230365" algn="l" rtl="0">
              <a:lnSpc>
                <a:spcPct val="100000"/>
              </a:lnSpc>
              <a:spcBef>
                <a:spcPts val="2520"/>
              </a:spcBef>
              <a:spcAft>
                <a:spcPts val="0"/>
              </a:spcAft>
              <a:buClr>
                <a:schemeClr val="dk1"/>
              </a:buClr>
              <a:buFont typeface="Arial"/>
              <a:buChar char="•"/>
              <a:defRPr/>
            </a:lvl3pPr>
            <a:lvl4pPr marL="8412411" marR="0" indent="-373311" algn="l" rtl="0">
              <a:lnSpc>
                <a:spcPct val="100000"/>
              </a:lnSpc>
              <a:spcBef>
                <a:spcPts val="2100"/>
              </a:spcBef>
              <a:spcAft>
                <a:spcPts val="0"/>
              </a:spcAft>
              <a:buClr>
                <a:schemeClr val="dk1"/>
              </a:buClr>
              <a:buFont typeface="Arial"/>
              <a:buChar char="–"/>
              <a:defRPr/>
            </a:lvl4pPr>
            <a:lvl5pPr marL="10815958" marR="0" indent="-363857" algn="l" rtl="0">
              <a:lnSpc>
                <a:spcPct val="100000"/>
              </a:lnSpc>
              <a:spcBef>
                <a:spcPts val="2100"/>
              </a:spcBef>
              <a:spcAft>
                <a:spcPts val="0"/>
              </a:spcAft>
              <a:buClr>
                <a:schemeClr val="dk1"/>
              </a:buClr>
              <a:buFont typeface="Arial"/>
              <a:buChar char="»"/>
              <a:defRPr/>
            </a:lvl5pPr>
            <a:lvl6pPr marL="13219505" marR="0" indent="-367104" algn="l" rtl="0">
              <a:lnSpc>
                <a:spcPct val="100000"/>
              </a:lnSpc>
              <a:spcBef>
                <a:spcPts val="2100"/>
              </a:spcBef>
              <a:spcAft>
                <a:spcPts val="0"/>
              </a:spcAft>
              <a:buClr>
                <a:schemeClr val="dk1"/>
              </a:buClr>
              <a:buFont typeface="Arial"/>
              <a:buChar char="•"/>
              <a:defRPr/>
            </a:lvl6pPr>
            <a:lvl7pPr marL="15623049" marR="0" indent="-370349" algn="l" rtl="0">
              <a:lnSpc>
                <a:spcPct val="100000"/>
              </a:lnSpc>
              <a:spcBef>
                <a:spcPts val="2100"/>
              </a:spcBef>
              <a:spcAft>
                <a:spcPts val="0"/>
              </a:spcAft>
              <a:buClr>
                <a:schemeClr val="dk1"/>
              </a:buClr>
              <a:buFont typeface="Arial"/>
              <a:buChar char="•"/>
              <a:defRPr/>
            </a:lvl7pPr>
            <a:lvl8pPr marL="18026596" marR="0" indent="-373595" algn="l" rtl="0">
              <a:lnSpc>
                <a:spcPct val="100000"/>
              </a:lnSpc>
              <a:spcBef>
                <a:spcPts val="2100"/>
              </a:spcBef>
              <a:spcAft>
                <a:spcPts val="0"/>
              </a:spcAft>
              <a:buClr>
                <a:schemeClr val="dk1"/>
              </a:buClr>
              <a:buFont typeface="Arial"/>
              <a:buChar char="•"/>
              <a:defRPr/>
            </a:lvl8pPr>
            <a:lvl9pPr marL="20430142" marR="0" indent="-364142" algn="l" rtl="0">
              <a:lnSpc>
                <a:spcPct val="100000"/>
              </a:lnSpc>
              <a:spcBef>
                <a:spcPts val="2100"/>
              </a:spcBef>
              <a:spcAft>
                <a:spcPts val="0"/>
              </a:spcAft>
              <a:buClr>
                <a:schemeClr val="dk1"/>
              </a:buClr>
              <a:buFont typeface="Arial"/>
              <a:buChar char="•"/>
              <a:defRPr/>
            </a:lvl9pPr>
          </a:lstStyle>
          <a:p>
            <a:endParaRPr/>
          </a:p>
        </p:txBody>
      </p:sp>
      <p:sp>
        <p:nvSpPr>
          <p:cNvPr id="11" name="Shape 11"/>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2" name="Shape 12"/>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3" name="Shape 13"/>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hyperlink" Target="http://dondi.github.io/GRNsight/" TargetMode="External"/><Relationship Id="rId18" Type="http://schemas.openxmlformats.org/officeDocument/2006/relationships/image" Target="../media/image14.png"/><Relationship Id="rId26" Type="http://schemas.openxmlformats.org/officeDocument/2006/relationships/image" Target="../media/image22.png"/><Relationship Id="rId3" Type="http://schemas.openxmlformats.org/officeDocument/2006/relationships/image" Target="../media/image1.png"/><Relationship Id="rId21" Type="http://schemas.openxmlformats.org/officeDocument/2006/relationships/image" Target="../media/image17.png"/><Relationship Id="rId7" Type="http://schemas.openxmlformats.org/officeDocument/2006/relationships/image" Target="../media/image5.jpeg"/><Relationship Id="rId12" Type="http://schemas.openxmlformats.org/officeDocument/2006/relationships/hyperlink" Target="https://doi.org/10.1093/genetics/iyae049" TargetMode="External"/><Relationship Id="rId17" Type="http://schemas.openxmlformats.org/officeDocument/2006/relationships/image" Target="../media/image13.png"/><Relationship Id="rId25" Type="http://schemas.openxmlformats.org/officeDocument/2006/relationships/image" Target="../media/image21.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16.png"/><Relationship Id="rId29"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24" Type="http://schemas.openxmlformats.org/officeDocument/2006/relationships/image" Target="../media/image20.png"/><Relationship Id="rId5" Type="http://schemas.openxmlformats.org/officeDocument/2006/relationships/image" Target="../media/image3.jpeg"/><Relationship Id="rId15" Type="http://schemas.openxmlformats.org/officeDocument/2006/relationships/image" Target="../media/image11.png"/><Relationship Id="rId23" Type="http://schemas.openxmlformats.org/officeDocument/2006/relationships/image" Target="../media/image19.jpeg"/><Relationship Id="rId28" Type="http://schemas.openxmlformats.org/officeDocument/2006/relationships/image" Target="../media/image24.png"/><Relationship Id="rId10" Type="http://schemas.openxmlformats.org/officeDocument/2006/relationships/image" Target="../media/image8.png"/><Relationship Id="rId19"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3.png"/><Relationship Id="rId30"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1E9E8"/>
            </a:gs>
            <a:gs pos="75000">
              <a:srgbClr val="16693F"/>
            </a:gs>
          </a:gsLst>
          <a:lin ang="16200000" scaled="0"/>
          <a:tileRect/>
        </a:gradFill>
        <a:effectLst/>
      </p:bgPr>
    </p:bg>
    <p:spTree>
      <p:nvGrpSpPr>
        <p:cNvPr id="1" name="Shape 83">
          <a:extLst>
            <a:ext uri="{FF2B5EF4-FFF2-40B4-BE49-F238E27FC236}">
              <a16:creationId xmlns:a16="http://schemas.microsoft.com/office/drawing/2014/main" id="{C1DA70C1-BE00-890D-EF75-25D439BD1E8B}"/>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8B931EB3-933D-9D98-43AB-AAB49B8EBE14}"/>
              </a:ext>
            </a:extLst>
          </p:cNvPr>
          <p:cNvPicPr>
            <a:picLocks noChangeAspect="1"/>
          </p:cNvPicPr>
          <p:nvPr/>
        </p:nvPicPr>
        <p:blipFill>
          <a:blip r:embed="rId3"/>
          <a:stretch>
            <a:fillRect/>
          </a:stretch>
        </p:blipFill>
        <p:spPr>
          <a:xfrm>
            <a:off x="8655719" y="8867992"/>
            <a:ext cx="3029734" cy="5297676"/>
          </a:xfrm>
          <a:prstGeom prst="rect">
            <a:avLst/>
          </a:prstGeom>
        </p:spPr>
      </p:pic>
      <p:sp>
        <p:nvSpPr>
          <p:cNvPr id="86" name="Rounded Rectangle 85">
            <a:extLst>
              <a:ext uri="{FF2B5EF4-FFF2-40B4-BE49-F238E27FC236}">
                <a16:creationId xmlns:a16="http://schemas.microsoft.com/office/drawing/2014/main" id="{FEA5B8F8-3958-829C-2DAA-0BE0EB7E3D3D}"/>
              </a:ext>
            </a:extLst>
          </p:cNvPr>
          <p:cNvSpPr/>
          <p:nvPr/>
        </p:nvSpPr>
        <p:spPr>
          <a:xfrm>
            <a:off x="659486" y="6244761"/>
            <a:ext cx="21743608" cy="26082806"/>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I’</a:t>
            </a:r>
            <a:endParaRPr lang="en-US"/>
          </a:p>
        </p:txBody>
      </p:sp>
      <p:sp>
        <p:nvSpPr>
          <p:cNvPr id="88" name="Rounded Rectangle 87">
            <a:extLst>
              <a:ext uri="{FF2B5EF4-FFF2-40B4-BE49-F238E27FC236}">
                <a16:creationId xmlns:a16="http://schemas.microsoft.com/office/drawing/2014/main" id="{3D4FACED-B2F5-B1C4-153A-C0A978FD2DAE}"/>
              </a:ext>
            </a:extLst>
          </p:cNvPr>
          <p:cNvSpPr/>
          <p:nvPr/>
        </p:nvSpPr>
        <p:spPr>
          <a:xfrm>
            <a:off x="22659084" y="6250232"/>
            <a:ext cx="10236960" cy="26082806"/>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00" baseline="0">
                <a:latin typeface="Arial"/>
              </a:rPr>
              <a:t>engagement </a:t>
            </a:r>
            <a:endParaRPr lang="en-US">
              <a:cs typeface="Arial"/>
            </a:endParaRPr>
          </a:p>
        </p:txBody>
      </p:sp>
      <p:sp>
        <p:nvSpPr>
          <p:cNvPr id="177" name="Title 1">
            <a:extLst>
              <a:ext uri="{FF2B5EF4-FFF2-40B4-BE49-F238E27FC236}">
                <a16:creationId xmlns:a16="http://schemas.microsoft.com/office/drawing/2014/main" id="{3AAB6A34-3D70-F470-6142-8C4E003AA2A8}"/>
              </a:ext>
            </a:extLst>
          </p:cNvPr>
          <p:cNvSpPr txBox="1">
            <a:spLocks/>
          </p:cNvSpPr>
          <p:nvPr/>
        </p:nvSpPr>
        <p:spPr>
          <a:xfrm>
            <a:off x="3144251" y="6562260"/>
            <a:ext cx="16796084" cy="1019860"/>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err="1">
                <a:solidFill>
                  <a:srgbClr val="16693F"/>
                </a:solidFill>
              </a:rPr>
              <a:t>GRNsight</a:t>
            </a:r>
            <a:r>
              <a:rPr lang="en-US" sz="2800" b="1">
                <a:solidFill>
                  <a:srgbClr val="16693F"/>
                </a:solidFill>
              </a:rPr>
              <a:t>, automatically lays out a gene regulatory network (GRN) graph, coloring the edges based on regulatory weights, and the nodes based on experimental or simulated expression data</a:t>
            </a:r>
          </a:p>
        </p:txBody>
      </p:sp>
      <p:sp>
        <p:nvSpPr>
          <p:cNvPr id="39" name="TextBox 38">
            <a:extLst>
              <a:ext uri="{FF2B5EF4-FFF2-40B4-BE49-F238E27FC236}">
                <a16:creationId xmlns:a16="http://schemas.microsoft.com/office/drawing/2014/main" id="{C74F1EEE-DC86-AB64-AA75-0E3C730CAE30}"/>
              </a:ext>
            </a:extLst>
          </p:cNvPr>
          <p:cNvSpPr txBox="1"/>
          <p:nvPr/>
        </p:nvSpPr>
        <p:spPr>
          <a:xfrm>
            <a:off x="22811147" y="29299131"/>
            <a:ext cx="9692817" cy="954107"/>
          </a:xfrm>
          <a:prstGeom prst="rect">
            <a:avLst/>
          </a:prstGeom>
          <a:noFill/>
        </p:spPr>
        <p:txBody>
          <a:bodyPr wrap="square" lIns="91440" tIns="45720" rIns="91440" bIns="45720" rtlCol="0" anchor="t">
            <a:spAutoFit/>
          </a:bodyPr>
          <a:lstStyle/>
          <a:p>
            <a:pPr algn="ctr"/>
            <a:r>
              <a:rPr lang="en-US" sz="2800" b="1" dirty="0">
                <a:solidFill>
                  <a:srgbClr val="16693F"/>
                </a:solidFill>
              </a:rPr>
              <a:t>New file naming scheme for exported files simplifies </a:t>
            </a:r>
            <a:r>
              <a:rPr lang="en-US" sz="2800" b="1">
                <a:solidFill>
                  <a:srgbClr val="16693F"/>
                </a:solidFill>
              </a:rPr>
              <a:t>information provided to the user</a:t>
            </a:r>
            <a:endParaRPr lang="en-US"/>
          </a:p>
        </p:txBody>
      </p:sp>
      <p:grpSp>
        <p:nvGrpSpPr>
          <p:cNvPr id="2" name="Group 1">
            <a:extLst>
              <a:ext uri="{FF2B5EF4-FFF2-40B4-BE49-F238E27FC236}">
                <a16:creationId xmlns:a16="http://schemas.microsoft.com/office/drawing/2014/main" id="{7C98DB9A-D907-44DF-404A-41EE4A40A517}"/>
              </a:ext>
            </a:extLst>
          </p:cNvPr>
          <p:cNvGrpSpPr/>
          <p:nvPr/>
        </p:nvGrpSpPr>
        <p:grpSpPr>
          <a:xfrm>
            <a:off x="655149" y="902089"/>
            <a:ext cx="42736498" cy="4968090"/>
            <a:chOff x="577351" y="631663"/>
            <a:chExt cx="42736498" cy="4968090"/>
          </a:xfrm>
        </p:grpSpPr>
        <p:sp>
          <p:nvSpPr>
            <p:cNvPr id="3" name="Rounded Rectangle 2">
              <a:extLst>
                <a:ext uri="{FF2B5EF4-FFF2-40B4-BE49-F238E27FC236}">
                  <a16:creationId xmlns:a16="http://schemas.microsoft.com/office/drawing/2014/main" id="{1893EF65-AB59-1DA4-5401-8F292504D2EC}"/>
                </a:ext>
              </a:extLst>
            </p:cNvPr>
            <p:cNvSpPr/>
            <p:nvPr/>
          </p:nvSpPr>
          <p:spPr>
            <a:xfrm>
              <a:off x="577351" y="631663"/>
              <a:ext cx="42736498" cy="4968090"/>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74645141-D386-E710-709B-DF90CAB3AD40}"/>
                </a:ext>
              </a:extLst>
            </p:cNvPr>
            <p:cNvPicPr>
              <a:picLocks noChangeAspect="1"/>
            </p:cNvPicPr>
            <p:nvPr/>
          </p:nvPicPr>
          <p:blipFill rotWithShape="1">
            <a:blip r:embed="rId4"/>
            <a:srcRect b="8674"/>
            <a:stretch/>
          </p:blipFill>
          <p:spPr>
            <a:xfrm>
              <a:off x="1065202" y="2746700"/>
              <a:ext cx="5099916" cy="2756983"/>
            </a:xfrm>
            <a:prstGeom prst="rect">
              <a:avLst/>
            </a:prstGeom>
            <a:ln>
              <a:noFill/>
            </a:ln>
          </p:spPr>
        </p:pic>
        <p:sp>
          <p:nvSpPr>
            <p:cNvPr id="5" name="Rectangle 4">
              <a:extLst>
                <a:ext uri="{FF2B5EF4-FFF2-40B4-BE49-F238E27FC236}">
                  <a16:creationId xmlns:a16="http://schemas.microsoft.com/office/drawing/2014/main" id="{994D615D-B96D-E9CD-447F-96E2165AD7A6}"/>
                </a:ext>
              </a:extLst>
            </p:cNvPr>
            <p:cNvSpPr/>
            <p:nvPr/>
          </p:nvSpPr>
          <p:spPr>
            <a:xfrm>
              <a:off x="2576300" y="699662"/>
              <a:ext cx="38738601" cy="4708981"/>
            </a:xfrm>
            <a:prstGeom prst="rect">
              <a:avLst/>
            </a:prstGeom>
            <a:ln>
              <a:noFill/>
            </a:ln>
          </p:spPr>
          <p:txBody>
            <a:bodyPr wrap="square" lIns="91440" tIns="45720" rIns="91440" bIns="45720" anchor="t">
              <a:spAutoFit/>
            </a:bodyPr>
            <a:lstStyle/>
            <a:p>
              <a:pPr algn="ctr"/>
              <a:r>
                <a:rPr lang="en-US" sz="6800" b="1">
                  <a:solidFill>
                    <a:srgbClr val="16693F"/>
                  </a:solidFill>
                </a:rPr>
                <a:t>Improved User Interface and Export Functionality for </a:t>
              </a:r>
              <a:r>
                <a:rPr lang="en-US" sz="6800" b="1" err="1">
                  <a:solidFill>
                    <a:srgbClr val="16693F"/>
                  </a:solidFill>
                </a:rPr>
                <a:t>GRNsight</a:t>
              </a:r>
              <a:r>
                <a:rPr lang="en-US" sz="6800" b="1">
                  <a:solidFill>
                    <a:srgbClr val="16693F"/>
                  </a:solidFill>
                </a:rPr>
                <a:t> 7.6, a Web Application for Visualizing Gene Regulatory and Protein-Protein Interaction Network  Models</a:t>
              </a:r>
              <a:endParaRPr lang="en-US" sz="6800" b="1"/>
            </a:p>
            <a:p>
              <a:pPr algn="ctr"/>
              <a:endParaRPr lang="en-US" sz="4000"/>
            </a:p>
            <a:p>
              <a:pPr algn="ctr"/>
              <a:r>
                <a:rPr lang="en-US" sz="4000"/>
                <a:t>Amelie T. Dinh</a:t>
              </a:r>
              <a:r>
                <a:rPr lang="en-US" sz="4000" baseline="30000"/>
                <a:t>1</a:t>
              </a:r>
              <a:r>
                <a:rPr lang="en-US" sz="4000"/>
                <a:t>, Milka Y. Zekarias</a:t>
              </a:r>
              <a:r>
                <a:rPr lang="en-US" sz="4000" baseline="30000"/>
                <a:t>1</a:t>
              </a:r>
              <a:r>
                <a:rPr lang="en-US" sz="4000"/>
                <a:t>, Jia S. Garcia</a:t>
              </a:r>
              <a:r>
                <a:rPr lang="en-US" sz="4000" baseline="30000"/>
                <a:t>1</a:t>
              </a:r>
              <a:r>
                <a:rPr lang="en-US" sz="4000"/>
                <a:t>, Alex J. Miller</a:t>
              </a:r>
              <a:r>
                <a:rPr lang="en-US" sz="4000" baseline="30000"/>
                <a:t>1</a:t>
              </a:r>
              <a:r>
                <a:rPr lang="en-US" sz="4000"/>
                <a:t>, Cindy L. Tong</a:t>
              </a:r>
              <a:r>
                <a:rPr lang="en-US" sz="4000" baseline="30000"/>
                <a:t>1</a:t>
              </a:r>
              <a:r>
                <a:rPr lang="en-US" sz="4000"/>
                <a:t>, Kam</a:t>
              </a:r>
              <a:r>
                <a:rPr lang="en-US" sz="4000" b="0" i="0" u="none" strike="noStrike" cap="none">
                  <a:solidFill>
                    <a:srgbClr val="000000"/>
                  </a:solidFill>
                  <a:latin typeface="Arial"/>
                  <a:ea typeface="Arial"/>
                  <a:cs typeface="Arial"/>
                  <a:sym typeface="Arial"/>
                </a:rPr>
                <a:t> D. Dahlquist</a:t>
              </a:r>
              <a:r>
                <a:rPr lang="en-US" sz="4000" baseline="30000"/>
                <a:t>2</a:t>
              </a:r>
              <a:r>
                <a:rPr lang="en-US" sz="4000" b="0" i="0" u="none" strike="noStrike" cap="none">
                  <a:solidFill>
                    <a:srgbClr val="000000"/>
                  </a:solidFill>
                  <a:latin typeface="Arial"/>
                  <a:ea typeface="Arial"/>
                  <a:cs typeface="Arial"/>
                  <a:sym typeface="Arial"/>
                </a:rPr>
                <a:t>, John David N. Dionisio</a:t>
              </a:r>
              <a:r>
                <a:rPr lang="en-US" sz="4000" b="0" i="0" u="none" strike="noStrike" cap="none" baseline="30000">
                  <a:solidFill>
                    <a:srgbClr val="000000"/>
                  </a:solidFill>
                  <a:latin typeface="Arial"/>
                  <a:ea typeface="Arial"/>
                  <a:cs typeface="Arial"/>
                  <a:sym typeface="Arial"/>
                </a:rPr>
                <a:t>1</a:t>
              </a:r>
              <a:endParaRPr lang="en-US" sz="4000" b="1" baseline="30000">
                <a:latin typeface="Arial" panose="020B0604020202020204" pitchFamily="34" charset="0"/>
              </a:endParaRPr>
            </a:p>
            <a:p>
              <a:pPr algn="ctr"/>
              <a:r>
                <a:rPr lang="en-US" sz="2800" b="1"/>
                <a:t>Departments of </a:t>
              </a:r>
              <a:r>
                <a:rPr lang="en-US" sz="2800" b="1" baseline="30000"/>
                <a:t>1</a:t>
              </a:r>
              <a:r>
                <a:rPr lang="en-US" sz="2800" b="1"/>
                <a:t>Computer Science and </a:t>
              </a:r>
              <a:r>
                <a:rPr lang="en-US" sz="2800" b="1" baseline="30000"/>
                <a:t>2</a:t>
              </a:r>
              <a:r>
                <a:rPr lang="en-US" sz="2800" b="1"/>
                <a:t>Biology, Loyola Marymount University, 1 LMU Drive, Los Angeles, CA 90045 USA</a:t>
              </a:r>
            </a:p>
            <a:p>
              <a:pPr algn="ctr"/>
              <a:endParaRPr lang="en-US" sz="800">
                <a:latin typeface="Arial" panose="020B0604020202020204" pitchFamily="34" charset="0"/>
              </a:endParaRPr>
            </a:p>
            <a:p>
              <a:pPr algn="ctr"/>
              <a:endParaRPr lang="en-US" sz="800">
                <a:latin typeface="Arial" panose="020B0604020202020204" pitchFamily="34" charset="0"/>
              </a:endParaRPr>
            </a:p>
            <a:p>
              <a:pPr algn="ctr"/>
              <a:r>
                <a:rPr lang="en-US" sz="4000" b="1">
                  <a:solidFill>
                    <a:srgbClr val="16693F"/>
                  </a:solidFill>
                </a:rPr>
                <a:t>http://</a:t>
              </a:r>
              <a:r>
                <a:rPr lang="en-US" sz="4000" b="1" err="1">
                  <a:solidFill>
                    <a:srgbClr val="16693F"/>
                  </a:solidFill>
                </a:rPr>
                <a:t>dondi.github.io</a:t>
              </a:r>
              <a:r>
                <a:rPr lang="en-US" sz="4000" b="1">
                  <a:solidFill>
                    <a:srgbClr val="16693F"/>
                  </a:solidFill>
                </a:rPr>
                <a:t>/</a:t>
              </a:r>
              <a:r>
                <a:rPr lang="en-US" sz="4000" b="1" err="1">
                  <a:solidFill>
                    <a:srgbClr val="16693F"/>
                  </a:solidFill>
                </a:rPr>
                <a:t>GRNsight</a:t>
              </a:r>
              <a:r>
                <a:rPr lang="en-US" sz="4000" b="1">
                  <a:solidFill>
                    <a:srgbClr val="16693F"/>
                  </a:solidFill>
                </a:rPr>
                <a:t>/</a:t>
              </a:r>
            </a:p>
          </p:txBody>
        </p:sp>
      </p:grpSp>
      <p:sp>
        <p:nvSpPr>
          <p:cNvPr id="195" name="Google Shape;130;p1">
            <a:extLst>
              <a:ext uri="{FF2B5EF4-FFF2-40B4-BE49-F238E27FC236}">
                <a16:creationId xmlns:a16="http://schemas.microsoft.com/office/drawing/2014/main" id="{42CAC291-2710-976F-2A8B-A214D085C2E2}"/>
              </a:ext>
            </a:extLst>
          </p:cNvPr>
          <p:cNvSpPr txBox="1"/>
          <p:nvPr/>
        </p:nvSpPr>
        <p:spPr>
          <a:xfrm>
            <a:off x="11213993" y="13048643"/>
            <a:ext cx="323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endParaRPr sz="1400" b="0" i="0" u="none" strike="noStrike" cap="none">
              <a:solidFill>
                <a:srgbClr val="000000"/>
              </a:solidFill>
              <a:latin typeface="Arial"/>
              <a:ea typeface="Arial"/>
              <a:cs typeface="Arial"/>
              <a:sym typeface="Arial"/>
            </a:endParaRPr>
          </a:p>
        </p:txBody>
      </p:sp>
      <p:grpSp>
        <p:nvGrpSpPr>
          <p:cNvPr id="19" name="Group 18">
            <a:extLst>
              <a:ext uri="{FF2B5EF4-FFF2-40B4-BE49-F238E27FC236}">
                <a16:creationId xmlns:a16="http://schemas.microsoft.com/office/drawing/2014/main" id="{33B21B1F-AB77-F112-1F3E-FBC561114C6E}"/>
              </a:ext>
            </a:extLst>
          </p:cNvPr>
          <p:cNvGrpSpPr/>
          <p:nvPr/>
        </p:nvGrpSpPr>
        <p:grpSpPr>
          <a:xfrm>
            <a:off x="7940247" y="8147968"/>
            <a:ext cx="13963720" cy="653684"/>
            <a:chOff x="17068110" y="7276093"/>
            <a:chExt cx="13963720" cy="653684"/>
          </a:xfrm>
        </p:grpSpPr>
        <p:pic>
          <p:nvPicPr>
            <p:cNvPr id="213" name="Picture 212">
              <a:extLst>
                <a:ext uri="{FF2B5EF4-FFF2-40B4-BE49-F238E27FC236}">
                  <a16:creationId xmlns:a16="http://schemas.microsoft.com/office/drawing/2014/main" id="{40EAC1C7-8B9B-1AFD-67A8-1C5023F2E093}"/>
                </a:ext>
              </a:extLst>
            </p:cNvPr>
            <p:cNvPicPr>
              <a:picLocks noChangeAspect="1"/>
            </p:cNvPicPr>
            <p:nvPr/>
          </p:nvPicPr>
          <p:blipFill rotWithShape="1">
            <a:blip r:embed="rId5">
              <a:extLst>
                <a:ext uri="{28A0092B-C50C-407E-A947-70E740481C1C}">
                  <a14:useLocalDpi xmlns:a14="http://schemas.microsoft.com/office/drawing/2010/main" val="0"/>
                </a:ext>
              </a:extLst>
            </a:blip>
            <a:srcRect l="2538" r="33299"/>
            <a:stretch/>
          </p:blipFill>
          <p:spPr>
            <a:xfrm>
              <a:off x="17068110" y="7276093"/>
              <a:ext cx="13421415" cy="653684"/>
            </a:xfrm>
            <a:prstGeom prst="rect">
              <a:avLst/>
            </a:prstGeom>
          </p:spPr>
        </p:pic>
        <p:pic>
          <p:nvPicPr>
            <p:cNvPr id="212" name="Picture 211">
              <a:extLst>
                <a:ext uri="{FF2B5EF4-FFF2-40B4-BE49-F238E27FC236}">
                  <a16:creationId xmlns:a16="http://schemas.microsoft.com/office/drawing/2014/main" id="{FDEC2420-5322-0E6D-A190-D76FB19DB3EB}"/>
                </a:ext>
              </a:extLst>
            </p:cNvPr>
            <p:cNvPicPr>
              <a:picLocks noChangeAspect="1"/>
            </p:cNvPicPr>
            <p:nvPr/>
          </p:nvPicPr>
          <p:blipFill rotWithShape="1">
            <a:blip r:embed="rId5">
              <a:extLst>
                <a:ext uri="{28A0092B-C50C-407E-A947-70E740481C1C}">
                  <a14:useLocalDpi xmlns:a14="http://schemas.microsoft.com/office/drawing/2010/main" val="0"/>
                </a:ext>
              </a:extLst>
            </a:blip>
            <a:srcRect l="94713" r="1563"/>
            <a:stretch/>
          </p:blipFill>
          <p:spPr>
            <a:xfrm>
              <a:off x="30252957" y="7276093"/>
              <a:ext cx="778873" cy="653684"/>
            </a:xfrm>
            <a:prstGeom prst="rect">
              <a:avLst/>
            </a:prstGeom>
          </p:spPr>
        </p:pic>
      </p:grpSp>
      <p:sp>
        <p:nvSpPr>
          <p:cNvPr id="215" name="TextBox 214">
            <a:extLst>
              <a:ext uri="{FF2B5EF4-FFF2-40B4-BE49-F238E27FC236}">
                <a16:creationId xmlns:a16="http://schemas.microsoft.com/office/drawing/2014/main" id="{0971870F-9A30-7C34-8AFA-724793620420}"/>
              </a:ext>
            </a:extLst>
          </p:cNvPr>
          <p:cNvSpPr txBox="1"/>
          <p:nvPr/>
        </p:nvSpPr>
        <p:spPr>
          <a:xfrm>
            <a:off x="1070266" y="8600558"/>
            <a:ext cx="7402673" cy="12064841"/>
          </a:xfrm>
          <a:prstGeom prst="rect">
            <a:avLst/>
          </a:prstGeom>
          <a:noFill/>
        </p:spPr>
        <p:txBody>
          <a:bodyPr wrap="square" lIns="91440" tIns="45720" rIns="91440" bIns="45720" rtlCol="0" anchor="t">
            <a:spAutoFit/>
          </a:bodyPr>
          <a:lstStyle/>
          <a:p>
            <a:pPr marL="342900" indent="-342900">
              <a:buFont typeface="+mj-lt"/>
              <a:buAutoNum type="arabicPeriod"/>
            </a:pPr>
            <a:r>
              <a:rPr lang="en-US" sz="2200" b="1" dirty="0">
                <a:latin typeface="Arial" panose="020B0604020202020204" pitchFamily="34" charset="0"/>
                <a:cs typeface="Arial" panose="020B0604020202020204" pitchFamily="34" charset="0"/>
              </a:rPr>
              <a:t>Network</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Demo files are provided.</a:t>
            </a:r>
          </a:p>
          <a:p>
            <a:pPr marL="690245" lvl="1" indent="-233045">
              <a:buFont typeface="Arial" panose="020B0604020202020204" pitchFamily="34" charset="0"/>
              <a:buChar char="•"/>
            </a:pPr>
            <a:r>
              <a:rPr lang="en-US" sz="2200" dirty="0"/>
              <a:t>Can import and export Excel, SIF, or </a:t>
            </a:r>
            <a:r>
              <a:rPr lang="en-US" sz="2200" dirty="0" err="1"/>
              <a:t>GraphML</a:t>
            </a:r>
            <a:r>
              <a:rPr lang="en-US" sz="2200" dirty="0"/>
              <a:t> files.</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Can construct a network from SGD regulation or PPI data stored in a backend database.</a:t>
            </a:r>
          </a:p>
          <a:p>
            <a:pPr marL="342900" indent="-342900">
              <a:buFont typeface="+mj-lt"/>
              <a:buAutoNum type="arabicPeriod"/>
            </a:pPr>
            <a:r>
              <a:rPr lang="en-US" sz="2200" b="1" dirty="0">
                <a:latin typeface="Arial" panose="020B0604020202020204" pitchFamily="34" charset="0"/>
                <a:cs typeface="Arial" panose="020B0604020202020204" pitchFamily="34" charset="0"/>
              </a:rPr>
              <a:t>Layout</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Users can select a force graph layout or grid layout.</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Force graph parameter sliders:</a:t>
            </a:r>
          </a:p>
          <a:p>
            <a:pPr marL="1147445" lvl="2" indent="-233045">
              <a:buFont typeface="Arial" panose="020B0604020202020204" pitchFamily="34" charset="0"/>
              <a:buChar char="‒"/>
            </a:pPr>
            <a:r>
              <a:rPr lang="en-US" dirty="0"/>
              <a:t>Link distance determines the minimum distance between nodes.</a:t>
            </a:r>
          </a:p>
          <a:p>
            <a:pPr marL="1147445" lvl="2" indent="-233045">
              <a:buFont typeface="Arial" panose="020B0604020202020204" pitchFamily="34" charset="0"/>
              <a:buChar char="‒"/>
            </a:pPr>
            <a:r>
              <a:rPr lang="en-US" dirty="0">
                <a:latin typeface="Arial" panose="020B0604020202020204" pitchFamily="34" charset="0"/>
                <a:cs typeface="Arial" panose="020B0604020202020204" pitchFamily="34" charset="0"/>
              </a:rPr>
              <a:t>Nodes have a charge which repels or attracts other nodes.</a:t>
            </a:r>
          </a:p>
          <a:p>
            <a:pPr marL="342900" indent="-342900">
              <a:buFont typeface="+mj-lt"/>
              <a:buAutoNum type="arabicPeriod"/>
            </a:pPr>
            <a:r>
              <a:rPr lang="en-US" sz="2200" b="1" dirty="0">
                <a:latin typeface="Arial" panose="020B0604020202020204" pitchFamily="34" charset="0"/>
                <a:cs typeface="Arial" panose="020B0604020202020204" pitchFamily="34" charset="0"/>
              </a:rPr>
              <a:t>Node</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Coloring can be based on user-uploaded expression data or from published expression datasets stored in a backend database.</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Datasets available: </a:t>
            </a:r>
          </a:p>
          <a:p>
            <a:pPr marL="1147445" lvl="2" indent="-233045">
              <a:buFont typeface="Arial" panose="020B0604020202020204" pitchFamily="34" charset="0"/>
              <a:buChar char="‒"/>
            </a:pPr>
            <a:r>
              <a:rPr lang="da-DK" sz="1800" dirty="0" err="1"/>
              <a:t>Apweiler</a:t>
            </a:r>
            <a:r>
              <a:rPr lang="da-DK" sz="1800" dirty="0"/>
              <a:t> et al. 2012, GSE33098</a:t>
            </a:r>
          </a:p>
          <a:p>
            <a:pPr marL="1147445" lvl="2" indent="-233045">
              <a:buFont typeface="Arial" panose="020B0604020202020204" pitchFamily="34" charset="0"/>
              <a:buChar char="‒"/>
            </a:pPr>
            <a:r>
              <a:rPr lang="da-DK" sz="1800" dirty="0" err="1"/>
              <a:t>Barreto</a:t>
            </a:r>
            <a:r>
              <a:rPr lang="da-DK" sz="1800" dirty="0"/>
              <a:t> et al. 2012, GSE24712</a:t>
            </a:r>
          </a:p>
          <a:p>
            <a:pPr marL="1147445" lvl="2" indent="-233045">
              <a:buFont typeface="Arial" panose="020B0604020202020204" pitchFamily="34" charset="0"/>
              <a:buChar char="‒"/>
            </a:pPr>
            <a:r>
              <a:rPr lang="da-DK" sz="1800" dirty="0">
                <a:latin typeface="Arial" panose="020B0604020202020204" pitchFamily="34" charset="0"/>
                <a:cs typeface="Arial" panose="020B0604020202020204" pitchFamily="34" charset="0"/>
              </a:rPr>
              <a:t>Dahlquist et al. 2018, GSE83656</a:t>
            </a:r>
          </a:p>
          <a:p>
            <a:pPr marL="1147445" lvl="2" indent="-233045">
              <a:buFont typeface="Arial" panose="020B0604020202020204" pitchFamily="34" charset="0"/>
              <a:buChar char="‒"/>
            </a:pPr>
            <a:r>
              <a:rPr lang="da-DK" sz="1800" dirty="0" err="1"/>
              <a:t>Kitagawa</a:t>
            </a:r>
            <a:r>
              <a:rPr lang="da-DK" sz="1800" dirty="0"/>
              <a:t> et al. 2002, GSE9336 </a:t>
            </a:r>
          </a:p>
          <a:p>
            <a:pPr marL="1147445" lvl="2" indent="-233045">
              <a:buFont typeface="Arial" panose="020B0604020202020204" pitchFamily="34" charset="0"/>
              <a:buChar char="‒"/>
            </a:pPr>
            <a:r>
              <a:rPr lang="da-DK" sz="1800" dirty="0">
                <a:latin typeface="Arial" panose="020B0604020202020204" pitchFamily="34" charset="0"/>
                <a:cs typeface="Arial" panose="020B0604020202020204" pitchFamily="34" charset="0"/>
              </a:rPr>
              <a:t>Thorsen et al. 2007, GSE6068</a:t>
            </a:r>
            <a:endParaRPr lang="en-US" sz="1800" dirty="0">
              <a:latin typeface="Arial" panose="020B0604020202020204" pitchFamily="34" charset="0"/>
              <a:cs typeface="Arial" panose="020B0604020202020204" pitchFamily="34" charset="0"/>
            </a:endParaRPr>
          </a:p>
          <a:p>
            <a:pPr marL="342900" indent="-342900">
              <a:buFont typeface="+mj-lt"/>
              <a:buAutoNum type="arabicPeriod"/>
            </a:pPr>
            <a:r>
              <a:rPr lang="en-US" sz="2200" b="1" dirty="0">
                <a:latin typeface="Arial" panose="020B0604020202020204" pitchFamily="34" charset="0"/>
                <a:cs typeface="Arial" panose="020B0604020202020204" pitchFamily="34" charset="0"/>
              </a:rPr>
              <a:t>Edge</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Edge coloring can be toggled on and off.</a:t>
            </a:r>
          </a:p>
          <a:p>
            <a:pPr marL="690245" lvl="1" indent="-233045">
              <a:buFont typeface="Arial" panose="020B0604020202020204" pitchFamily="34" charset="0"/>
              <a:buChar char="•"/>
            </a:pPr>
            <a:r>
              <a:rPr lang="en-US" sz="2200" dirty="0">
                <a:solidFill>
                  <a:srgbClr val="222222"/>
                </a:solidFill>
                <a:highlight>
                  <a:srgbClr val="FFFFFF"/>
                </a:highlight>
              </a:rPr>
              <a:t>Buttons enable the user to always/never see edge weights or see them upon mouseover.</a:t>
            </a:r>
            <a:endParaRPr lang="en-US" dirty="0">
              <a:solidFill>
                <a:srgbClr val="222222"/>
              </a:solidFill>
              <a:highlight>
                <a:srgbClr val="FFFFFF"/>
              </a:highlight>
            </a:endParaRPr>
          </a:p>
          <a:p>
            <a:pPr marL="690245" lvl="1" indent="-233045">
              <a:buFont typeface="Arial" panose="020B0604020202020204" pitchFamily="34" charset="0"/>
              <a:buChar char="•"/>
            </a:pPr>
            <a:r>
              <a:rPr lang="en-US" sz="2200" dirty="0"/>
              <a:t>Allows user to set normalization factor so that edge thicknesses for different graphs can be rendered on the same scale.</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Changing the gray threshold deemphasizes weaker edges in the visualization.</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Presenting gray edges as dashed lines further deemphasizes weak edges.</a:t>
            </a:r>
          </a:p>
          <a:p>
            <a:pPr marL="342900" indent="-342900">
              <a:buFont typeface="+mj-lt"/>
              <a:buAutoNum type="arabicPeriod"/>
            </a:pPr>
            <a:r>
              <a:rPr lang="en-US" sz="2200" b="1" dirty="0">
                <a:latin typeface="Arial" panose="020B0604020202020204" pitchFamily="34" charset="0"/>
                <a:cs typeface="Arial" panose="020B0604020202020204" pitchFamily="34" charset="0"/>
              </a:rPr>
              <a:t>View</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Multiple viewport sizes available.</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Graph bounding box can be separated from viewport.</a:t>
            </a:r>
          </a:p>
          <a:p>
            <a:pPr marL="690245" lvl="1" indent="-233045">
              <a:buFont typeface="Arial" panose="020B0604020202020204" pitchFamily="34" charset="0"/>
              <a:buChar char="•"/>
            </a:pPr>
            <a:r>
              <a:rPr lang="en-US" sz="2200" dirty="0">
                <a:latin typeface="Arial" panose="020B0604020202020204" pitchFamily="34" charset="0"/>
                <a:cs typeface="Arial" panose="020B0604020202020204" pitchFamily="34" charset="0"/>
              </a:rPr>
              <a:t>Zooming and scrolling available.</a:t>
            </a:r>
            <a:endParaRPr lang="en-US" sz="2200" b="1" dirty="0">
              <a:latin typeface="Arial" panose="020B0604020202020204" pitchFamily="34" charset="0"/>
              <a:cs typeface="Arial" panose="020B0604020202020204" pitchFamily="34" charset="0"/>
            </a:endParaRPr>
          </a:p>
          <a:p>
            <a:pPr marL="342900" indent="-342900">
              <a:buFont typeface="+mj-lt"/>
              <a:buAutoNum type="arabicPeriod"/>
            </a:pPr>
            <a:endParaRPr lang="en-US" sz="2200" b="1" dirty="0">
              <a:latin typeface="Arial" panose="020B0604020202020204" pitchFamily="34" charset="0"/>
              <a:cs typeface="Arial" panose="020B0604020202020204" pitchFamily="34" charset="0"/>
            </a:endParaRPr>
          </a:p>
        </p:txBody>
      </p:sp>
      <p:pic>
        <p:nvPicPr>
          <p:cNvPr id="24" name="Picture 23">
            <a:extLst>
              <a:ext uri="{FF2B5EF4-FFF2-40B4-BE49-F238E27FC236}">
                <a16:creationId xmlns:a16="http://schemas.microsoft.com/office/drawing/2014/main" id="{26381296-91F8-558B-BE5F-7963791AA2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33985" y="14956854"/>
            <a:ext cx="2921000" cy="3073400"/>
          </a:xfrm>
          <a:prstGeom prst="rect">
            <a:avLst/>
          </a:prstGeom>
        </p:spPr>
      </p:pic>
      <p:pic>
        <p:nvPicPr>
          <p:cNvPr id="25" name="Picture 24">
            <a:extLst>
              <a:ext uri="{FF2B5EF4-FFF2-40B4-BE49-F238E27FC236}">
                <a16:creationId xmlns:a16="http://schemas.microsoft.com/office/drawing/2014/main" id="{6274D4F8-F058-AA10-AC3E-D834BC5722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63997" y="14928723"/>
            <a:ext cx="2959100" cy="5422900"/>
          </a:xfrm>
          <a:prstGeom prst="rect">
            <a:avLst/>
          </a:prstGeom>
        </p:spPr>
      </p:pic>
      <p:pic>
        <p:nvPicPr>
          <p:cNvPr id="29" name="Picture 28">
            <a:extLst>
              <a:ext uri="{FF2B5EF4-FFF2-40B4-BE49-F238E27FC236}">
                <a16:creationId xmlns:a16="http://schemas.microsoft.com/office/drawing/2014/main" id="{FF0B1177-36D3-CD7A-F23A-FBDEC4FCB74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819509" y="8864159"/>
            <a:ext cx="10058400" cy="5975287"/>
          </a:xfrm>
          <a:prstGeom prst="rect">
            <a:avLst/>
          </a:prstGeom>
        </p:spPr>
      </p:pic>
      <p:grpSp>
        <p:nvGrpSpPr>
          <p:cNvPr id="181" name="Google Shape;116;p1">
            <a:extLst>
              <a:ext uri="{FF2B5EF4-FFF2-40B4-BE49-F238E27FC236}">
                <a16:creationId xmlns:a16="http://schemas.microsoft.com/office/drawing/2014/main" id="{5B66115A-0044-EA0F-3DCE-9A61186C5917}"/>
              </a:ext>
            </a:extLst>
          </p:cNvPr>
          <p:cNvGrpSpPr/>
          <p:nvPr/>
        </p:nvGrpSpPr>
        <p:grpSpPr>
          <a:xfrm>
            <a:off x="19485046" y="12949669"/>
            <a:ext cx="1786246" cy="1743523"/>
            <a:chOff x="30688219" y="11355256"/>
            <a:chExt cx="1799200" cy="1743523"/>
          </a:xfrm>
        </p:grpSpPr>
        <p:sp>
          <p:nvSpPr>
            <p:cNvPr id="182" name="Google Shape;117;p1">
              <a:extLst>
                <a:ext uri="{FF2B5EF4-FFF2-40B4-BE49-F238E27FC236}">
                  <a16:creationId xmlns:a16="http://schemas.microsoft.com/office/drawing/2014/main" id="{85A77ED0-22A3-6152-5DF2-5BF8768F4C37}"/>
                </a:ext>
              </a:extLst>
            </p:cNvPr>
            <p:cNvSpPr/>
            <p:nvPr/>
          </p:nvSpPr>
          <p:spPr>
            <a:xfrm>
              <a:off x="30710519" y="11364179"/>
              <a:ext cx="1776900" cy="1734600"/>
            </a:xfrm>
            <a:prstGeom prst="rect">
              <a:avLst/>
            </a:prstGeom>
            <a:noFill/>
            <a:ln w="127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183" name="Google Shape;118;p1">
              <a:extLst>
                <a:ext uri="{FF2B5EF4-FFF2-40B4-BE49-F238E27FC236}">
                  <a16:creationId xmlns:a16="http://schemas.microsoft.com/office/drawing/2014/main" id="{670A53B3-4D95-BA88-AA8C-CC224B4FA13C}"/>
                </a:ext>
              </a:extLst>
            </p:cNvPr>
            <p:cNvCxnSpPr/>
            <p:nvPr/>
          </p:nvCxnSpPr>
          <p:spPr>
            <a:xfrm>
              <a:off x="32001200" y="12955670"/>
              <a:ext cx="365700" cy="0"/>
            </a:xfrm>
            <a:prstGeom prst="straightConnector1">
              <a:avLst/>
            </a:prstGeom>
            <a:noFill/>
            <a:ln w="34925" cap="flat" cmpd="sng">
              <a:solidFill>
                <a:srgbClr val="807F80"/>
              </a:solidFill>
              <a:prstDash val="solid"/>
              <a:round/>
              <a:headEnd type="none" w="sm" len="sm"/>
              <a:tailEnd type="triangle" w="med" len="med"/>
            </a:ln>
          </p:spPr>
        </p:cxnSp>
        <p:cxnSp>
          <p:nvCxnSpPr>
            <p:cNvPr id="184" name="Google Shape;119;p1">
              <a:extLst>
                <a:ext uri="{FF2B5EF4-FFF2-40B4-BE49-F238E27FC236}">
                  <a16:creationId xmlns:a16="http://schemas.microsoft.com/office/drawing/2014/main" id="{D019004F-0F3C-535C-7B0E-F443166346CD}"/>
                </a:ext>
              </a:extLst>
            </p:cNvPr>
            <p:cNvCxnSpPr/>
            <p:nvPr/>
          </p:nvCxnSpPr>
          <p:spPr>
            <a:xfrm>
              <a:off x="31629503" y="12281806"/>
              <a:ext cx="733500" cy="0"/>
            </a:xfrm>
            <a:prstGeom prst="straightConnector1">
              <a:avLst/>
            </a:prstGeom>
            <a:noFill/>
            <a:ln w="57150" cap="flat" cmpd="sng">
              <a:solidFill>
                <a:srgbClr val="C43D3C"/>
              </a:solidFill>
              <a:prstDash val="solid"/>
              <a:round/>
              <a:headEnd type="none" w="sm" len="sm"/>
              <a:tailEnd type="triangle" w="med" len="med"/>
            </a:ln>
          </p:spPr>
        </p:cxnSp>
        <p:grpSp>
          <p:nvGrpSpPr>
            <p:cNvPr id="185" name="Google Shape;120;p1">
              <a:extLst>
                <a:ext uri="{FF2B5EF4-FFF2-40B4-BE49-F238E27FC236}">
                  <a16:creationId xmlns:a16="http://schemas.microsoft.com/office/drawing/2014/main" id="{71F0E6F6-DB94-E1B8-CE2B-FCAF2BB313F7}"/>
                </a:ext>
              </a:extLst>
            </p:cNvPr>
            <p:cNvGrpSpPr/>
            <p:nvPr/>
          </p:nvGrpSpPr>
          <p:grpSpPr>
            <a:xfrm>
              <a:off x="31694421" y="12531373"/>
              <a:ext cx="673500" cy="174833"/>
              <a:chOff x="294155" y="3559219"/>
              <a:chExt cx="733500" cy="260400"/>
            </a:xfrm>
          </p:grpSpPr>
          <p:cxnSp>
            <p:nvCxnSpPr>
              <p:cNvPr id="192" name="Google Shape;121;p1">
                <a:extLst>
                  <a:ext uri="{FF2B5EF4-FFF2-40B4-BE49-F238E27FC236}">
                    <a16:creationId xmlns:a16="http://schemas.microsoft.com/office/drawing/2014/main" id="{FCD05DFA-1352-758B-4A5C-B65632243408}"/>
                  </a:ext>
                </a:extLst>
              </p:cNvPr>
              <p:cNvCxnSpPr/>
              <p:nvPr/>
            </p:nvCxnSpPr>
            <p:spPr>
              <a:xfrm>
                <a:off x="294155" y="3689468"/>
                <a:ext cx="733500" cy="0"/>
              </a:xfrm>
              <a:prstGeom prst="straightConnector1">
                <a:avLst/>
              </a:prstGeom>
              <a:noFill/>
              <a:ln w="57150" cap="flat" cmpd="sng">
                <a:solidFill>
                  <a:srgbClr val="337BB8"/>
                </a:solidFill>
                <a:prstDash val="solid"/>
                <a:round/>
                <a:headEnd type="none" w="sm" len="sm"/>
                <a:tailEnd type="none" w="sm" len="sm"/>
              </a:ln>
            </p:spPr>
          </p:cxnSp>
          <p:cxnSp>
            <p:nvCxnSpPr>
              <p:cNvPr id="193" name="Google Shape;122;p1">
                <a:extLst>
                  <a:ext uri="{FF2B5EF4-FFF2-40B4-BE49-F238E27FC236}">
                    <a16:creationId xmlns:a16="http://schemas.microsoft.com/office/drawing/2014/main" id="{6F8DE432-9149-7885-3F8B-99144608E682}"/>
                  </a:ext>
                </a:extLst>
              </p:cNvPr>
              <p:cNvCxnSpPr/>
              <p:nvPr/>
            </p:nvCxnSpPr>
            <p:spPr>
              <a:xfrm>
                <a:off x="1015403" y="3559219"/>
                <a:ext cx="0" cy="260400"/>
              </a:xfrm>
              <a:prstGeom prst="straightConnector1">
                <a:avLst/>
              </a:prstGeom>
              <a:noFill/>
              <a:ln w="57150" cap="rnd" cmpd="sng">
                <a:solidFill>
                  <a:srgbClr val="337BB8"/>
                </a:solidFill>
                <a:prstDash val="solid"/>
                <a:round/>
                <a:headEnd type="none" w="sm" len="sm"/>
                <a:tailEnd type="none" w="sm" len="sm"/>
              </a:ln>
            </p:spPr>
          </p:cxnSp>
        </p:grpSp>
        <p:sp>
          <p:nvSpPr>
            <p:cNvPr id="186" name="Google Shape;123;p1">
              <a:extLst>
                <a:ext uri="{FF2B5EF4-FFF2-40B4-BE49-F238E27FC236}">
                  <a16:creationId xmlns:a16="http://schemas.microsoft.com/office/drawing/2014/main" id="{C8B97C62-799C-C640-272C-F6D6C888D141}"/>
                </a:ext>
              </a:extLst>
            </p:cNvPr>
            <p:cNvSpPr txBox="1"/>
            <p:nvPr/>
          </p:nvSpPr>
          <p:spPr>
            <a:xfrm>
              <a:off x="30688219" y="12102149"/>
              <a:ext cx="94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activation</a:t>
              </a:r>
              <a:endParaRPr sz="1400" b="0" i="0" u="none" strike="noStrike" cap="none">
                <a:solidFill>
                  <a:srgbClr val="000000"/>
                </a:solidFill>
                <a:latin typeface="Arial"/>
                <a:ea typeface="Arial"/>
                <a:cs typeface="Arial"/>
                <a:sym typeface="Arial"/>
              </a:endParaRPr>
            </a:p>
          </p:txBody>
        </p:sp>
        <p:sp>
          <p:nvSpPr>
            <p:cNvPr id="187" name="Google Shape;124;p1">
              <a:extLst>
                <a:ext uri="{FF2B5EF4-FFF2-40B4-BE49-F238E27FC236}">
                  <a16:creationId xmlns:a16="http://schemas.microsoft.com/office/drawing/2014/main" id="{21A07E40-7D43-CB72-8440-2590808B2384}"/>
                </a:ext>
              </a:extLst>
            </p:cNvPr>
            <p:cNvSpPr txBox="1"/>
            <p:nvPr/>
          </p:nvSpPr>
          <p:spPr>
            <a:xfrm>
              <a:off x="30691825" y="12438742"/>
              <a:ext cx="1171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repression</a:t>
              </a:r>
              <a:endParaRPr sz="1400" b="0" i="0" u="none" strike="noStrike" cap="none">
                <a:solidFill>
                  <a:srgbClr val="000000"/>
                </a:solidFill>
                <a:latin typeface="Arial"/>
                <a:ea typeface="Arial"/>
                <a:cs typeface="Arial"/>
                <a:sym typeface="Arial"/>
              </a:endParaRPr>
            </a:p>
          </p:txBody>
        </p:sp>
        <p:sp>
          <p:nvSpPr>
            <p:cNvPr id="188" name="Google Shape;125;p1">
              <a:extLst>
                <a:ext uri="{FF2B5EF4-FFF2-40B4-BE49-F238E27FC236}">
                  <a16:creationId xmlns:a16="http://schemas.microsoft.com/office/drawing/2014/main" id="{28D7880B-3495-9AD0-7011-935F88622576}"/>
                </a:ext>
              </a:extLst>
            </p:cNvPr>
            <p:cNvSpPr txBox="1"/>
            <p:nvPr/>
          </p:nvSpPr>
          <p:spPr>
            <a:xfrm>
              <a:off x="30688219" y="12782546"/>
              <a:ext cx="1369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weak influence</a:t>
              </a:r>
              <a:endParaRPr sz="1400" b="0" i="0" u="none" strike="noStrike" cap="none">
                <a:solidFill>
                  <a:srgbClr val="000000"/>
                </a:solidFill>
                <a:latin typeface="Arial"/>
                <a:ea typeface="Arial"/>
                <a:cs typeface="Arial"/>
                <a:sym typeface="Arial"/>
              </a:endParaRPr>
            </a:p>
          </p:txBody>
        </p:sp>
        <p:pic>
          <p:nvPicPr>
            <p:cNvPr id="189" name="Google Shape;126;p1">
              <a:extLst>
                <a:ext uri="{FF2B5EF4-FFF2-40B4-BE49-F238E27FC236}">
                  <a16:creationId xmlns:a16="http://schemas.microsoft.com/office/drawing/2014/main" id="{88AF2F9A-EDC5-DC29-F500-29ED218F5257}"/>
                </a:ext>
              </a:extLst>
            </p:cNvPr>
            <p:cNvPicPr preferRelativeResize="0"/>
            <p:nvPr/>
          </p:nvPicPr>
          <p:blipFill rotWithShape="1">
            <a:blip r:embed="rId9">
              <a:alphaModFix/>
            </a:blip>
            <a:srcRect r="4532" b="11079"/>
            <a:stretch/>
          </p:blipFill>
          <p:spPr>
            <a:xfrm>
              <a:off x="31620078" y="11721299"/>
              <a:ext cx="752498" cy="355862"/>
            </a:xfrm>
            <a:prstGeom prst="rect">
              <a:avLst/>
            </a:prstGeom>
            <a:noFill/>
            <a:ln>
              <a:noFill/>
            </a:ln>
          </p:spPr>
        </p:pic>
        <p:sp>
          <p:nvSpPr>
            <p:cNvPr id="190" name="Google Shape;127;p1">
              <a:extLst>
                <a:ext uri="{FF2B5EF4-FFF2-40B4-BE49-F238E27FC236}">
                  <a16:creationId xmlns:a16="http://schemas.microsoft.com/office/drawing/2014/main" id="{0F665664-3E6A-F526-E27F-7A2E848486AD}"/>
                </a:ext>
              </a:extLst>
            </p:cNvPr>
            <p:cNvSpPr txBox="1"/>
            <p:nvPr/>
          </p:nvSpPr>
          <p:spPr>
            <a:xfrm>
              <a:off x="30698725" y="11760617"/>
              <a:ext cx="752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gene</a:t>
              </a:r>
              <a:endParaRPr sz="1400" b="0" i="0" u="none" strike="noStrike" cap="none">
                <a:solidFill>
                  <a:srgbClr val="000000"/>
                </a:solidFill>
                <a:latin typeface="Arial"/>
                <a:ea typeface="Arial"/>
                <a:cs typeface="Arial"/>
                <a:sym typeface="Arial"/>
              </a:endParaRPr>
            </a:p>
          </p:txBody>
        </p:sp>
        <p:sp>
          <p:nvSpPr>
            <p:cNvPr id="191" name="Google Shape;128;p1">
              <a:extLst>
                <a:ext uri="{FF2B5EF4-FFF2-40B4-BE49-F238E27FC236}">
                  <a16:creationId xmlns:a16="http://schemas.microsoft.com/office/drawing/2014/main" id="{7AEB72D8-136C-935C-8A85-A250D706E916}"/>
                </a:ext>
              </a:extLst>
            </p:cNvPr>
            <p:cNvSpPr txBox="1"/>
            <p:nvPr/>
          </p:nvSpPr>
          <p:spPr>
            <a:xfrm>
              <a:off x="30710516" y="11355256"/>
              <a:ext cx="17769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Key</a:t>
              </a:r>
              <a:endParaRPr sz="1400" b="0" i="0" u="none" strike="noStrike" cap="none">
                <a:solidFill>
                  <a:srgbClr val="000000"/>
                </a:solidFill>
                <a:latin typeface="Arial"/>
                <a:ea typeface="Arial"/>
                <a:cs typeface="Arial"/>
                <a:sym typeface="Arial"/>
              </a:endParaRPr>
            </a:p>
          </p:txBody>
        </p:sp>
      </p:grpSp>
      <p:sp>
        <p:nvSpPr>
          <p:cNvPr id="194" name="Google Shape;129;p1">
            <a:extLst>
              <a:ext uri="{FF2B5EF4-FFF2-40B4-BE49-F238E27FC236}">
                <a16:creationId xmlns:a16="http://schemas.microsoft.com/office/drawing/2014/main" id="{74A3CF04-CA08-39FC-F884-CA9B06E0AEFC}"/>
              </a:ext>
            </a:extLst>
          </p:cNvPr>
          <p:cNvSpPr txBox="1"/>
          <p:nvPr/>
        </p:nvSpPr>
        <p:spPr>
          <a:xfrm>
            <a:off x="8301396" y="8849098"/>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1</a:t>
            </a:r>
            <a:endParaRPr sz="1400" b="0" i="0" u="none" strike="noStrike" cap="none">
              <a:solidFill>
                <a:srgbClr val="C33B3B"/>
              </a:solidFill>
              <a:latin typeface="Arial"/>
              <a:ea typeface="Arial"/>
              <a:cs typeface="Arial"/>
              <a:sym typeface="Arial"/>
            </a:endParaRPr>
          </a:p>
        </p:txBody>
      </p:sp>
      <p:sp>
        <p:nvSpPr>
          <p:cNvPr id="203" name="Google Shape;141;p1">
            <a:extLst>
              <a:ext uri="{FF2B5EF4-FFF2-40B4-BE49-F238E27FC236}">
                <a16:creationId xmlns:a16="http://schemas.microsoft.com/office/drawing/2014/main" id="{FC5A5E27-25AD-453E-981C-96A7A68DECB4}"/>
              </a:ext>
            </a:extLst>
          </p:cNvPr>
          <p:cNvSpPr txBox="1"/>
          <p:nvPr/>
        </p:nvSpPr>
        <p:spPr>
          <a:xfrm>
            <a:off x="8301396" y="14157504"/>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2</a:t>
            </a:r>
            <a:endParaRPr sz="1400" b="0" i="0" u="none" strike="noStrike" cap="none">
              <a:solidFill>
                <a:srgbClr val="C33B3B"/>
              </a:solidFill>
              <a:latin typeface="Arial"/>
              <a:ea typeface="Arial"/>
              <a:cs typeface="Arial"/>
              <a:sym typeface="Arial"/>
            </a:endParaRPr>
          </a:p>
        </p:txBody>
      </p:sp>
      <p:sp>
        <p:nvSpPr>
          <p:cNvPr id="205" name="Google Shape;143;p1">
            <a:extLst>
              <a:ext uri="{FF2B5EF4-FFF2-40B4-BE49-F238E27FC236}">
                <a16:creationId xmlns:a16="http://schemas.microsoft.com/office/drawing/2014/main" id="{8FDDEF43-BFBC-0CC7-4ED1-A036902225FB}"/>
              </a:ext>
            </a:extLst>
          </p:cNvPr>
          <p:cNvSpPr txBox="1"/>
          <p:nvPr/>
        </p:nvSpPr>
        <p:spPr>
          <a:xfrm>
            <a:off x="18537754" y="14940812"/>
            <a:ext cx="4623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5</a:t>
            </a:r>
            <a:endParaRPr sz="1400" b="0" i="0" u="none" strike="noStrike" cap="none">
              <a:solidFill>
                <a:srgbClr val="C33B3B"/>
              </a:solidFill>
              <a:latin typeface="Arial"/>
              <a:ea typeface="Arial"/>
              <a:cs typeface="Arial"/>
              <a:sym typeface="Arial"/>
            </a:endParaRPr>
          </a:p>
        </p:txBody>
      </p:sp>
      <p:sp>
        <p:nvSpPr>
          <p:cNvPr id="210" name="Google Shape;157;p1">
            <a:extLst>
              <a:ext uri="{FF2B5EF4-FFF2-40B4-BE49-F238E27FC236}">
                <a16:creationId xmlns:a16="http://schemas.microsoft.com/office/drawing/2014/main" id="{4BC8DE99-C713-593F-A3F8-EBA71791FB00}"/>
              </a:ext>
            </a:extLst>
          </p:cNvPr>
          <p:cNvSpPr txBox="1"/>
          <p:nvPr/>
        </p:nvSpPr>
        <p:spPr>
          <a:xfrm>
            <a:off x="15065660" y="14940812"/>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4</a:t>
            </a:r>
            <a:endParaRPr sz="1400" b="0" i="0" u="none" strike="noStrike" cap="none">
              <a:solidFill>
                <a:srgbClr val="C33B3B"/>
              </a:solidFill>
              <a:latin typeface="Arial"/>
              <a:ea typeface="Arial"/>
              <a:cs typeface="Arial"/>
              <a:sym typeface="Arial"/>
            </a:endParaRPr>
          </a:p>
        </p:txBody>
      </p:sp>
      <p:sp>
        <p:nvSpPr>
          <p:cNvPr id="204" name="Google Shape;142;p1">
            <a:extLst>
              <a:ext uri="{FF2B5EF4-FFF2-40B4-BE49-F238E27FC236}">
                <a16:creationId xmlns:a16="http://schemas.microsoft.com/office/drawing/2014/main" id="{C089EFC1-6B0F-C58C-0F3F-2F0BA9FC67B8}"/>
              </a:ext>
            </a:extLst>
          </p:cNvPr>
          <p:cNvSpPr txBox="1"/>
          <p:nvPr/>
        </p:nvSpPr>
        <p:spPr>
          <a:xfrm>
            <a:off x="11640710" y="14940812"/>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3</a:t>
            </a:r>
            <a:endParaRPr sz="1400" b="0" i="0" u="none" strike="noStrike" cap="none">
              <a:solidFill>
                <a:srgbClr val="C33B3B"/>
              </a:solidFill>
              <a:latin typeface="Arial"/>
              <a:ea typeface="Arial"/>
              <a:cs typeface="Arial"/>
              <a:sym typeface="Arial"/>
            </a:endParaRPr>
          </a:p>
        </p:txBody>
      </p:sp>
      <p:sp>
        <p:nvSpPr>
          <p:cNvPr id="122" name="Title 1">
            <a:extLst>
              <a:ext uri="{FF2B5EF4-FFF2-40B4-BE49-F238E27FC236}">
                <a16:creationId xmlns:a16="http://schemas.microsoft.com/office/drawing/2014/main" id="{53ACE216-78CC-A4CD-38D7-959620C6488C}"/>
              </a:ext>
            </a:extLst>
          </p:cNvPr>
          <p:cNvSpPr txBox="1">
            <a:spLocks/>
          </p:cNvSpPr>
          <p:nvPr/>
        </p:nvSpPr>
        <p:spPr>
          <a:xfrm>
            <a:off x="1621681" y="21368859"/>
            <a:ext cx="19882368" cy="124244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3600" b="1" err="1">
                <a:solidFill>
                  <a:srgbClr val="16693F"/>
                </a:solidFill>
              </a:rPr>
              <a:t>GRNsight</a:t>
            </a:r>
            <a:r>
              <a:rPr lang="en-US" sz="3600" b="1">
                <a:solidFill>
                  <a:srgbClr val="16693F"/>
                </a:solidFill>
              </a:rPr>
              <a:t> can also be used to visualize protein-protein physical interaction (PPI) networks</a:t>
            </a:r>
            <a:endParaRPr lang="en-US"/>
          </a:p>
        </p:txBody>
      </p:sp>
      <p:pic>
        <p:nvPicPr>
          <p:cNvPr id="30" name="Picture 29">
            <a:extLst>
              <a:ext uri="{FF2B5EF4-FFF2-40B4-BE49-F238E27FC236}">
                <a16:creationId xmlns:a16="http://schemas.microsoft.com/office/drawing/2014/main" id="{7F275228-901C-2075-7231-B14904552B7A}"/>
              </a:ext>
            </a:extLst>
          </p:cNvPr>
          <p:cNvPicPr>
            <a:picLocks noChangeAspect="1"/>
          </p:cNvPicPr>
          <p:nvPr/>
        </p:nvPicPr>
        <p:blipFill rotWithShape="1">
          <a:blip r:embed="rId10"/>
          <a:srcRect l="15354" t="28878" r="68305" b="28859"/>
          <a:stretch/>
        </p:blipFill>
        <p:spPr>
          <a:xfrm>
            <a:off x="8659643" y="14134202"/>
            <a:ext cx="2988264" cy="4186514"/>
          </a:xfrm>
          <a:prstGeom prst="rect">
            <a:avLst/>
          </a:prstGeom>
        </p:spPr>
      </p:pic>
      <p:pic>
        <p:nvPicPr>
          <p:cNvPr id="7" name="Google Shape;112;p1">
            <a:extLst>
              <a:ext uri="{FF2B5EF4-FFF2-40B4-BE49-F238E27FC236}">
                <a16:creationId xmlns:a16="http://schemas.microsoft.com/office/drawing/2014/main" id="{9A08E081-D006-3F2A-6A76-F3B170DBA42F}"/>
              </a:ext>
            </a:extLst>
          </p:cNvPr>
          <p:cNvPicPr preferRelativeResize="0"/>
          <p:nvPr/>
        </p:nvPicPr>
        <p:blipFill rotWithShape="1">
          <a:blip r:embed="rId11">
            <a:alphaModFix/>
          </a:blip>
          <a:srcRect/>
          <a:stretch/>
        </p:blipFill>
        <p:spPr>
          <a:xfrm>
            <a:off x="39231080" y="3190404"/>
            <a:ext cx="3788316" cy="2391641"/>
          </a:xfrm>
          <a:prstGeom prst="rect">
            <a:avLst/>
          </a:prstGeom>
          <a:noFill/>
          <a:ln>
            <a:noFill/>
          </a:ln>
        </p:spPr>
      </p:pic>
      <p:sp>
        <p:nvSpPr>
          <p:cNvPr id="9" name="Rounded Rectangle 8">
            <a:extLst>
              <a:ext uri="{FF2B5EF4-FFF2-40B4-BE49-F238E27FC236}">
                <a16:creationId xmlns:a16="http://schemas.microsoft.com/office/drawing/2014/main" id="{F5BF5231-A08B-7E2A-4F9F-04CDD34BBB9D}"/>
              </a:ext>
            </a:extLst>
          </p:cNvPr>
          <p:cNvSpPr>
            <a:spLocks noGrp="1" noRot="1" noMove="1" noResize="1" noEditPoints="1" noAdjustHandles="1" noChangeArrowheads="1" noChangeShapeType="1"/>
          </p:cNvSpPr>
          <p:nvPr/>
        </p:nvSpPr>
        <p:spPr>
          <a:xfrm>
            <a:off x="33146225" y="6250232"/>
            <a:ext cx="10236960" cy="26082806"/>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00" b="1" baseline="0" dirty="0">
                <a:latin typeface="Arial"/>
              </a:rPr>
              <a:t>4. </a:t>
            </a:r>
            <a:r>
              <a:rPr lang="en-US" sz="2200" b="1" dirty="0">
                <a:latin typeface="Arial"/>
              </a:rPr>
              <a:t>Import</a:t>
            </a:r>
            <a:r>
              <a:rPr lang="en-US" sz="2200" b="1" baseline="0" dirty="0">
                <a:latin typeface="Arial"/>
              </a:rPr>
              <a:t> and Export </a:t>
            </a:r>
            <a:r>
              <a:rPr lang="en-US" sz="2200" dirty="0">
                <a:latin typeface="Arial"/>
                <a:ea typeface="Arial"/>
                <a:cs typeface="Arial"/>
              </a:rPr>
              <a:t>​</a:t>
            </a:r>
            <a:endParaRPr lang="en-US" dirty="0">
              <a:cs typeface="Arial"/>
            </a:endParaRPr>
          </a:p>
        </p:txBody>
      </p:sp>
      <p:sp>
        <p:nvSpPr>
          <p:cNvPr id="10" name="TextBox 9">
            <a:extLst>
              <a:ext uri="{FF2B5EF4-FFF2-40B4-BE49-F238E27FC236}">
                <a16:creationId xmlns:a16="http://schemas.microsoft.com/office/drawing/2014/main" id="{7CA19C8E-7FB5-1313-0BA7-8476583DA782}"/>
              </a:ext>
            </a:extLst>
          </p:cNvPr>
          <p:cNvSpPr txBox="1"/>
          <p:nvPr/>
        </p:nvSpPr>
        <p:spPr>
          <a:xfrm>
            <a:off x="36447614" y="25163972"/>
            <a:ext cx="3634182" cy="523220"/>
          </a:xfrm>
          <a:prstGeom prst="rect">
            <a:avLst/>
          </a:prstGeom>
          <a:noFill/>
        </p:spPr>
        <p:txBody>
          <a:bodyPr wrap="square" lIns="91440" tIns="45720" rIns="91440" bIns="45720" rtlCol="0" anchor="t">
            <a:spAutoFit/>
          </a:bodyPr>
          <a:lstStyle/>
          <a:p>
            <a:pPr algn="ctr"/>
            <a:r>
              <a:rPr lang="en-US" sz="2800" b="1">
                <a:solidFill>
                  <a:srgbClr val="16693F"/>
                </a:solidFill>
              </a:rPr>
              <a:t>Acknowledgments</a:t>
            </a:r>
          </a:p>
        </p:txBody>
      </p:sp>
      <p:sp>
        <p:nvSpPr>
          <p:cNvPr id="11" name="TextBox 10">
            <a:extLst>
              <a:ext uri="{FF2B5EF4-FFF2-40B4-BE49-F238E27FC236}">
                <a16:creationId xmlns:a16="http://schemas.microsoft.com/office/drawing/2014/main" id="{8F9E2127-6A63-D6A1-EC5B-CCE0248F348A}"/>
              </a:ext>
            </a:extLst>
          </p:cNvPr>
          <p:cNvSpPr txBox="1"/>
          <p:nvPr/>
        </p:nvSpPr>
        <p:spPr>
          <a:xfrm>
            <a:off x="37243457" y="26594453"/>
            <a:ext cx="2217372" cy="523220"/>
          </a:xfrm>
          <a:prstGeom prst="rect">
            <a:avLst/>
          </a:prstGeom>
          <a:noFill/>
        </p:spPr>
        <p:txBody>
          <a:bodyPr wrap="square" lIns="91440" tIns="45720" rIns="91440" bIns="45720" rtlCol="0" anchor="t">
            <a:spAutoFit/>
          </a:bodyPr>
          <a:lstStyle/>
          <a:p>
            <a:r>
              <a:rPr lang="en-US" sz="2800" b="1">
                <a:solidFill>
                  <a:srgbClr val="16693F"/>
                </a:solidFill>
              </a:rPr>
              <a:t>References</a:t>
            </a:r>
          </a:p>
        </p:txBody>
      </p:sp>
      <p:sp>
        <p:nvSpPr>
          <p:cNvPr id="12" name="TextBox 11">
            <a:extLst>
              <a:ext uri="{FF2B5EF4-FFF2-40B4-BE49-F238E27FC236}">
                <a16:creationId xmlns:a16="http://schemas.microsoft.com/office/drawing/2014/main" id="{05D300CF-9BB3-4C8A-E146-E753741ECA74}"/>
              </a:ext>
            </a:extLst>
          </p:cNvPr>
          <p:cNvSpPr txBox="1"/>
          <p:nvPr/>
        </p:nvSpPr>
        <p:spPr>
          <a:xfrm>
            <a:off x="36964995" y="23069200"/>
            <a:ext cx="2774296" cy="523220"/>
          </a:xfrm>
          <a:prstGeom prst="rect">
            <a:avLst/>
          </a:prstGeom>
          <a:noFill/>
        </p:spPr>
        <p:txBody>
          <a:bodyPr wrap="square" lIns="91440" tIns="45720" rIns="91440" bIns="45720" rtlCol="0" anchor="t">
            <a:spAutoFit/>
          </a:bodyPr>
          <a:lstStyle/>
          <a:p>
            <a:pPr algn="ctr"/>
            <a:r>
              <a:rPr lang="en-US" sz="2800" b="1">
                <a:solidFill>
                  <a:srgbClr val="16693F"/>
                </a:solidFill>
              </a:rPr>
              <a:t>Availability</a:t>
            </a:r>
          </a:p>
        </p:txBody>
      </p:sp>
      <p:sp>
        <p:nvSpPr>
          <p:cNvPr id="13" name="TextBox 12">
            <a:extLst>
              <a:ext uri="{FF2B5EF4-FFF2-40B4-BE49-F238E27FC236}">
                <a16:creationId xmlns:a16="http://schemas.microsoft.com/office/drawing/2014/main" id="{8FD2AB85-7A5C-4A93-FFCA-C46834A20A45}"/>
              </a:ext>
            </a:extLst>
          </p:cNvPr>
          <p:cNvSpPr txBox="1"/>
          <p:nvPr/>
        </p:nvSpPr>
        <p:spPr>
          <a:xfrm>
            <a:off x="33425781" y="25747576"/>
            <a:ext cx="9559838" cy="769441"/>
          </a:xfrm>
          <a:prstGeom prst="rect">
            <a:avLst/>
          </a:prstGeom>
          <a:noFill/>
        </p:spPr>
        <p:txBody>
          <a:bodyPr wrap="square" rtlCol="0">
            <a:spAutoFit/>
          </a:bodyPr>
          <a:lstStyle/>
          <a:p>
            <a:r>
              <a:rPr lang="en-US" sz="2200"/>
              <a:t>We would like to thank Nikki C. Chun, Ngoc Kim Ngan Tran, Cecilia J. Zaragoza and the previous developers on the </a:t>
            </a:r>
            <a:r>
              <a:rPr lang="en-US" sz="2200" err="1"/>
              <a:t>GRNsight</a:t>
            </a:r>
            <a:r>
              <a:rPr lang="en-US" sz="2200"/>
              <a:t> project.</a:t>
            </a:r>
          </a:p>
        </p:txBody>
      </p:sp>
      <p:sp>
        <p:nvSpPr>
          <p:cNvPr id="14" name="TextBox 13">
            <a:extLst>
              <a:ext uri="{FF2B5EF4-FFF2-40B4-BE49-F238E27FC236}">
                <a16:creationId xmlns:a16="http://schemas.microsoft.com/office/drawing/2014/main" id="{DE04B237-40EA-C572-D903-D6293E855A1B}"/>
              </a:ext>
            </a:extLst>
          </p:cNvPr>
          <p:cNvSpPr txBox="1"/>
          <p:nvPr/>
        </p:nvSpPr>
        <p:spPr>
          <a:xfrm>
            <a:off x="33372235" y="27170401"/>
            <a:ext cx="9739872" cy="4708981"/>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b="1" err="1"/>
              <a:t>Apweiler</a:t>
            </a:r>
            <a:r>
              <a:rPr lang="en-US" sz="1200" b="1"/>
              <a:t>, E., </a:t>
            </a:r>
            <a:r>
              <a:rPr lang="en-US" sz="1200" b="1" err="1"/>
              <a:t>Sameith</a:t>
            </a:r>
            <a:r>
              <a:rPr lang="en-US" sz="1200" b="1"/>
              <a:t>, K., Margaritis, T., </a:t>
            </a:r>
            <a:r>
              <a:rPr lang="en-US" sz="1200" b="1" err="1"/>
              <a:t>Brabers</a:t>
            </a:r>
            <a:r>
              <a:rPr lang="en-US" sz="1200" b="1"/>
              <a:t>, N., van de Pasch, L., Bakker, L. V., ... &amp; </a:t>
            </a:r>
            <a:r>
              <a:rPr lang="en-US" sz="1200" b="1" err="1"/>
              <a:t>Kemmeren</a:t>
            </a:r>
            <a:r>
              <a:rPr lang="en-US" sz="1200" b="1"/>
              <a:t>, P. (2012). Yeast </a:t>
            </a:r>
            <a:r>
              <a:rPr lang="en-US" sz="1200" b="1" err="1"/>
              <a:t>glucosepathways</a:t>
            </a:r>
            <a:r>
              <a:rPr lang="en-US" sz="1200" b="1"/>
              <a:t> converge on the transcriptional regulation of trehalose biosynthesis. BMC genomics, 13(1), 1-14. DOI: 10.1186/1471-2164-13-239</a:t>
            </a:r>
          </a:p>
          <a:p>
            <a:pPr marL="171450" indent="-171450">
              <a:buFont typeface="Arial" panose="020B0604020202020204" pitchFamily="34" charset="0"/>
              <a:buChar char="•"/>
            </a:pPr>
            <a:r>
              <a:rPr lang="en-US" sz="1200" b="1"/>
              <a:t>Barreto, L., </a:t>
            </a:r>
            <a:r>
              <a:rPr lang="en-US" sz="1200" b="1" err="1"/>
              <a:t>Canadell</a:t>
            </a:r>
            <a:r>
              <a:rPr lang="en-US" sz="1200" b="1"/>
              <a:t>, D., Valverde‐</a:t>
            </a:r>
            <a:r>
              <a:rPr lang="en-US" sz="1200" b="1" err="1"/>
              <a:t>Saubí</a:t>
            </a:r>
            <a:r>
              <a:rPr lang="en-US" sz="1200" b="1"/>
              <a:t>, D., Casamayor, A., &amp; </a:t>
            </a:r>
            <a:r>
              <a:rPr lang="en-US" sz="1200" b="1" err="1"/>
              <a:t>Ariño</a:t>
            </a:r>
            <a:r>
              <a:rPr lang="en-US" sz="1200" b="1"/>
              <a:t>, J. (2012). The short‐term response of yeast to potassium starvation. </a:t>
            </a:r>
            <a:r>
              <a:rPr lang="en-US" sz="1200" b="1" i="1"/>
              <a:t>Environmental microbiology</a:t>
            </a:r>
            <a:r>
              <a:rPr lang="en-US" sz="1200" b="1"/>
              <a:t>, </a:t>
            </a:r>
            <a:r>
              <a:rPr lang="en-US" sz="1200" b="1" i="1"/>
              <a:t>14</a:t>
            </a:r>
            <a:r>
              <a:rPr lang="en-US" sz="1200" b="1"/>
              <a:t>(11), 3026-3042. DOI: 10.1111/j.1462-2920.2012.02887.x</a:t>
            </a:r>
            <a:endParaRPr lang="en-US" sz="1200"/>
          </a:p>
          <a:p>
            <a:pPr marL="171450" indent="-171450">
              <a:buFont typeface="Arial" panose="020B0604020202020204" pitchFamily="34" charset="0"/>
              <a:buChar char="•"/>
            </a:pPr>
            <a:r>
              <a:rPr lang="en-US" sz="1200" b="1"/>
              <a:t>Dahlquist, K.D., Fitzpatrick, B.G., Camacho, E.T., Entzminger, S.D., &amp; </a:t>
            </a:r>
            <a:r>
              <a:rPr lang="en-US" sz="1200" b="1" err="1"/>
              <a:t>Wanner</a:t>
            </a:r>
            <a:r>
              <a:rPr lang="en-US" sz="1200" b="1"/>
              <a:t>, N.C. (2015) Parameter Estimation for </a:t>
            </a:r>
            <a:r>
              <a:rPr lang="en-US" sz="1200" b="1" err="1"/>
              <a:t>GeneRegulatory</a:t>
            </a:r>
            <a:r>
              <a:rPr lang="en-US" sz="1200" b="1"/>
              <a:t> Networks from Microarray Data: Cold Shock Response in Saccharomyces cerevisiae. </a:t>
            </a:r>
            <a:r>
              <a:rPr lang="en-US" sz="1200" b="1" i="1"/>
              <a:t>Bulletin of Mathematical Biology</a:t>
            </a:r>
            <a:r>
              <a:rPr lang="en-US" sz="1200" b="1"/>
              <a:t>,</a:t>
            </a:r>
            <a:r>
              <a:rPr lang="en-US" sz="1200" b="1" i="1"/>
              <a:t>77</a:t>
            </a:r>
            <a:r>
              <a:rPr lang="en-US" sz="1200" b="1"/>
              <a:t>(8), 1457-1492. </a:t>
            </a:r>
            <a:r>
              <a:rPr lang="en-US" sz="1200" b="1" err="1"/>
              <a:t>doi</a:t>
            </a:r>
            <a:r>
              <a:rPr lang="en-US" sz="1200" b="1"/>
              <a:t>: 10.1007/s11538-015-0092-6</a:t>
            </a:r>
            <a:endParaRPr lang="en-US" sz="1200"/>
          </a:p>
          <a:p>
            <a:pPr marL="171450" indent="-171450">
              <a:buFont typeface="Arial" panose="020B0604020202020204" pitchFamily="34" charset="0"/>
              <a:buChar char="•"/>
            </a:pPr>
            <a:r>
              <a:rPr lang="en-US" sz="1200" b="1"/>
              <a:t>Dahlquist, K.D., Dionisio, J.D.N., Fitzpatrick, B.G., Anguiano, N.A., Varshneya, A., Southwick, B.J., &amp; Samdarshi, M. (2016)</a:t>
            </a:r>
            <a:r>
              <a:rPr lang="en-US" sz="1200" b="1" err="1"/>
              <a:t>GRNsight</a:t>
            </a:r>
            <a:r>
              <a:rPr lang="en-US" sz="1200" b="1"/>
              <a:t>: a web application and service for visualizing models of small- to medium-scale gene regulatory networks. </a:t>
            </a:r>
            <a:r>
              <a:rPr lang="en-US" sz="1200" b="1" i="1" err="1"/>
              <a:t>PeerJPreprints</a:t>
            </a:r>
            <a:r>
              <a:rPr lang="en-US" sz="1200" b="1"/>
              <a:t> 4:e2068v1. </a:t>
            </a:r>
            <a:r>
              <a:rPr lang="en-US" sz="1200" b="1" err="1"/>
              <a:t>doi</a:t>
            </a:r>
            <a:r>
              <a:rPr lang="en-US" sz="1200" b="1"/>
              <a:t>: 10.7287/peerj.preprints.2068v1</a:t>
            </a:r>
            <a:endParaRPr lang="en-US" sz="1200"/>
          </a:p>
          <a:p>
            <a:pPr marL="171450" indent="-171450">
              <a:buFont typeface="Arial" panose="020B0604020202020204" pitchFamily="34" charset="0"/>
              <a:buChar char="•"/>
            </a:pPr>
            <a:r>
              <a:rPr lang="en-US" sz="1200" b="1"/>
              <a:t>Goodsell, D. (2012). Vitamin D receptor bound to DNA, with vitamin D shown in magenta. [Online Image]. PDB-101.https://pdb101.rcsb.org/</a:t>
            </a:r>
            <a:r>
              <a:rPr lang="en-US" sz="1200" b="1" err="1"/>
              <a:t>motm</a:t>
            </a:r>
            <a:r>
              <a:rPr lang="en-US" sz="1200" b="1"/>
              <a:t>/155</a:t>
            </a:r>
            <a:endParaRPr lang="en-US" sz="1200"/>
          </a:p>
          <a:p>
            <a:pPr marL="171450" indent="-171450">
              <a:buFont typeface="Arial" panose="020B0604020202020204" pitchFamily="34" charset="0"/>
              <a:buChar char="•"/>
            </a:pPr>
            <a:r>
              <a:rPr lang="en-US" sz="1200" b="1"/>
              <a:t>Goodsell, D. (2019). Cyclin A (green) and cyclin-dependent kinase 2 (blue) with ATP (magenta). [Online Image]. PDB-101.</a:t>
            </a:r>
            <a:r>
              <a:rPr lang="en-US" sz="1200" b="1">
                <a:solidFill>
                  <a:schemeClr val="tx1"/>
                </a:solidFill>
              </a:rPr>
              <a:t>https://pdb101.rcsb.org/</a:t>
            </a:r>
            <a:r>
              <a:rPr lang="en-US" sz="1200" b="1" err="1">
                <a:solidFill>
                  <a:schemeClr val="tx1"/>
                </a:solidFill>
              </a:rPr>
              <a:t>motm</a:t>
            </a:r>
            <a:r>
              <a:rPr lang="en-US" sz="1200" b="1">
                <a:solidFill>
                  <a:schemeClr val="tx1"/>
                </a:solidFill>
              </a:rPr>
              <a:t>/236</a:t>
            </a:r>
            <a:endParaRPr lang="en-US" sz="1200">
              <a:solidFill>
                <a:schemeClr val="tx1"/>
              </a:solidFill>
            </a:endParaRPr>
          </a:p>
          <a:p>
            <a:pPr marL="171450" indent="-171450">
              <a:buFont typeface="Arial,Sans-Serif" panose="020B0604020202020204" pitchFamily="34" charset="0"/>
              <a:buChar char="•"/>
            </a:pPr>
            <a:r>
              <a:rPr lang="en-US" sz="1200" b="1"/>
              <a:t>Kitagawa, E., Takahashi, J., Momose, Y., &amp; Iwahashi, H. (2002). Effects of the pesticide thiuram: genome-wide screening of indicator genes by yeast DNA microarray. </a:t>
            </a:r>
            <a:r>
              <a:rPr lang="en-US" sz="1200" b="1" i="1"/>
              <a:t>Environmental science &amp; technology</a:t>
            </a:r>
            <a:r>
              <a:rPr lang="en-US" sz="1200" b="1"/>
              <a:t>, 36(18), 3908-3915. DOI: 10.1021/es015705v</a:t>
            </a:r>
            <a:endParaRPr lang="en-US" sz="1200"/>
          </a:p>
          <a:p>
            <a:pPr marL="171450" indent="-171450">
              <a:buFont typeface="Arial,Sans-Serif" panose="020B0604020202020204" pitchFamily="34" charset="0"/>
              <a:buChar char="•"/>
            </a:pPr>
            <a:r>
              <a:rPr lang="en-US" sz="1200" b="1"/>
              <a:t>The Alliance of Genome Resources Consortium. (2024). Updates to the Alliance of Genome Resources central </a:t>
            </a:r>
            <a:r>
              <a:rPr lang="en-US" sz="1200" b="1" err="1"/>
              <a:t>infrastructure.Genetics</a:t>
            </a:r>
            <a:r>
              <a:rPr lang="en-US" sz="1200" b="1"/>
              <a:t>, 227(1), iyae049. </a:t>
            </a:r>
            <a:r>
              <a:rPr lang="en-US" sz="1200" b="1">
                <a:hlinkClick r:id="rId12"/>
              </a:rPr>
              <a:t>https://doi.org/10.1093/genetics/iyae049</a:t>
            </a:r>
            <a:endParaRPr lang="en-US" sz="1200"/>
          </a:p>
          <a:p>
            <a:pPr marL="171450" indent="-171450">
              <a:buFont typeface="Arial,Sans-Serif" panose="020B0604020202020204" pitchFamily="34" charset="0"/>
              <a:buChar char="•"/>
            </a:pPr>
            <a:r>
              <a:rPr lang="en-US" sz="1200" b="1"/>
              <a:t>Thorsen, M., </a:t>
            </a:r>
            <a:r>
              <a:rPr lang="en-US" sz="1200" b="1" err="1"/>
              <a:t>Lagniel</a:t>
            </a:r>
            <a:r>
              <a:rPr lang="en-US" sz="1200" b="1"/>
              <a:t>, G., Kristiansson, E., Junot, C., </a:t>
            </a:r>
            <a:r>
              <a:rPr lang="en-US" sz="1200" b="1" err="1"/>
              <a:t>Nerman</a:t>
            </a:r>
            <a:r>
              <a:rPr lang="en-US" sz="1200" b="1"/>
              <a:t>, O., Labarre, J., &amp; Tamás, M. J. (2007). Quantitative transcriptome, proteome, and sulfur metabolite profiling of the Saccharomyces cerevisiae response to </a:t>
            </a:r>
            <a:r>
              <a:rPr lang="en-US" sz="1200" b="1" err="1"/>
              <a:t>arsenite</a:t>
            </a:r>
            <a:r>
              <a:rPr lang="en-US" sz="1200" b="1"/>
              <a:t>. </a:t>
            </a:r>
            <a:r>
              <a:rPr lang="en-US" sz="1200" b="1" i="1"/>
              <a:t>Physiological genomics</a:t>
            </a:r>
            <a:r>
              <a:rPr lang="en-US" sz="1200" b="1"/>
              <a:t>, 30(1), 35-43. DOI: 10.1152/physiolgenomics.00236.2006</a:t>
            </a:r>
            <a:endParaRPr lang="en-US" sz="1200"/>
          </a:p>
          <a:p>
            <a:pPr marL="171450" indent="-171450">
              <a:buFont typeface="Arial,Sans-Serif" panose="020B0604020202020204" pitchFamily="34" charset="0"/>
              <a:buChar char="•"/>
            </a:pPr>
            <a:r>
              <a:rPr lang="en-US" sz="1200" b="1"/>
              <a:t>Wong, E. D., Miyasato, S. R., Aleksander, S., Karra, K., Nash, R. S., Skrzypek, M. S., Weng, S., Engel, S. R., &amp; Cherry, J. M. (2023).Saccharomyces genome database update: server architecture, pan-genome nomenclature, and external resources. </a:t>
            </a:r>
            <a:r>
              <a:rPr lang="en-US" sz="1200" b="1" i="1"/>
              <a:t>Genetics</a:t>
            </a:r>
            <a:r>
              <a:rPr lang="en-US" sz="1200" b="1"/>
              <a:t>,</a:t>
            </a:r>
            <a:r>
              <a:rPr lang="en-US" sz="1200" b="1" i="1"/>
              <a:t>224</a:t>
            </a:r>
            <a:r>
              <a:rPr lang="en-US" sz="1200" b="1"/>
              <a:t>(1), iyac191. </a:t>
            </a:r>
            <a:r>
              <a:rPr lang="en-US" sz="1200" b="1" err="1"/>
              <a:t>doi</a:t>
            </a:r>
            <a:r>
              <a:rPr lang="en-US" sz="1200" b="1"/>
              <a:t>: 10.1093/genetics/iyac191</a:t>
            </a:r>
            <a:endParaRPr lang="en-US" sz="1200"/>
          </a:p>
        </p:txBody>
      </p:sp>
      <p:sp>
        <p:nvSpPr>
          <p:cNvPr id="15" name="TextBox 14">
            <a:extLst>
              <a:ext uri="{FF2B5EF4-FFF2-40B4-BE49-F238E27FC236}">
                <a16:creationId xmlns:a16="http://schemas.microsoft.com/office/drawing/2014/main" id="{6793EE21-1655-C9BE-719C-CD28256CF6AC}"/>
              </a:ext>
            </a:extLst>
          </p:cNvPr>
          <p:cNvSpPr txBox="1"/>
          <p:nvPr/>
        </p:nvSpPr>
        <p:spPr>
          <a:xfrm>
            <a:off x="33372234" y="23623546"/>
            <a:ext cx="9739873" cy="1446550"/>
          </a:xfrm>
          <a:prstGeom prst="rect">
            <a:avLst/>
          </a:prstGeom>
          <a:noFill/>
        </p:spPr>
        <p:txBody>
          <a:bodyPr wrap="square" lIns="91440" tIns="45720" rIns="91440" bIns="45720" rtlCol="0" anchor="t">
            <a:spAutoFit/>
          </a:bodyPr>
          <a:lstStyle/>
          <a:p>
            <a:pPr marL="223520" indent="-223520">
              <a:buClr>
                <a:srgbClr val="333333"/>
              </a:buClr>
              <a:buSzPct val="100000"/>
              <a:buFont typeface="Arial"/>
              <a:buChar char="•"/>
            </a:pPr>
            <a:r>
              <a:rPr lang="en-US" sz="2200" err="1">
                <a:solidFill>
                  <a:schemeClr val="dk1"/>
                </a:solidFill>
              </a:rPr>
              <a:t>GRNsight</a:t>
            </a:r>
            <a:r>
              <a:rPr lang="en-US" sz="2200">
                <a:solidFill>
                  <a:schemeClr val="dk1"/>
                </a:solidFill>
              </a:rPr>
              <a:t> is free and open to all users at </a:t>
            </a:r>
            <a:r>
              <a:rPr lang="en-US" sz="2200">
                <a:solidFill>
                  <a:schemeClr val="dk1"/>
                </a:solidFill>
                <a:hlinkClick r:id="rId13">
                  <a:extLst>
                    <a:ext uri="{A12FA001-AC4F-418D-AE19-62706E023703}">
                      <ahyp:hlinkClr xmlns:ahyp="http://schemas.microsoft.com/office/drawing/2018/hyperlinkcolor" val="tx"/>
                    </a:ext>
                  </a:extLst>
                </a:hlinkClick>
              </a:rPr>
              <a:t>http://dondi.github.io/GRNsight/</a:t>
            </a:r>
            <a:r>
              <a:rPr lang="en-US" sz="2200">
                <a:solidFill>
                  <a:schemeClr val="dk1"/>
                </a:solidFill>
              </a:rPr>
              <a:t>,</a:t>
            </a:r>
            <a:endParaRPr lang="en-US">
              <a:solidFill>
                <a:schemeClr val="dk1"/>
              </a:solidFill>
            </a:endParaRPr>
          </a:p>
          <a:p>
            <a:pPr marL="457200">
              <a:buClr>
                <a:srgbClr val="333333"/>
              </a:buClr>
              <a:buSzPct val="100000"/>
            </a:pPr>
            <a:r>
              <a:rPr lang="en-US" sz="2200">
                <a:solidFill>
                  <a:schemeClr val="dk1"/>
                </a:solidFill>
              </a:rPr>
              <a:t>and there is no login requirement. </a:t>
            </a:r>
            <a:endParaRPr lang="en-US">
              <a:solidFill>
                <a:schemeClr val="dk1"/>
              </a:solidFill>
            </a:endParaRPr>
          </a:p>
          <a:p>
            <a:pPr marL="223520" indent="-219075">
              <a:buClr>
                <a:srgbClr val="333333"/>
              </a:buClr>
              <a:buSzPct val="100000"/>
              <a:buFont typeface="Arial"/>
              <a:buChar char="•"/>
            </a:pPr>
            <a:r>
              <a:rPr lang="en-US" sz="2200" err="1">
                <a:solidFill>
                  <a:schemeClr val="dk1"/>
                </a:solidFill>
              </a:rPr>
              <a:t>GRNsight</a:t>
            </a:r>
            <a:r>
              <a:rPr lang="en-US" sz="2200">
                <a:solidFill>
                  <a:schemeClr val="dk1"/>
                </a:solidFill>
              </a:rPr>
              <a:t> code is available under the open source BSD license at our</a:t>
            </a:r>
          </a:p>
          <a:p>
            <a:pPr marL="457200" lvl="0">
              <a:buClr>
                <a:srgbClr val="333333"/>
              </a:buClr>
              <a:buSzPct val="100000"/>
            </a:pPr>
            <a:r>
              <a:rPr lang="en-US" sz="2200">
                <a:solidFill>
                  <a:schemeClr val="dk1"/>
                </a:solidFill>
              </a:rPr>
              <a:t>GitHub repository at https://</a:t>
            </a:r>
            <a:r>
              <a:rPr lang="en-US" sz="2200" err="1">
                <a:solidFill>
                  <a:schemeClr val="dk1"/>
                </a:solidFill>
              </a:rPr>
              <a:t>github.com</a:t>
            </a:r>
            <a:r>
              <a:rPr lang="en-US" sz="2200">
                <a:solidFill>
                  <a:schemeClr val="dk1"/>
                </a:solidFill>
              </a:rPr>
              <a:t>/</a:t>
            </a:r>
            <a:r>
              <a:rPr lang="en-US" sz="2200" err="1">
                <a:solidFill>
                  <a:schemeClr val="dk1"/>
                </a:solidFill>
              </a:rPr>
              <a:t>dondi</a:t>
            </a:r>
            <a:r>
              <a:rPr lang="en-US" sz="2200">
                <a:solidFill>
                  <a:schemeClr val="dk1"/>
                </a:solidFill>
              </a:rPr>
              <a:t>/</a:t>
            </a:r>
            <a:r>
              <a:rPr lang="en-US" sz="2200" err="1">
                <a:solidFill>
                  <a:schemeClr val="dk1"/>
                </a:solidFill>
              </a:rPr>
              <a:t>GRNsight</a:t>
            </a:r>
            <a:r>
              <a:rPr lang="en-US" sz="2200">
                <a:solidFill>
                  <a:schemeClr val="dk1"/>
                </a:solidFill>
              </a:rPr>
              <a:t>.</a:t>
            </a:r>
          </a:p>
        </p:txBody>
      </p:sp>
      <p:sp>
        <p:nvSpPr>
          <p:cNvPr id="16" name="TextBox 15">
            <a:extLst>
              <a:ext uri="{FF2B5EF4-FFF2-40B4-BE49-F238E27FC236}">
                <a16:creationId xmlns:a16="http://schemas.microsoft.com/office/drawing/2014/main" id="{3BD0E805-9084-259E-57EF-A0AD711EE10E}"/>
              </a:ext>
            </a:extLst>
          </p:cNvPr>
          <p:cNvSpPr txBox="1"/>
          <p:nvPr/>
        </p:nvSpPr>
        <p:spPr>
          <a:xfrm>
            <a:off x="33458498" y="21588182"/>
            <a:ext cx="9778643" cy="1463803"/>
          </a:xfrm>
          <a:prstGeom prst="rect">
            <a:avLst/>
          </a:prstGeom>
          <a:noFill/>
        </p:spPr>
        <p:txBody>
          <a:bodyPr wrap="square" lIns="91440" tIns="45720" rIns="91440" bIns="45720" anchor="t">
            <a:spAutoFit/>
          </a:bodyPr>
          <a:lstStyle/>
          <a:p>
            <a:pPr marL="342900" indent="-342900">
              <a:buFont typeface="Arial"/>
              <a:buChar char="•"/>
            </a:pPr>
            <a:r>
              <a:rPr lang="en-US" sz="2200" dirty="0"/>
              <a:t>Prioritize bug resolution to enhance platform stability and reliability.</a:t>
            </a:r>
            <a:endParaRPr lang="en-US" dirty="0"/>
          </a:p>
          <a:p>
            <a:pPr marL="342900" indent="-342900">
              <a:buFont typeface="Arial"/>
              <a:buChar char="•"/>
            </a:pPr>
            <a:r>
              <a:rPr lang="en-US" sz="2200" dirty="0"/>
              <a:t>Improve documentation for clearer and more comprehensive user guidance.</a:t>
            </a:r>
            <a:endParaRPr lang="en-US" dirty="0"/>
          </a:p>
          <a:p>
            <a:pPr marL="342900" indent="-342900">
              <a:buFont typeface="Arial"/>
              <a:buChar char="•"/>
            </a:pPr>
            <a:r>
              <a:rPr lang="en-US" sz="2200" dirty="0"/>
              <a:t>Migrating to React to modernize the platform and improve performance.</a:t>
            </a:r>
          </a:p>
        </p:txBody>
      </p:sp>
      <p:sp>
        <p:nvSpPr>
          <p:cNvPr id="17" name="TextBox 16">
            <a:extLst>
              <a:ext uri="{FF2B5EF4-FFF2-40B4-BE49-F238E27FC236}">
                <a16:creationId xmlns:a16="http://schemas.microsoft.com/office/drawing/2014/main" id="{56BF27E8-6AD0-8B32-E462-D3C79564D66B}"/>
              </a:ext>
            </a:extLst>
          </p:cNvPr>
          <p:cNvSpPr txBox="1"/>
          <p:nvPr/>
        </p:nvSpPr>
        <p:spPr>
          <a:xfrm>
            <a:off x="36586138" y="21008459"/>
            <a:ext cx="3556544" cy="523220"/>
          </a:xfrm>
          <a:prstGeom prst="rect">
            <a:avLst/>
          </a:prstGeom>
          <a:noFill/>
        </p:spPr>
        <p:txBody>
          <a:bodyPr wrap="square" lIns="91440" tIns="45720" rIns="91440" bIns="45720" rtlCol="0" anchor="t">
            <a:spAutoFit/>
          </a:bodyPr>
          <a:lstStyle/>
          <a:p>
            <a:pPr algn="ctr"/>
            <a:r>
              <a:rPr lang="en-US" sz="2800" b="1">
                <a:solidFill>
                  <a:srgbClr val="16693F"/>
                </a:solidFill>
              </a:rPr>
              <a:t>Future Directions</a:t>
            </a:r>
          </a:p>
        </p:txBody>
      </p:sp>
      <p:sp>
        <p:nvSpPr>
          <p:cNvPr id="8" name="TextBox 7">
            <a:extLst>
              <a:ext uri="{FF2B5EF4-FFF2-40B4-BE49-F238E27FC236}">
                <a16:creationId xmlns:a16="http://schemas.microsoft.com/office/drawing/2014/main" id="{97E319FA-CBD5-D8C1-DD12-2C7001924A60}"/>
              </a:ext>
            </a:extLst>
          </p:cNvPr>
          <p:cNvSpPr txBox="1"/>
          <p:nvPr/>
        </p:nvSpPr>
        <p:spPr>
          <a:xfrm>
            <a:off x="23440003" y="30514824"/>
            <a:ext cx="8757943" cy="1107996"/>
          </a:xfrm>
          <a:prstGeom prst="rect">
            <a:avLst/>
          </a:prstGeom>
          <a:noFill/>
        </p:spPr>
        <p:txBody>
          <a:bodyPr wrap="square" lIns="91440" tIns="45720" rIns="91440" bIns="45720" rtlCol="0" anchor="t">
            <a:spAutoFit/>
          </a:bodyPr>
          <a:lstStyle/>
          <a:p>
            <a:pPr marL="342900" indent="-342900">
              <a:buFont typeface="Arial"/>
              <a:buChar char="•"/>
            </a:pPr>
            <a:r>
              <a:rPr lang="en-US" sz="2200" dirty="0"/>
              <a:t>Upon export, a file is named according to type, number of genes/proteins and edges, and expression data source.</a:t>
            </a:r>
            <a:endParaRPr lang="en-US" dirty="0"/>
          </a:p>
          <a:p>
            <a:pPr marL="800100" lvl="1" indent="-342900">
              <a:buFont typeface="Arial"/>
              <a:buChar char="•"/>
            </a:pPr>
            <a:r>
              <a:rPr lang="en-US" sz="2200" dirty="0" err="1"/>
              <a:t>Eg.</a:t>
            </a:r>
            <a:r>
              <a:rPr lang="en-US" sz="2200" dirty="0"/>
              <a:t>: GRN_15-genes_28-edges_weighted_Dahlquist_2018.xlsx</a:t>
            </a:r>
          </a:p>
        </p:txBody>
      </p:sp>
      <p:sp>
        <p:nvSpPr>
          <p:cNvPr id="31" name="TextBox 30">
            <a:extLst>
              <a:ext uri="{FF2B5EF4-FFF2-40B4-BE49-F238E27FC236}">
                <a16:creationId xmlns:a16="http://schemas.microsoft.com/office/drawing/2014/main" id="{B5DF92E9-21A9-0BF1-D8A4-5D4DA151AB22}"/>
              </a:ext>
            </a:extLst>
          </p:cNvPr>
          <p:cNvSpPr txBox="1"/>
          <p:nvPr/>
        </p:nvSpPr>
        <p:spPr>
          <a:xfrm>
            <a:off x="1258547" y="22734464"/>
            <a:ext cx="7209824" cy="6555641"/>
          </a:xfrm>
          <a:prstGeom prst="rect">
            <a:avLst/>
          </a:prstGeom>
          <a:noFill/>
        </p:spPr>
        <p:txBody>
          <a:bodyPr wrap="square" lIns="91440" tIns="45720" rIns="91440" bIns="45720" rtlCol="0" anchor="t">
            <a:spAutoFit/>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0" cap="none" spc="0" normalizeH="0" baseline="0" noProof="0">
                <a:ln>
                  <a:noFill/>
                </a:ln>
                <a:solidFill>
                  <a:srgbClr val="000000"/>
                </a:solidFill>
                <a:effectLst/>
                <a:uLnTx/>
                <a:uFillTx/>
                <a:sym typeface="Arial"/>
              </a:rPr>
              <a:t>A gene regulatory network consists of genes, transcription factors, and the regulatory connections between them which govern the level of expression of mRNA and protein from genes. </a:t>
            </a:r>
          </a:p>
          <a:p>
            <a:pPr marL="577850" marR="0" lvl="1" indent="-3536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sym typeface="Arial"/>
              </a:rPr>
              <a:t>Nodes represent both the regulatory transcription factor protein and the gene that encodes it. </a:t>
            </a:r>
            <a:endParaRPr lang="en-US" sz="2200" b="0" i="0" u="none" strike="noStrike" kern="0" cap="none" spc="0" normalizeH="0" baseline="0" noProof="0" dirty="0">
              <a:ln>
                <a:noFill/>
              </a:ln>
              <a:solidFill>
                <a:srgbClr val="000000"/>
              </a:solidFill>
              <a:effectLst/>
              <a:uLnTx/>
              <a:uFillTx/>
            </a:endParaRPr>
          </a:p>
          <a:p>
            <a:pPr marL="577850" lvl="1" indent="-353695">
              <a:buFont typeface="Arial" panose="020B0604020202020204" pitchFamily="34" charset="0"/>
              <a:buChar char="•"/>
              <a:defRPr/>
            </a:pPr>
            <a:r>
              <a:rPr kumimoji="0" lang="en-US" sz="2200" b="0" i="0" u="none" strike="noStrike" kern="0" cap="none" spc="0" normalizeH="0" baseline="0" noProof="0" dirty="0">
                <a:ln>
                  <a:noFill/>
                </a:ln>
                <a:solidFill>
                  <a:srgbClr val="000000"/>
                </a:solidFill>
                <a:effectLst/>
                <a:uLnTx/>
                <a:uFillTx/>
                <a:sym typeface="Arial"/>
              </a:rPr>
              <a:t>An arrow represents a regulatory</a:t>
            </a:r>
            <a:r>
              <a:rPr lang="en-US" sz="2200" dirty="0"/>
              <a:t> relationship</a:t>
            </a:r>
            <a:r>
              <a:rPr kumimoji="0" lang="en-US" sz="2200" b="0" i="0" u="none" strike="noStrike" kern="0" cap="none" spc="0" normalizeH="0" baseline="0" noProof="0" dirty="0">
                <a:ln>
                  <a:noFill/>
                </a:ln>
                <a:solidFill>
                  <a:srgbClr val="000000"/>
                </a:solidFill>
                <a:effectLst/>
                <a:uLnTx/>
                <a:uFillTx/>
                <a:sym typeface="Arial"/>
              </a:rPr>
              <a:t> either activating (arrowhead, red color) or repressing (blunt end, blue color) the</a:t>
            </a:r>
            <a:r>
              <a:rPr lang="en-US" sz="2200" dirty="0"/>
              <a:t> expression of</a:t>
            </a:r>
            <a:r>
              <a:rPr kumimoji="0" lang="en-US" sz="2200" b="0" i="0" u="none" strike="noStrike" kern="0" cap="none" spc="0" normalizeH="0" baseline="0" noProof="0" dirty="0">
                <a:ln>
                  <a:noFill/>
                </a:ln>
                <a:solidFill>
                  <a:srgbClr val="000000"/>
                </a:solidFill>
                <a:effectLst/>
                <a:uLnTx/>
                <a:uFillTx/>
                <a:sym typeface="Arial"/>
              </a:rPr>
              <a:t> another regulatory transcription factor.</a:t>
            </a:r>
            <a:endParaRPr lang="en-US" sz="2200" b="0" i="0" u="none" strike="noStrike" kern="0" cap="none" spc="0" normalizeH="0" baseline="0" noProof="0" dirty="0">
              <a:ln>
                <a:noFill/>
              </a:ln>
              <a:solidFill>
                <a:srgbClr val="000000"/>
              </a:solidFill>
              <a:effectLst/>
              <a:uLnTx/>
              <a:uFillTx/>
            </a:endParaRPr>
          </a:p>
          <a:p>
            <a:pPr lvl="1"/>
            <a:endParaRPr lang="en-US" sz="2400" b="1">
              <a:latin typeface="Arial" panose="020B0604020202020204" pitchFamily="34" charset="0"/>
              <a:cs typeface="Arial" panose="020B0604020202020204" pitchFamily="34" charset="0"/>
            </a:endParaRPr>
          </a:p>
          <a:p>
            <a:pPr marL="228600" indent="-228600">
              <a:buFont typeface="Arial" panose="020B0604020202020204" pitchFamily="34" charset="0"/>
              <a:buChar char="•"/>
            </a:pPr>
            <a:r>
              <a:rPr lang="en-US" sz="2400" b="1"/>
              <a:t>A PPI is when two proteins bind to each other.</a:t>
            </a:r>
          </a:p>
          <a:p>
            <a:pPr marL="577850" lvl="1" indent="-353695">
              <a:buFont typeface="Arial" panose="020B0604020202020204" pitchFamily="34" charset="0"/>
              <a:buChar char="•"/>
            </a:pPr>
            <a:r>
              <a:rPr lang="en-US" sz="2200" dirty="0"/>
              <a:t>Each node represents a protein, and each edge represents their binding interaction.</a:t>
            </a:r>
          </a:p>
          <a:p>
            <a:pPr marL="571500" lvl="1" indent="-336550">
              <a:buFont typeface="Arial" panose="020B0604020202020204" pitchFamily="34" charset="0"/>
              <a:buChar char="•"/>
            </a:pPr>
            <a:r>
              <a:rPr lang="en-US" sz="2200"/>
              <a:t>Unlike GRNs, PPI graphs have undirected edges of uniform thickness and black color and previously did not display expression data on the nodes.</a:t>
            </a:r>
          </a:p>
        </p:txBody>
      </p:sp>
      <p:pic>
        <p:nvPicPr>
          <p:cNvPr id="45" name="Picture 44">
            <a:extLst>
              <a:ext uri="{FF2B5EF4-FFF2-40B4-BE49-F238E27FC236}">
                <a16:creationId xmlns:a16="http://schemas.microsoft.com/office/drawing/2014/main" id="{3B96A962-5FD0-E9BF-84EC-A42102B18AEB}"/>
              </a:ext>
            </a:extLst>
          </p:cNvPr>
          <p:cNvPicPr>
            <a:picLocks noChangeAspect="1"/>
          </p:cNvPicPr>
          <p:nvPr/>
        </p:nvPicPr>
        <p:blipFill>
          <a:blip r:embed="rId14"/>
          <a:stretch>
            <a:fillRect/>
          </a:stretch>
        </p:blipFill>
        <p:spPr>
          <a:xfrm>
            <a:off x="8604687" y="22828764"/>
            <a:ext cx="2061507" cy="2061507"/>
          </a:xfrm>
          <a:prstGeom prst="rect">
            <a:avLst/>
          </a:prstGeom>
        </p:spPr>
      </p:pic>
      <p:sp>
        <p:nvSpPr>
          <p:cNvPr id="48" name="TextBox 47">
            <a:extLst>
              <a:ext uri="{FF2B5EF4-FFF2-40B4-BE49-F238E27FC236}">
                <a16:creationId xmlns:a16="http://schemas.microsoft.com/office/drawing/2014/main" id="{BF853C95-D7D7-C3C2-1096-A74D5CE7E82A}"/>
              </a:ext>
            </a:extLst>
          </p:cNvPr>
          <p:cNvSpPr txBox="1"/>
          <p:nvPr/>
        </p:nvSpPr>
        <p:spPr>
          <a:xfrm>
            <a:off x="10785405" y="22849308"/>
            <a:ext cx="3957737" cy="1323439"/>
          </a:xfrm>
          <a:prstGeom prst="rect">
            <a:avLst/>
          </a:prstGeom>
          <a:noFill/>
        </p:spPr>
        <p:txBody>
          <a:bodyPr wrap="square" lIns="91440" tIns="45720" rIns="91440" bIns="45720" rtlCol="0" anchor="t">
            <a:spAutoFit/>
          </a:bodyPr>
          <a:lstStyle/>
          <a:p>
            <a:pPr lvl="3" algn="ctr"/>
            <a:r>
              <a:rPr lang="en-US" sz="2200" b="1">
                <a:solidFill>
                  <a:srgbClr val="16693F"/>
                </a:solidFill>
              </a:rPr>
              <a:t>Regulatory Transcription Factor Bound to DNA</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sym typeface="Arial"/>
              </a:rPr>
              <a:t>Image from:</a:t>
            </a:r>
            <a:endParaRPr lang="en-US" sz="1800" b="1" i="0" u="none" strike="noStrike" kern="0" cap="none" spc="0" normalizeH="0" baseline="0" noProof="0">
              <a:ln>
                <a:noFill/>
              </a:ln>
              <a:solidFill>
                <a:srgbClr val="000000"/>
              </a:solidFill>
              <a:effectLst/>
              <a:uLnTx/>
              <a:uFillTx/>
            </a:endParaRP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sym typeface="Arial"/>
              </a:rPr>
              <a:t>https://pdb101.rcsb.org/</a:t>
            </a:r>
            <a:r>
              <a:rPr kumimoji="0" lang="en-US" sz="1800" b="1" i="0" u="none" strike="noStrike" kern="0" cap="none" spc="0" normalizeH="0" baseline="0" noProof="0" err="1">
                <a:ln>
                  <a:noFill/>
                </a:ln>
                <a:solidFill>
                  <a:srgbClr val="000000"/>
                </a:solidFill>
                <a:effectLst/>
                <a:uLnTx/>
                <a:uFillTx/>
                <a:sym typeface="Arial"/>
              </a:rPr>
              <a:t>motm</a:t>
            </a:r>
            <a:r>
              <a:rPr kumimoji="0" lang="en-US" sz="1800" b="1" i="0" u="none" strike="noStrike" kern="0" cap="none" spc="0" normalizeH="0" baseline="0" noProof="0">
                <a:ln>
                  <a:noFill/>
                </a:ln>
                <a:solidFill>
                  <a:srgbClr val="000000"/>
                </a:solidFill>
                <a:effectLst/>
                <a:uLnTx/>
                <a:uFillTx/>
                <a:sym typeface="Arial"/>
              </a:rPr>
              <a:t>/155</a:t>
            </a:r>
            <a:endParaRPr lang="en-US" sz="1800" b="1" i="0" u="none" strike="noStrike" kern="0" cap="none" spc="0" normalizeH="0" baseline="0" noProof="0">
              <a:ln>
                <a:noFill/>
              </a:ln>
              <a:solidFill>
                <a:srgbClr val="000000"/>
              </a:solidFill>
              <a:effectLst/>
              <a:uLnTx/>
              <a:uFillTx/>
            </a:endParaRPr>
          </a:p>
        </p:txBody>
      </p:sp>
      <p:pic>
        <p:nvPicPr>
          <p:cNvPr id="57" name="Picture 56">
            <a:extLst>
              <a:ext uri="{FF2B5EF4-FFF2-40B4-BE49-F238E27FC236}">
                <a16:creationId xmlns:a16="http://schemas.microsoft.com/office/drawing/2014/main" id="{C6BBE517-4DC1-CC96-C41B-3A71D30EFAF0}"/>
              </a:ext>
            </a:extLst>
          </p:cNvPr>
          <p:cNvPicPr>
            <a:picLocks noChangeAspect="1"/>
          </p:cNvPicPr>
          <p:nvPr/>
        </p:nvPicPr>
        <p:blipFill>
          <a:blip r:embed="rId15"/>
          <a:stretch>
            <a:fillRect/>
          </a:stretch>
        </p:blipFill>
        <p:spPr>
          <a:xfrm>
            <a:off x="8455591" y="27749227"/>
            <a:ext cx="2314983" cy="1926972"/>
          </a:xfrm>
          <a:prstGeom prst="rect">
            <a:avLst/>
          </a:prstGeom>
        </p:spPr>
      </p:pic>
      <p:sp>
        <p:nvSpPr>
          <p:cNvPr id="58" name="TextBox 57">
            <a:extLst>
              <a:ext uri="{FF2B5EF4-FFF2-40B4-BE49-F238E27FC236}">
                <a16:creationId xmlns:a16="http://schemas.microsoft.com/office/drawing/2014/main" id="{35756A72-89E9-A3A6-290F-AF25CBE2CD08}"/>
              </a:ext>
            </a:extLst>
          </p:cNvPr>
          <p:cNvSpPr txBox="1"/>
          <p:nvPr/>
        </p:nvSpPr>
        <p:spPr>
          <a:xfrm>
            <a:off x="10996047" y="28066081"/>
            <a:ext cx="3944829" cy="984885"/>
          </a:xfrm>
          <a:prstGeom prst="rect">
            <a:avLst/>
          </a:prstGeom>
          <a:noFill/>
        </p:spPr>
        <p:txBody>
          <a:bodyPr wrap="square" lIns="91440" tIns="45720" rIns="91440" bIns="45720" rtlCol="0" anchor="t">
            <a:spAutoFit/>
          </a:bodyPr>
          <a:lstStyle/>
          <a:p>
            <a:pPr lvl="3" algn="ctr"/>
            <a:r>
              <a:rPr lang="en-US" sz="2200" b="1">
                <a:solidFill>
                  <a:srgbClr val="16693F"/>
                </a:solidFill>
              </a:rPr>
              <a:t>Protein-Protein Interaction</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sym typeface="Arial"/>
              </a:rPr>
              <a:t>Image from: </a:t>
            </a:r>
            <a:endParaRPr lang="en-US" sz="1800" b="1" i="0" u="none" strike="noStrike" kern="0" cap="none" spc="0" normalizeH="0" baseline="0" noProof="0">
              <a:ln>
                <a:noFill/>
              </a:ln>
              <a:solidFill>
                <a:srgbClr val="000000"/>
              </a:solidFill>
              <a:effectLst/>
              <a:uLnTx/>
              <a:uFillTx/>
            </a:endParaRP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sym typeface="Arial"/>
              </a:rPr>
              <a:t>https://pdb101.rcsb.org/</a:t>
            </a:r>
            <a:r>
              <a:rPr kumimoji="0" lang="en-US" sz="1800" b="1" i="0" u="none" strike="noStrike" kern="0" cap="none" spc="0" normalizeH="0" baseline="0" noProof="0" err="1">
                <a:ln>
                  <a:noFill/>
                </a:ln>
                <a:solidFill>
                  <a:srgbClr val="000000"/>
                </a:solidFill>
                <a:effectLst/>
                <a:uLnTx/>
                <a:uFillTx/>
                <a:sym typeface="Arial"/>
              </a:rPr>
              <a:t>motm</a:t>
            </a:r>
            <a:r>
              <a:rPr kumimoji="0" lang="en-US" sz="1800" b="1" i="0" u="none" strike="noStrike" kern="0" cap="none" spc="0" normalizeH="0" baseline="0" noProof="0">
                <a:ln>
                  <a:noFill/>
                </a:ln>
                <a:solidFill>
                  <a:srgbClr val="000000"/>
                </a:solidFill>
                <a:effectLst/>
                <a:uLnTx/>
                <a:uFillTx/>
                <a:sym typeface="Arial"/>
              </a:rPr>
              <a:t>/236</a:t>
            </a:r>
            <a:endParaRPr lang="en-US" sz="1800" b="1" i="0" u="none" strike="noStrike" kern="0" cap="none" spc="0" normalizeH="0" baseline="0" noProof="0">
              <a:ln>
                <a:noFill/>
              </a:ln>
              <a:solidFill>
                <a:srgbClr val="000000"/>
              </a:solidFill>
              <a:effectLst/>
              <a:uLnTx/>
              <a:uFillTx/>
            </a:endParaRPr>
          </a:p>
        </p:txBody>
      </p:sp>
      <p:sp>
        <p:nvSpPr>
          <p:cNvPr id="37" name="TextBox 36">
            <a:extLst>
              <a:ext uri="{FF2B5EF4-FFF2-40B4-BE49-F238E27FC236}">
                <a16:creationId xmlns:a16="http://schemas.microsoft.com/office/drawing/2014/main" id="{E3324A84-4A9A-9716-BB2D-1BD0C288C921}"/>
              </a:ext>
            </a:extLst>
          </p:cNvPr>
          <p:cNvSpPr txBox="1"/>
          <p:nvPr/>
        </p:nvSpPr>
        <p:spPr>
          <a:xfrm>
            <a:off x="32972188" y="31896424"/>
            <a:ext cx="184731" cy="307777"/>
          </a:xfrm>
          <a:prstGeom prst="rect">
            <a:avLst/>
          </a:prstGeom>
          <a:noFill/>
        </p:spPr>
        <p:txBody>
          <a:bodyPr wrap="none" rtlCol="0">
            <a:spAutoFit/>
          </a:bodyPr>
          <a:lstStyle/>
          <a:p>
            <a:endParaRPr lang="en-US"/>
          </a:p>
        </p:txBody>
      </p:sp>
      <p:pic>
        <p:nvPicPr>
          <p:cNvPr id="51" name="Picture 50">
            <a:extLst>
              <a:ext uri="{FF2B5EF4-FFF2-40B4-BE49-F238E27FC236}">
                <a16:creationId xmlns:a16="http://schemas.microsoft.com/office/drawing/2014/main" id="{930AD1FC-4519-481F-F8FE-5D9C97B73C72}"/>
              </a:ext>
            </a:extLst>
          </p:cNvPr>
          <p:cNvPicPr>
            <a:picLocks noChangeAspect="1"/>
          </p:cNvPicPr>
          <p:nvPr/>
        </p:nvPicPr>
        <p:blipFill>
          <a:blip r:embed="rId16"/>
          <a:stretch>
            <a:fillRect/>
          </a:stretch>
        </p:blipFill>
        <p:spPr>
          <a:xfrm>
            <a:off x="15491465" y="14972372"/>
            <a:ext cx="2933925" cy="5344972"/>
          </a:xfrm>
          <a:prstGeom prst="rect">
            <a:avLst/>
          </a:prstGeom>
        </p:spPr>
      </p:pic>
      <p:sp>
        <p:nvSpPr>
          <p:cNvPr id="53" name="TextBox 52">
            <a:extLst>
              <a:ext uri="{FF2B5EF4-FFF2-40B4-BE49-F238E27FC236}">
                <a16:creationId xmlns:a16="http://schemas.microsoft.com/office/drawing/2014/main" id="{A0250591-ACE8-6591-DBE6-BD118A00C1FA}"/>
              </a:ext>
            </a:extLst>
          </p:cNvPr>
          <p:cNvSpPr txBox="1"/>
          <p:nvPr/>
        </p:nvSpPr>
        <p:spPr>
          <a:xfrm>
            <a:off x="23000380" y="8177007"/>
            <a:ext cx="9559838"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t>Node coloring can also be toggled on or off. </a:t>
            </a:r>
            <a:r>
              <a:rPr lang="en-US" sz="2200" dirty="0" err="1"/>
              <a:t>GRNsight</a:t>
            </a:r>
            <a:r>
              <a:rPr lang="en-US" sz="2200" dirty="0"/>
              <a:t> needs to take this switch into account when exporting data to an Excel workbook.</a:t>
            </a:r>
            <a:endParaRPr lang="en-US" dirty="0"/>
          </a:p>
          <a:p>
            <a:endParaRPr lang="en-US" sz="2200" b="1" dirty="0"/>
          </a:p>
          <a:p>
            <a:pPr marL="457200" indent="-457200">
              <a:buFont typeface="Arial" panose="020B0604020202020204" pitchFamily="34" charset="0"/>
              <a:buChar char="•"/>
            </a:pPr>
            <a:r>
              <a:rPr lang="en-US" sz="2200" b="1"/>
              <a:t>The user can select an option to export without expression data.</a:t>
            </a:r>
            <a:endParaRPr lang="en-US" sz="2200"/>
          </a:p>
          <a:p>
            <a:pPr marL="800100" lvl="1" indent="-342900">
              <a:buFont typeface="Arial,Sans-Serif"/>
              <a:buChar char="•"/>
            </a:pPr>
            <a:r>
              <a:rPr lang="en-US" sz="2200" dirty="0"/>
              <a:t>The user may upload a file without expression data or want to export a file without expression data.</a:t>
            </a:r>
          </a:p>
          <a:p>
            <a:pPr marL="342900" indent="-342900">
              <a:buFont typeface="Arial" panose="020B0604020202020204" pitchFamily="34" charset="0"/>
              <a:buChar char="•"/>
            </a:pPr>
            <a:r>
              <a:rPr lang="en-US" sz="2200" b="1"/>
              <a:t>The selection defaults to the current expression data source.</a:t>
            </a:r>
          </a:p>
          <a:p>
            <a:pPr marL="800100" lvl="1" indent="-342900">
              <a:buFont typeface="Arial,Sans-Serif"/>
              <a:buChar char="•"/>
            </a:pPr>
            <a:r>
              <a:rPr lang="en-US" sz="2200" dirty="0"/>
              <a:t>If node coloring is disabled, selection defaults to the original source.</a:t>
            </a:r>
          </a:p>
          <a:p>
            <a:pPr marL="800100" lvl="1" indent="-342900">
              <a:buFont typeface="Arial,Sans-Serif"/>
              <a:buChar char="•"/>
            </a:pPr>
            <a:r>
              <a:rPr lang="en-US" sz="2200" dirty="0"/>
              <a:t>If all expression sheets are deselected, then the selected source automatically moves to None.</a:t>
            </a:r>
          </a:p>
        </p:txBody>
      </p:sp>
      <p:sp>
        <p:nvSpPr>
          <p:cNvPr id="62" name="TextBox 61">
            <a:extLst>
              <a:ext uri="{FF2B5EF4-FFF2-40B4-BE49-F238E27FC236}">
                <a16:creationId xmlns:a16="http://schemas.microsoft.com/office/drawing/2014/main" id="{61514653-DF93-F8EB-6211-434F2313F959}"/>
              </a:ext>
            </a:extLst>
          </p:cNvPr>
          <p:cNvSpPr txBox="1"/>
          <p:nvPr/>
        </p:nvSpPr>
        <p:spPr>
          <a:xfrm>
            <a:off x="33920844" y="6591093"/>
            <a:ext cx="8756911" cy="954107"/>
          </a:xfrm>
          <a:prstGeom prst="rect">
            <a:avLst/>
          </a:prstGeom>
          <a:noFill/>
        </p:spPr>
        <p:txBody>
          <a:bodyPr wrap="square" lIns="91440" tIns="45720" rIns="91440" bIns="45720" rtlCol="0" anchor="t">
            <a:spAutoFit/>
          </a:bodyPr>
          <a:lstStyle/>
          <a:p>
            <a:pPr algn="ctr"/>
            <a:r>
              <a:rPr lang="en-US" sz="2800" b="1" dirty="0" err="1">
                <a:solidFill>
                  <a:srgbClr val="16693F"/>
                </a:solidFill>
              </a:rPr>
              <a:t>GRNsight</a:t>
            </a:r>
            <a:r>
              <a:rPr lang="en-US" sz="2800" b="1" dirty="0">
                <a:solidFill>
                  <a:srgbClr val="16693F"/>
                </a:solidFill>
              </a:rPr>
              <a:t> is an integral part of a data analysis workflow for biologists who model GRNs</a:t>
            </a:r>
            <a:endParaRPr lang="en-US" dirty="0"/>
          </a:p>
        </p:txBody>
      </p:sp>
      <p:pic>
        <p:nvPicPr>
          <p:cNvPr id="1030" name="Picture 6">
            <a:extLst>
              <a:ext uri="{FF2B5EF4-FFF2-40B4-BE49-F238E27FC236}">
                <a16:creationId xmlns:a16="http://schemas.microsoft.com/office/drawing/2014/main" id="{2075755A-3E8A-99C1-F4DF-C3CDACAD3D2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285455" y="12207901"/>
            <a:ext cx="3849077" cy="673588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A screenshot of a computer&#10;&#10;AI-generated content may be incorrect.">
            <a:extLst>
              <a:ext uri="{FF2B5EF4-FFF2-40B4-BE49-F238E27FC236}">
                <a16:creationId xmlns:a16="http://schemas.microsoft.com/office/drawing/2014/main" id="{612CF977-9CD3-36B2-1296-9014CE0E60CB}"/>
              </a:ext>
            </a:extLst>
          </p:cNvPr>
          <p:cNvPicPr>
            <a:picLocks noChangeAspect="1"/>
          </p:cNvPicPr>
          <p:nvPr/>
        </p:nvPicPr>
        <p:blipFill>
          <a:blip r:embed="rId18"/>
          <a:stretch>
            <a:fillRect/>
          </a:stretch>
        </p:blipFill>
        <p:spPr>
          <a:xfrm>
            <a:off x="19082311" y="18206719"/>
            <a:ext cx="2743200" cy="2209800"/>
          </a:xfrm>
          <a:prstGeom prst="rect">
            <a:avLst/>
          </a:prstGeom>
        </p:spPr>
      </p:pic>
      <p:sp>
        <p:nvSpPr>
          <p:cNvPr id="52" name="Google Shape;143;p1">
            <a:extLst>
              <a:ext uri="{FF2B5EF4-FFF2-40B4-BE49-F238E27FC236}">
                <a16:creationId xmlns:a16="http://schemas.microsoft.com/office/drawing/2014/main" id="{0A417CB9-EC93-91EE-9578-77A5828EA3D7}"/>
              </a:ext>
            </a:extLst>
          </p:cNvPr>
          <p:cNvSpPr txBox="1"/>
          <p:nvPr/>
        </p:nvSpPr>
        <p:spPr>
          <a:xfrm>
            <a:off x="18532496" y="18183253"/>
            <a:ext cx="4623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a:solidFill>
                  <a:srgbClr val="C33B3B"/>
                </a:solidFill>
              </a:rPr>
              <a:t>6</a:t>
            </a:r>
            <a:endParaRPr sz="1400" b="0" i="0" u="none" strike="noStrike" cap="none">
              <a:solidFill>
                <a:srgbClr val="C33B3B"/>
              </a:solidFill>
              <a:latin typeface="Arial"/>
              <a:ea typeface="Arial"/>
              <a:cs typeface="Arial"/>
              <a:sym typeface="Arial"/>
            </a:endParaRPr>
          </a:p>
        </p:txBody>
      </p:sp>
      <p:sp>
        <p:nvSpPr>
          <p:cNvPr id="77" name="TextBox 76">
            <a:extLst>
              <a:ext uri="{FF2B5EF4-FFF2-40B4-BE49-F238E27FC236}">
                <a16:creationId xmlns:a16="http://schemas.microsoft.com/office/drawing/2014/main" id="{C28BC800-2DEC-3EEA-984B-0CE8C3724541}"/>
              </a:ext>
            </a:extLst>
          </p:cNvPr>
          <p:cNvSpPr txBox="1"/>
          <p:nvPr/>
        </p:nvSpPr>
        <p:spPr>
          <a:xfrm>
            <a:off x="33537537" y="7654694"/>
            <a:ext cx="9559838"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200" dirty="0" err="1"/>
              <a:t>GRNsight</a:t>
            </a:r>
            <a:r>
              <a:rPr lang="en-US" sz="2200" dirty="0"/>
              <a:t> data can be exported to an Excel workbook for use with our sister MATLAB software, </a:t>
            </a:r>
            <a:r>
              <a:rPr lang="en-US" sz="2200" dirty="0" err="1"/>
              <a:t>GRNmap</a:t>
            </a:r>
            <a:r>
              <a:rPr lang="en-US" sz="2200" dirty="0"/>
              <a:t>.</a:t>
            </a:r>
            <a:endParaRPr lang="en-US" dirty="0"/>
          </a:p>
          <a:p>
            <a:pPr marL="800100" lvl="1" indent="-342900">
              <a:buFont typeface="Arial" panose="020B0604020202020204" pitchFamily="34" charset="0"/>
              <a:buChar char="•"/>
            </a:pPr>
            <a:r>
              <a:rPr lang="en-US" sz="2200" dirty="0" err="1"/>
              <a:t>GRNmap</a:t>
            </a:r>
            <a:r>
              <a:rPr lang="en-US" sz="2200" dirty="0"/>
              <a:t> = Gene Regulatory Network Modeling, and Parameter estimation. </a:t>
            </a:r>
            <a:endParaRPr lang="en-US" dirty="0"/>
          </a:p>
          <a:p>
            <a:pPr marL="342900" indent="-342900">
              <a:buFont typeface="Arial"/>
              <a:buChar char="•"/>
            </a:pPr>
            <a:r>
              <a:rPr lang="en-US" sz="2200" dirty="0"/>
              <a:t>Ensuring data export is free of bugs is crucial to maintaining the integrity and organization of the data while minimizing the risk of errors.</a:t>
            </a:r>
          </a:p>
          <a:p>
            <a:pPr marL="342900" indent="-342900">
              <a:buFont typeface="Arial"/>
              <a:buChar char="•"/>
            </a:pPr>
            <a:r>
              <a:rPr lang="en-US" sz="2200" dirty="0" err="1"/>
              <a:t>GRNsight</a:t>
            </a:r>
            <a:r>
              <a:rPr lang="en-US" sz="2200" dirty="0"/>
              <a:t> should also be able to import all </a:t>
            </a:r>
            <a:r>
              <a:rPr lang="en-US" sz="2200" dirty="0" err="1"/>
              <a:t>GRNmap</a:t>
            </a:r>
            <a:r>
              <a:rPr lang="en-US" sz="2200" dirty="0"/>
              <a:t> data and make it available for export.</a:t>
            </a:r>
          </a:p>
        </p:txBody>
      </p:sp>
      <p:sp>
        <p:nvSpPr>
          <p:cNvPr id="78" name="TextBox 77">
            <a:extLst>
              <a:ext uri="{FF2B5EF4-FFF2-40B4-BE49-F238E27FC236}">
                <a16:creationId xmlns:a16="http://schemas.microsoft.com/office/drawing/2014/main" id="{62491C61-2F8C-CC89-E75A-F17D81DB13CF}"/>
              </a:ext>
            </a:extLst>
          </p:cNvPr>
          <p:cNvSpPr txBox="1"/>
          <p:nvPr/>
        </p:nvSpPr>
        <p:spPr>
          <a:xfrm>
            <a:off x="23294515" y="6583087"/>
            <a:ext cx="9150027" cy="1384995"/>
          </a:xfrm>
          <a:prstGeom prst="rect">
            <a:avLst/>
          </a:prstGeom>
          <a:noFill/>
        </p:spPr>
        <p:txBody>
          <a:bodyPr wrap="square" lIns="91440" tIns="45720" rIns="91440" bIns="45720" rtlCol="0" anchor="t">
            <a:spAutoFit/>
          </a:bodyPr>
          <a:lstStyle/>
          <a:p>
            <a:pPr algn="ctr"/>
            <a:r>
              <a:rPr lang="en-US" sz="2800" b="1" dirty="0">
                <a:solidFill>
                  <a:srgbClr val="16693F"/>
                </a:solidFill>
              </a:rPr>
              <a:t>Nodes can be colored with mRNA-level expression data imported by the user or from the backend </a:t>
            </a:r>
            <a:r>
              <a:rPr lang="en-US" sz="2800" b="1">
                <a:solidFill>
                  <a:srgbClr val="16693F"/>
                </a:solidFill>
              </a:rPr>
              <a:t>expression database</a:t>
            </a:r>
            <a:endParaRPr lang="en-US"/>
          </a:p>
        </p:txBody>
      </p:sp>
      <p:pic>
        <p:nvPicPr>
          <p:cNvPr id="6" name="Picture 5" descr="A diagram of a network&#10;&#10;AI-generated content may be incorrect.">
            <a:extLst>
              <a:ext uri="{FF2B5EF4-FFF2-40B4-BE49-F238E27FC236}">
                <a16:creationId xmlns:a16="http://schemas.microsoft.com/office/drawing/2014/main" id="{8C2D3224-30C0-69C4-1138-90C6D358ABF9}"/>
              </a:ext>
            </a:extLst>
          </p:cNvPr>
          <p:cNvPicPr>
            <a:picLocks noChangeAspect="1"/>
          </p:cNvPicPr>
          <p:nvPr/>
        </p:nvPicPr>
        <p:blipFill>
          <a:blip r:embed="rId19"/>
          <a:srcRect r="237" b="356"/>
          <a:stretch>
            <a:fillRect/>
          </a:stretch>
        </p:blipFill>
        <p:spPr>
          <a:xfrm>
            <a:off x="39880270" y="13806281"/>
            <a:ext cx="2706196" cy="1814755"/>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73D3DD84-2A8A-870E-B35C-8E88C5B8F6A1}"/>
              </a:ext>
            </a:extLst>
          </p:cNvPr>
          <p:cNvPicPr>
            <a:picLocks noChangeAspect="1"/>
          </p:cNvPicPr>
          <p:nvPr/>
        </p:nvPicPr>
        <p:blipFill>
          <a:blip r:embed="rId20"/>
          <a:stretch>
            <a:fillRect/>
          </a:stretch>
        </p:blipFill>
        <p:spPr>
          <a:xfrm>
            <a:off x="8898899" y="30627439"/>
            <a:ext cx="4970117" cy="1196405"/>
          </a:xfrm>
          <a:prstGeom prst="rect">
            <a:avLst/>
          </a:prstGeom>
        </p:spPr>
      </p:pic>
      <p:pic>
        <p:nvPicPr>
          <p:cNvPr id="33" name="Picture 32" descr="A screenshot of a computer&#10;&#10;AI-generated content may be incorrect.">
            <a:extLst>
              <a:ext uri="{FF2B5EF4-FFF2-40B4-BE49-F238E27FC236}">
                <a16:creationId xmlns:a16="http://schemas.microsoft.com/office/drawing/2014/main" id="{2DFEA1D4-5D5F-0EBD-504B-BB96134419B9}"/>
              </a:ext>
            </a:extLst>
          </p:cNvPr>
          <p:cNvPicPr>
            <a:picLocks noChangeAspect="1"/>
          </p:cNvPicPr>
          <p:nvPr/>
        </p:nvPicPr>
        <p:blipFill>
          <a:blip r:embed="rId21"/>
          <a:stretch>
            <a:fillRect/>
          </a:stretch>
        </p:blipFill>
        <p:spPr>
          <a:xfrm>
            <a:off x="8890110" y="25871153"/>
            <a:ext cx="4967020" cy="1163849"/>
          </a:xfrm>
          <a:prstGeom prst="rect">
            <a:avLst/>
          </a:prstGeom>
        </p:spPr>
      </p:pic>
      <p:pic>
        <p:nvPicPr>
          <p:cNvPr id="32" name="Picture 31" descr="A diagram of a workflow&#10;&#10;AI-generated content may be incorrect.">
            <a:extLst>
              <a:ext uri="{FF2B5EF4-FFF2-40B4-BE49-F238E27FC236}">
                <a16:creationId xmlns:a16="http://schemas.microsoft.com/office/drawing/2014/main" id="{6451B4F2-E8F4-77CD-1C53-D80A3DE2F4A7}"/>
              </a:ext>
            </a:extLst>
          </p:cNvPr>
          <p:cNvPicPr>
            <a:picLocks noChangeAspect="1"/>
          </p:cNvPicPr>
          <p:nvPr/>
        </p:nvPicPr>
        <p:blipFill>
          <a:blip r:embed="rId22"/>
          <a:srcRect t="19480"/>
          <a:stretch>
            <a:fillRect/>
          </a:stretch>
        </p:blipFill>
        <p:spPr>
          <a:xfrm>
            <a:off x="34011065" y="10883097"/>
            <a:ext cx="8444614" cy="3884176"/>
          </a:xfrm>
          <a:prstGeom prst="rect">
            <a:avLst/>
          </a:prstGeom>
        </p:spPr>
      </p:pic>
      <p:sp>
        <p:nvSpPr>
          <p:cNvPr id="43" name="TextBox 42">
            <a:extLst>
              <a:ext uri="{FF2B5EF4-FFF2-40B4-BE49-F238E27FC236}">
                <a16:creationId xmlns:a16="http://schemas.microsoft.com/office/drawing/2014/main" id="{FECAD873-A624-81B8-ED37-F4864A2279E2}"/>
              </a:ext>
            </a:extLst>
          </p:cNvPr>
          <p:cNvSpPr txBox="1"/>
          <p:nvPr/>
        </p:nvSpPr>
        <p:spPr>
          <a:xfrm>
            <a:off x="9340540" y="25098827"/>
            <a:ext cx="4121460" cy="769441"/>
          </a:xfrm>
          <a:prstGeom prst="rect">
            <a:avLst/>
          </a:prstGeom>
          <a:noFill/>
        </p:spPr>
        <p:txBody>
          <a:bodyPr wrap="square" lIns="91440" tIns="45720" rIns="91440" bIns="45720" rtlCol="0" anchor="t">
            <a:spAutoFit/>
          </a:bodyPr>
          <a:lstStyle/>
          <a:p>
            <a:pPr algn="ctr"/>
            <a:r>
              <a:rPr lang="en-US" sz="2200" dirty="0">
                <a:solidFill>
                  <a:schemeClr val="tx1"/>
                </a:solidFill>
              </a:rPr>
              <a:t>Cell A1 of the “network” input worksheet for a GRN:</a:t>
            </a:r>
            <a:endParaRPr lang="en-US" dirty="0">
              <a:solidFill>
                <a:schemeClr val="tx1"/>
              </a:solidFill>
            </a:endParaRPr>
          </a:p>
        </p:txBody>
      </p:sp>
      <p:pic>
        <p:nvPicPr>
          <p:cNvPr id="18" name="Picture 17" descr="A screenshot of a computer&#10;&#10;AI-generated content may be incorrect.">
            <a:extLst>
              <a:ext uri="{FF2B5EF4-FFF2-40B4-BE49-F238E27FC236}">
                <a16:creationId xmlns:a16="http://schemas.microsoft.com/office/drawing/2014/main" id="{4688E326-4698-7454-B731-0448ABBE90BE}"/>
              </a:ext>
            </a:extLst>
          </p:cNvPr>
          <p:cNvPicPr>
            <a:picLocks noChangeAspect="1"/>
          </p:cNvPicPr>
          <p:nvPr/>
        </p:nvPicPr>
        <p:blipFill>
          <a:blip r:embed="rId23"/>
          <a:stretch>
            <a:fillRect/>
          </a:stretch>
        </p:blipFill>
        <p:spPr>
          <a:xfrm>
            <a:off x="8655808" y="8868880"/>
            <a:ext cx="2974233" cy="5295900"/>
          </a:xfrm>
          <a:prstGeom prst="rect">
            <a:avLst/>
          </a:prstGeom>
        </p:spPr>
      </p:pic>
      <p:sp>
        <p:nvSpPr>
          <p:cNvPr id="27" name="TextBox 26">
            <a:extLst>
              <a:ext uri="{FF2B5EF4-FFF2-40B4-BE49-F238E27FC236}">
                <a16:creationId xmlns:a16="http://schemas.microsoft.com/office/drawing/2014/main" id="{ACDC34D3-08A0-A1CF-9C73-7E4871194F7A}"/>
              </a:ext>
            </a:extLst>
          </p:cNvPr>
          <p:cNvSpPr txBox="1"/>
          <p:nvPr/>
        </p:nvSpPr>
        <p:spPr>
          <a:xfrm>
            <a:off x="1069617" y="20119873"/>
            <a:ext cx="20046105"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t>6. Export</a:t>
            </a:r>
            <a:endParaRPr lang="en-US" sz="2200"/>
          </a:p>
          <a:p>
            <a:pPr marL="690245" lvl="1" indent="-233045">
              <a:buFont typeface="Arial,Sans-Serif"/>
              <a:buChar char="•"/>
            </a:pPr>
            <a:r>
              <a:rPr lang="en-US" sz="2200"/>
              <a:t>Basic data export to SIF or </a:t>
            </a:r>
            <a:r>
              <a:rPr lang="en-US" sz="2200" err="1"/>
              <a:t>GraphML</a:t>
            </a:r>
            <a:r>
              <a:rPr lang="en-US" sz="2200"/>
              <a:t> or full </a:t>
            </a:r>
            <a:r>
              <a:rPr lang="en-US" sz="2200" err="1"/>
              <a:t>GRNmap</a:t>
            </a:r>
            <a:r>
              <a:rPr lang="en-US" sz="2200"/>
              <a:t>-compatible Excel workbook, with yeast mRNA degradation rates from </a:t>
            </a:r>
            <a:r>
              <a:rPr lang="en-US" sz="2200" err="1"/>
              <a:t>Neymotin</a:t>
            </a:r>
            <a:r>
              <a:rPr lang="en-US" sz="2200"/>
              <a:t> et al. (2014). </a:t>
            </a:r>
          </a:p>
          <a:p>
            <a:pPr marL="690245" lvl="1" indent="-233045">
              <a:buFont typeface="Arial,Sans-Serif"/>
              <a:buChar char="•"/>
            </a:pPr>
            <a:r>
              <a:rPr lang="en-US" sz="2200"/>
              <a:t>Image export to PNG, SVG, or PDF</a:t>
            </a:r>
            <a:r>
              <a:rPr lang="en-US" sz="2400"/>
              <a:t>.</a:t>
            </a:r>
            <a:endParaRPr lang="en-US"/>
          </a:p>
        </p:txBody>
      </p:sp>
      <p:sp>
        <p:nvSpPr>
          <p:cNvPr id="46" name="TextBox 25">
            <a:extLst>
              <a:ext uri="{FF2B5EF4-FFF2-40B4-BE49-F238E27FC236}">
                <a16:creationId xmlns:a16="http://schemas.microsoft.com/office/drawing/2014/main" id="{2D3FDEC3-487A-B12C-ADD5-09BBBDEB5D98}"/>
              </a:ext>
            </a:extLst>
          </p:cNvPr>
          <p:cNvSpPr txBox="1"/>
          <p:nvPr/>
        </p:nvSpPr>
        <p:spPr>
          <a:xfrm>
            <a:off x="14729299" y="22734464"/>
            <a:ext cx="7432157" cy="7540526"/>
          </a:xfrm>
          <a:prstGeom prst="rect">
            <a:avLst/>
          </a:prstGeom>
          <a:noFill/>
        </p:spPr>
        <p:txBody>
          <a:bodyPr wrap="square" lIns="91440" tIns="45720" rIns="91440" bIns="45720" rtlCol="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342900" indent="-342900">
              <a:buFont typeface="Arial" panose="020B0604020202020204" pitchFamily="34" charset="0"/>
              <a:buChar char="•"/>
            </a:pPr>
            <a:r>
              <a:rPr lang="en-US" sz="2200" b="1" dirty="0" err="1">
                <a:solidFill>
                  <a:schemeClr val="tx1"/>
                </a:solidFill>
              </a:rPr>
              <a:t>GRNsight</a:t>
            </a:r>
            <a:r>
              <a:rPr lang="en-US" sz="2200" b="1" dirty="0">
                <a:solidFill>
                  <a:schemeClr val="tx1"/>
                </a:solidFill>
              </a:rPr>
              <a:t> was originally developed to handle gene regulatory networks. </a:t>
            </a:r>
          </a:p>
          <a:p>
            <a:pPr marL="800100" lvl="1" indent="-342900">
              <a:buFont typeface="Arial" panose="020B0604020202020204" pitchFamily="34" charset="0"/>
              <a:buChar char="•"/>
            </a:pPr>
            <a:r>
              <a:rPr lang="en-US" sz="2200" dirty="0">
                <a:solidFill>
                  <a:schemeClr val="tx1"/>
                </a:solidFill>
              </a:rPr>
              <a:t>As functionality expanded to also include protein-protein interaction networks, we found that there were features and functionalities that didn't automatically transfer over and needed individualized debugging.</a:t>
            </a:r>
            <a:endParaRPr lang="en-US" dirty="0">
              <a:solidFill>
                <a:schemeClr val="tx1"/>
              </a:solidFill>
            </a:endParaRPr>
          </a:p>
          <a:p>
            <a:pPr marL="800100" lvl="1" indent="-342900">
              <a:buFont typeface="Arial" panose="020B0604020202020204" pitchFamily="34" charset="0"/>
              <a:buChar char="•"/>
            </a:pPr>
            <a:endParaRPr lang="en-US" sz="2200" dirty="0">
              <a:solidFill>
                <a:schemeClr val="tx1"/>
              </a:solidFill>
            </a:endParaRPr>
          </a:p>
          <a:p>
            <a:pPr marL="342900" indent="-342900">
              <a:buFont typeface="Arial" panose="020B0604020202020204" pitchFamily="34" charset="0"/>
              <a:buChar char="•"/>
            </a:pPr>
            <a:r>
              <a:rPr lang="en-US" sz="2200" b="1" dirty="0">
                <a:solidFill>
                  <a:schemeClr val="tx1"/>
                </a:solidFill>
              </a:rPr>
              <a:t>We have continued to update </a:t>
            </a:r>
            <a:r>
              <a:rPr lang="en-US" sz="2200" b="1" dirty="0" err="1">
                <a:solidFill>
                  <a:schemeClr val="tx1"/>
                </a:solidFill>
              </a:rPr>
              <a:t>GRNsight</a:t>
            </a:r>
            <a:r>
              <a:rPr lang="en-US" sz="2200" b="1" dirty="0">
                <a:solidFill>
                  <a:schemeClr val="tx1"/>
                </a:solidFill>
              </a:rPr>
              <a:t> and make its handling and integration of PPIs more robust through:</a:t>
            </a:r>
            <a:endParaRPr lang="en-US" b="1" dirty="0">
              <a:solidFill>
                <a:schemeClr val="tx1"/>
              </a:solidFill>
            </a:endParaRPr>
          </a:p>
          <a:p>
            <a:pPr marL="800100" lvl="1" indent="-342900">
              <a:buFont typeface="Arial" panose="020B0604020202020204" pitchFamily="34" charset="0"/>
              <a:buChar char="•"/>
            </a:pPr>
            <a:r>
              <a:rPr lang="en-US" sz="2200" dirty="0">
                <a:solidFill>
                  <a:schemeClr val="tx1"/>
                </a:solidFill>
              </a:rPr>
              <a:t>Determining whether a user-uploaded workbook contains a GRN or PPI by reading cell A1 of the "network" worksheet in the input Excel </a:t>
            </a:r>
            <a:r>
              <a:rPr lang="en-US" sz="2200" dirty="0" err="1">
                <a:solidFill>
                  <a:schemeClr val="tx1"/>
                </a:solidFill>
              </a:rPr>
              <a:t>workboo</a:t>
            </a:r>
            <a:r>
              <a:rPr lang="en-US" sz="2200" dirty="0">
                <a:solidFill>
                  <a:schemeClr val="tx1"/>
                </a:solidFill>
              </a:rPr>
              <a:t>k.</a:t>
            </a:r>
          </a:p>
          <a:p>
            <a:pPr marL="1257300" lvl="2" indent="-342900">
              <a:buFont typeface="Arial" panose="020B0604020202020204" pitchFamily="34" charset="0"/>
              <a:buChar char="•"/>
            </a:pPr>
            <a:r>
              <a:rPr lang="en-US" sz="2200" dirty="0">
                <a:solidFill>
                  <a:schemeClr val="tx1"/>
                </a:solidFill>
              </a:rPr>
              <a:t>This differentiation logic was updated to accurately detect GRNs vs. PPIs.</a:t>
            </a:r>
          </a:p>
          <a:p>
            <a:pPr marL="800100" lvl="1" indent="-342900">
              <a:buFont typeface="Arial" panose="020B0604020202020204" pitchFamily="34" charset="0"/>
              <a:buChar char="•"/>
            </a:pPr>
            <a:r>
              <a:rPr lang="en-US" sz="2200" dirty="0">
                <a:solidFill>
                  <a:schemeClr val="tx1"/>
                </a:solidFill>
              </a:rPr>
              <a:t>Ability to export PPI workbooks to Excel and SIF formats.</a:t>
            </a:r>
          </a:p>
          <a:p>
            <a:pPr marL="800100" lvl="1" indent="-342900">
              <a:buFont typeface="Arial" panose="020B0604020202020204" pitchFamily="34" charset="0"/>
              <a:buChar char="•"/>
            </a:pPr>
            <a:r>
              <a:rPr lang="en-US" sz="2200" dirty="0">
                <a:solidFill>
                  <a:schemeClr val="tx1"/>
                </a:solidFill>
              </a:rPr>
              <a:t>Menu bar no longer unnecessarily expands when the browser window resizes to load PPIs from the database.</a:t>
            </a:r>
          </a:p>
          <a:p>
            <a:pPr marL="800100" lvl="1" indent="-342900">
              <a:buFont typeface="Arial" panose="020B0604020202020204" pitchFamily="34" charset="0"/>
              <a:buChar char="•"/>
            </a:pPr>
            <a:r>
              <a:rPr lang="en-US" sz="2200" dirty="0">
                <a:solidFill>
                  <a:schemeClr val="tx1"/>
                </a:solidFill>
              </a:rPr>
              <a:t>Consistent node coloring functionality for PPIs.</a:t>
            </a:r>
            <a:endParaRPr lang="en-US" dirty="0">
              <a:solidFill>
                <a:schemeClr val="tx1"/>
              </a:solidFill>
            </a:endParaRPr>
          </a:p>
        </p:txBody>
      </p:sp>
      <p:sp>
        <p:nvSpPr>
          <p:cNvPr id="81" name="TextBox 39">
            <a:extLst>
              <a:ext uri="{FF2B5EF4-FFF2-40B4-BE49-F238E27FC236}">
                <a16:creationId xmlns:a16="http://schemas.microsoft.com/office/drawing/2014/main" id="{2D8ED984-F29A-9E7A-D555-B2AE2DADB90E}"/>
              </a:ext>
            </a:extLst>
          </p:cNvPr>
          <p:cNvSpPr txBox="1"/>
          <p:nvPr/>
        </p:nvSpPr>
        <p:spPr>
          <a:xfrm>
            <a:off x="9340540" y="29869005"/>
            <a:ext cx="4121460" cy="769441"/>
          </a:xfrm>
          <a:prstGeom prst="rect">
            <a:avLst/>
          </a:prstGeom>
          <a:noFill/>
        </p:spPr>
        <p:txBody>
          <a:bodyPr wrap="square" lIns="91440" tIns="45720" rIns="91440" bIns="45720" rtlCol="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algn="ctr"/>
            <a:r>
              <a:rPr lang="en-US" sz="2200" dirty="0">
                <a:solidFill>
                  <a:schemeClr val="tx1"/>
                </a:solidFill>
              </a:rPr>
              <a:t>Cell A1 of the “network” input worksheet for a PPI:</a:t>
            </a:r>
            <a:endParaRPr lang="en-US" dirty="0"/>
          </a:p>
        </p:txBody>
      </p:sp>
      <p:sp>
        <p:nvSpPr>
          <p:cNvPr id="91" name="TextBox 83">
            <a:extLst>
              <a:ext uri="{FF2B5EF4-FFF2-40B4-BE49-F238E27FC236}">
                <a16:creationId xmlns:a16="http://schemas.microsoft.com/office/drawing/2014/main" id="{EFBBD9CC-6409-98FC-4CC0-560474EFE6E1}"/>
              </a:ext>
            </a:extLst>
          </p:cNvPr>
          <p:cNvSpPr txBox="1"/>
          <p:nvPr/>
        </p:nvSpPr>
        <p:spPr>
          <a:xfrm>
            <a:off x="23005901" y="20613695"/>
            <a:ext cx="9453651" cy="4832092"/>
          </a:xfrm>
          <a:prstGeom prst="rect">
            <a:avLst/>
          </a:prstGeom>
          <a:noFill/>
        </p:spPr>
        <p:txBody>
          <a:bodyPr wrap="square" lIns="91440" tIns="45720" rIns="91440" bIns="45720" rtlCol="0" anchor="t">
            <a:spAutoFit/>
          </a:bodyPr>
          <a:lstStyle>
            <a:defPPr marR="0" algn="l" rtl="0">
              <a:lnSpc>
                <a:spcPct val="100000"/>
              </a:lnSpc>
              <a:spcBef>
                <a:spcPts val="0"/>
              </a:spcBef>
              <a:spcAft>
                <a:spcPts val="0"/>
              </a:spcAft>
              <a:defRPr/>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342900" indent="-342900">
              <a:buFont typeface="Arial"/>
              <a:buChar char="•"/>
            </a:pPr>
            <a:r>
              <a:rPr lang="en-US" sz="2200" b="1" dirty="0"/>
              <a:t>Why PPI Node Coloring?</a:t>
            </a:r>
            <a:endParaRPr lang="en-US" dirty="0"/>
          </a:p>
          <a:p>
            <a:pPr marL="800100" lvl="1" indent="-342900">
              <a:buFont typeface="Arial"/>
              <a:buChar char="•"/>
            </a:pPr>
            <a:r>
              <a:rPr lang="en-US" sz="2200" dirty="0"/>
              <a:t>Previously, node coloring was only enabled for GRNs because node coloring is a visualization of the level of mRNA expression using data provided by the user or from </a:t>
            </a:r>
            <a:r>
              <a:rPr lang="en-US" sz="2200" dirty="0" err="1"/>
              <a:t>GRNsight’s</a:t>
            </a:r>
            <a:r>
              <a:rPr lang="en-US" sz="2200" dirty="0"/>
              <a:t> expression database.</a:t>
            </a:r>
          </a:p>
          <a:p>
            <a:pPr marL="342900" indent="-342900">
              <a:buFont typeface="Arial"/>
              <a:buChar char="•"/>
            </a:pPr>
            <a:r>
              <a:rPr lang="en-US" sz="2200" b="1" dirty="0"/>
              <a:t> PPI Node Coloring Implementation</a:t>
            </a:r>
          </a:p>
          <a:p>
            <a:pPr marL="800100" lvl="1" indent="-342900">
              <a:buFont typeface="Arial"/>
              <a:buChar char="•"/>
            </a:pPr>
            <a:r>
              <a:rPr lang="en-US" sz="2200" dirty="0"/>
              <a:t>Now, when a PPI demo or network without expression data in the workbook is loaded, node coloring defaults to disabled.</a:t>
            </a:r>
          </a:p>
          <a:p>
            <a:pPr marL="800100" lvl="1" indent="-342900">
              <a:buFont typeface="Arial"/>
              <a:buChar char="•"/>
            </a:pPr>
            <a:r>
              <a:rPr lang="en-US" sz="2200" dirty="0"/>
              <a:t>When node coloring is enabled for a PPI, a warning message displays that informs users that mRNA-level expression data is being displayed on a PPI network.</a:t>
            </a:r>
          </a:p>
          <a:p>
            <a:pPr marL="800100" lvl="1" indent="-342900">
              <a:buFont typeface="Arial"/>
              <a:buChar char="•"/>
            </a:pPr>
            <a:r>
              <a:rPr lang="en-US" sz="2200" dirty="0"/>
              <a:t>The query on the expression database for gene names had to strip the "p" at the end of the protein name to account for the difference in yeast gene and protein nomenclature. For example, </a:t>
            </a:r>
            <a:r>
              <a:rPr lang="en-US" sz="2200" i="1" dirty="0"/>
              <a:t>ACE2</a:t>
            </a:r>
            <a:r>
              <a:rPr lang="en-US" sz="2200" dirty="0"/>
              <a:t> represents the gene and Ace2p represents the protein.</a:t>
            </a:r>
            <a:endParaRPr lang="en-US" dirty="0"/>
          </a:p>
        </p:txBody>
      </p:sp>
      <p:sp>
        <p:nvSpPr>
          <p:cNvPr id="92" name="TextBox 86">
            <a:extLst>
              <a:ext uri="{FF2B5EF4-FFF2-40B4-BE49-F238E27FC236}">
                <a16:creationId xmlns:a16="http://schemas.microsoft.com/office/drawing/2014/main" id="{602B4AE0-980B-7762-4AC7-4586426D4567}"/>
              </a:ext>
            </a:extLst>
          </p:cNvPr>
          <p:cNvSpPr txBox="1"/>
          <p:nvPr/>
        </p:nvSpPr>
        <p:spPr>
          <a:xfrm>
            <a:off x="22880395" y="19401339"/>
            <a:ext cx="9241352" cy="954107"/>
          </a:xfrm>
          <a:prstGeom prst="rect">
            <a:avLst/>
          </a:prstGeom>
          <a:noFill/>
        </p:spPr>
        <p:txBody>
          <a:bodyPr wrap="square" lIns="91440" tIns="45720" rIns="91440" bIns="45720" rtlCol="0" anchor="t">
            <a:spAutoFit/>
          </a:bodyPr>
          <a:lstStyle>
            <a:defPPr marR="0" algn="l" rtl="0">
              <a:lnSpc>
                <a:spcPct val="100000"/>
              </a:lnSpc>
              <a:spcBef>
                <a:spcPts val="0"/>
              </a:spcBef>
              <a:spcAft>
                <a:spcPts val="0"/>
              </a:spcAft>
              <a:defRPr/>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algn="ctr"/>
            <a:r>
              <a:rPr lang="en-US" sz="2800" b="1" dirty="0">
                <a:solidFill>
                  <a:srgbClr val="16693F"/>
                </a:solidFill>
              </a:rPr>
              <a:t>Nodes in PPI networks can now be colored using </a:t>
            </a:r>
            <a:r>
              <a:rPr lang="en-US" sz="2800" b="1">
                <a:solidFill>
                  <a:srgbClr val="16693F"/>
                </a:solidFill>
              </a:rPr>
              <a:t>mRNA expression data</a:t>
            </a:r>
          </a:p>
        </p:txBody>
      </p:sp>
      <p:pic>
        <p:nvPicPr>
          <p:cNvPr id="34" name="Picture 33" descr="A black background with white text&#10;&#10;AI-generated content may be incorrect.">
            <a:extLst>
              <a:ext uri="{FF2B5EF4-FFF2-40B4-BE49-F238E27FC236}">
                <a16:creationId xmlns:a16="http://schemas.microsoft.com/office/drawing/2014/main" id="{3D104EA5-4235-BAC3-1F9E-37685028F4E5}"/>
              </a:ext>
            </a:extLst>
          </p:cNvPr>
          <p:cNvPicPr>
            <a:picLocks noChangeAspect="1"/>
          </p:cNvPicPr>
          <p:nvPr/>
        </p:nvPicPr>
        <p:blipFill>
          <a:blip r:embed="rId24"/>
          <a:stretch>
            <a:fillRect/>
          </a:stretch>
        </p:blipFill>
        <p:spPr>
          <a:xfrm>
            <a:off x="39886363" y="12460969"/>
            <a:ext cx="2634400" cy="1088658"/>
          </a:xfrm>
          <a:prstGeom prst="rect">
            <a:avLst/>
          </a:prstGeom>
        </p:spPr>
      </p:pic>
      <p:pic>
        <p:nvPicPr>
          <p:cNvPr id="49" name="Picture 48" descr="A white sheet with black numbers and letters&#10;&#10;AI-generated content may be incorrect.">
            <a:extLst>
              <a:ext uri="{FF2B5EF4-FFF2-40B4-BE49-F238E27FC236}">
                <a16:creationId xmlns:a16="http://schemas.microsoft.com/office/drawing/2014/main" id="{63DFEDF0-CEBD-4687-9733-5A25153DFDEC}"/>
              </a:ext>
            </a:extLst>
          </p:cNvPr>
          <p:cNvPicPr>
            <a:picLocks noChangeAspect="1"/>
          </p:cNvPicPr>
          <p:nvPr/>
        </p:nvPicPr>
        <p:blipFill>
          <a:blip r:embed="rId25"/>
          <a:stretch>
            <a:fillRect/>
          </a:stretch>
        </p:blipFill>
        <p:spPr>
          <a:xfrm>
            <a:off x="36776513" y="12211446"/>
            <a:ext cx="3176025" cy="1421043"/>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4E00CC1C-DABB-3AD1-8145-915128484A6D}"/>
              </a:ext>
            </a:extLst>
          </p:cNvPr>
          <p:cNvPicPr>
            <a:picLocks noChangeAspect="1"/>
          </p:cNvPicPr>
          <p:nvPr/>
        </p:nvPicPr>
        <p:blipFill>
          <a:blip r:embed="rId26"/>
          <a:srcRect l="1851"/>
          <a:stretch>
            <a:fillRect/>
          </a:stretch>
        </p:blipFill>
        <p:spPr>
          <a:xfrm>
            <a:off x="27630372" y="12445374"/>
            <a:ext cx="4848193" cy="6379954"/>
          </a:xfrm>
          <a:prstGeom prst="rect">
            <a:avLst/>
          </a:prstGeom>
        </p:spPr>
      </p:pic>
      <p:sp>
        <p:nvSpPr>
          <p:cNvPr id="20" name="Right Arrow 27">
            <a:extLst>
              <a:ext uri="{FF2B5EF4-FFF2-40B4-BE49-F238E27FC236}">
                <a16:creationId xmlns:a16="http://schemas.microsoft.com/office/drawing/2014/main" id="{3D67A0FC-C5B9-9921-0670-09C405F9E971}"/>
              </a:ext>
            </a:extLst>
          </p:cNvPr>
          <p:cNvSpPr/>
          <p:nvPr/>
        </p:nvSpPr>
        <p:spPr>
          <a:xfrm>
            <a:off x="27357523" y="27096961"/>
            <a:ext cx="799119" cy="316019"/>
          </a:xfrm>
          <a:prstGeom prst="rightArrow">
            <a:avLst/>
          </a:prstGeom>
          <a:solidFill>
            <a:srgbClr val="16693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3FEA0A4C-6CD4-DF74-96D3-40A1A9C5B05E}"/>
              </a:ext>
            </a:extLst>
          </p:cNvPr>
          <p:cNvPicPr>
            <a:picLocks noChangeAspect="1"/>
          </p:cNvPicPr>
          <p:nvPr/>
        </p:nvPicPr>
        <p:blipFill>
          <a:blip r:embed="rId27"/>
          <a:stretch>
            <a:fillRect/>
          </a:stretch>
        </p:blipFill>
        <p:spPr>
          <a:xfrm>
            <a:off x="23003045" y="25937350"/>
            <a:ext cx="3907856" cy="2288491"/>
          </a:xfrm>
          <a:prstGeom prst="rect">
            <a:avLst/>
          </a:prstGeom>
        </p:spPr>
      </p:pic>
      <p:pic>
        <p:nvPicPr>
          <p:cNvPr id="22" name="Picture 21">
            <a:extLst>
              <a:ext uri="{FF2B5EF4-FFF2-40B4-BE49-F238E27FC236}">
                <a16:creationId xmlns:a16="http://schemas.microsoft.com/office/drawing/2014/main" id="{58BDB734-D771-FECA-3F22-9A67FA308D73}"/>
              </a:ext>
            </a:extLst>
          </p:cNvPr>
          <p:cNvPicPr>
            <a:picLocks noChangeAspect="1"/>
          </p:cNvPicPr>
          <p:nvPr/>
        </p:nvPicPr>
        <p:blipFill>
          <a:blip r:embed="rId28"/>
          <a:stretch>
            <a:fillRect/>
          </a:stretch>
        </p:blipFill>
        <p:spPr>
          <a:xfrm>
            <a:off x="28725733" y="26058794"/>
            <a:ext cx="3907856" cy="2291547"/>
          </a:xfrm>
          <a:prstGeom prst="rect">
            <a:avLst/>
          </a:prstGeom>
        </p:spPr>
      </p:pic>
      <p:sp>
        <p:nvSpPr>
          <p:cNvPr id="26" name="TextBox 25">
            <a:extLst>
              <a:ext uri="{FF2B5EF4-FFF2-40B4-BE49-F238E27FC236}">
                <a16:creationId xmlns:a16="http://schemas.microsoft.com/office/drawing/2014/main" id="{55143AB0-365F-3C76-77CD-9E5E8C1CD3A3}"/>
              </a:ext>
            </a:extLst>
          </p:cNvPr>
          <p:cNvSpPr txBox="1"/>
          <p:nvPr/>
        </p:nvSpPr>
        <p:spPr>
          <a:xfrm>
            <a:off x="23029496" y="28465125"/>
            <a:ext cx="3488834" cy="584775"/>
          </a:xfrm>
          <a:prstGeom prst="rect">
            <a:avLst/>
          </a:prstGeom>
          <a:noFill/>
        </p:spPr>
        <p:txBody>
          <a:bodyPr wrap="square" lIns="91440" tIns="45720" rIns="91440" bIns="45720" rtlCol="0" anchor="t">
            <a:spAutoFit/>
          </a:bodyPr>
          <a:lstStyle/>
          <a:p>
            <a:pPr lvl="3" algn="ctr"/>
            <a:r>
              <a:rPr lang="en-US" sz="1600" b="1">
                <a:solidFill>
                  <a:srgbClr val="16693F"/>
                </a:solidFill>
              </a:rPr>
              <a:t>Demo #5: PPI with Node Coloring Disabled</a:t>
            </a:r>
          </a:p>
        </p:txBody>
      </p:sp>
      <p:sp>
        <p:nvSpPr>
          <p:cNvPr id="35" name="TextBox 34">
            <a:extLst>
              <a:ext uri="{FF2B5EF4-FFF2-40B4-BE49-F238E27FC236}">
                <a16:creationId xmlns:a16="http://schemas.microsoft.com/office/drawing/2014/main" id="{1B7D5EF7-DACC-F716-0C7F-EA6EA73C66E7}"/>
              </a:ext>
            </a:extLst>
          </p:cNvPr>
          <p:cNvSpPr txBox="1"/>
          <p:nvPr/>
        </p:nvSpPr>
        <p:spPr>
          <a:xfrm>
            <a:off x="28923120" y="28476730"/>
            <a:ext cx="3475296" cy="584775"/>
          </a:xfrm>
          <a:prstGeom prst="rect">
            <a:avLst/>
          </a:prstGeom>
          <a:noFill/>
        </p:spPr>
        <p:txBody>
          <a:bodyPr wrap="square" lIns="91440" tIns="45720" rIns="91440" bIns="45720" rtlCol="0" anchor="t">
            <a:spAutoFit/>
          </a:bodyPr>
          <a:lstStyle/>
          <a:p>
            <a:pPr lvl="3" algn="ctr"/>
            <a:r>
              <a:rPr lang="en-US" sz="1600" b="1">
                <a:solidFill>
                  <a:srgbClr val="16693F"/>
                </a:solidFill>
              </a:rPr>
              <a:t>Demo #5: PPI with Node Coloring Enabled</a:t>
            </a:r>
          </a:p>
        </p:txBody>
      </p:sp>
      <p:pic>
        <p:nvPicPr>
          <p:cNvPr id="40" name="Picture 39">
            <a:extLst>
              <a:ext uri="{FF2B5EF4-FFF2-40B4-BE49-F238E27FC236}">
                <a16:creationId xmlns:a16="http://schemas.microsoft.com/office/drawing/2014/main" id="{099859CE-26E8-1FC7-57A8-FD81D2DF0630}"/>
              </a:ext>
            </a:extLst>
          </p:cNvPr>
          <p:cNvPicPr>
            <a:picLocks noChangeAspect="1"/>
          </p:cNvPicPr>
          <p:nvPr/>
        </p:nvPicPr>
        <p:blipFill>
          <a:blip r:embed="rId29"/>
          <a:stretch>
            <a:fillRect/>
          </a:stretch>
        </p:blipFill>
        <p:spPr>
          <a:xfrm>
            <a:off x="36063936" y="18386122"/>
            <a:ext cx="4597608" cy="2499871"/>
          </a:xfrm>
          <a:prstGeom prst="rect">
            <a:avLst/>
          </a:prstGeom>
        </p:spPr>
      </p:pic>
      <p:sp>
        <p:nvSpPr>
          <p:cNvPr id="47" name="TextBox 46">
            <a:extLst>
              <a:ext uri="{FF2B5EF4-FFF2-40B4-BE49-F238E27FC236}">
                <a16:creationId xmlns:a16="http://schemas.microsoft.com/office/drawing/2014/main" id="{236C61D2-0A5D-AD33-DBA6-A50A3A89A232}"/>
              </a:ext>
            </a:extLst>
          </p:cNvPr>
          <p:cNvSpPr txBox="1"/>
          <p:nvPr/>
        </p:nvSpPr>
        <p:spPr>
          <a:xfrm>
            <a:off x="33423992" y="16916383"/>
            <a:ext cx="9864907" cy="1107996"/>
          </a:xfrm>
          <a:prstGeom prst="rect">
            <a:avLst/>
          </a:prstGeom>
          <a:noFill/>
        </p:spPr>
        <p:txBody>
          <a:bodyPr wrap="square" lIns="91440" tIns="45720" rIns="91440" bIns="45720" anchor="t">
            <a:spAutoFit/>
          </a:bodyPr>
          <a:lstStyle/>
          <a:p>
            <a:pPr marL="342900" indent="-342900">
              <a:buFont typeface="Arial"/>
              <a:buChar char="•"/>
            </a:pPr>
            <a:r>
              <a:rPr lang="en-US" sz="2200" b="1" dirty="0"/>
              <a:t>Enhanced Error Handling</a:t>
            </a:r>
            <a:endParaRPr lang="en-US" dirty="0"/>
          </a:p>
          <a:p>
            <a:pPr marL="800100" lvl="1" indent="-342900">
              <a:buFont typeface="Arial"/>
              <a:buChar char="•"/>
            </a:pPr>
            <a:r>
              <a:rPr lang="en-US" sz="2200" dirty="0"/>
              <a:t>Comprehensive warnings have been integrated for both file import and export processes to provide users with clear, actionable feedback.</a:t>
            </a:r>
          </a:p>
        </p:txBody>
      </p:sp>
      <p:sp>
        <p:nvSpPr>
          <p:cNvPr id="41" name="TextBox 40">
            <a:extLst>
              <a:ext uri="{FF2B5EF4-FFF2-40B4-BE49-F238E27FC236}">
                <a16:creationId xmlns:a16="http://schemas.microsoft.com/office/drawing/2014/main" id="{0072FF3D-7C78-BFE4-8561-A35417A80F89}"/>
              </a:ext>
            </a:extLst>
          </p:cNvPr>
          <p:cNvSpPr txBox="1"/>
          <p:nvPr/>
        </p:nvSpPr>
        <p:spPr>
          <a:xfrm>
            <a:off x="33920844" y="15684293"/>
            <a:ext cx="8756911" cy="954107"/>
          </a:xfrm>
          <a:prstGeom prst="rect">
            <a:avLst/>
          </a:prstGeom>
          <a:noFill/>
        </p:spPr>
        <p:txBody>
          <a:bodyPr wrap="square" lIns="91440" tIns="45720" rIns="91440" bIns="45720" rtlCol="0" anchor="t">
            <a:spAutoFit/>
          </a:bodyPr>
          <a:lstStyle/>
          <a:p>
            <a:pPr algn="ctr"/>
            <a:r>
              <a:rPr lang="en-US" sz="2800" b="1" dirty="0">
                <a:solidFill>
                  <a:srgbClr val="16693F"/>
                </a:solidFill>
              </a:rPr>
              <a:t>New warning implementation for importing and </a:t>
            </a:r>
            <a:r>
              <a:rPr lang="en-US" sz="2800" b="1">
                <a:solidFill>
                  <a:srgbClr val="16693F"/>
                </a:solidFill>
              </a:rPr>
              <a:t>exporting files help user catch errors</a:t>
            </a:r>
            <a:endParaRPr lang="en-US"/>
          </a:p>
        </p:txBody>
      </p:sp>
      <p:pic>
        <p:nvPicPr>
          <p:cNvPr id="42" name="Picture 41" descr="A qr code with black squares&#10;&#10;AI-generated content may be incorrect.">
            <a:extLst>
              <a:ext uri="{FF2B5EF4-FFF2-40B4-BE49-F238E27FC236}">
                <a16:creationId xmlns:a16="http://schemas.microsoft.com/office/drawing/2014/main" id="{5428931A-6587-A566-36CE-DEC1CAEE664D}"/>
              </a:ext>
            </a:extLst>
          </p:cNvPr>
          <p:cNvPicPr>
            <a:picLocks noChangeAspect="1"/>
          </p:cNvPicPr>
          <p:nvPr/>
        </p:nvPicPr>
        <p:blipFill>
          <a:blip r:embed="rId30"/>
          <a:srcRect t="2705" r="-829" b="1632"/>
          <a:stretch>
            <a:fillRect/>
          </a:stretch>
        </p:blipFill>
        <p:spPr>
          <a:xfrm>
            <a:off x="1027227" y="1106403"/>
            <a:ext cx="2430662" cy="2271594"/>
          </a:xfrm>
          <a:prstGeom prst="rect">
            <a:avLst/>
          </a:prstGeom>
        </p:spPr>
      </p:pic>
    </p:spTree>
    <p:extLst>
      <p:ext uri="{BB962C8B-B14F-4D97-AF65-F5344CB8AC3E}">
        <p14:creationId xmlns:p14="http://schemas.microsoft.com/office/powerpoint/2010/main" val="245241837"/>
      </p:ext>
    </p:extLst>
  </p:cSld>
  <p:clrMapOvr>
    <a:masterClrMapping/>
  </p:clrMapOvr>
  <p:transition spd="slow">
    <p:cut/>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1871</Words>
  <Application>Microsoft Office PowerPoint</Application>
  <PresentationFormat>Custom</PresentationFormat>
  <Paragraphs>128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Arial,Sans-Serif</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Dahlquist, Kam D.</dc:creator>
  <cp:lastModifiedBy>Dahlquist, Kam</cp:lastModifiedBy>
  <cp:revision>97</cp:revision>
  <cp:lastPrinted>2024-03-13T21:00:48Z</cp:lastPrinted>
  <dcterms:modified xsi:type="dcterms:W3CDTF">2026-03-18T16:09:02Z</dcterms:modified>
</cp:coreProperties>
</file>