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6"/>
  </p:notesMasterIdLst>
  <p:sldIdLst>
    <p:sldId id="257" r:id="rId5"/>
  </p:sldIdLst>
  <p:sldSz cx="30175200" cy="42062400"/>
  <p:notesSz cx="7315200" cy="9601200"/>
  <p:defaultTextStyle>
    <a:defPPr marR="0" algn="l" rtl="0">
      <a:lnSpc>
        <a:spcPct val="100000"/>
      </a:lnSpc>
      <a:spcBef>
        <a:spcPts val="0"/>
      </a:spcBef>
      <a:spcAft>
        <a:spcPts val="0"/>
      </a:spcAft>
    </a:defPPr>
    <a:lvl1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317" b="0" i="0" u="none" strike="noStrike" cap="none" baseline="0">
        <a:solidFill>
          <a:srgbClr val="000000"/>
        </a:solidFill>
        <a:latin typeface="Arial"/>
        <a:ea typeface="Arial"/>
        <a:cs typeface="Arial"/>
        <a:sym typeface="Arial"/>
        <a:rtl val="0"/>
      </a:defRPr>
    </a:lvl9pPr>
  </p:defaultTextStyle>
  <p:extLst>
    <p:ext uri="{EFAFB233-063F-42B5-8137-9DF3F51BA10A}">
      <p15:sldGuideLst xmlns:p15="http://schemas.microsoft.com/office/powerpoint/2012/main">
        <p15:guide id="1" orient="horz" pos="13248" userDrawn="1">
          <p15:clr>
            <a:srgbClr val="A4A3A4"/>
          </p15:clr>
        </p15:guide>
        <p15:guide id="2" pos="950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433429-2F12-216C-FA41-899C2C5AB38D}" name="Chun, Nikki" initials="NC" userId="S::nchun2@lion.lmu.edu::23a9dea9-b5fb-4c75-a250-ed91f1fe31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3939"/>
    <a:srgbClr val="337CB7"/>
    <a:srgbClr val="339933"/>
    <a:srgbClr val="FF0000"/>
    <a:srgbClr val="FFFF00"/>
    <a:srgbClr val="C33B3B"/>
    <a:srgbClr val="16693F"/>
    <a:srgbClr val="E1E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AFFA0F-1E04-4A8A-9273-D587D5D4E392}">
  <a:tblStyle styleId="{B6AFFA0F-1E04-4A8A-9273-D587D5D4E392}" styleName="Table_0">
    <a:wholeTbl>
      <a:tcTxStyle b="off" i="off">
        <a:font>
          <a:latin typeface="Calibri"/>
          <a:ea typeface="Calibri"/>
          <a:cs typeface="Calibri"/>
        </a:font>
        <a:schemeClr val="dk1"/>
      </a:tcTxStyle>
      <a:tcStyle>
        <a:tcBdr>
          <a:left>
            <a:ln w="9525" cap="flat">
              <a:solidFill>
                <a:srgbClr val="000000">
                  <a:alpha val="0"/>
                </a:srgbClr>
              </a:solidFill>
              <a:prstDash val="solid"/>
              <a:round/>
              <a:headEnd type="none" w="med" len="med"/>
              <a:tailEnd type="none" w="med" len="med"/>
            </a:ln>
          </a:left>
          <a:right>
            <a:ln w="9525" cap="flat">
              <a:solidFill>
                <a:srgbClr val="000000">
                  <a:alpha val="0"/>
                </a:srgbClr>
              </a:solidFill>
              <a:prstDash val="solid"/>
              <a:round/>
              <a:headEnd type="none" w="med" len="med"/>
              <a:tailEnd type="none" w="med" len="med"/>
            </a:ln>
          </a:right>
          <a:top>
            <a:ln w="9525" cap="flat">
              <a:solidFill>
                <a:srgbClr val="000000">
                  <a:alpha val="0"/>
                </a:srgbClr>
              </a:solidFill>
              <a:prstDash val="solid"/>
              <a:round/>
              <a:headEnd type="none" w="med" len="med"/>
              <a:tailEnd type="none" w="med" len="med"/>
            </a:ln>
          </a:top>
          <a:bottom>
            <a:ln w="9525" cap="flat">
              <a:solidFill>
                <a:srgbClr val="000000">
                  <a:alpha val="0"/>
                </a:srgbClr>
              </a:solidFill>
              <a:prstDash val="solid"/>
              <a:round/>
              <a:headEnd type="none" w="med" len="med"/>
              <a:tailEnd type="none" w="med" len="med"/>
            </a:ln>
          </a:bottom>
          <a:insideH>
            <a:ln w="9525" cap="flat">
              <a:solidFill>
                <a:srgbClr val="000000">
                  <a:alpha val="0"/>
                </a:srgbClr>
              </a:solidFill>
              <a:prstDash val="solid"/>
              <a:round/>
              <a:headEnd type="none" w="med" len="med"/>
              <a:tailEnd type="none" w="med" len="med"/>
            </a:ln>
          </a:insideH>
          <a:insideV>
            <a:ln w="9525" cap="flat">
              <a:solidFill>
                <a:srgbClr val="000000">
                  <a:alpha val="0"/>
                </a:srgbClr>
              </a:solidFill>
              <a:prstDash val="solid"/>
              <a:round/>
              <a:headEnd type="none" w="med" len="med"/>
              <a:tailEnd type="none" w="med" len="med"/>
            </a:ln>
          </a:insideV>
        </a:tcBdr>
        <a:fill>
          <a:solidFill>
            <a:srgbClr val="FFFFFF">
              <a:alpha val="0"/>
            </a:srgbClr>
          </a:solidFill>
        </a:fill>
      </a:tcStyle>
    </a:wholeTbl>
  </a:tblStyle>
  <a:tblStyle styleId="{9DAB2FBC-741B-4774-8CB7-E9F43E21F9E4}" styleName="Table_1">
    <a:wholeTbl>
      <a:tcTxStyle b="off" i="off">
        <a:font>
          <a:latin typeface="Calibri"/>
          <a:ea typeface="Calibri"/>
          <a:cs typeface="Calibri"/>
        </a:font>
        <a:schemeClr val="dk1"/>
      </a:tcTxStyle>
      <a:tcStyle>
        <a:tcBdr>
          <a:left>
            <a:ln w="9525" cap="flat">
              <a:solidFill>
                <a:srgbClr val="000000">
                  <a:alpha val="0"/>
                </a:srgbClr>
              </a:solidFill>
              <a:prstDash val="solid"/>
              <a:round/>
              <a:headEnd type="none" w="med" len="med"/>
              <a:tailEnd type="none" w="med" len="med"/>
            </a:ln>
          </a:left>
          <a:right>
            <a:ln w="9525" cap="flat">
              <a:solidFill>
                <a:srgbClr val="000000">
                  <a:alpha val="0"/>
                </a:srgbClr>
              </a:solidFill>
              <a:prstDash val="solid"/>
              <a:round/>
              <a:headEnd type="none" w="med" len="med"/>
              <a:tailEnd type="none" w="med" len="med"/>
            </a:ln>
          </a:right>
          <a:top>
            <a:ln w="9525" cap="flat">
              <a:solidFill>
                <a:srgbClr val="000000">
                  <a:alpha val="0"/>
                </a:srgbClr>
              </a:solidFill>
              <a:prstDash val="solid"/>
              <a:round/>
              <a:headEnd type="none" w="med" len="med"/>
              <a:tailEnd type="none" w="med" len="med"/>
            </a:ln>
          </a:top>
          <a:bottom>
            <a:ln w="9525" cap="flat">
              <a:solidFill>
                <a:srgbClr val="000000">
                  <a:alpha val="0"/>
                </a:srgbClr>
              </a:solidFill>
              <a:prstDash val="solid"/>
              <a:round/>
              <a:headEnd type="none" w="med" len="med"/>
              <a:tailEnd type="none" w="med" len="med"/>
            </a:ln>
          </a:bottom>
          <a:insideH>
            <a:ln w="9525" cap="flat">
              <a:solidFill>
                <a:srgbClr val="000000">
                  <a:alpha val="0"/>
                </a:srgbClr>
              </a:solidFill>
              <a:prstDash val="solid"/>
              <a:round/>
              <a:headEnd type="none" w="med" len="med"/>
              <a:tailEnd type="none" w="med" len="med"/>
            </a:ln>
          </a:insideH>
          <a:insideV>
            <a:ln w="9525" cap="flat">
              <a:solidFill>
                <a:srgbClr val="000000">
                  <a:alpha val="0"/>
                </a:srgbClr>
              </a:solidFill>
              <a:prstDash val="solid"/>
              <a:round/>
              <a:headEnd type="none" w="med" len="med"/>
              <a:tailEnd type="none" w="med" len="med"/>
            </a:ln>
          </a:insideV>
        </a:tcBdr>
        <a:fill>
          <a:solidFill>
            <a:srgbClr val="FFFFFF">
              <a:alpha val="0"/>
            </a:srgbClr>
          </a:solid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068" autoAdjust="0"/>
    <p:restoredTop sz="96283" autoAdjust="0"/>
  </p:normalViewPr>
  <p:slideViewPr>
    <p:cSldViewPr snapToGrid="0" snapToObjects="1">
      <p:cViewPr>
        <p:scale>
          <a:sx n="60" d="100"/>
          <a:sy n="60" d="100"/>
        </p:scale>
        <p:origin x="-3216" y="-5514"/>
      </p:cViewPr>
      <p:guideLst>
        <p:guide orient="horz" pos="13248"/>
        <p:guide pos="950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kdahlqui\Documents\Travel-Conferences\BOSC_ISMB_2025\21%20original%20runs\Original-Runs_overall_summary.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kdahlqui\Documents\Travel-Conferences\BOSC_ISMB_2025\trial%2010%20permutations\Trial%2010%20Permutations_no-constants_summary.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kdahlqui\Documents\Travel-Conferences\BOSC_ISMB_2025\trial%208%20permutations\Trial%208%20Permutation_no-constants_Summary.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'for box plot'!$A$30</c:f>
              <c:strCache>
                <c:ptCount val="1"/>
                <c:pt idx="0">
                  <c:v>Bottom Box</c:v>
                </c:pt>
              </c:strCache>
            </c:strRef>
          </c:tx>
          <c:spPr>
            <a:noFill/>
            <a:ln>
              <a:noFill/>
            </a:ln>
            <a:effectLst/>
          </c:spPr>
          <c:invertIfNegative val="0"/>
          <c:errBars>
            <c:errBarType val="minus"/>
            <c:errValType val="cust"/>
            <c:noEndCap val="0"/>
            <c:plus>
              <c:numLit>
                <c:formatCode>General</c:formatCode>
                <c:ptCount val="1"/>
                <c:pt idx="0">
                  <c:v>1</c:v>
                </c:pt>
              </c:numLit>
            </c:plus>
            <c:minus>
              <c:numRef>
                <c:f>'for box plot'!$B$34:$E$34</c:f>
                <c:numCache>
                  <c:formatCode>General</c:formatCode>
                  <c:ptCount val="4"/>
                  <c:pt idx="0">
                    <c:v>0.58102064666095721</c:v>
                  </c:pt>
                  <c:pt idx="1">
                    <c:v>2.4502203191191686E-4</c:v>
                  </c:pt>
                  <c:pt idx="2">
                    <c:v>1.1524880693045691E-9</c:v>
                  </c:pt>
                  <c:pt idx="3">
                    <c:v>6.071974146137583E-11</c:v>
                  </c:pt>
                </c:numCache>
              </c:numRef>
            </c:minus>
            <c:spPr>
              <a:noFill/>
              <a:ln w="9525" cap="flat" cmpd="sng" algn="ctr">
                <a:solidFill>
                  <a:schemeClr val="tx1">
                    <a:lumMod val="65000"/>
                    <a:lumOff val="35000"/>
                  </a:schemeClr>
                </a:solidFill>
                <a:round/>
              </a:ln>
              <a:effectLst/>
            </c:spPr>
          </c:errBars>
          <c:cat>
            <c:strRef>
              <c:f>'for box plot'!$B$29:$E$29</c:f>
              <c:strCache>
                <c:ptCount val="4"/>
                <c:pt idx="0">
                  <c:v>No Constant</c:v>
                </c:pt>
                <c:pt idx="1">
                  <c:v>b Constant</c:v>
                </c:pt>
                <c:pt idx="2">
                  <c:v>P Constant</c:v>
                </c:pt>
                <c:pt idx="3">
                  <c:v>Pb Constant</c:v>
                </c:pt>
              </c:strCache>
            </c:strRef>
          </c:cat>
          <c:val>
            <c:numRef>
              <c:f>'for box plot'!$B$30:$E$30</c:f>
              <c:numCache>
                <c:formatCode>General</c:formatCode>
                <c:ptCount val="4"/>
                <c:pt idx="0">
                  <c:v>0.60187746430833444</c:v>
                </c:pt>
                <c:pt idx="1">
                  <c:v>2.4502578370133929E-4</c:v>
                </c:pt>
                <c:pt idx="2">
                  <c:v>1.1991863700778435E-9</c:v>
                </c:pt>
                <c:pt idx="3">
                  <c:v>6.2412407158026194E-11</c:v>
                </c:pt>
              </c:numCache>
            </c:numRef>
          </c:val>
          <c:extLst>
            <c:ext xmlns:c16="http://schemas.microsoft.com/office/drawing/2014/chart" uri="{C3380CC4-5D6E-409C-BE32-E72D297353CC}">
              <c16:uniqueId val="{00000000-0B68-407B-81BA-710E4D1E96C8}"/>
            </c:ext>
          </c:extLst>
        </c:ser>
        <c:ser>
          <c:idx val="1"/>
          <c:order val="1"/>
          <c:tx>
            <c:strRef>
              <c:f>'for box plot'!$A$31</c:f>
              <c:strCache>
                <c:ptCount val="1"/>
                <c:pt idx="0">
                  <c:v>Q2 Box</c:v>
                </c:pt>
              </c:strCache>
            </c:strRef>
          </c:tx>
          <c:spPr>
            <a:solidFill>
              <a:schemeClr val="bg1">
                <a:lumMod val="75000"/>
              </a:schemeClr>
            </a:solidFill>
            <a:ln w="22225">
              <a:solidFill>
                <a:schemeClr val="tx1"/>
              </a:solidFill>
            </a:ln>
            <a:effectLst/>
          </c:spPr>
          <c:invertIfNegative val="0"/>
          <c:cat>
            <c:strRef>
              <c:f>'for box plot'!$B$29:$E$29</c:f>
              <c:strCache>
                <c:ptCount val="4"/>
                <c:pt idx="0">
                  <c:v>No Constant</c:v>
                </c:pt>
                <c:pt idx="1">
                  <c:v>b Constant</c:v>
                </c:pt>
                <c:pt idx="2">
                  <c:v>P Constant</c:v>
                </c:pt>
                <c:pt idx="3">
                  <c:v>Pb Constant</c:v>
                </c:pt>
              </c:strCache>
            </c:strRef>
          </c:cat>
          <c:val>
            <c:numRef>
              <c:f>'for box plot'!$B$31:$E$31</c:f>
              <c:numCache>
                <c:formatCode>General</c:formatCode>
                <c:ptCount val="4"/>
                <c:pt idx="0">
                  <c:v>1.9139402795544389</c:v>
                </c:pt>
                <c:pt idx="1">
                  <c:v>0.7597310789417584</c:v>
                </c:pt>
                <c:pt idx="2">
                  <c:v>2.8370805297428262E-7</c:v>
                </c:pt>
                <c:pt idx="3">
                  <c:v>5.8376708406024546E-10</c:v>
                </c:pt>
              </c:numCache>
            </c:numRef>
          </c:val>
          <c:extLst>
            <c:ext xmlns:c16="http://schemas.microsoft.com/office/drawing/2014/chart" uri="{C3380CC4-5D6E-409C-BE32-E72D297353CC}">
              <c16:uniqueId val="{00000001-0B68-407B-81BA-710E4D1E96C8}"/>
            </c:ext>
          </c:extLst>
        </c:ser>
        <c:ser>
          <c:idx val="2"/>
          <c:order val="2"/>
          <c:tx>
            <c:strRef>
              <c:f>'for box plot'!$A$32</c:f>
              <c:strCache>
                <c:ptCount val="1"/>
                <c:pt idx="0">
                  <c:v>Q3 Box</c:v>
                </c:pt>
              </c:strCache>
            </c:strRef>
          </c:tx>
          <c:spPr>
            <a:solidFill>
              <a:schemeClr val="bg1">
                <a:lumMod val="75000"/>
              </a:schemeClr>
            </a:solidFill>
            <a:ln w="22225">
              <a:solidFill>
                <a:schemeClr val="tx1"/>
              </a:solidFill>
            </a:ln>
            <a:effectLst/>
          </c:spPr>
          <c:invertIfNegative val="0"/>
          <c:errBars>
            <c:errBarType val="plus"/>
            <c:errValType val="cust"/>
            <c:noEndCap val="0"/>
            <c:plus>
              <c:numRef>
                <c:f>'for box plot'!$B$33:$E$33</c:f>
                <c:numCache>
                  <c:formatCode>General</c:formatCode>
                  <c:ptCount val="4"/>
                  <c:pt idx="0">
                    <c:v>22.379578454990526</c:v>
                  </c:pt>
                  <c:pt idx="1">
                    <c:v>25.572856634442736</c:v>
                  </c:pt>
                  <c:pt idx="2">
                    <c:v>8.7255976269277191</c:v>
                  </c:pt>
                  <c:pt idx="3">
                    <c:v>9.9839419630072666</c:v>
                  </c:pt>
                </c:numCache>
              </c:numRef>
            </c:plus>
            <c:minus>
              <c:numLit>
                <c:formatCode>General</c:formatCode>
                <c:ptCount val="1"/>
                <c:pt idx="0">
                  <c:v>1</c:v>
                </c:pt>
              </c:numLit>
            </c:minus>
            <c:spPr>
              <a:noFill/>
              <a:ln w="9525" cap="flat" cmpd="sng" algn="ctr">
                <a:solidFill>
                  <a:schemeClr val="tx1">
                    <a:lumMod val="65000"/>
                    <a:lumOff val="35000"/>
                  </a:schemeClr>
                </a:solidFill>
                <a:round/>
              </a:ln>
              <a:effectLst/>
            </c:spPr>
          </c:errBars>
          <c:cat>
            <c:strRef>
              <c:f>'for box plot'!$B$29:$E$29</c:f>
              <c:strCache>
                <c:ptCount val="4"/>
                <c:pt idx="0">
                  <c:v>No Constant</c:v>
                </c:pt>
                <c:pt idx="1">
                  <c:v>b Constant</c:v>
                </c:pt>
                <c:pt idx="2">
                  <c:v>P Constant</c:v>
                </c:pt>
                <c:pt idx="3">
                  <c:v>Pb Constant</c:v>
                </c:pt>
              </c:strCache>
            </c:strRef>
          </c:cat>
          <c:val>
            <c:numRef>
              <c:f>'for box plot'!$B$32:$E$32</c:f>
              <c:numCache>
                <c:formatCode>General</c:formatCode>
                <c:ptCount val="4"/>
                <c:pt idx="0">
                  <c:v>2.0647961542666842</c:v>
                </c:pt>
                <c:pt idx="1">
                  <c:v>6.9763967162290914</c:v>
                </c:pt>
                <c:pt idx="2">
                  <c:v>1.1925819340606951</c:v>
                </c:pt>
                <c:pt idx="3">
                  <c:v>3.1537384945975822E-3</c:v>
                </c:pt>
              </c:numCache>
            </c:numRef>
          </c:val>
          <c:extLst>
            <c:ext xmlns:c16="http://schemas.microsoft.com/office/drawing/2014/chart" uri="{C3380CC4-5D6E-409C-BE32-E72D297353CC}">
              <c16:uniqueId val="{00000002-0B68-407B-81BA-710E4D1E96C8}"/>
            </c:ext>
          </c:extLst>
        </c:ser>
        <c:dLbls>
          <c:showLegendKey val="0"/>
          <c:showVal val="0"/>
          <c:showCatName val="0"/>
          <c:showSerName val="0"/>
          <c:showPercent val="0"/>
          <c:showBubbleSize val="0"/>
        </c:dLbls>
        <c:gapWidth val="150"/>
        <c:overlap val="100"/>
        <c:axId val="1544420799"/>
        <c:axId val="1544419359"/>
      </c:barChart>
      <c:catAx>
        <c:axId val="1544420799"/>
        <c:scaling>
          <c:orientation val="maxMin"/>
        </c:scaling>
        <c:delete val="1"/>
        <c:axPos val="l"/>
        <c:numFmt formatCode="General" sourceLinked="1"/>
        <c:majorTickMark val="none"/>
        <c:minorTickMark val="none"/>
        <c:tickLblPos val="nextTo"/>
        <c:crossAx val="1544419359"/>
        <c:crosses val="autoZero"/>
        <c:auto val="1"/>
        <c:lblAlgn val="ctr"/>
        <c:lblOffset val="100"/>
        <c:noMultiLvlLbl val="0"/>
      </c:catAx>
      <c:valAx>
        <c:axId val="1544419359"/>
        <c:scaling>
          <c:logBase val="10"/>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44420799"/>
        <c:crosses val="max"/>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chemeClr val="tx1"/>
                </a:solidFill>
              </a:rPr>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spPr>
            <a:solidFill>
              <a:schemeClr val="tx1">
                <a:lumMod val="50000"/>
                <a:lumOff val="50000"/>
              </a:schemeClr>
            </a:solidFill>
            <a:ln>
              <a:noFill/>
            </a:ln>
            <a:effectLst/>
          </c:spPr>
          <c:invertIfNegative val="0"/>
          <c:cat>
            <c:numRef>
              <c:f>'compare no const with Pb const'!$N$2:$N$25</c:f>
              <c:numCache>
                <c:formatCode>0.00</c:formatCode>
                <c:ptCount val="24"/>
                <c:pt idx="0">
                  <c:v>10.09</c:v>
                </c:pt>
                <c:pt idx="1">
                  <c:v>10</c:v>
                </c:pt>
                <c:pt idx="2">
                  <c:v>10.15</c:v>
                </c:pt>
                <c:pt idx="3">
                  <c:v>10.18</c:v>
                </c:pt>
                <c:pt idx="4">
                  <c:v>10.19</c:v>
                </c:pt>
                <c:pt idx="5">
                  <c:v>10.14</c:v>
                </c:pt>
                <c:pt idx="6">
                  <c:v>10.23</c:v>
                </c:pt>
                <c:pt idx="7">
                  <c:v>10.06</c:v>
                </c:pt>
                <c:pt idx="8">
                  <c:v>10.02</c:v>
                </c:pt>
                <c:pt idx="9">
                  <c:v>10.11</c:v>
                </c:pt>
                <c:pt idx="10">
                  <c:v>10.029999999999999</c:v>
                </c:pt>
                <c:pt idx="11">
                  <c:v>10.1</c:v>
                </c:pt>
                <c:pt idx="12">
                  <c:v>10.130000000000001</c:v>
                </c:pt>
                <c:pt idx="13">
                  <c:v>10.16</c:v>
                </c:pt>
                <c:pt idx="14">
                  <c:v>10.039999999999999</c:v>
                </c:pt>
                <c:pt idx="15">
                  <c:v>10.210000000000001</c:v>
                </c:pt>
                <c:pt idx="16">
                  <c:v>10.17</c:v>
                </c:pt>
                <c:pt idx="17">
                  <c:v>10.119999999999999</c:v>
                </c:pt>
                <c:pt idx="18">
                  <c:v>10.050000000000001</c:v>
                </c:pt>
                <c:pt idx="19">
                  <c:v>10.199999999999999</c:v>
                </c:pt>
                <c:pt idx="20">
                  <c:v>10.07</c:v>
                </c:pt>
                <c:pt idx="21">
                  <c:v>10.220000000000001</c:v>
                </c:pt>
                <c:pt idx="22">
                  <c:v>10.08</c:v>
                </c:pt>
                <c:pt idx="23">
                  <c:v>10.01</c:v>
                </c:pt>
              </c:numCache>
            </c:numRef>
          </c:cat>
          <c:val>
            <c:numRef>
              <c:f>'compare no const with Pb const'!$O$2:$O$25</c:f>
              <c:numCache>
                <c:formatCode>General</c:formatCode>
                <c:ptCount val="24"/>
                <c:pt idx="0">
                  <c:v>1.6926652361025009E-12</c:v>
                </c:pt>
                <c:pt idx="1">
                  <c:v>1.6926656966503639E-12</c:v>
                </c:pt>
                <c:pt idx="2">
                  <c:v>1.1736281714087789E-11</c:v>
                </c:pt>
                <c:pt idx="3">
                  <c:v>1.1736282873632674E-11</c:v>
                </c:pt>
                <c:pt idx="4">
                  <c:v>1.4201804135251729E-11</c:v>
                </c:pt>
                <c:pt idx="5">
                  <c:v>1.4201814238030833E-11</c:v>
                </c:pt>
                <c:pt idx="6">
                  <c:v>1.9709669568599738E-11</c:v>
                </c:pt>
                <c:pt idx="7">
                  <c:v>1.970969399339831E-11</c:v>
                </c:pt>
                <c:pt idx="8">
                  <c:v>3.7583228418221325E-11</c:v>
                </c:pt>
                <c:pt idx="9">
                  <c:v>3.7583241286728069E-11</c:v>
                </c:pt>
                <c:pt idx="10">
                  <c:v>2.6712892699645868E-10</c:v>
                </c:pt>
                <c:pt idx="11">
                  <c:v>2.6712897918787831E-10</c:v>
                </c:pt>
                <c:pt idx="12">
                  <c:v>2.8576323419504846E-10</c:v>
                </c:pt>
                <c:pt idx="13">
                  <c:v>2.8576387788761855E-10</c:v>
                </c:pt>
                <c:pt idx="14">
                  <c:v>4.3454244253849839E-10</c:v>
                </c:pt>
                <c:pt idx="15">
                  <c:v>4.3454341402825142E-10</c:v>
                </c:pt>
                <c:pt idx="16">
                  <c:v>4.3489576505541156E-10</c:v>
                </c:pt>
                <c:pt idx="17">
                  <c:v>4.3489576767431899E-10</c:v>
                </c:pt>
                <c:pt idx="18">
                  <c:v>9.5642100693777928E-10</c:v>
                </c:pt>
                <c:pt idx="19">
                  <c:v>9.5642692766258606E-10</c:v>
                </c:pt>
                <c:pt idx="20">
                  <c:v>1.3345794402029193E-9</c:v>
                </c:pt>
                <c:pt idx="21">
                  <c:v>1.3345818747174865E-9</c:v>
                </c:pt>
                <c:pt idx="22">
                  <c:v>8.4660276288965343E-8</c:v>
                </c:pt>
                <c:pt idx="23">
                  <c:v>8.4660321724038567E-8</c:v>
                </c:pt>
              </c:numCache>
            </c:numRef>
          </c:val>
          <c:extLst>
            <c:ext xmlns:c16="http://schemas.microsoft.com/office/drawing/2014/chart" uri="{C3380CC4-5D6E-409C-BE32-E72D297353CC}">
              <c16:uniqueId val="{00000000-475E-4679-922D-98F9F847A040}"/>
            </c:ext>
          </c:extLst>
        </c:ser>
        <c:ser>
          <c:idx val="1"/>
          <c:order val="1"/>
          <c:spPr>
            <a:solidFill>
              <a:schemeClr val="bg1">
                <a:lumMod val="75000"/>
              </a:schemeClr>
            </a:solidFill>
            <a:ln>
              <a:noFill/>
            </a:ln>
            <a:effectLst/>
          </c:spPr>
          <c:invertIfNegative val="0"/>
          <c:cat>
            <c:numRef>
              <c:f>'compare no const with Pb const'!$N$2:$N$25</c:f>
              <c:numCache>
                <c:formatCode>0.00</c:formatCode>
                <c:ptCount val="24"/>
                <c:pt idx="0">
                  <c:v>10.09</c:v>
                </c:pt>
                <c:pt idx="1">
                  <c:v>10</c:v>
                </c:pt>
                <c:pt idx="2">
                  <c:v>10.15</c:v>
                </c:pt>
                <c:pt idx="3">
                  <c:v>10.18</c:v>
                </c:pt>
                <c:pt idx="4">
                  <c:v>10.19</c:v>
                </c:pt>
                <c:pt idx="5">
                  <c:v>10.14</c:v>
                </c:pt>
                <c:pt idx="6">
                  <c:v>10.23</c:v>
                </c:pt>
                <c:pt idx="7">
                  <c:v>10.06</c:v>
                </c:pt>
                <c:pt idx="8">
                  <c:v>10.02</c:v>
                </c:pt>
                <c:pt idx="9">
                  <c:v>10.11</c:v>
                </c:pt>
                <c:pt idx="10">
                  <c:v>10.029999999999999</c:v>
                </c:pt>
                <c:pt idx="11">
                  <c:v>10.1</c:v>
                </c:pt>
                <c:pt idx="12">
                  <c:v>10.130000000000001</c:v>
                </c:pt>
                <c:pt idx="13">
                  <c:v>10.16</c:v>
                </c:pt>
                <c:pt idx="14">
                  <c:v>10.039999999999999</c:v>
                </c:pt>
                <c:pt idx="15">
                  <c:v>10.210000000000001</c:v>
                </c:pt>
                <c:pt idx="16">
                  <c:v>10.17</c:v>
                </c:pt>
                <c:pt idx="17">
                  <c:v>10.119999999999999</c:v>
                </c:pt>
                <c:pt idx="18">
                  <c:v>10.050000000000001</c:v>
                </c:pt>
                <c:pt idx="19">
                  <c:v>10.199999999999999</c:v>
                </c:pt>
                <c:pt idx="20">
                  <c:v>10.07</c:v>
                </c:pt>
                <c:pt idx="21">
                  <c:v>10.220000000000001</c:v>
                </c:pt>
                <c:pt idx="22">
                  <c:v>10.08</c:v>
                </c:pt>
                <c:pt idx="23">
                  <c:v>10.01</c:v>
                </c:pt>
              </c:numCache>
            </c:numRef>
          </c:cat>
          <c:val>
            <c:numRef>
              <c:f>'compare no const with Pb const'!$P$2:$P$25</c:f>
              <c:numCache>
                <c:formatCode>General</c:formatCode>
                <c:ptCount val="24"/>
                <c:pt idx="0">
                  <c:v>2.0562170417729023E-2</c:v>
                </c:pt>
                <c:pt idx="1">
                  <c:v>2.0856817647377221E-2</c:v>
                </c:pt>
                <c:pt idx="2">
                  <c:v>4.4636454982343245</c:v>
                </c:pt>
                <c:pt idx="3">
                  <c:v>4.4960916134772786</c:v>
                </c:pt>
                <c:pt idx="4">
                  <c:v>6.3538134435684022</c:v>
                </c:pt>
                <c:pt idx="5">
                  <c:v>5.0433080027479935</c:v>
                </c:pt>
                <c:pt idx="6">
                  <c:v>0.15602869518460913</c:v>
                </c:pt>
                <c:pt idx="7">
                  <c:v>0.1839709298575761</c:v>
                </c:pt>
                <c:pt idx="8">
                  <c:v>8.8192464336463949</c:v>
                </c:pt>
                <c:pt idx="9">
                  <c:v>13.745057674265974</c:v>
                </c:pt>
                <c:pt idx="10">
                  <c:v>2.1252586018534085</c:v>
                </c:pt>
                <c:pt idx="11">
                  <c:v>2.1173050660466846</c:v>
                </c:pt>
                <c:pt idx="12">
                  <c:v>5.7879640939116266</c:v>
                </c:pt>
                <c:pt idx="13">
                  <c:v>9.5049947115816019E-2</c:v>
                </c:pt>
                <c:pt idx="14">
                  <c:v>3.3081978482554945E-2</c:v>
                </c:pt>
                <c:pt idx="15">
                  <c:v>3.2929287994076462E-2</c:v>
                </c:pt>
                <c:pt idx="16">
                  <c:v>25.278412316001731</c:v>
                </c:pt>
                <c:pt idx="17">
                  <c:v>25.497318462280052</c:v>
                </c:pt>
                <c:pt idx="18">
                  <c:v>1.3674552760421317</c:v>
                </c:pt>
                <c:pt idx="19">
                  <c:v>1.3650192121558928</c:v>
                </c:pt>
                <c:pt idx="20">
                  <c:v>0.34767526589679754</c:v>
                </c:pt>
                <c:pt idx="21">
                  <c:v>0.18567770376878062</c:v>
                </c:pt>
                <c:pt idx="22">
                  <c:v>4.5193042373148611</c:v>
                </c:pt>
                <c:pt idx="23">
                  <c:v>4.4872615070033159</c:v>
                </c:pt>
              </c:numCache>
            </c:numRef>
          </c:val>
          <c:extLst>
            <c:ext xmlns:c16="http://schemas.microsoft.com/office/drawing/2014/chart" uri="{C3380CC4-5D6E-409C-BE32-E72D297353CC}">
              <c16:uniqueId val="{00000001-475E-4679-922D-98F9F847A040}"/>
            </c:ext>
          </c:extLst>
        </c:ser>
        <c:dLbls>
          <c:showLegendKey val="0"/>
          <c:showVal val="0"/>
          <c:showCatName val="0"/>
          <c:showSerName val="0"/>
          <c:showPercent val="0"/>
          <c:showBubbleSize val="0"/>
        </c:dLbls>
        <c:gapWidth val="150"/>
        <c:overlap val="100"/>
        <c:axId val="371789008"/>
        <c:axId val="560431104"/>
      </c:barChart>
      <c:catAx>
        <c:axId val="371789008"/>
        <c:scaling>
          <c:orientation val="minMax"/>
        </c:scaling>
        <c:delete val="1"/>
        <c:axPos val="b"/>
        <c:numFmt formatCode="0.00" sourceLinked="1"/>
        <c:majorTickMark val="none"/>
        <c:minorTickMark val="none"/>
        <c:tickLblPos val="nextTo"/>
        <c:crossAx val="560431104"/>
        <c:crossesAt val="1.0000000000000007E-13"/>
        <c:auto val="1"/>
        <c:lblAlgn val="ctr"/>
        <c:lblOffset val="100"/>
        <c:noMultiLvlLbl val="0"/>
      </c:catAx>
      <c:valAx>
        <c:axId val="560431104"/>
        <c:scaling>
          <c:logBase val="10"/>
          <c:orientation val="minMax"/>
          <c:max val="100"/>
          <c:min val="1.0000000000000007E-13"/>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3717890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kern="1200" spc="0" baseline="0" dirty="0">
                <a:solidFill>
                  <a:schemeClr val="tx1"/>
                </a:solidFill>
              </a:rPr>
              <a:t>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spPr>
            <a:solidFill>
              <a:schemeClr val="bg1">
                <a:lumMod val="50000"/>
              </a:schemeClr>
            </a:solidFill>
            <a:ln>
              <a:noFill/>
            </a:ln>
            <a:effectLst/>
          </c:spPr>
          <c:invertIfNegative val="0"/>
          <c:cat>
            <c:numRef>
              <c:f>'Compare No Const with PB Const'!$A$2:$A$25</c:f>
              <c:numCache>
                <c:formatCode>0.00</c:formatCode>
                <c:ptCount val="24"/>
                <c:pt idx="0" formatCode="General">
                  <c:v>8.07</c:v>
                </c:pt>
                <c:pt idx="1">
                  <c:v>8.02</c:v>
                </c:pt>
                <c:pt idx="2" formatCode="General">
                  <c:v>8.2100000000000009</c:v>
                </c:pt>
                <c:pt idx="3">
                  <c:v>8.08</c:v>
                </c:pt>
                <c:pt idx="4" formatCode="General">
                  <c:v>8.17</c:v>
                </c:pt>
                <c:pt idx="5">
                  <c:v>8</c:v>
                </c:pt>
                <c:pt idx="6">
                  <c:v>8.18</c:v>
                </c:pt>
                <c:pt idx="7">
                  <c:v>8.1199999999999992</c:v>
                </c:pt>
                <c:pt idx="8">
                  <c:v>8.14</c:v>
                </c:pt>
                <c:pt idx="9">
                  <c:v>8.1999999999999993</c:v>
                </c:pt>
                <c:pt idx="10" formatCode="General">
                  <c:v>8.09</c:v>
                </c:pt>
                <c:pt idx="11">
                  <c:v>8.0399999999999991</c:v>
                </c:pt>
                <c:pt idx="12">
                  <c:v>8.2200000000000006</c:v>
                </c:pt>
                <c:pt idx="13" formatCode="General">
                  <c:v>8.19</c:v>
                </c:pt>
                <c:pt idx="14" formatCode="General">
                  <c:v>8.0500000000000007</c:v>
                </c:pt>
                <c:pt idx="15">
                  <c:v>8.1</c:v>
                </c:pt>
                <c:pt idx="16" formatCode="General">
                  <c:v>8.1300000000000008</c:v>
                </c:pt>
                <c:pt idx="17" formatCode="General">
                  <c:v>8.0299999999999994</c:v>
                </c:pt>
                <c:pt idx="18" formatCode="General">
                  <c:v>8.11</c:v>
                </c:pt>
                <c:pt idx="19" formatCode="General">
                  <c:v>8.01</c:v>
                </c:pt>
                <c:pt idx="20">
                  <c:v>8.06</c:v>
                </c:pt>
                <c:pt idx="21" formatCode="General">
                  <c:v>8.15</c:v>
                </c:pt>
                <c:pt idx="22">
                  <c:v>8.16</c:v>
                </c:pt>
                <c:pt idx="23" formatCode="General">
                  <c:v>8.23</c:v>
                </c:pt>
              </c:numCache>
            </c:numRef>
          </c:cat>
          <c:val>
            <c:numRef>
              <c:f>'Compare No Const with PB Const'!$B$2:$B$25</c:f>
              <c:numCache>
                <c:formatCode>General</c:formatCode>
                <c:ptCount val="24"/>
                <c:pt idx="0">
                  <c:v>8.0596355951704047E-13</c:v>
                </c:pt>
                <c:pt idx="1">
                  <c:v>1.5796560847120545E-12</c:v>
                </c:pt>
                <c:pt idx="2">
                  <c:v>4.3357871613307814E-12</c:v>
                </c:pt>
                <c:pt idx="3">
                  <c:v>1.012008971344051E-11</c:v>
                </c:pt>
                <c:pt idx="4">
                  <c:v>3.0307454098484551E-11</c:v>
                </c:pt>
                <c:pt idx="5">
                  <c:v>3.9195619734684774E-11</c:v>
                </c:pt>
                <c:pt idx="6">
                  <c:v>4.4799834412673878E-11</c:v>
                </c:pt>
                <c:pt idx="7">
                  <c:v>4.651193945381306E-11</c:v>
                </c:pt>
                <c:pt idx="8">
                  <c:v>5.0178753864547177E-11</c:v>
                </c:pt>
                <c:pt idx="9">
                  <c:v>6.7306590467006212E-11</c:v>
                </c:pt>
                <c:pt idx="10">
                  <c:v>7.0465769664118056E-11</c:v>
                </c:pt>
                <c:pt idx="11">
                  <c:v>8.0393342108209244E-11</c:v>
                </c:pt>
                <c:pt idx="12">
                  <c:v>1.1301488435747694E-10</c:v>
                </c:pt>
                <c:pt idx="13">
                  <c:v>1.2553290261423606E-10</c:v>
                </c:pt>
                <c:pt idx="14">
                  <c:v>1.5696951777588024E-10</c:v>
                </c:pt>
                <c:pt idx="15">
                  <c:v>2.8582972675233979E-10</c:v>
                </c:pt>
                <c:pt idx="16">
                  <c:v>3.724467369690357E-10</c:v>
                </c:pt>
                <c:pt idx="17">
                  <c:v>5.2308606604132552E-10</c:v>
                </c:pt>
                <c:pt idx="18">
                  <c:v>7.6460084361251636E-10</c:v>
                </c:pt>
                <c:pt idx="19">
                  <c:v>1.1874474802387587E-9</c:v>
                </c:pt>
                <c:pt idx="20">
                  <c:v>1.5779133853749478E-9</c:v>
                </c:pt>
                <c:pt idx="21">
                  <c:v>2.9397488755554232E-9</c:v>
                </c:pt>
                <c:pt idx="22">
                  <c:v>1.1250257867234512E-7</c:v>
                </c:pt>
                <c:pt idx="23">
                  <c:v>6.1329098005317547E-7</c:v>
                </c:pt>
              </c:numCache>
            </c:numRef>
          </c:val>
          <c:extLst>
            <c:ext xmlns:c16="http://schemas.microsoft.com/office/drawing/2014/chart" uri="{C3380CC4-5D6E-409C-BE32-E72D297353CC}">
              <c16:uniqueId val="{00000000-8622-43FC-9D13-494B024F9357}"/>
            </c:ext>
          </c:extLst>
        </c:ser>
        <c:ser>
          <c:idx val="1"/>
          <c:order val="1"/>
          <c:spPr>
            <a:solidFill>
              <a:schemeClr val="bg1">
                <a:lumMod val="75000"/>
              </a:schemeClr>
            </a:solidFill>
            <a:ln>
              <a:noFill/>
            </a:ln>
            <a:effectLst/>
          </c:spPr>
          <c:invertIfNegative val="0"/>
          <c:cat>
            <c:numRef>
              <c:f>'Compare No Const with PB Const'!$A$2:$A$25</c:f>
              <c:numCache>
                <c:formatCode>0.00</c:formatCode>
                <c:ptCount val="24"/>
                <c:pt idx="0" formatCode="General">
                  <c:v>8.07</c:v>
                </c:pt>
                <c:pt idx="1">
                  <c:v>8.02</c:v>
                </c:pt>
                <c:pt idx="2" formatCode="General">
                  <c:v>8.2100000000000009</c:v>
                </c:pt>
                <c:pt idx="3">
                  <c:v>8.08</c:v>
                </c:pt>
                <c:pt idx="4" formatCode="General">
                  <c:v>8.17</c:v>
                </c:pt>
                <c:pt idx="5">
                  <c:v>8</c:v>
                </c:pt>
                <c:pt idx="6">
                  <c:v>8.18</c:v>
                </c:pt>
                <c:pt idx="7">
                  <c:v>8.1199999999999992</c:v>
                </c:pt>
                <c:pt idx="8">
                  <c:v>8.14</c:v>
                </c:pt>
                <c:pt idx="9">
                  <c:v>8.1999999999999993</c:v>
                </c:pt>
                <c:pt idx="10" formatCode="General">
                  <c:v>8.09</c:v>
                </c:pt>
                <c:pt idx="11">
                  <c:v>8.0399999999999991</c:v>
                </c:pt>
                <c:pt idx="12">
                  <c:v>8.2200000000000006</c:v>
                </c:pt>
                <c:pt idx="13" formatCode="General">
                  <c:v>8.19</c:v>
                </c:pt>
                <c:pt idx="14" formatCode="General">
                  <c:v>8.0500000000000007</c:v>
                </c:pt>
                <c:pt idx="15">
                  <c:v>8.1</c:v>
                </c:pt>
                <c:pt idx="16" formatCode="General">
                  <c:v>8.1300000000000008</c:v>
                </c:pt>
                <c:pt idx="17" formatCode="General">
                  <c:v>8.0299999999999994</c:v>
                </c:pt>
                <c:pt idx="18" formatCode="General">
                  <c:v>8.11</c:v>
                </c:pt>
                <c:pt idx="19" formatCode="General">
                  <c:v>8.01</c:v>
                </c:pt>
                <c:pt idx="20">
                  <c:v>8.06</c:v>
                </c:pt>
                <c:pt idx="21" formatCode="General">
                  <c:v>8.15</c:v>
                </c:pt>
                <c:pt idx="22">
                  <c:v>8.16</c:v>
                </c:pt>
                <c:pt idx="23" formatCode="General">
                  <c:v>8.23</c:v>
                </c:pt>
              </c:numCache>
            </c:numRef>
          </c:cat>
          <c:val>
            <c:numRef>
              <c:f>'Compare No Const with PB Const'!$C$2:$C$25</c:f>
              <c:numCache>
                <c:formatCode>General</c:formatCode>
                <c:ptCount val="24"/>
                <c:pt idx="0">
                  <c:v>0.12463458598619642</c:v>
                </c:pt>
                <c:pt idx="1">
                  <c:v>1.2345762179032729</c:v>
                </c:pt>
                <c:pt idx="2">
                  <c:v>7.3570491299070548E-2</c:v>
                </c:pt>
                <c:pt idx="3">
                  <c:v>0.53628400644574326</c:v>
                </c:pt>
                <c:pt idx="4">
                  <c:v>0.54083169304672596</c:v>
                </c:pt>
                <c:pt idx="5">
                  <c:v>2.2486088556715709</c:v>
                </c:pt>
                <c:pt idx="6">
                  <c:v>1.0601366671880055</c:v>
                </c:pt>
                <c:pt idx="7">
                  <c:v>0.7632158533220309</c:v>
                </c:pt>
                <c:pt idx="8">
                  <c:v>0.74922399674353879</c:v>
                </c:pt>
                <c:pt idx="9">
                  <c:v>3.0742001074788972</c:v>
                </c:pt>
                <c:pt idx="10">
                  <c:v>5.7217892391712057</c:v>
                </c:pt>
                <c:pt idx="11">
                  <c:v>6.3703607033352247E-2</c:v>
                </c:pt>
                <c:pt idx="12">
                  <c:v>2.9872169045337373</c:v>
                </c:pt>
                <c:pt idx="13">
                  <c:v>0.22579166495981087</c:v>
                </c:pt>
                <c:pt idx="14">
                  <c:v>5.4154243172054854E-2</c:v>
                </c:pt>
                <c:pt idx="15">
                  <c:v>0.36227442272078858</c:v>
                </c:pt>
                <c:pt idx="16">
                  <c:v>1.6826918202478027</c:v>
                </c:pt>
                <c:pt idx="17">
                  <c:v>6.0862391056363874E-2</c:v>
                </c:pt>
                <c:pt idx="18">
                  <c:v>5.2719812412395459</c:v>
                </c:pt>
                <c:pt idx="19">
                  <c:v>8.3557220422325051E-2</c:v>
                </c:pt>
                <c:pt idx="20">
                  <c:v>0.27286498652861313</c:v>
                </c:pt>
                <c:pt idx="21">
                  <c:v>13.113536832324884</c:v>
                </c:pt>
                <c:pt idx="22">
                  <c:v>6.8514938119940277E-2</c:v>
                </c:pt>
                <c:pt idx="23">
                  <c:v>0.6030306303351427</c:v>
                </c:pt>
              </c:numCache>
            </c:numRef>
          </c:val>
          <c:extLst>
            <c:ext xmlns:c16="http://schemas.microsoft.com/office/drawing/2014/chart" uri="{C3380CC4-5D6E-409C-BE32-E72D297353CC}">
              <c16:uniqueId val="{00000001-8622-43FC-9D13-494B024F9357}"/>
            </c:ext>
          </c:extLst>
        </c:ser>
        <c:dLbls>
          <c:showLegendKey val="0"/>
          <c:showVal val="0"/>
          <c:showCatName val="0"/>
          <c:showSerName val="0"/>
          <c:showPercent val="0"/>
          <c:showBubbleSize val="0"/>
        </c:dLbls>
        <c:gapWidth val="150"/>
        <c:overlap val="100"/>
        <c:axId val="947631344"/>
        <c:axId val="947630384"/>
      </c:barChart>
      <c:catAx>
        <c:axId val="947631344"/>
        <c:scaling>
          <c:orientation val="minMax"/>
        </c:scaling>
        <c:delete val="1"/>
        <c:axPos val="b"/>
        <c:numFmt formatCode="General" sourceLinked="1"/>
        <c:majorTickMark val="none"/>
        <c:minorTickMark val="none"/>
        <c:tickLblPos val="nextTo"/>
        <c:crossAx val="947630384"/>
        <c:crossesAt val="1.0000000000000007E-13"/>
        <c:auto val="1"/>
        <c:lblAlgn val="ctr"/>
        <c:lblOffset val="100"/>
        <c:noMultiLvlLbl val="0"/>
      </c:catAx>
      <c:valAx>
        <c:axId val="947630384"/>
        <c:scaling>
          <c:logBase val="10"/>
          <c:orientation val="minMax"/>
          <c:max val="100"/>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94763134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2" y="0"/>
            <a:ext cx="3169919" cy="480060"/>
          </a:xfrm>
          <a:prstGeom prst="rect">
            <a:avLst/>
          </a:prstGeom>
          <a:noFill/>
          <a:ln>
            <a:noFill/>
          </a:ln>
        </p:spPr>
        <p:txBody>
          <a:bodyPr lIns="96637" tIns="96637" rIns="96637" bIns="96637" anchor="t" anchorCtr="0"/>
          <a:lstStyle>
            <a:lvl1pPr marL="0" marR="0" indent="0" algn="l" rtl="0">
              <a:lnSpc>
                <a:spcPct val="100000"/>
              </a:lnSpc>
              <a:spcBef>
                <a:spcPts val="0"/>
              </a:spcBef>
              <a:spcAft>
                <a:spcPts val="0"/>
              </a:spcAft>
              <a:buClr>
                <a:srgbClr val="000000"/>
              </a:buClr>
              <a:buFont typeface="Arial"/>
              <a:buNone/>
              <a:defRPr/>
            </a:lvl1pPr>
            <a:lvl2pPr marL="2540569" marR="0" indent="-3430" algn="l" rtl="0">
              <a:lnSpc>
                <a:spcPct val="100000"/>
              </a:lnSpc>
              <a:spcBef>
                <a:spcPts val="0"/>
              </a:spcBef>
              <a:spcAft>
                <a:spcPts val="0"/>
              </a:spcAft>
              <a:buClr>
                <a:srgbClr val="000000"/>
              </a:buClr>
              <a:buFont typeface="Arial"/>
              <a:buNone/>
              <a:defRPr/>
            </a:lvl2pPr>
            <a:lvl3pPr marL="5081138" marR="0" indent="-6861" algn="l" rtl="0">
              <a:lnSpc>
                <a:spcPct val="100000"/>
              </a:lnSpc>
              <a:spcBef>
                <a:spcPts val="0"/>
              </a:spcBef>
              <a:spcAft>
                <a:spcPts val="0"/>
              </a:spcAft>
              <a:buClr>
                <a:srgbClr val="000000"/>
              </a:buClr>
              <a:buFont typeface="Arial"/>
              <a:buNone/>
              <a:defRPr/>
            </a:lvl3pPr>
            <a:lvl4pPr marL="7621707" marR="0" indent="-10293" algn="l" rtl="0">
              <a:lnSpc>
                <a:spcPct val="100000"/>
              </a:lnSpc>
              <a:spcBef>
                <a:spcPts val="0"/>
              </a:spcBef>
              <a:spcAft>
                <a:spcPts val="0"/>
              </a:spcAft>
              <a:buClr>
                <a:srgbClr val="000000"/>
              </a:buClr>
              <a:buFont typeface="Arial"/>
              <a:buNone/>
              <a:defRPr/>
            </a:lvl4pPr>
            <a:lvl5pPr marL="10162276" marR="0" indent="-299" algn="l" rtl="0">
              <a:lnSpc>
                <a:spcPct val="100000"/>
              </a:lnSpc>
              <a:spcBef>
                <a:spcPts val="0"/>
              </a:spcBef>
              <a:spcAft>
                <a:spcPts val="0"/>
              </a:spcAft>
              <a:buClr>
                <a:srgbClr val="000000"/>
              </a:buClr>
              <a:buFont typeface="Arial"/>
              <a:buNone/>
              <a:defRPr/>
            </a:lvl5pPr>
            <a:lvl6pPr marL="12702846" marR="0" indent="-3731" algn="l" rtl="0">
              <a:lnSpc>
                <a:spcPct val="100000"/>
              </a:lnSpc>
              <a:spcBef>
                <a:spcPts val="0"/>
              </a:spcBef>
              <a:spcAft>
                <a:spcPts val="0"/>
              </a:spcAft>
              <a:buClr>
                <a:srgbClr val="000000"/>
              </a:buClr>
              <a:buFont typeface="Arial"/>
              <a:buNone/>
              <a:defRPr/>
            </a:lvl6pPr>
            <a:lvl7pPr marL="15243414" marR="0" indent="-7163" algn="l" rtl="0">
              <a:lnSpc>
                <a:spcPct val="100000"/>
              </a:lnSpc>
              <a:spcBef>
                <a:spcPts val="0"/>
              </a:spcBef>
              <a:spcAft>
                <a:spcPts val="0"/>
              </a:spcAft>
              <a:buClr>
                <a:srgbClr val="000000"/>
              </a:buClr>
              <a:buFont typeface="Arial"/>
              <a:buNone/>
              <a:defRPr/>
            </a:lvl7pPr>
            <a:lvl8pPr marL="17783986" marR="0" indent="-10595" algn="l" rtl="0">
              <a:lnSpc>
                <a:spcPct val="100000"/>
              </a:lnSpc>
              <a:spcBef>
                <a:spcPts val="0"/>
              </a:spcBef>
              <a:spcAft>
                <a:spcPts val="0"/>
              </a:spcAft>
              <a:buClr>
                <a:srgbClr val="000000"/>
              </a:buClr>
              <a:buFont typeface="Arial"/>
              <a:buNone/>
              <a:defRPr/>
            </a:lvl8pPr>
            <a:lvl9pPr marL="20324552" marR="0" indent="-600" algn="l" rtl="0">
              <a:lnSpc>
                <a:spcPct val="100000"/>
              </a:lnSpc>
              <a:spcBef>
                <a:spcPts val="0"/>
              </a:spcBef>
              <a:spcAft>
                <a:spcPts val="0"/>
              </a:spcAft>
              <a:buClr>
                <a:srgbClr val="000000"/>
              </a:buClr>
              <a:buFont typeface="Arial"/>
              <a:buNone/>
              <a:defRPr/>
            </a:lvl9pPr>
          </a:lstStyle>
          <a:p>
            <a:endParaRPr/>
          </a:p>
        </p:txBody>
      </p:sp>
      <p:sp>
        <p:nvSpPr>
          <p:cNvPr id="3" name="Shape 3"/>
          <p:cNvSpPr txBox="1">
            <a:spLocks noGrp="1"/>
          </p:cNvSpPr>
          <p:nvPr>
            <p:ph type="dt" idx="10"/>
          </p:nvPr>
        </p:nvSpPr>
        <p:spPr>
          <a:xfrm>
            <a:off x="4143587" y="0"/>
            <a:ext cx="3169919" cy="480060"/>
          </a:xfrm>
          <a:prstGeom prst="rect">
            <a:avLst/>
          </a:prstGeom>
          <a:noFill/>
          <a:ln>
            <a:noFill/>
          </a:ln>
        </p:spPr>
        <p:txBody>
          <a:bodyPr lIns="96637" tIns="96637" rIns="96637" bIns="96637" anchor="t" anchorCtr="0"/>
          <a:lstStyle>
            <a:lvl1pPr marL="0" marR="0" indent="0" algn="r" rtl="0">
              <a:lnSpc>
                <a:spcPct val="100000"/>
              </a:lnSpc>
              <a:spcBef>
                <a:spcPts val="0"/>
              </a:spcBef>
              <a:spcAft>
                <a:spcPts val="0"/>
              </a:spcAft>
              <a:buClr>
                <a:srgbClr val="000000"/>
              </a:buClr>
              <a:buFont typeface="Arial"/>
              <a:buNone/>
              <a:defRPr/>
            </a:lvl1pPr>
            <a:lvl2pPr marL="2540569" marR="0" indent="-3430" algn="l" rtl="0">
              <a:lnSpc>
                <a:spcPct val="100000"/>
              </a:lnSpc>
              <a:spcBef>
                <a:spcPts val="0"/>
              </a:spcBef>
              <a:spcAft>
                <a:spcPts val="0"/>
              </a:spcAft>
              <a:buClr>
                <a:srgbClr val="000000"/>
              </a:buClr>
              <a:buFont typeface="Arial"/>
              <a:buNone/>
              <a:defRPr/>
            </a:lvl2pPr>
            <a:lvl3pPr marL="5081138" marR="0" indent="-6861" algn="l" rtl="0">
              <a:lnSpc>
                <a:spcPct val="100000"/>
              </a:lnSpc>
              <a:spcBef>
                <a:spcPts val="0"/>
              </a:spcBef>
              <a:spcAft>
                <a:spcPts val="0"/>
              </a:spcAft>
              <a:buClr>
                <a:srgbClr val="000000"/>
              </a:buClr>
              <a:buFont typeface="Arial"/>
              <a:buNone/>
              <a:defRPr/>
            </a:lvl3pPr>
            <a:lvl4pPr marL="7621707" marR="0" indent="-10293" algn="l" rtl="0">
              <a:lnSpc>
                <a:spcPct val="100000"/>
              </a:lnSpc>
              <a:spcBef>
                <a:spcPts val="0"/>
              </a:spcBef>
              <a:spcAft>
                <a:spcPts val="0"/>
              </a:spcAft>
              <a:buClr>
                <a:srgbClr val="000000"/>
              </a:buClr>
              <a:buFont typeface="Arial"/>
              <a:buNone/>
              <a:defRPr/>
            </a:lvl4pPr>
            <a:lvl5pPr marL="10162276" marR="0" indent="-299" algn="l" rtl="0">
              <a:lnSpc>
                <a:spcPct val="100000"/>
              </a:lnSpc>
              <a:spcBef>
                <a:spcPts val="0"/>
              </a:spcBef>
              <a:spcAft>
                <a:spcPts val="0"/>
              </a:spcAft>
              <a:buClr>
                <a:srgbClr val="000000"/>
              </a:buClr>
              <a:buFont typeface="Arial"/>
              <a:buNone/>
              <a:defRPr/>
            </a:lvl5pPr>
            <a:lvl6pPr marL="12702846" marR="0" indent="-3731" algn="l" rtl="0">
              <a:lnSpc>
                <a:spcPct val="100000"/>
              </a:lnSpc>
              <a:spcBef>
                <a:spcPts val="0"/>
              </a:spcBef>
              <a:spcAft>
                <a:spcPts val="0"/>
              </a:spcAft>
              <a:buClr>
                <a:srgbClr val="000000"/>
              </a:buClr>
              <a:buFont typeface="Arial"/>
              <a:buNone/>
              <a:defRPr/>
            </a:lvl6pPr>
            <a:lvl7pPr marL="15243414" marR="0" indent="-7163" algn="l" rtl="0">
              <a:lnSpc>
                <a:spcPct val="100000"/>
              </a:lnSpc>
              <a:spcBef>
                <a:spcPts val="0"/>
              </a:spcBef>
              <a:spcAft>
                <a:spcPts val="0"/>
              </a:spcAft>
              <a:buClr>
                <a:srgbClr val="000000"/>
              </a:buClr>
              <a:buFont typeface="Arial"/>
              <a:buNone/>
              <a:defRPr/>
            </a:lvl7pPr>
            <a:lvl8pPr marL="17783986" marR="0" indent="-10595" algn="l" rtl="0">
              <a:lnSpc>
                <a:spcPct val="100000"/>
              </a:lnSpc>
              <a:spcBef>
                <a:spcPts val="0"/>
              </a:spcBef>
              <a:spcAft>
                <a:spcPts val="0"/>
              </a:spcAft>
              <a:buClr>
                <a:srgbClr val="000000"/>
              </a:buClr>
              <a:buFont typeface="Arial"/>
              <a:buNone/>
              <a:defRPr/>
            </a:lvl8pPr>
            <a:lvl9pPr marL="20324552" marR="0" indent="-600" algn="l" rtl="0">
              <a:lnSpc>
                <a:spcPct val="100000"/>
              </a:lnSpc>
              <a:spcBef>
                <a:spcPts val="0"/>
              </a:spcBef>
              <a:spcAft>
                <a:spcPts val="0"/>
              </a:spcAft>
              <a:buClr>
                <a:srgbClr val="000000"/>
              </a:buClr>
              <a:buFont typeface="Arial"/>
              <a:buNone/>
              <a:defRPr/>
            </a:lvl9pPr>
          </a:lstStyle>
          <a:p>
            <a:endParaRPr/>
          </a:p>
        </p:txBody>
      </p:sp>
      <p:sp>
        <p:nvSpPr>
          <p:cNvPr id="4" name="Shape 4"/>
          <p:cNvSpPr>
            <a:spLocks noGrp="1" noRot="1" noChangeAspect="1"/>
          </p:cNvSpPr>
          <p:nvPr>
            <p:ph type="sldImg" idx="3"/>
          </p:nvPr>
        </p:nvSpPr>
        <p:spPr>
          <a:xfrm>
            <a:off x="2365375" y="719138"/>
            <a:ext cx="2584450"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5" name="Shape 5"/>
          <p:cNvSpPr txBox="1">
            <a:spLocks noGrp="1"/>
          </p:cNvSpPr>
          <p:nvPr>
            <p:ph type="body" idx="1"/>
          </p:nvPr>
        </p:nvSpPr>
        <p:spPr>
          <a:xfrm>
            <a:off x="731522" y="4560570"/>
            <a:ext cx="5852159" cy="4320540"/>
          </a:xfrm>
          <a:prstGeom prst="rect">
            <a:avLst/>
          </a:prstGeom>
          <a:noFill/>
          <a:ln>
            <a:noFill/>
          </a:ln>
        </p:spPr>
        <p:txBody>
          <a:bodyPr lIns="96637" tIns="96637" rIns="96637" bIns="96637" anchor="t" anchorCtr="0"/>
          <a:lstStyle>
            <a:lvl1pPr marL="0" marR="0" indent="0" algn="l"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
        <p:nvSpPr>
          <p:cNvPr id="6" name="Shape 6"/>
          <p:cNvSpPr txBox="1">
            <a:spLocks noGrp="1"/>
          </p:cNvSpPr>
          <p:nvPr>
            <p:ph type="ftr" idx="11"/>
          </p:nvPr>
        </p:nvSpPr>
        <p:spPr>
          <a:xfrm>
            <a:off x="2" y="9119474"/>
            <a:ext cx="3169919" cy="480060"/>
          </a:xfrm>
          <a:prstGeom prst="rect">
            <a:avLst/>
          </a:prstGeom>
          <a:noFill/>
          <a:ln>
            <a:noFill/>
          </a:ln>
        </p:spPr>
        <p:txBody>
          <a:bodyPr lIns="96637" tIns="96637" rIns="96637" bIns="96637" anchor="b" anchorCtr="0"/>
          <a:lstStyle>
            <a:lvl1pPr marL="0" marR="0" indent="0" algn="l" rtl="0">
              <a:lnSpc>
                <a:spcPct val="100000"/>
              </a:lnSpc>
              <a:spcBef>
                <a:spcPts val="0"/>
              </a:spcBef>
              <a:spcAft>
                <a:spcPts val="0"/>
              </a:spcAft>
              <a:buClr>
                <a:srgbClr val="000000"/>
              </a:buClr>
              <a:buFont typeface="Arial"/>
              <a:buNone/>
              <a:defRPr/>
            </a:lvl1pPr>
            <a:lvl2pPr marL="2540569" marR="0" indent="-3430" algn="l" rtl="0">
              <a:lnSpc>
                <a:spcPct val="100000"/>
              </a:lnSpc>
              <a:spcBef>
                <a:spcPts val="0"/>
              </a:spcBef>
              <a:spcAft>
                <a:spcPts val="0"/>
              </a:spcAft>
              <a:buClr>
                <a:srgbClr val="000000"/>
              </a:buClr>
              <a:buFont typeface="Arial"/>
              <a:buNone/>
              <a:defRPr/>
            </a:lvl2pPr>
            <a:lvl3pPr marL="5081138" marR="0" indent="-6861" algn="l" rtl="0">
              <a:lnSpc>
                <a:spcPct val="100000"/>
              </a:lnSpc>
              <a:spcBef>
                <a:spcPts val="0"/>
              </a:spcBef>
              <a:spcAft>
                <a:spcPts val="0"/>
              </a:spcAft>
              <a:buClr>
                <a:srgbClr val="000000"/>
              </a:buClr>
              <a:buFont typeface="Arial"/>
              <a:buNone/>
              <a:defRPr/>
            </a:lvl3pPr>
            <a:lvl4pPr marL="7621707" marR="0" indent="-10293" algn="l" rtl="0">
              <a:lnSpc>
                <a:spcPct val="100000"/>
              </a:lnSpc>
              <a:spcBef>
                <a:spcPts val="0"/>
              </a:spcBef>
              <a:spcAft>
                <a:spcPts val="0"/>
              </a:spcAft>
              <a:buClr>
                <a:srgbClr val="000000"/>
              </a:buClr>
              <a:buFont typeface="Arial"/>
              <a:buNone/>
              <a:defRPr/>
            </a:lvl4pPr>
            <a:lvl5pPr marL="10162276" marR="0" indent="-299" algn="l" rtl="0">
              <a:lnSpc>
                <a:spcPct val="100000"/>
              </a:lnSpc>
              <a:spcBef>
                <a:spcPts val="0"/>
              </a:spcBef>
              <a:spcAft>
                <a:spcPts val="0"/>
              </a:spcAft>
              <a:buClr>
                <a:srgbClr val="000000"/>
              </a:buClr>
              <a:buFont typeface="Arial"/>
              <a:buNone/>
              <a:defRPr/>
            </a:lvl5pPr>
            <a:lvl6pPr marL="12702846" marR="0" indent="-3731" algn="l" rtl="0">
              <a:lnSpc>
                <a:spcPct val="100000"/>
              </a:lnSpc>
              <a:spcBef>
                <a:spcPts val="0"/>
              </a:spcBef>
              <a:spcAft>
                <a:spcPts val="0"/>
              </a:spcAft>
              <a:buClr>
                <a:srgbClr val="000000"/>
              </a:buClr>
              <a:buFont typeface="Arial"/>
              <a:buNone/>
              <a:defRPr/>
            </a:lvl6pPr>
            <a:lvl7pPr marL="15243414" marR="0" indent="-7163" algn="l" rtl="0">
              <a:lnSpc>
                <a:spcPct val="100000"/>
              </a:lnSpc>
              <a:spcBef>
                <a:spcPts val="0"/>
              </a:spcBef>
              <a:spcAft>
                <a:spcPts val="0"/>
              </a:spcAft>
              <a:buClr>
                <a:srgbClr val="000000"/>
              </a:buClr>
              <a:buFont typeface="Arial"/>
              <a:buNone/>
              <a:defRPr/>
            </a:lvl7pPr>
            <a:lvl8pPr marL="17783986" marR="0" indent="-10595" algn="l" rtl="0">
              <a:lnSpc>
                <a:spcPct val="100000"/>
              </a:lnSpc>
              <a:spcBef>
                <a:spcPts val="0"/>
              </a:spcBef>
              <a:spcAft>
                <a:spcPts val="0"/>
              </a:spcAft>
              <a:buClr>
                <a:srgbClr val="000000"/>
              </a:buClr>
              <a:buFont typeface="Arial"/>
              <a:buNone/>
              <a:defRPr/>
            </a:lvl8pPr>
            <a:lvl9pPr marL="20324552" marR="0" indent="-600" algn="l" rtl="0">
              <a:lnSpc>
                <a:spcPct val="100000"/>
              </a:lnSpc>
              <a:spcBef>
                <a:spcPts val="0"/>
              </a:spcBef>
              <a:spcAft>
                <a:spcPts val="0"/>
              </a:spcAft>
              <a:buClr>
                <a:srgbClr val="000000"/>
              </a:buClr>
              <a:buFont typeface="Arial"/>
              <a:buNone/>
              <a:defRPr/>
            </a:lvl9pPr>
          </a:lstStyle>
          <a:p>
            <a:endParaRPr/>
          </a:p>
        </p:txBody>
      </p:sp>
      <p:sp>
        <p:nvSpPr>
          <p:cNvPr id="7" name="Shape 7"/>
          <p:cNvSpPr txBox="1">
            <a:spLocks noGrp="1"/>
          </p:cNvSpPr>
          <p:nvPr>
            <p:ph type="sldNum" idx="12"/>
          </p:nvPr>
        </p:nvSpPr>
        <p:spPr>
          <a:xfrm>
            <a:off x="4143587" y="9119474"/>
            <a:ext cx="3169919" cy="480060"/>
          </a:xfrm>
          <a:prstGeom prst="rect">
            <a:avLst/>
          </a:prstGeom>
          <a:noFill/>
          <a:ln>
            <a:noFill/>
          </a:ln>
        </p:spPr>
        <p:txBody>
          <a:bodyPr lIns="96637" tIns="96637" rIns="96637" bIns="96637" anchor="b" anchorCtr="0">
            <a:noAutofit/>
          </a:bodyPr>
          <a:lstStyle/>
          <a:p>
            <a:pPr>
              <a:buClr>
                <a:srgbClr val="000000"/>
              </a:buClr>
            </a:pPr>
            <a:endParaRPr lang="en-US"/>
          </a:p>
          <a:p>
            <a:pPr lvl="1">
              <a:buClr>
                <a:srgbClr val="000000"/>
              </a:buClr>
              <a:buFont typeface="Arial"/>
              <a:buNone/>
            </a:pPr>
            <a:endParaRPr lang="en-US"/>
          </a:p>
          <a:p>
            <a:pPr lvl="2">
              <a:buClr>
                <a:srgbClr val="000000"/>
              </a:buClr>
              <a:buFont typeface="Arial"/>
              <a:buNone/>
            </a:pPr>
            <a:endParaRPr lang="en-US"/>
          </a:p>
          <a:p>
            <a:pPr lvl="3">
              <a:buClr>
                <a:srgbClr val="000000"/>
              </a:buClr>
              <a:buFont typeface="Arial"/>
              <a:buNone/>
            </a:pPr>
            <a:endParaRPr lang="en-US"/>
          </a:p>
          <a:p>
            <a:pPr lvl="4">
              <a:buClr>
                <a:srgbClr val="000000"/>
              </a:buClr>
              <a:buFont typeface="Arial"/>
              <a:buNone/>
            </a:pPr>
            <a:endParaRPr lang="en-US"/>
          </a:p>
          <a:p>
            <a:pPr lvl="5">
              <a:buClr>
                <a:srgbClr val="000000"/>
              </a:buClr>
              <a:buFont typeface="Arial"/>
              <a:buNone/>
            </a:pPr>
            <a:endParaRPr lang="en-US"/>
          </a:p>
          <a:p>
            <a:pPr lvl="6">
              <a:buClr>
                <a:srgbClr val="000000"/>
              </a:buClr>
              <a:buFont typeface="Arial"/>
              <a:buNone/>
            </a:pPr>
            <a:endParaRPr lang="en-US"/>
          </a:p>
          <a:p>
            <a:pPr lvl="7">
              <a:buClr>
                <a:srgbClr val="000000"/>
              </a:buClr>
              <a:buFont typeface="Arial"/>
              <a:buNone/>
            </a:pPr>
            <a:endParaRPr lang="en-US"/>
          </a:p>
          <a:p>
            <a:pPr lvl="8">
              <a:buClr>
                <a:srgbClr val="000000"/>
              </a:buClr>
              <a:buFont typeface="Arial"/>
              <a:buNone/>
            </a:pPr>
            <a:endParaRPr lang="en-US"/>
          </a:p>
        </p:txBody>
      </p:sp>
    </p:spTree>
    <p:extLst>
      <p:ext uri="{BB962C8B-B14F-4D97-AF65-F5344CB8AC3E}">
        <p14:creationId xmlns:p14="http://schemas.microsoft.com/office/powerpoint/2010/main" val="3942484264"/>
      </p:ext>
    </p:extLst>
  </p:cSld>
  <p:clrMap bg1="lt1" tx1="dk1" bg2="dk2" tx2="lt2" accent1="accent1" accent2="accent2" accent3="accent3" accent4="accent4" accent5="accent5" accent6="accent6" hlink="hlink" folHlink="folHlink"/>
  <p:notesStyle>
    <a:lvl1pPr marL="0" algn="l" defTabSz="429951" rtl="0" eaLnBrk="1" latinLnBrk="0" hangingPunct="1">
      <a:defRPr sz="1128" kern="1200">
        <a:solidFill>
          <a:schemeClr val="tx1"/>
        </a:solidFill>
        <a:latin typeface="+mn-lt"/>
        <a:ea typeface="+mn-ea"/>
        <a:cs typeface="+mn-cs"/>
      </a:defRPr>
    </a:lvl1pPr>
    <a:lvl2pPr marL="429951" algn="l" defTabSz="429951" rtl="0" eaLnBrk="1" latinLnBrk="0" hangingPunct="1">
      <a:defRPr sz="1128" kern="1200">
        <a:solidFill>
          <a:schemeClr val="tx1"/>
        </a:solidFill>
        <a:latin typeface="+mn-lt"/>
        <a:ea typeface="+mn-ea"/>
        <a:cs typeface="+mn-cs"/>
      </a:defRPr>
    </a:lvl2pPr>
    <a:lvl3pPr marL="859902" algn="l" defTabSz="429951" rtl="0" eaLnBrk="1" latinLnBrk="0" hangingPunct="1">
      <a:defRPr sz="1128" kern="1200">
        <a:solidFill>
          <a:schemeClr val="tx1"/>
        </a:solidFill>
        <a:latin typeface="+mn-lt"/>
        <a:ea typeface="+mn-ea"/>
        <a:cs typeface="+mn-cs"/>
      </a:defRPr>
    </a:lvl3pPr>
    <a:lvl4pPr marL="1289853" algn="l" defTabSz="429951" rtl="0" eaLnBrk="1" latinLnBrk="0" hangingPunct="1">
      <a:defRPr sz="1128" kern="1200">
        <a:solidFill>
          <a:schemeClr val="tx1"/>
        </a:solidFill>
        <a:latin typeface="+mn-lt"/>
        <a:ea typeface="+mn-ea"/>
        <a:cs typeface="+mn-cs"/>
      </a:defRPr>
    </a:lvl4pPr>
    <a:lvl5pPr marL="1719804" algn="l" defTabSz="429951" rtl="0" eaLnBrk="1" latinLnBrk="0" hangingPunct="1">
      <a:defRPr sz="1128" kern="1200">
        <a:solidFill>
          <a:schemeClr val="tx1"/>
        </a:solidFill>
        <a:latin typeface="+mn-lt"/>
        <a:ea typeface="+mn-ea"/>
        <a:cs typeface="+mn-cs"/>
      </a:defRPr>
    </a:lvl5pPr>
    <a:lvl6pPr marL="2149754" algn="l" defTabSz="429951" rtl="0" eaLnBrk="1" latinLnBrk="0" hangingPunct="1">
      <a:defRPr sz="1128" kern="1200">
        <a:solidFill>
          <a:schemeClr val="tx1"/>
        </a:solidFill>
        <a:latin typeface="+mn-lt"/>
        <a:ea typeface="+mn-ea"/>
        <a:cs typeface="+mn-cs"/>
      </a:defRPr>
    </a:lvl6pPr>
    <a:lvl7pPr marL="2579705" algn="l" defTabSz="429951" rtl="0" eaLnBrk="1" latinLnBrk="0" hangingPunct="1">
      <a:defRPr sz="1128" kern="1200">
        <a:solidFill>
          <a:schemeClr val="tx1"/>
        </a:solidFill>
        <a:latin typeface="+mn-lt"/>
        <a:ea typeface="+mn-ea"/>
        <a:cs typeface="+mn-cs"/>
      </a:defRPr>
    </a:lvl7pPr>
    <a:lvl8pPr marL="3009656" algn="l" defTabSz="429951" rtl="0" eaLnBrk="1" latinLnBrk="0" hangingPunct="1">
      <a:defRPr sz="1128" kern="1200">
        <a:solidFill>
          <a:schemeClr val="tx1"/>
        </a:solidFill>
        <a:latin typeface="+mn-lt"/>
        <a:ea typeface="+mn-ea"/>
        <a:cs typeface="+mn-cs"/>
      </a:defRPr>
    </a:lvl8pPr>
    <a:lvl9pPr marL="3439607" algn="l" defTabSz="429951" rtl="0" eaLnBrk="1" latinLnBrk="0" hangingPunct="1">
      <a:defRPr sz="112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Shape 137"/>
          <p:cNvSpPr>
            <a:spLocks noGrp="1" noRot="1" noChangeAspect="1"/>
          </p:cNvSpPr>
          <p:nvPr>
            <p:ph type="sldImg" idx="2"/>
          </p:nvPr>
        </p:nvSpPr>
        <p:spPr>
          <a:xfrm>
            <a:off x="2365375" y="719138"/>
            <a:ext cx="2584450" cy="36004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round/>
            <a:headEnd type="none" w="med" len="med"/>
            <a:tailEnd type="none" w="med" len="med"/>
          </a:ln>
        </p:spPr>
      </p:sp>
      <p:sp>
        <p:nvSpPr>
          <p:cNvPr id="138" name="Shape 138"/>
          <p:cNvSpPr txBox="1">
            <a:spLocks noGrp="1"/>
          </p:cNvSpPr>
          <p:nvPr>
            <p:ph type="body" idx="1"/>
          </p:nvPr>
        </p:nvSpPr>
        <p:spPr>
          <a:xfrm>
            <a:off x="731522" y="4560570"/>
            <a:ext cx="5852159" cy="4320540"/>
          </a:xfrm>
          <a:prstGeom prst="rect">
            <a:avLst/>
          </a:prstGeom>
          <a:noFill/>
          <a:ln>
            <a:noFill/>
          </a:ln>
        </p:spPr>
        <p:txBody>
          <a:bodyPr lIns="96637" tIns="48305" rIns="96637" bIns="48305" anchor="t" anchorCtr="0">
            <a:noAutofit/>
          </a:bodyPr>
          <a:lstStyle/>
          <a:p>
            <a:pPr marL="0" indent="0">
              <a:buClr>
                <a:schemeClr val="dk1"/>
              </a:buClr>
              <a:buSzPct val="100000"/>
              <a:buFont typeface="Calibri"/>
              <a:buNone/>
            </a:pPr>
            <a:endParaRPr lang="en-US" dirty="0">
              <a:solidFill>
                <a:schemeClr val="dk1"/>
              </a:solidFill>
              <a:latin typeface="Calibri"/>
              <a:ea typeface="Calibri"/>
              <a:cs typeface="Calibri"/>
              <a:sym typeface="Calibri"/>
            </a:endParaRPr>
          </a:p>
        </p:txBody>
      </p:sp>
      <p:sp>
        <p:nvSpPr>
          <p:cNvPr id="139" name="Shape 139"/>
          <p:cNvSpPr txBox="1">
            <a:spLocks noGrp="1"/>
          </p:cNvSpPr>
          <p:nvPr>
            <p:ph type="sldNum" idx="12"/>
          </p:nvPr>
        </p:nvSpPr>
        <p:spPr>
          <a:xfrm>
            <a:off x="4143587" y="9119474"/>
            <a:ext cx="3169919" cy="480060"/>
          </a:xfrm>
          <a:prstGeom prst="rect">
            <a:avLst/>
          </a:prstGeom>
          <a:noFill/>
          <a:ln>
            <a:noFill/>
          </a:ln>
        </p:spPr>
        <p:txBody>
          <a:bodyPr lIns="96637" tIns="48305" rIns="96637" bIns="48305" anchor="b" anchorCtr="0">
            <a:noAutofit/>
          </a:bodyPr>
          <a:lstStyle/>
          <a:p>
            <a:pPr algn="r">
              <a:buClr>
                <a:srgbClr val="000000"/>
              </a:buClr>
              <a:buSzPct val="25000"/>
            </a:pPr>
            <a:r>
              <a:rPr lang="en-US"/>
              <a:t> </a:t>
            </a:r>
          </a:p>
        </p:txBody>
      </p:sp>
    </p:spTree>
    <p:extLst>
      <p:ext uri="{BB962C8B-B14F-4D97-AF65-F5344CB8AC3E}">
        <p14:creationId xmlns:p14="http://schemas.microsoft.com/office/powerpoint/2010/main" val="694132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4"/>
        <p:cNvGrpSpPr/>
        <p:nvPr/>
      </p:nvGrpSpPr>
      <p:grpSpPr>
        <a:xfrm>
          <a:off x="0" y="0"/>
          <a:ext cx="0" cy="0"/>
          <a:chOff x="0" y="0"/>
          <a:chExt cx="0" cy="0"/>
        </a:xfrm>
      </p:grpSpPr>
      <p:sp>
        <p:nvSpPr>
          <p:cNvPr id="15" name="Shape 15"/>
          <p:cNvSpPr txBox="1">
            <a:spLocks noGrp="1"/>
          </p:cNvSpPr>
          <p:nvPr>
            <p:ph type="ctrTitle"/>
          </p:nvPr>
        </p:nvSpPr>
        <p:spPr>
          <a:xfrm>
            <a:off x="2263140" y="13066610"/>
            <a:ext cx="25648919" cy="901615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chemeClr val="dk1"/>
              </a:buClr>
              <a:buFont typeface="Calibri"/>
              <a:buNone/>
              <a:defRPr/>
            </a:lvl1pPr>
            <a:lvl2pPr marL="0" marR="0" indent="0" algn="l" rtl="0">
              <a:lnSpc>
                <a:spcPct val="100000"/>
              </a:lnSpc>
              <a:spcBef>
                <a:spcPts val="0"/>
              </a:spcBef>
              <a:spcAft>
                <a:spcPts val="0"/>
              </a:spcAft>
              <a:buClr>
                <a:srgbClr val="000000"/>
              </a:buClr>
              <a:buFont typeface="Arial"/>
              <a:buNone/>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Click to edit Master title style</a:t>
            </a:r>
            <a:endParaRPr/>
          </a:p>
        </p:txBody>
      </p:sp>
      <p:sp>
        <p:nvSpPr>
          <p:cNvPr id="16" name="Shape 16"/>
          <p:cNvSpPr txBox="1">
            <a:spLocks noGrp="1"/>
          </p:cNvSpPr>
          <p:nvPr>
            <p:ph type="subTitle" idx="1"/>
          </p:nvPr>
        </p:nvSpPr>
        <p:spPr>
          <a:xfrm>
            <a:off x="4526279" y="23835359"/>
            <a:ext cx="21122639" cy="10749280"/>
          </a:xfrm>
          <a:prstGeom prst="rect">
            <a:avLst/>
          </a:prstGeom>
          <a:noFill/>
          <a:ln>
            <a:noFill/>
          </a:ln>
        </p:spPr>
        <p:txBody>
          <a:bodyPr lIns="91425" tIns="91425" rIns="91425" bIns="91425" anchor="t" anchorCtr="0"/>
          <a:lstStyle>
            <a:lvl1pPr marL="0" marR="0" indent="0" algn="ctr" rtl="0">
              <a:lnSpc>
                <a:spcPct val="100000"/>
              </a:lnSpc>
              <a:spcBef>
                <a:spcPts val="2310"/>
              </a:spcBef>
              <a:spcAft>
                <a:spcPts val="0"/>
              </a:spcAft>
              <a:buClr>
                <a:srgbClr val="888888"/>
              </a:buClr>
              <a:buFont typeface="Arial"/>
              <a:buNone/>
              <a:defRPr/>
            </a:lvl1pPr>
            <a:lvl2pPr marL="1652498" marR="0" indent="-2231" algn="ctr" rtl="0">
              <a:lnSpc>
                <a:spcPct val="100000"/>
              </a:lnSpc>
              <a:spcBef>
                <a:spcPts val="2021"/>
              </a:spcBef>
              <a:spcAft>
                <a:spcPts val="0"/>
              </a:spcAft>
              <a:buClr>
                <a:srgbClr val="888888"/>
              </a:buClr>
              <a:buFont typeface="Arial"/>
              <a:buNone/>
              <a:defRPr/>
            </a:lvl2pPr>
            <a:lvl3pPr marL="3304996" marR="0" indent="-4462" algn="ctr" rtl="0">
              <a:lnSpc>
                <a:spcPct val="100000"/>
              </a:lnSpc>
              <a:spcBef>
                <a:spcPts val="1733"/>
              </a:spcBef>
              <a:spcAft>
                <a:spcPts val="0"/>
              </a:spcAft>
              <a:buClr>
                <a:srgbClr val="888888"/>
              </a:buClr>
              <a:buFont typeface="Arial"/>
              <a:buNone/>
              <a:defRPr/>
            </a:lvl3pPr>
            <a:lvl4pPr marL="4957494" marR="0" indent="-6696" algn="ctr" rtl="0">
              <a:lnSpc>
                <a:spcPct val="100000"/>
              </a:lnSpc>
              <a:spcBef>
                <a:spcPts val="1444"/>
              </a:spcBef>
              <a:spcAft>
                <a:spcPts val="0"/>
              </a:spcAft>
              <a:buClr>
                <a:srgbClr val="888888"/>
              </a:buClr>
              <a:buFont typeface="Arial"/>
              <a:buNone/>
              <a:defRPr/>
            </a:lvl4pPr>
            <a:lvl5pPr marL="6609992" marR="0" indent="-194" algn="ctr" rtl="0">
              <a:lnSpc>
                <a:spcPct val="100000"/>
              </a:lnSpc>
              <a:spcBef>
                <a:spcPts val="1444"/>
              </a:spcBef>
              <a:spcAft>
                <a:spcPts val="0"/>
              </a:spcAft>
              <a:buClr>
                <a:srgbClr val="888888"/>
              </a:buClr>
              <a:buFont typeface="Arial"/>
              <a:buNone/>
              <a:defRPr/>
            </a:lvl5pPr>
            <a:lvl6pPr marL="8262490" marR="0" indent="-2427" algn="ctr" rtl="0">
              <a:lnSpc>
                <a:spcPct val="100000"/>
              </a:lnSpc>
              <a:spcBef>
                <a:spcPts val="1444"/>
              </a:spcBef>
              <a:spcAft>
                <a:spcPts val="0"/>
              </a:spcAft>
              <a:buClr>
                <a:srgbClr val="888888"/>
              </a:buClr>
              <a:buFont typeface="Arial"/>
              <a:buNone/>
              <a:defRPr/>
            </a:lvl6pPr>
            <a:lvl7pPr marL="9914988" marR="0" indent="-4659" algn="ctr" rtl="0">
              <a:lnSpc>
                <a:spcPct val="100000"/>
              </a:lnSpc>
              <a:spcBef>
                <a:spcPts val="1444"/>
              </a:spcBef>
              <a:spcAft>
                <a:spcPts val="0"/>
              </a:spcAft>
              <a:buClr>
                <a:srgbClr val="888888"/>
              </a:buClr>
              <a:buFont typeface="Arial"/>
              <a:buNone/>
              <a:defRPr/>
            </a:lvl7pPr>
            <a:lvl8pPr marL="11567487" marR="0" indent="-6892" algn="ctr" rtl="0">
              <a:lnSpc>
                <a:spcPct val="100000"/>
              </a:lnSpc>
              <a:spcBef>
                <a:spcPts val="1444"/>
              </a:spcBef>
              <a:spcAft>
                <a:spcPts val="0"/>
              </a:spcAft>
              <a:buClr>
                <a:srgbClr val="888888"/>
              </a:buClr>
              <a:buFont typeface="Arial"/>
              <a:buNone/>
              <a:defRPr/>
            </a:lvl8pPr>
            <a:lvl9pPr marL="13219984" marR="0" indent="-390" algn="ctr" rtl="0">
              <a:lnSpc>
                <a:spcPct val="100000"/>
              </a:lnSpc>
              <a:spcBef>
                <a:spcPts val="1444"/>
              </a:spcBef>
              <a:spcAft>
                <a:spcPts val="0"/>
              </a:spcAft>
              <a:buClr>
                <a:srgbClr val="888888"/>
              </a:buClr>
              <a:buFont typeface="Arial"/>
              <a:buNone/>
              <a:defRPr/>
            </a:lvl9pPr>
          </a:lstStyle>
          <a:p>
            <a:r>
              <a:rPr lang="en-US"/>
              <a:t>Click to edit Master subtitle style</a:t>
            </a:r>
            <a:endParaRPr/>
          </a:p>
        </p:txBody>
      </p:sp>
      <p:sp>
        <p:nvSpPr>
          <p:cNvPr id="17" name="Shape 17"/>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18" name="Shape 18"/>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19" name="Shape 19"/>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39"/>
        <p:cNvGrpSpPr/>
        <p:nvPr/>
      </p:nvGrpSpPr>
      <p:grpSpPr>
        <a:xfrm>
          <a:off x="0" y="0"/>
          <a:ext cx="0" cy="0"/>
          <a:chOff x="0" y="0"/>
          <a:chExt cx="0" cy="0"/>
        </a:xfrm>
      </p:grpSpPr>
      <p:sp>
        <p:nvSpPr>
          <p:cNvPr id="40" name="Shape 40"/>
          <p:cNvSpPr txBox="1">
            <a:spLocks noGrp="1"/>
          </p:cNvSpPr>
          <p:nvPr>
            <p:ph type="title"/>
          </p:nvPr>
        </p:nvSpPr>
        <p:spPr>
          <a:xfrm>
            <a:off x="1508759" y="1684447"/>
            <a:ext cx="27157680" cy="7010399"/>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41" name="Shape 41"/>
          <p:cNvSpPr txBox="1">
            <a:spLocks noGrp="1"/>
          </p:cNvSpPr>
          <p:nvPr>
            <p:ph type="body" idx="1"/>
          </p:nvPr>
        </p:nvSpPr>
        <p:spPr>
          <a:xfrm>
            <a:off x="1508759" y="9415359"/>
            <a:ext cx="13332621" cy="3923873"/>
          </a:xfrm>
          <a:prstGeom prst="rect">
            <a:avLst/>
          </a:prstGeom>
          <a:noFill/>
          <a:ln>
            <a:noFill/>
          </a:ln>
        </p:spPr>
        <p:txBody>
          <a:bodyPr lIns="91425" tIns="91425" rIns="91425" bIns="91425" anchor="b" anchorCtr="0"/>
          <a:lstStyle>
            <a:lvl1pPr marL="0" indent="0" rtl="0">
              <a:spcBef>
                <a:spcPts val="0"/>
              </a:spcBef>
              <a:buFont typeface="Calibri"/>
              <a:buNone/>
              <a:defRPr/>
            </a:lvl1pPr>
            <a:lvl2pPr marL="1652498" indent="-2231" rtl="0">
              <a:spcBef>
                <a:spcPts val="0"/>
              </a:spcBef>
              <a:buFont typeface="Calibri"/>
              <a:buNone/>
              <a:defRPr/>
            </a:lvl2pPr>
            <a:lvl3pPr marL="3304996" indent="-4462" rtl="0">
              <a:spcBef>
                <a:spcPts val="0"/>
              </a:spcBef>
              <a:buFont typeface="Calibri"/>
              <a:buNone/>
              <a:defRPr/>
            </a:lvl3pPr>
            <a:lvl4pPr marL="4957494" indent="-6696" rtl="0">
              <a:spcBef>
                <a:spcPts val="0"/>
              </a:spcBef>
              <a:buFont typeface="Calibri"/>
              <a:buNone/>
              <a:defRPr/>
            </a:lvl4pPr>
            <a:lvl5pPr marL="6609992" indent="-194" rtl="0">
              <a:spcBef>
                <a:spcPts val="0"/>
              </a:spcBef>
              <a:buFont typeface="Calibri"/>
              <a:buNone/>
              <a:defRPr/>
            </a:lvl5pPr>
            <a:lvl6pPr marL="8262490" indent="-2427" rtl="0">
              <a:spcBef>
                <a:spcPts val="0"/>
              </a:spcBef>
              <a:buFont typeface="Calibri"/>
              <a:buNone/>
              <a:defRPr/>
            </a:lvl6pPr>
            <a:lvl7pPr marL="9914988" indent="-4659" rtl="0">
              <a:spcBef>
                <a:spcPts val="0"/>
              </a:spcBef>
              <a:buFont typeface="Calibri"/>
              <a:buNone/>
              <a:defRPr/>
            </a:lvl7pPr>
            <a:lvl8pPr marL="11567487" indent="-6892" rtl="0">
              <a:spcBef>
                <a:spcPts val="0"/>
              </a:spcBef>
              <a:buFont typeface="Calibri"/>
              <a:buNone/>
              <a:defRPr/>
            </a:lvl8pPr>
            <a:lvl9pPr marL="13219984" indent="-390" rtl="0">
              <a:spcBef>
                <a:spcPts val="0"/>
              </a:spcBef>
              <a:buFont typeface="Calibri"/>
              <a:buNone/>
              <a:defRPr/>
            </a:lvl9pPr>
          </a:lstStyle>
          <a:p>
            <a:pPr lvl="0"/>
            <a:r>
              <a:rPr lang="en-US"/>
              <a:t>Click to edit Master text styles</a:t>
            </a:r>
          </a:p>
        </p:txBody>
      </p:sp>
      <p:sp>
        <p:nvSpPr>
          <p:cNvPr id="42" name="Shape 42"/>
          <p:cNvSpPr txBox="1">
            <a:spLocks noGrp="1"/>
          </p:cNvSpPr>
          <p:nvPr>
            <p:ph type="body" idx="2"/>
          </p:nvPr>
        </p:nvSpPr>
        <p:spPr>
          <a:xfrm>
            <a:off x="1508759" y="13339234"/>
            <a:ext cx="13332621" cy="24234563"/>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pPr lvl="0"/>
            <a:r>
              <a:rPr lang="en-US"/>
              <a:t>Click to edit Master text styles</a:t>
            </a:r>
          </a:p>
        </p:txBody>
      </p:sp>
      <p:sp>
        <p:nvSpPr>
          <p:cNvPr id="43" name="Shape 43"/>
          <p:cNvSpPr txBox="1">
            <a:spLocks noGrp="1"/>
          </p:cNvSpPr>
          <p:nvPr>
            <p:ph type="body" idx="3"/>
          </p:nvPr>
        </p:nvSpPr>
        <p:spPr>
          <a:xfrm>
            <a:off x="15328586" y="9415359"/>
            <a:ext cx="13337857" cy="3923873"/>
          </a:xfrm>
          <a:prstGeom prst="rect">
            <a:avLst/>
          </a:prstGeom>
          <a:noFill/>
          <a:ln>
            <a:noFill/>
          </a:ln>
        </p:spPr>
        <p:txBody>
          <a:bodyPr lIns="91425" tIns="91425" rIns="91425" bIns="91425" anchor="b" anchorCtr="0"/>
          <a:lstStyle>
            <a:lvl1pPr marL="0" indent="0" rtl="0">
              <a:spcBef>
                <a:spcPts val="0"/>
              </a:spcBef>
              <a:buFont typeface="Calibri"/>
              <a:buNone/>
              <a:defRPr/>
            </a:lvl1pPr>
            <a:lvl2pPr marL="1652498" indent="-2231" rtl="0">
              <a:spcBef>
                <a:spcPts val="0"/>
              </a:spcBef>
              <a:buFont typeface="Calibri"/>
              <a:buNone/>
              <a:defRPr/>
            </a:lvl2pPr>
            <a:lvl3pPr marL="3304996" indent="-4462" rtl="0">
              <a:spcBef>
                <a:spcPts val="0"/>
              </a:spcBef>
              <a:buFont typeface="Calibri"/>
              <a:buNone/>
              <a:defRPr/>
            </a:lvl3pPr>
            <a:lvl4pPr marL="4957494" indent="-6696" rtl="0">
              <a:spcBef>
                <a:spcPts val="0"/>
              </a:spcBef>
              <a:buFont typeface="Calibri"/>
              <a:buNone/>
              <a:defRPr/>
            </a:lvl4pPr>
            <a:lvl5pPr marL="6609992" indent="-194" rtl="0">
              <a:spcBef>
                <a:spcPts val="0"/>
              </a:spcBef>
              <a:buFont typeface="Calibri"/>
              <a:buNone/>
              <a:defRPr/>
            </a:lvl5pPr>
            <a:lvl6pPr marL="8262490" indent="-2427" rtl="0">
              <a:spcBef>
                <a:spcPts val="0"/>
              </a:spcBef>
              <a:buFont typeface="Calibri"/>
              <a:buNone/>
              <a:defRPr/>
            </a:lvl6pPr>
            <a:lvl7pPr marL="9914988" indent="-4659" rtl="0">
              <a:spcBef>
                <a:spcPts val="0"/>
              </a:spcBef>
              <a:buFont typeface="Calibri"/>
              <a:buNone/>
              <a:defRPr/>
            </a:lvl7pPr>
            <a:lvl8pPr marL="11567487" indent="-6892" rtl="0">
              <a:spcBef>
                <a:spcPts val="0"/>
              </a:spcBef>
              <a:buFont typeface="Calibri"/>
              <a:buNone/>
              <a:defRPr/>
            </a:lvl8pPr>
            <a:lvl9pPr marL="13219984" indent="-390" rtl="0">
              <a:spcBef>
                <a:spcPts val="0"/>
              </a:spcBef>
              <a:buFont typeface="Calibri"/>
              <a:buNone/>
              <a:defRPr/>
            </a:lvl9pPr>
          </a:lstStyle>
          <a:p>
            <a:pPr lvl="0"/>
            <a:r>
              <a:rPr lang="en-US"/>
              <a:t>Click to edit Master text styles</a:t>
            </a:r>
          </a:p>
        </p:txBody>
      </p:sp>
      <p:sp>
        <p:nvSpPr>
          <p:cNvPr id="44" name="Shape 44"/>
          <p:cNvSpPr txBox="1">
            <a:spLocks noGrp="1"/>
          </p:cNvSpPr>
          <p:nvPr>
            <p:ph type="body" idx="4"/>
          </p:nvPr>
        </p:nvSpPr>
        <p:spPr>
          <a:xfrm>
            <a:off x="15328586" y="13339234"/>
            <a:ext cx="13337857" cy="24234563"/>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pPr lvl="0"/>
            <a:r>
              <a:rPr lang="en-US"/>
              <a:t>Click to edit Master text styles</a:t>
            </a:r>
          </a:p>
        </p:txBody>
      </p:sp>
      <p:sp>
        <p:nvSpPr>
          <p:cNvPr id="45" name="Shape 45"/>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46" name="Shape 46"/>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47" name="Shape 47"/>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48"/>
        <p:cNvGrpSpPr/>
        <p:nvPr/>
      </p:nvGrpSpPr>
      <p:grpSpPr>
        <a:xfrm>
          <a:off x="0" y="0"/>
          <a:ext cx="0" cy="0"/>
          <a:chOff x="0" y="0"/>
          <a:chExt cx="0" cy="0"/>
        </a:xfrm>
      </p:grpSpPr>
      <p:sp>
        <p:nvSpPr>
          <p:cNvPr id="49" name="Shape 49"/>
          <p:cNvSpPr txBox="1">
            <a:spLocks noGrp="1"/>
          </p:cNvSpPr>
          <p:nvPr>
            <p:ph type="title"/>
          </p:nvPr>
        </p:nvSpPr>
        <p:spPr>
          <a:xfrm>
            <a:off x="1508759" y="1684447"/>
            <a:ext cx="27157680" cy="7010399"/>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50" name="Shape 50"/>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51" name="Shape 51"/>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52" name="Shape 52"/>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3"/>
        <p:cNvGrpSpPr/>
        <p:nvPr/>
      </p:nvGrpSpPr>
      <p:grpSpPr>
        <a:xfrm>
          <a:off x="0" y="0"/>
          <a:ext cx="0" cy="0"/>
          <a:chOff x="0" y="0"/>
          <a:chExt cx="0" cy="0"/>
        </a:xfrm>
      </p:grpSpPr>
      <p:sp>
        <p:nvSpPr>
          <p:cNvPr id="54" name="Shape 54"/>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55" name="Shape 55"/>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56" name="Shape 56"/>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57"/>
        <p:cNvGrpSpPr/>
        <p:nvPr/>
      </p:nvGrpSpPr>
      <p:grpSpPr>
        <a:xfrm>
          <a:off x="0" y="0"/>
          <a:ext cx="0" cy="0"/>
          <a:chOff x="0" y="0"/>
          <a:chExt cx="0" cy="0"/>
        </a:xfrm>
      </p:grpSpPr>
      <p:sp>
        <p:nvSpPr>
          <p:cNvPr id="58" name="Shape 58"/>
          <p:cNvSpPr txBox="1">
            <a:spLocks noGrp="1"/>
          </p:cNvSpPr>
          <p:nvPr>
            <p:ph type="title"/>
          </p:nvPr>
        </p:nvSpPr>
        <p:spPr>
          <a:xfrm>
            <a:off x="1508764" y="1674708"/>
            <a:ext cx="9927433" cy="7127236"/>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59" name="Shape 59"/>
          <p:cNvSpPr txBox="1">
            <a:spLocks noGrp="1"/>
          </p:cNvSpPr>
          <p:nvPr>
            <p:ph type="body" idx="1"/>
          </p:nvPr>
        </p:nvSpPr>
        <p:spPr>
          <a:xfrm>
            <a:off x="11797666" y="1674708"/>
            <a:ext cx="16868774" cy="35899093"/>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pPr lvl="0"/>
            <a:r>
              <a:rPr lang="en-US"/>
              <a:t>Click to edit Master text styles</a:t>
            </a:r>
          </a:p>
        </p:txBody>
      </p:sp>
      <p:sp>
        <p:nvSpPr>
          <p:cNvPr id="60" name="Shape 60"/>
          <p:cNvSpPr txBox="1">
            <a:spLocks noGrp="1"/>
          </p:cNvSpPr>
          <p:nvPr>
            <p:ph type="body" idx="2"/>
          </p:nvPr>
        </p:nvSpPr>
        <p:spPr>
          <a:xfrm>
            <a:off x="1508764" y="8801949"/>
            <a:ext cx="9927433" cy="28771854"/>
          </a:xfrm>
          <a:prstGeom prst="rect">
            <a:avLst/>
          </a:prstGeom>
          <a:noFill/>
          <a:ln>
            <a:noFill/>
          </a:ln>
        </p:spPr>
        <p:txBody>
          <a:bodyPr lIns="91425" tIns="91425" rIns="91425" bIns="91425" anchor="t" anchorCtr="0"/>
          <a:lstStyle>
            <a:lvl1pPr marL="0" indent="0" rtl="0">
              <a:spcBef>
                <a:spcPts val="0"/>
              </a:spcBef>
              <a:buFont typeface="Calibri"/>
              <a:buNone/>
              <a:defRPr/>
            </a:lvl1pPr>
            <a:lvl2pPr marL="1652498" indent="-2231" rtl="0">
              <a:spcBef>
                <a:spcPts val="0"/>
              </a:spcBef>
              <a:buFont typeface="Calibri"/>
              <a:buNone/>
              <a:defRPr/>
            </a:lvl2pPr>
            <a:lvl3pPr marL="3304996" indent="-4462" rtl="0">
              <a:spcBef>
                <a:spcPts val="0"/>
              </a:spcBef>
              <a:buFont typeface="Calibri"/>
              <a:buNone/>
              <a:defRPr/>
            </a:lvl3pPr>
            <a:lvl4pPr marL="4957494" indent="-6696" rtl="0">
              <a:spcBef>
                <a:spcPts val="0"/>
              </a:spcBef>
              <a:buFont typeface="Calibri"/>
              <a:buNone/>
              <a:defRPr/>
            </a:lvl4pPr>
            <a:lvl5pPr marL="6609992" indent="-194" rtl="0">
              <a:spcBef>
                <a:spcPts val="0"/>
              </a:spcBef>
              <a:buFont typeface="Calibri"/>
              <a:buNone/>
              <a:defRPr/>
            </a:lvl5pPr>
            <a:lvl6pPr marL="8262490" indent="-2427" rtl="0">
              <a:spcBef>
                <a:spcPts val="0"/>
              </a:spcBef>
              <a:buFont typeface="Calibri"/>
              <a:buNone/>
              <a:defRPr/>
            </a:lvl6pPr>
            <a:lvl7pPr marL="9914988" indent="-4659" rtl="0">
              <a:spcBef>
                <a:spcPts val="0"/>
              </a:spcBef>
              <a:buFont typeface="Calibri"/>
              <a:buNone/>
              <a:defRPr/>
            </a:lvl7pPr>
            <a:lvl8pPr marL="11567487" indent="-6892" rtl="0">
              <a:spcBef>
                <a:spcPts val="0"/>
              </a:spcBef>
              <a:buFont typeface="Calibri"/>
              <a:buNone/>
              <a:defRPr/>
            </a:lvl8pPr>
            <a:lvl9pPr marL="13219984" indent="-390" rtl="0">
              <a:spcBef>
                <a:spcPts val="0"/>
              </a:spcBef>
              <a:buFont typeface="Calibri"/>
              <a:buNone/>
              <a:defRPr/>
            </a:lvl9pPr>
          </a:lstStyle>
          <a:p>
            <a:pPr lvl="0"/>
            <a:r>
              <a:rPr lang="en-US"/>
              <a:t>Click to edit Master text styles</a:t>
            </a:r>
          </a:p>
        </p:txBody>
      </p:sp>
      <p:sp>
        <p:nvSpPr>
          <p:cNvPr id="61" name="Shape 61"/>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62" name="Shape 62"/>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63" name="Shape 63"/>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5914551" y="29443682"/>
            <a:ext cx="18105120" cy="3475994"/>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66" name="Shape 66"/>
          <p:cNvSpPr>
            <a:spLocks noGrp="1"/>
          </p:cNvSpPr>
          <p:nvPr>
            <p:ph type="pic" idx="2"/>
          </p:nvPr>
        </p:nvSpPr>
        <p:spPr>
          <a:xfrm>
            <a:off x="5914551" y="3758350"/>
            <a:ext cx="18105120" cy="25237440"/>
          </a:xfrm>
          <a:prstGeom prst="rect">
            <a:avLst/>
          </a:prstGeom>
          <a:noFill/>
          <a:ln>
            <a:noFill/>
          </a:ln>
        </p:spPr>
      </p:sp>
      <p:sp>
        <p:nvSpPr>
          <p:cNvPr id="67" name="Shape 67"/>
          <p:cNvSpPr txBox="1">
            <a:spLocks noGrp="1"/>
          </p:cNvSpPr>
          <p:nvPr>
            <p:ph type="body" idx="1"/>
          </p:nvPr>
        </p:nvSpPr>
        <p:spPr>
          <a:xfrm>
            <a:off x="5914551" y="32919675"/>
            <a:ext cx="18105120" cy="4936483"/>
          </a:xfrm>
          <a:prstGeom prst="rect">
            <a:avLst/>
          </a:prstGeom>
          <a:noFill/>
          <a:ln>
            <a:noFill/>
          </a:ln>
        </p:spPr>
        <p:txBody>
          <a:bodyPr lIns="91425" tIns="91425" rIns="91425" bIns="91425" anchor="t" anchorCtr="0"/>
          <a:lstStyle>
            <a:lvl1pPr marL="0" indent="0" rtl="0">
              <a:spcBef>
                <a:spcPts val="0"/>
              </a:spcBef>
              <a:buFont typeface="Calibri"/>
              <a:buNone/>
              <a:defRPr/>
            </a:lvl1pPr>
            <a:lvl2pPr marL="1652498" indent="-2231" rtl="0">
              <a:spcBef>
                <a:spcPts val="0"/>
              </a:spcBef>
              <a:buFont typeface="Calibri"/>
              <a:buNone/>
              <a:defRPr/>
            </a:lvl2pPr>
            <a:lvl3pPr marL="3304996" indent="-4462" rtl="0">
              <a:spcBef>
                <a:spcPts val="0"/>
              </a:spcBef>
              <a:buFont typeface="Calibri"/>
              <a:buNone/>
              <a:defRPr/>
            </a:lvl3pPr>
            <a:lvl4pPr marL="4957494" indent="-6696" rtl="0">
              <a:spcBef>
                <a:spcPts val="0"/>
              </a:spcBef>
              <a:buFont typeface="Calibri"/>
              <a:buNone/>
              <a:defRPr/>
            </a:lvl4pPr>
            <a:lvl5pPr marL="6609992" indent="-194" rtl="0">
              <a:spcBef>
                <a:spcPts val="0"/>
              </a:spcBef>
              <a:buFont typeface="Calibri"/>
              <a:buNone/>
              <a:defRPr/>
            </a:lvl5pPr>
            <a:lvl6pPr marL="8262490" indent="-2427" rtl="0">
              <a:spcBef>
                <a:spcPts val="0"/>
              </a:spcBef>
              <a:buFont typeface="Calibri"/>
              <a:buNone/>
              <a:defRPr/>
            </a:lvl6pPr>
            <a:lvl7pPr marL="9914988" indent="-4659" rtl="0">
              <a:spcBef>
                <a:spcPts val="0"/>
              </a:spcBef>
              <a:buFont typeface="Calibri"/>
              <a:buNone/>
              <a:defRPr/>
            </a:lvl7pPr>
            <a:lvl8pPr marL="11567487" indent="-6892" rtl="0">
              <a:spcBef>
                <a:spcPts val="0"/>
              </a:spcBef>
              <a:buFont typeface="Calibri"/>
              <a:buNone/>
              <a:defRPr/>
            </a:lvl8pPr>
            <a:lvl9pPr marL="13219984" indent="-390" rtl="0">
              <a:spcBef>
                <a:spcPts val="0"/>
              </a:spcBef>
              <a:buFont typeface="Calibri"/>
              <a:buNone/>
              <a:defRPr/>
            </a:lvl9pPr>
          </a:lstStyle>
          <a:p>
            <a:pPr lvl="0"/>
            <a:r>
              <a:rPr lang="en-US"/>
              <a:t>Click to edit Master text styles</a:t>
            </a:r>
          </a:p>
        </p:txBody>
      </p:sp>
      <p:sp>
        <p:nvSpPr>
          <p:cNvPr id="68" name="Shape 68"/>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69" name="Shape 69"/>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70" name="Shape 70"/>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1508759" y="1684447"/>
            <a:ext cx="27157680" cy="7010399"/>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73" name="Shape 73"/>
          <p:cNvSpPr txBox="1">
            <a:spLocks noGrp="1"/>
          </p:cNvSpPr>
          <p:nvPr>
            <p:ph type="body" idx="1"/>
          </p:nvPr>
        </p:nvSpPr>
        <p:spPr>
          <a:xfrm rot="5400000">
            <a:off x="1207982" y="10115343"/>
            <a:ext cx="27759238" cy="27157680"/>
          </a:xfrm>
          <a:prstGeom prst="rect">
            <a:avLst/>
          </a:prstGeom>
          <a:noFill/>
          <a:ln>
            <a:noFill/>
          </a:ln>
        </p:spPr>
        <p:txBody>
          <a:bodyPr lIns="91425" tIns="91425" rIns="91425" bIns="91425" anchor="t" anchorCtr="0"/>
          <a:lstStyle>
            <a:lvl1pPr marL="1239373" indent="-383679" algn="l" rtl="0">
              <a:spcBef>
                <a:spcPts val="2310"/>
              </a:spcBef>
              <a:buClr>
                <a:schemeClr val="dk1"/>
              </a:buClr>
              <a:buFont typeface="Arial"/>
              <a:buChar char="•"/>
              <a:defRPr/>
            </a:lvl1pPr>
            <a:lvl2pPr marL="2685309" indent="-275396" algn="l" rtl="0">
              <a:spcBef>
                <a:spcPts val="2021"/>
              </a:spcBef>
              <a:buClr>
                <a:schemeClr val="dk1"/>
              </a:buClr>
              <a:buFont typeface="Arial"/>
              <a:buChar char="–"/>
              <a:defRPr/>
            </a:lvl2pPr>
            <a:lvl3pPr marL="4131245" indent="-158382" algn="l" rtl="0">
              <a:spcBef>
                <a:spcPts val="1733"/>
              </a:spcBef>
              <a:buClr>
                <a:schemeClr val="dk1"/>
              </a:buClr>
              <a:buFont typeface="Arial"/>
              <a:buChar char="•"/>
              <a:defRPr/>
            </a:lvl3pPr>
            <a:lvl4pPr marL="5783743" indent="-256660" algn="l" rtl="0">
              <a:spcBef>
                <a:spcPts val="1444"/>
              </a:spcBef>
              <a:buClr>
                <a:schemeClr val="dk1"/>
              </a:buClr>
              <a:buFont typeface="Arial"/>
              <a:buChar char="–"/>
              <a:defRPr/>
            </a:lvl4pPr>
            <a:lvl5pPr marL="7436242" indent="-250161" algn="l" rtl="0">
              <a:spcBef>
                <a:spcPts val="1444"/>
              </a:spcBef>
              <a:buClr>
                <a:schemeClr val="dk1"/>
              </a:buClr>
              <a:buFont typeface="Arial"/>
              <a:buChar char="»"/>
              <a:defRPr/>
            </a:lvl5pPr>
            <a:lvl6pPr marL="9088740" indent="-252393" algn="l" rtl="0">
              <a:spcBef>
                <a:spcPts val="1444"/>
              </a:spcBef>
              <a:buClr>
                <a:schemeClr val="dk1"/>
              </a:buClr>
              <a:buFont typeface="Arial"/>
              <a:buChar char="•"/>
              <a:defRPr/>
            </a:lvl6pPr>
            <a:lvl7pPr marL="10741237" indent="-254624" algn="l" rtl="0">
              <a:spcBef>
                <a:spcPts val="1444"/>
              </a:spcBef>
              <a:buClr>
                <a:schemeClr val="dk1"/>
              </a:buClr>
              <a:buFont typeface="Arial"/>
              <a:buChar char="•"/>
              <a:defRPr/>
            </a:lvl7pPr>
            <a:lvl8pPr marL="12393735" indent="-256856" algn="l" rtl="0">
              <a:spcBef>
                <a:spcPts val="1444"/>
              </a:spcBef>
              <a:buClr>
                <a:schemeClr val="dk1"/>
              </a:buClr>
              <a:buFont typeface="Arial"/>
              <a:buChar char="•"/>
              <a:defRPr/>
            </a:lvl8pPr>
            <a:lvl9pPr marL="14046234" indent="-250357" algn="l" rtl="0">
              <a:spcBef>
                <a:spcPts val="1444"/>
              </a:spcBef>
              <a:buClr>
                <a:schemeClr val="dk1"/>
              </a:buClr>
              <a:buFont typeface="Arial"/>
              <a:buChar char="•"/>
              <a:defRPr/>
            </a:lvl9pPr>
          </a:lstStyle>
          <a:p>
            <a:pPr lvl="0"/>
            <a:r>
              <a:rPr lang="en-US"/>
              <a:t>Click to edit Master text styles</a:t>
            </a:r>
          </a:p>
        </p:txBody>
      </p:sp>
      <p:sp>
        <p:nvSpPr>
          <p:cNvPr id="74" name="Shape 74"/>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75" name="Shape 75"/>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76" name="Shape 76"/>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77"/>
        <p:cNvGrpSpPr/>
        <p:nvPr/>
      </p:nvGrpSpPr>
      <p:grpSpPr>
        <a:xfrm>
          <a:off x="0" y="0"/>
          <a:ext cx="0" cy="0"/>
          <a:chOff x="0" y="0"/>
          <a:chExt cx="0" cy="0"/>
        </a:xfrm>
      </p:grpSpPr>
      <p:sp>
        <p:nvSpPr>
          <p:cNvPr id="78" name="Shape 78"/>
          <p:cNvSpPr txBox="1">
            <a:spLocks noGrp="1"/>
          </p:cNvSpPr>
          <p:nvPr>
            <p:ph type="title"/>
          </p:nvPr>
        </p:nvSpPr>
        <p:spPr>
          <a:xfrm rot="5400000">
            <a:off x="7327054" y="16234417"/>
            <a:ext cx="35889353" cy="6789420"/>
          </a:xfrm>
          <a:prstGeom prst="rect">
            <a:avLst/>
          </a:prstGeom>
          <a:noFill/>
          <a:ln>
            <a:noFill/>
          </a:ln>
        </p:spPr>
        <p:txBody>
          <a:bodyPr lIns="91425" tIns="91425" rIns="91425" bIns="91425" anchor="ctr" anchorCtr="0"/>
          <a:lstStyle>
            <a:lvl1pPr algn="ctr" rtl="0">
              <a:spcBef>
                <a:spcPts val="0"/>
              </a:spcBef>
              <a:buClr>
                <a:schemeClr val="dk1"/>
              </a:buClr>
              <a:buFont typeface="Calibri"/>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r>
              <a:rPr lang="en-US"/>
              <a:t>Click to edit Master title style</a:t>
            </a:r>
            <a:endParaRPr/>
          </a:p>
        </p:txBody>
      </p:sp>
      <p:sp>
        <p:nvSpPr>
          <p:cNvPr id="79" name="Shape 79"/>
          <p:cNvSpPr txBox="1">
            <a:spLocks noGrp="1"/>
          </p:cNvSpPr>
          <p:nvPr>
            <p:ph type="body" idx="1"/>
          </p:nvPr>
        </p:nvSpPr>
        <p:spPr>
          <a:xfrm rot="5400000">
            <a:off x="-6503247" y="9696453"/>
            <a:ext cx="35889353" cy="19865339"/>
          </a:xfrm>
          <a:prstGeom prst="rect">
            <a:avLst/>
          </a:prstGeom>
          <a:noFill/>
          <a:ln>
            <a:noFill/>
          </a:ln>
        </p:spPr>
        <p:txBody>
          <a:bodyPr lIns="91425" tIns="91425" rIns="91425" bIns="91425" anchor="t" anchorCtr="0"/>
          <a:lstStyle>
            <a:lvl1pPr marL="1239373" indent="-383679" algn="l" rtl="0">
              <a:spcBef>
                <a:spcPts val="2310"/>
              </a:spcBef>
              <a:buClr>
                <a:schemeClr val="dk1"/>
              </a:buClr>
              <a:buFont typeface="Arial"/>
              <a:buChar char="•"/>
              <a:defRPr/>
            </a:lvl1pPr>
            <a:lvl2pPr marL="2685309" indent="-275396" algn="l" rtl="0">
              <a:spcBef>
                <a:spcPts val="2021"/>
              </a:spcBef>
              <a:buClr>
                <a:schemeClr val="dk1"/>
              </a:buClr>
              <a:buFont typeface="Arial"/>
              <a:buChar char="–"/>
              <a:defRPr/>
            </a:lvl2pPr>
            <a:lvl3pPr marL="4131245" indent="-158382" algn="l" rtl="0">
              <a:spcBef>
                <a:spcPts val="1733"/>
              </a:spcBef>
              <a:buClr>
                <a:schemeClr val="dk1"/>
              </a:buClr>
              <a:buFont typeface="Arial"/>
              <a:buChar char="•"/>
              <a:defRPr/>
            </a:lvl3pPr>
            <a:lvl4pPr marL="5783743" indent="-256660" algn="l" rtl="0">
              <a:spcBef>
                <a:spcPts val="1444"/>
              </a:spcBef>
              <a:buClr>
                <a:schemeClr val="dk1"/>
              </a:buClr>
              <a:buFont typeface="Arial"/>
              <a:buChar char="–"/>
              <a:defRPr/>
            </a:lvl4pPr>
            <a:lvl5pPr marL="7436242" indent="-250161" algn="l" rtl="0">
              <a:spcBef>
                <a:spcPts val="1444"/>
              </a:spcBef>
              <a:buClr>
                <a:schemeClr val="dk1"/>
              </a:buClr>
              <a:buFont typeface="Arial"/>
              <a:buChar char="»"/>
              <a:defRPr/>
            </a:lvl5pPr>
            <a:lvl6pPr marL="9088740" indent="-252393" algn="l" rtl="0">
              <a:spcBef>
                <a:spcPts val="1444"/>
              </a:spcBef>
              <a:buClr>
                <a:schemeClr val="dk1"/>
              </a:buClr>
              <a:buFont typeface="Arial"/>
              <a:buChar char="•"/>
              <a:defRPr/>
            </a:lvl6pPr>
            <a:lvl7pPr marL="10741237" indent="-254624" algn="l" rtl="0">
              <a:spcBef>
                <a:spcPts val="1444"/>
              </a:spcBef>
              <a:buClr>
                <a:schemeClr val="dk1"/>
              </a:buClr>
              <a:buFont typeface="Arial"/>
              <a:buChar char="•"/>
              <a:defRPr/>
            </a:lvl7pPr>
            <a:lvl8pPr marL="12393735" indent="-256856" algn="l" rtl="0">
              <a:spcBef>
                <a:spcPts val="1444"/>
              </a:spcBef>
              <a:buClr>
                <a:schemeClr val="dk1"/>
              </a:buClr>
              <a:buFont typeface="Arial"/>
              <a:buChar char="•"/>
              <a:defRPr/>
            </a:lvl8pPr>
            <a:lvl9pPr marL="14046234" indent="-250357" algn="l" rtl="0">
              <a:spcBef>
                <a:spcPts val="1444"/>
              </a:spcBef>
              <a:buClr>
                <a:schemeClr val="dk1"/>
              </a:buClr>
              <a:buFont typeface="Arial"/>
              <a:buChar char="•"/>
              <a:defRPr/>
            </a:lvl9pPr>
          </a:lstStyle>
          <a:p>
            <a:pPr lvl="0"/>
            <a:r>
              <a:rPr lang="en-US"/>
              <a:t>Click to edit Master text styles</a:t>
            </a:r>
          </a:p>
        </p:txBody>
      </p:sp>
      <p:sp>
        <p:nvSpPr>
          <p:cNvPr id="80" name="Shape 80"/>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81" name="Shape 81"/>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82" name="Shape 82"/>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1508759" y="1684447"/>
            <a:ext cx="27157680" cy="7010399"/>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chemeClr val="dk1"/>
              </a:buClr>
              <a:buFont typeface="Calibri"/>
              <a:buNone/>
              <a:defRPr/>
            </a:lvl1pPr>
            <a:lvl2pPr marL="0" marR="0" indent="0" algn="l" rtl="0">
              <a:lnSpc>
                <a:spcPct val="100000"/>
              </a:lnSpc>
              <a:spcBef>
                <a:spcPts val="0"/>
              </a:spcBef>
              <a:spcAft>
                <a:spcPts val="0"/>
              </a:spcAft>
              <a:buClr>
                <a:srgbClr val="000000"/>
              </a:buClr>
              <a:buFont typeface="Arial"/>
              <a:buNone/>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10" name="Shape 10"/>
          <p:cNvSpPr txBox="1">
            <a:spLocks noGrp="1"/>
          </p:cNvSpPr>
          <p:nvPr>
            <p:ph type="body" idx="1"/>
          </p:nvPr>
        </p:nvSpPr>
        <p:spPr>
          <a:xfrm>
            <a:off x="1508759" y="9814565"/>
            <a:ext cx="27157680" cy="27759238"/>
          </a:xfrm>
          <a:prstGeom prst="rect">
            <a:avLst/>
          </a:prstGeom>
          <a:noFill/>
          <a:ln>
            <a:noFill/>
          </a:ln>
        </p:spPr>
        <p:txBody>
          <a:bodyPr lIns="91425" tIns="91425" rIns="91425" bIns="91425" anchor="t" anchorCtr="0"/>
          <a:lstStyle>
            <a:lvl1pPr marL="1802659" marR="0" indent="-558058" algn="l" rtl="0">
              <a:lnSpc>
                <a:spcPct val="100000"/>
              </a:lnSpc>
              <a:spcBef>
                <a:spcPts val="3360"/>
              </a:spcBef>
              <a:spcAft>
                <a:spcPts val="0"/>
              </a:spcAft>
              <a:buClr>
                <a:schemeClr val="dk1"/>
              </a:buClr>
              <a:buFont typeface="Arial"/>
              <a:buChar char="•"/>
              <a:defRPr/>
            </a:lvl1pPr>
            <a:lvl2pPr marL="3905762" marR="0" indent="-400561" algn="l" rtl="0">
              <a:lnSpc>
                <a:spcPct val="100000"/>
              </a:lnSpc>
              <a:spcBef>
                <a:spcPts val="2940"/>
              </a:spcBef>
              <a:spcAft>
                <a:spcPts val="0"/>
              </a:spcAft>
              <a:buClr>
                <a:schemeClr val="dk1"/>
              </a:buClr>
              <a:buFont typeface="Arial"/>
              <a:buChar char="–"/>
              <a:defRPr/>
            </a:lvl2pPr>
            <a:lvl3pPr marL="6008865" marR="0" indent="-230365" algn="l" rtl="0">
              <a:lnSpc>
                <a:spcPct val="100000"/>
              </a:lnSpc>
              <a:spcBef>
                <a:spcPts val="2520"/>
              </a:spcBef>
              <a:spcAft>
                <a:spcPts val="0"/>
              </a:spcAft>
              <a:buClr>
                <a:schemeClr val="dk1"/>
              </a:buClr>
              <a:buFont typeface="Arial"/>
              <a:buChar char="•"/>
              <a:defRPr/>
            </a:lvl3pPr>
            <a:lvl4pPr marL="8412411" marR="0" indent="-373311" algn="l" rtl="0">
              <a:lnSpc>
                <a:spcPct val="100000"/>
              </a:lnSpc>
              <a:spcBef>
                <a:spcPts val="2100"/>
              </a:spcBef>
              <a:spcAft>
                <a:spcPts val="0"/>
              </a:spcAft>
              <a:buClr>
                <a:schemeClr val="dk1"/>
              </a:buClr>
              <a:buFont typeface="Arial"/>
              <a:buChar char="–"/>
              <a:defRPr/>
            </a:lvl4pPr>
            <a:lvl5pPr marL="10815958" marR="0" indent="-363857" algn="l" rtl="0">
              <a:lnSpc>
                <a:spcPct val="100000"/>
              </a:lnSpc>
              <a:spcBef>
                <a:spcPts val="2100"/>
              </a:spcBef>
              <a:spcAft>
                <a:spcPts val="0"/>
              </a:spcAft>
              <a:buClr>
                <a:schemeClr val="dk1"/>
              </a:buClr>
              <a:buFont typeface="Arial"/>
              <a:buChar char="»"/>
              <a:defRPr/>
            </a:lvl5pPr>
            <a:lvl6pPr marL="13219505" marR="0" indent="-367104" algn="l" rtl="0">
              <a:lnSpc>
                <a:spcPct val="100000"/>
              </a:lnSpc>
              <a:spcBef>
                <a:spcPts val="2100"/>
              </a:spcBef>
              <a:spcAft>
                <a:spcPts val="0"/>
              </a:spcAft>
              <a:buClr>
                <a:schemeClr val="dk1"/>
              </a:buClr>
              <a:buFont typeface="Arial"/>
              <a:buChar char="•"/>
              <a:defRPr/>
            </a:lvl6pPr>
            <a:lvl7pPr marL="15623049" marR="0" indent="-370349" algn="l" rtl="0">
              <a:lnSpc>
                <a:spcPct val="100000"/>
              </a:lnSpc>
              <a:spcBef>
                <a:spcPts val="2100"/>
              </a:spcBef>
              <a:spcAft>
                <a:spcPts val="0"/>
              </a:spcAft>
              <a:buClr>
                <a:schemeClr val="dk1"/>
              </a:buClr>
              <a:buFont typeface="Arial"/>
              <a:buChar char="•"/>
              <a:defRPr/>
            </a:lvl7pPr>
            <a:lvl8pPr marL="18026596" marR="0" indent="-373595" algn="l" rtl="0">
              <a:lnSpc>
                <a:spcPct val="100000"/>
              </a:lnSpc>
              <a:spcBef>
                <a:spcPts val="2100"/>
              </a:spcBef>
              <a:spcAft>
                <a:spcPts val="0"/>
              </a:spcAft>
              <a:buClr>
                <a:schemeClr val="dk1"/>
              </a:buClr>
              <a:buFont typeface="Arial"/>
              <a:buChar char="•"/>
              <a:defRPr/>
            </a:lvl8pPr>
            <a:lvl9pPr marL="20430142" marR="0" indent="-364142" algn="l" rtl="0">
              <a:lnSpc>
                <a:spcPct val="100000"/>
              </a:lnSpc>
              <a:spcBef>
                <a:spcPts val="2100"/>
              </a:spcBef>
              <a:spcAft>
                <a:spcPts val="0"/>
              </a:spcAft>
              <a:buClr>
                <a:schemeClr val="dk1"/>
              </a:buClr>
              <a:buFont typeface="Arial"/>
              <a:buChar char="•"/>
              <a:defRPr/>
            </a:lvl9pPr>
          </a:lstStyle>
          <a:p>
            <a:endParaRPr/>
          </a:p>
        </p:txBody>
      </p:sp>
      <p:sp>
        <p:nvSpPr>
          <p:cNvPr id="11" name="Shape 11"/>
          <p:cNvSpPr txBox="1">
            <a:spLocks noGrp="1"/>
          </p:cNvSpPr>
          <p:nvPr>
            <p:ph type="dt" idx="10"/>
          </p:nvPr>
        </p:nvSpPr>
        <p:spPr>
          <a:xfrm>
            <a:off x="1508760" y="38985618"/>
            <a:ext cx="7040879" cy="2239433"/>
          </a:xfrm>
          <a:prstGeom prst="rect">
            <a:avLst/>
          </a:prstGeom>
          <a:noFill/>
          <a:ln>
            <a:noFill/>
          </a:ln>
        </p:spPr>
        <p:txBody>
          <a:bodyPr lIns="91425" tIns="91425" rIns="91425" bIns="91425" anchor="ctr" anchorCtr="0"/>
          <a:lstStyle>
            <a:lvl1pPr marL="0" marR="0" indent="0" algn="l"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12" name="Shape 12"/>
          <p:cNvSpPr txBox="1">
            <a:spLocks noGrp="1"/>
          </p:cNvSpPr>
          <p:nvPr>
            <p:ph type="ftr" idx="11"/>
          </p:nvPr>
        </p:nvSpPr>
        <p:spPr>
          <a:xfrm>
            <a:off x="10309861" y="38985618"/>
            <a:ext cx="9555479" cy="2239433"/>
          </a:xfrm>
          <a:prstGeom prst="rect">
            <a:avLst/>
          </a:prstGeom>
          <a:noFill/>
          <a:ln>
            <a:noFill/>
          </a:ln>
        </p:spPr>
        <p:txBody>
          <a:bodyPr lIns="91425" tIns="91425" rIns="91425" bIns="91425" anchor="ctr" anchorCtr="0"/>
          <a:lstStyle>
            <a:lvl1pPr marL="0" marR="0" indent="0" algn="ctr" rtl="0">
              <a:lnSpc>
                <a:spcPct val="100000"/>
              </a:lnSpc>
              <a:spcBef>
                <a:spcPts val="0"/>
              </a:spcBef>
              <a:spcAft>
                <a:spcPts val="0"/>
              </a:spcAft>
              <a:buClr>
                <a:srgbClr val="000000"/>
              </a:buClr>
              <a:buFont typeface="Arial"/>
              <a:buNone/>
              <a:defRPr/>
            </a:lvl1pPr>
            <a:lvl2pPr marL="1652498" marR="0" indent="-2231" algn="l" rtl="0">
              <a:lnSpc>
                <a:spcPct val="100000"/>
              </a:lnSpc>
              <a:spcBef>
                <a:spcPts val="0"/>
              </a:spcBef>
              <a:spcAft>
                <a:spcPts val="0"/>
              </a:spcAft>
              <a:buClr>
                <a:srgbClr val="000000"/>
              </a:buClr>
              <a:buFont typeface="Arial"/>
              <a:buNone/>
              <a:defRPr/>
            </a:lvl2pPr>
            <a:lvl3pPr marL="3304996" marR="0" indent="-4462" algn="l" rtl="0">
              <a:lnSpc>
                <a:spcPct val="100000"/>
              </a:lnSpc>
              <a:spcBef>
                <a:spcPts val="0"/>
              </a:spcBef>
              <a:spcAft>
                <a:spcPts val="0"/>
              </a:spcAft>
              <a:buClr>
                <a:srgbClr val="000000"/>
              </a:buClr>
              <a:buFont typeface="Arial"/>
              <a:buNone/>
              <a:defRPr/>
            </a:lvl3pPr>
            <a:lvl4pPr marL="4957494" marR="0" indent="-6696" algn="l" rtl="0">
              <a:lnSpc>
                <a:spcPct val="100000"/>
              </a:lnSpc>
              <a:spcBef>
                <a:spcPts val="0"/>
              </a:spcBef>
              <a:spcAft>
                <a:spcPts val="0"/>
              </a:spcAft>
              <a:buClr>
                <a:srgbClr val="000000"/>
              </a:buClr>
              <a:buFont typeface="Arial"/>
              <a:buNone/>
              <a:defRPr/>
            </a:lvl4pPr>
            <a:lvl5pPr marL="6609992" marR="0" indent="-194" algn="l" rtl="0">
              <a:lnSpc>
                <a:spcPct val="100000"/>
              </a:lnSpc>
              <a:spcBef>
                <a:spcPts val="0"/>
              </a:spcBef>
              <a:spcAft>
                <a:spcPts val="0"/>
              </a:spcAft>
              <a:buClr>
                <a:srgbClr val="000000"/>
              </a:buClr>
              <a:buFont typeface="Arial"/>
              <a:buNone/>
              <a:defRPr/>
            </a:lvl5pPr>
            <a:lvl6pPr marL="8262490" marR="0" indent="-2427" algn="l" rtl="0">
              <a:lnSpc>
                <a:spcPct val="100000"/>
              </a:lnSpc>
              <a:spcBef>
                <a:spcPts val="0"/>
              </a:spcBef>
              <a:spcAft>
                <a:spcPts val="0"/>
              </a:spcAft>
              <a:buClr>
                <a:srgbClr val="000000"/>
              </a:buClr>
              <a:buFont typeface="Arial"/>
              <a:buNone/>
              <a:defRPr/>
            </a:lvl6pPr>
            <a:lvl7pPr marL="9914988" marR="0" indent="-4659" algn="l" rtl="0">
              <a:lnSpc>
                <a:spcPct val="100000"/>
              </a:lnSpc>
              <a:spcBef>
                <a:spcPts val="0"/>
              </a:spcBef>
              <a:spcAft>
                <a:spcPts val="0"/>
              </a:spcAft>
              <a:buClr>
                <a:srgbClr val="000000"/>
              </a:buClr>
              <a:buFont typeface="Arial"/>
              <a:buNone/>
              <a:defRPr/>
            </a:lvl7pPr>
            <a:lvl8pPr marL="11567487" marR="0" indent="-6892" algn="l" rtl="0">
              <a:lnSpc>
                <a:spcPct val="100000"/>
              </a:lnSpc>
              <a:spcBef>
                <a:spcPts val="0"/>
              </a:spcBef>
              <a:spcAft>
                <a:spcPts val="0"/>
              </a:spcAft>
              <a:buClr>
                <a:srgbClr val="000000"/>
              </a:buClr>
              <a:buFont typeface="Arial"/>
              <a:buNone/>
              <a:defRPr/>
            </a:lvl8pPr>
            <a:lvl9pPr marL="13219984" marR="0" indent="-390" algn="l" rtl="0">
              <a:lnSpc>
                <a:spcPct val="100000"/>
              </a:lnSpc>
              <a:spcBef>
                <a:spcPts val="0"/>
              </a:spcBef>
              <a:spcAft>
                <a:spcPts val="0"/>
              </a:spcAft>
              <a:buClr>
                <a:srgbClr val="000000"/>
              </a:buClr>
              <a:buFont typeface="Arial"/>
              <a:buNone/>
              <a:defRPr/>
            </a:lvl9pPr>
          </a:lstStyle>
          <a:p>
            <a:endParaRPr/>
          </a:p>
        </p:txBody>
      </p:sp>
      <p:sp>
        <p:nvSpPr>
          <p:cNvPr id="13" name="Shape 13"/>
          <p:cNvSpPr txBox="1">
            <a:spLocks noGrp="1"/>
          </p:cNvSpPr>
          <p:nvPr>
            <p:ph type="sldNum" idx="12"/>
          </p:nvPr>
        </p:nvSpPr>
        <p:spPr>
          <a:xfrm>
            <a:off x="21625561" y="38985618"/>
            <a:ext cx="7040879" cy="2239433"/>
          </a:xfrm>
          <a:prstGeom prst="rect">
            <a:avLst/>
          </a:prstGeom>
          <a:noFill/>
          <a:ln>
            <a:noFill/>
          </a:ln>
        </p:spPr>
        <p:txBody>
          <a:bodyPr lIns="91425" tIns="91425" rIns="91425" bIns="91425" anchor="ctr" anchorCtr="0">
            <a:noAutofit/>
          </a:bodyPr>
          <a:lstStyle/>
          <a:p>
            <a:pPr>
              <a:buClr>
                <a:srgbClr val="000000"/>
              </a:buClr>
            </a:pPr>
            <a:endParaRPr lang="en-US" sz="963"/>
          </a:p>
          <a:p>
            <a:pPr lvl="1">
              <a:buClr>
                <a:srgbClr val="000000"/>
              </a:buClr>
              <a:buFont typeface="Arial"/>
              <a:buNone/>
            </a:pPr>
            <a:endParaRPr lang="en-US" sz="963"/>
          </a:p>
          <a:p>
            <a:pPr lvl="2">
              <a:buClr>
                <a:srgbClr val="000000"/>
              </a:buClr>
              <a:buFont typeface="Arial"/>
              <a:buNone/>
            </a:pPr>
            <a:endParaRPr lang="en-US" sz="963"/>
          </a:p>
          <a:p>
            <a:pPr lvl="3">
              <a:buClr>
                <a:srgbClr val="000000"/>
              </a:buClr>
              <a:buFont typeface="Arial"/>
              <a:buNone/>
            </a:pPr>
            <a:endParaRPr lang="en-US" sz="963"/>
          </a:p>
          <a:p>
            <a:pPr lvl="4">
              <a:buClr>
                <a:srgbClr val="000000"/>
              </a:buClr>
              <a:buFont typeface="Arial"/>
              <a:buNone/>
            </a:pPr>
            <a:endParaRPr lang="en-US" sz="963"/>
          </a:p>
          <a:p>
            <a:pPr lvl="5">
              <a:buClr>
                <a:srgbClr val="000000"/>
              </a:buClr>
              <a:buFont typeface="Arial"/>
              <a:buNone/>
            </a:pPr>
            <a:endParaRPr lang="en-US" sz="963"/>
          </a:p>
          <a:p>
            <a:pPr lvl="6">
              <a:buClr>
                <a:srgbClr val="000000"/>
              </a:buClr>
              <a:buFont typeface="Arial"/>
              <a:buNone/>
            </a:pPr>
            <a:endParaRPr lang="en-US" sz="963"/>
          </a:p>
          <a:p>
            <a:pPr lvl="7">
              <a:buClr>
                <a:srgbClr val="000000"/>
              </a:buClr>
              <a:buFont typeface="Arial"/>
              <a:buNone/>
            </a:pPr>
            <a:endParaRPr lang="en-US" sz="963"/>
          </a:p>
          <a:p>
            <a:pPr lvl="8">
              <a:buClr>
                <a:srgbClr val="000000"/>
              </a:buClr>
              <a:buFont typeface="Arial"/>
              <a:buNone/>
            </a:pPr>
            <a:endParaRPr lang="en-US" sz="963"/>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1pPr>
      <a:lvl2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1pPr>
      <a:lvl2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2pPr>
      <a:lvl3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3pPr>
      <a:lvl4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4pPr>
      <a:lvl5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5pPr>
      <a:lvl6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6pPr>
      <a:lvl7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7pPr>
      <a:lvl8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8pPr>
      <a:lvl9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1pPr>
      <a:lvl2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2pPr>
      <a:lvl3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3pPr>
      <a:lvl4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4pPr>
      <a:lvl5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5pPr>
      <a:lvl6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6pPr>
      <a:lvl7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7pPr>
      <a:lvl8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8pPr>
      <a:lvl9pPr marR="0" algn="l" rtl="0" eaLnBrk="1" hangingPunct="1">
        <a:lnSpc>
          <a:spcPct val="100000"/>
        </a:lnSpc>
        <a:spcBef>
          <a:spcPts val="0"/>
        </a:spcBef>
        <a:spcAft>
          <a:spcPts val="0"/>
        </a:spcAft>
        <a:buNone/>
        <a:defRPr sz="963"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4.png"/><Relationship Id="rId26" Type="http://schemas.openxmlformats.org/officeDocument/2006/relationships/image" Target="../media/image22.jpeg"/><Relationship Id="rId39" Type="http://schemas.openxmlformats.org/officeDocument/2006/relationships/image" Target="../media/image35.png"/><Relationship Id="rId21" Type="http://schemas.openxmlformats.org/officeDocument/2006/relationships/image" Target="../media/image17.jpg"/><Relationship Id="rId34" Type="http://schemas.openxmlformats.org/officeDocument/2006/relationships/image" Target="../media/image30.png"/><Relationship Id="rId42" Type="http://schemas.openxmlformats.org/officeDocument/2006/relationships/image" Target="../media/image38.png"/><Relationship Id="rId47" Type="http://schemas.openxmlformats.org/officeDocument/2006/relationships/image" Target="../media/image43.png"/><Relationship Id="rId50" Type="http://schemas.openxmlformats.org/officeDocument/2006/relationships/image" Target="../media/image45.png"/><Relationship Id="rId7" Type="http://schemas.openxmlformats.org/officeDocument/2006/relationships/image" Target="../media/image5.jpeg"/><Relationship Id="rId2" Type="http://schemas.openxmlformats.org/officeDocument/2006/relationships/notesSlide" Target="../notesSlides/notesSlide1.xml"/><Relationship Id="rId16" Type="http://schemas.openxmlformats.org/officeDocument/2006/relationships/oleObject" Target="../embeddings/oleObject2.bin"/><Relationship Id="rId29" Type="http://schemas.openxmlformats.org/officeDocument/2006/relationships/image" Target="../media/image25.png"/><Relationship Id="rId11" Type="http://schemas.openxmlformats.org/officeDocument/2006/relationships/image" Target="../media/image9.png"/><Relationship Id="rId24" Type="http://schemas.openxmlformats.org/officeDocument/2006/relationships/image" Target="../media/image20.png"/><Relationship Id="rId32" Type="http://schemas.openxmlformats.org/officeDocument/2006/relationships/image" Target="../media/image28.png"/><Relationship Id="rId37" Type="http://schemas.openxmlformats.org/officeDocument/2006/relationships/image" Target="../media/image33.png"/><Relationship Id="rId40" Type="http://schemas.openxmlformats.org/officeDocument/2006/relationships/image" Target="../media/image36.png"/><Relationship Id="rId45" Type="http://schemas.openxmlformats.org/officeDocument/2006/relationships/image" Target="../media/image41.png"/><Relationship Id="rId53" Type="http://schemas.openxmlformats.org/officeDocument/2006/relationships/chart" Target="../charts/chart3.xml"/><Relationship Id="rId5" Type="http://schemas.openxmlformats.org/officeDocument/2006/relationships/image" Target="../media/image3.jpeg"/><Relationship Id="rId10" Type="http://schemas.openxmlformats.org/officeDocument/2006/relationships/image" Target="../media/image8.png"/><Relationship Id="rId19" Type="http://schemas.openxmlformats.org/officeDocument/2006/relationships/image" Target="../media/image15.png"/><Relationship Id="rId31" Type="http://schemas.openxmlformats.org/officeDocument/2006/relationships/image" Target="../media/image27.png"/><Relationship Id="rId44" Type="http://schemas.openxmlformats.org/officeDocument/2006/relationships/image" Target="../media/image40.png"/><Relationship Id="rId52" Type="http://schemas.openxmlformats.org/officeDocument/2006/relationships/image" Target="../media/image46.png"/><Relationship Id="rId4" Type="http://schemas.openxmlformats.org/officeDocument/2006/relationships/image" Target="../media/image2.jpeg"/><Relationship Id="rId9" Type="http://schemas.openxmlformats.org/officeDocument/2006/relationships/image" Target="../media/image7.jpeg"/><Relationship Id="rId14" Type="http://schemas.openxmlformats.org/officeDocument/2006/relationships/oleObject" Target="../embeddings/oleObject1.bin"/><Relationship Id="rId22" Type="http://schemas.openxmlformats.org/officeDocument/2006/relationships/image" Target="../media/image18.emf"/><Relationship Id="rId27" Type="http://schemas.openxmlformats.org/officeDocument/2006/relationships/image" Target="../media/image23.png"/><Relationship Id="rId30" Type="http://schemas.openxmlformats.org/officeDocument/2006/relationships/image" Target="../media/image26.png"/><Relationship Id="rId35" Type="http://schemas.openxmlformats.org/officeDocument/2006/relationships/image" Target="../media/image31.png"/><Relationship Id="rId43" Type="http://schemas.openxmlformats.org/officeDocument/2006/relationships/image" Target="../media/image39.png"/><Relationship Id="rId48" Type="http://schemas.openxmlformats.org/officeDocument/2006/relationships/chart" Target="../charts/chart1.xml"/><Relationship Id="rId8" Type="http://schemas.openxmlformats.org/officeDocument/2006/relationships/image" Target="../media/image6.jpeg"/><Relationship Id="rId51" Type="http://schemas.openxmlformats.org/officeDocument/2006/relationships/chart" Target="../charts/chart2.xml"/><Relationship Id="rId3" Type="http://schemas.openxmlformats.org/officeDocument/2006/relationships/image" Target="../media/image1.png"/><Relationship Id="rId12" Type="http://schemas.openxmlformats.org/officeDocument/2006/relationships/image" Target="../media/image10.png"/><Relationship Id="rId17" Type="http://schemas.openxmlformats.org/officeDocument/2006/relationships/image" Target="../media/image13.wmf"/><Relationship Id="rId25" Type="http://schemas.openxmlformats.org/officeDocument/2006/relationships/image" Target="../media/image21.png"/><Relationship Id="rId33" Type="http://schemas.openxmlformats.org/officeDocument/2006/relationships/image" Target="../media/image29.png"/><Relationship Id="rId38" Type="http://schemas.openxmlformats.org/officeDocument/2006/relationships/image" Target="../media/image34.png"/><Relationship Id="rId46" Type="http://schemas.openxmlformats.org/officeDocument/2006/relationships/image" Target="../media/image42.png"/><Relationship Id="rId20" Type="http://schemas.openxmlformats.org/officeDocument/2006/relationships/image" Target="../media/image16.jpeg"/><Relationship Id="rId41"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jpeg"/><Relationship Id="rId15" Type="http://schemas.openxmlformats.org/officeDocument/2006/relationships/image" Target="../media/image12.wmf"/><Relationship Id="rId23" Type="http://schemas.openxmlformats.org/officeDocument/2006/relationships/image" Target="../media/image19.png"/><Relationship Id="rId28" Type="http://schemas.openxmlformats.org/officeDocument/2006/relationships/image" Target="../media/image24.png"/><Relationship Id="rId36" Type="http://schemas.openxmlformats.org/officeDocument/2006/relationships/image" Target="../media/image32.png"/><Relationship Id="rId49"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E1E9E8"/>
            </a:gs>
            <a:gs pos="75000">
              <a:srgbClr val="16693F"/>
            </a:gs>
          </a:gsLst>
          <a:lin ang="16200000" scaled="0"/>
          <a:tileRect/>
        </a:gradFill>
        <a:effectLst/>
      </p:bgPr>
    </p:bg>
    <p:spTree>
      <p:nvGrpSpPr>
        <p:cNvPr id="1" name="Shape 83"/>
        <p:cNvGrpSpPr/>
        <p:nvPr/>
      </p:nvGrpSpPr>
      <p:grpSpPr>
        <a:xfrm>
          <a:off x="0" y="0"/>
          <a:ext cx="0" cy="0"/>
          <a:chOff x="0" y="0"/>
          <a:chExt cx="0" cy="0"/>
        </a:xfrm>
      </p:grpSpPr>
      <p:sp>
        <p:nvSpPr>
          <p:cNvPr id="89" name="Rounded Rectangle 85">
            <a:extLst>
              <a:ext uri="{FF2B5EF4-FFF2-40B4-BE49-F238E27FC236}">
                <a16:creationId xmlns:a16="http://schemas.microsoft.com/office/drawing/2014/main" id="{70F39232-902D-7F1D-457C-D16FB2E0540E}"/>
              </a:ext>
            </a:extLst>
          </p:cNvPr>
          <p:cNvSpPr>
            <a:spLocks/>
          </p:cNvSpPr>
          <p:nvPr/>
        </p:nvSpPr>
        <p:spPr>
          <a:xfrm>
            <a:off x="15323929" y="5664472"/>
            <a:ext cx="14698809" cy="21003784"/>
          </a:xfrm>
          <a:prstGeom prst="roundRect">
            <a:avLst>
              <a:gd name="adj" fmla="val 7549"/>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63" dirty="0">
                <a:latin typeface="+mj-lt"/>
                <a:ea typeface="Sans Serif Collection" panose="020B0502040504020204" pitchFamily="34" charset="0"/>
                <a:cs typeface="Sans Serif Collection" panose="020B0502040504020204" pitchFamily="34" charset="0"/>
              </a:rPr>
              <a:t>Trial 8 – best performing network </a:t>
            </a:r>
          </a:p>
          <a:p>
            <a:r>
              <a:rPr lang="en-US" sz="963" dirty="0">
                <a:latin typeface="+mj-lt"/>
                <a:ea typeface="Sans Serif Collection" panose="020B0502040504020204" pitchFamily="34" charset="0"/>
                <a:cs typeface="Sans Serif Collection" panose="020B0502040504020204" pitchFamily="34" charset="0"/>
              </a:rPr>
              <a:t>The LSE of the weights when the models were run with no parameters held constant were calculated resulting in the following:</a:t>
            </a:r>
          </a:p>
          <a:p>
            <a:r>
              <a:rPr lang="en-US" sz="963" dirty="0">
                <a:latin typeface="+mj-lt"/>
                <a:ea typeface="Sans Serif Collection" panose="020B0502040504020204" pitchFamily="34" charset="0"/>
                <a:cs typeface="Sans Serif Collection" panose="020B0502040504020204" pitchFamily="34" charset="0"/>
              </a:rPr>
              <a:t>Minimum of 0.069, median of 0.54, SD of 4.34, and maximum of 14.93</a:t>
            </a:r>
            <a:endParaRPr lang="en-US" sz="825" dirty="0">
              <a:latin typeface="+mj-lt"/>
              <a:ea typeface="Sans Serif Collection" panose="020B0502040504020204" pitchFamily="34" charset="0"/>
              <a:cs typeface="Sans Serif Collection" panose="020B0502040504020204" pitchFamily="34" charset="0"/>
            </a:endParaRPr>
          </a:p>
        </p:txBody>
      </p:sp>
      <p:sp>
        <p:nvSpPr>
          <p:cNvPr id="3" name="Rounded Rectangle 2"/>
          <p:cNvSpPr>
            <a:spLocks/>
          </p:cNvSpPr>
          <p:nvPr/>
        </p:nvSpPr>
        <p:spPr>
          <a:xfrm>
            <a:off x="80847" y="99615"/>
            <a:ext cx="29956357" cy="5189360"/>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3" dirty="0">
              <a:latin typeface="+mj-lt"/>
              <a:ea typeface="Sans Serif Collection" panose="020B0502040504020204" pitchFamily="34" charset="0"/>
              <a:cs typeface="Sans Serif Collection" panose="020B0502040504020204" pitchFamily="34" charset="0"/>
            </a:endParaRPr>
          </a:p>
        </p:txBody>
      </p:sp>
      <p:sp>
        <p:nvSpPr>
          <p:cNvPr id="5" name="Rectangle 4"/>
          <p:cNvSpPr>
            <a:spLocks/>
          </p:cNvSpPr>
          <p:nvPr/>
        </p:nvSpPr>
        <p:spPr>
          <a:xfrm>
            <a:off x="-295275" y="233426"/>
            <a:ext cx="30765750" cy="5074139"/>
          </a:xfrm>
          <a:prstGeom prst="rect">
            <a:avLst/>
          </a:prstGeom>
          <a:ln>
            <a:noFill/>
          </a:ln>
        </p:spPr>
        <p:txBody>
          <a:bodyPr wrap="square">
            <a:spAutoFit/>
          </a:bodyPr>
          <a:lstStyle/>
          <a:p>
            <a:pPr algn="ctr"/>
            <a:r>
              <a:rPr lang="en-US" sz="5400" b="1" dirty="0">
                <a:solidFill>
                  <a:srgbClr val="16693F"/>
                </a:solidFill>
                <a:latin typeface="+mj-lt"/>
                <a:ea typeface="Sans Serif Collection" panose="020B0502040504020204" pitchFamily="34" charset="0"/>
                <a:cs typeface="Sans Serif Collection" panose="020B0502040504020204" pitchFamily="34" charset="0"/>
              </a:rPr>
              <a:t>Sensitivity analysis of </a:t>
            </a:r>
            <a:r>
              <a:rPr lang="en-US" sz="5400" b="1" dirty="0" err="1">
                <a:solidFill>
                  <a:srgbClr val="16693F"/>
                </a:solidFill>
                <a:latin typeface="+mj-lt"/>
                <a:ea typeface="Sans Serif Collection" panose="020B0502040504020204" pitchFamily="34" charset="0"/>
                <a:cs typeface="Sans Serif Collection" panose="020B0502040504020204" pitchFamily="34" charset="0"/>
              </a:rPr>
              <a:t>GRNmap</a:t>
            </a:r>
            <a:r>
              <a:rPr lang="en-US" sz="5400" b="1" dirty="0">
                <a:solidFill>
                  <a:srgbClr val="16693F"/>
                </a:solidFill>
                <a:latin typeface="+mj-lt"/>
                <a:ea typeface="Sans Serif Collection" panose="020B0502040504020204" pitchFamily="34" charset="0"/>
                <a:cs typeface="Sans Serif Collection" panose="020B0502040504020204" pitchFamily="34" charset="0"/>
              </a:rPr>
              <a:t> and new features for </a:t>
            </a:r>
            <a:r>
              <a:rPr lang="en-US" sz="5400" b="1" dirty="0" err="1">
                <a:solidFill>
                  <a:srgbClr val="16693F"/>
                </a:solidFill>
                <a:latin typeface="+mj-lt"/>
                <a:ea typeface="Sans Serif Collection" panose="020B0502040504020204" pitchFamily="34" charset="0"/>
                <a:cs typeface="Sans Serif Collection" panose="020B0502040504020204" pitchFamily="34" charset="0"/>
              </a:rPr>
              <a:t>GRNsight</a:t>
            </a:r>
            <a:r>
              <a:rPr lang="en-US" sz="5400" b="1" dirty="0">
                <a:solidFill>
                  <a:srgbClr val="16693F"/>
                </a:solidFill>
                <a:latin typeface="+mj-lt"/>
                <a:ea typeface="Sans Serif Collection" panose="020B0502040504020204" pitchFamily="34" charset="0"/>
                <a:cs typeface="Sans Serif Collection" panose="020B0502040504020204" pitchFamily="34" charset="0"/>
              </a:rPr>
              <a:t>: open source software for dynamical systems modeling and visualization of small-scale gene regulatory networks</a:t>
            </a:r>
          </a:p>
          <a:p>
            <a:pPr algn="ctr"/>
            <a:endParaRPr lang="en-US" sz="1400" b="1" dirty="0">
              <a:latin typeface="+mj-lt"/>
              <a:ea typeface="Sans Serif Collection" panose="020B0502040504020204" pitchFamily="34" charset="0"/>
              <a:cs typeface="Sans Serif Collection" panose="020B0502040504020204" pitchFamily="34" charset="0"/>
            </a:endParaRPr>
          </a:p>
          <a:p>
            <a:pPr algn="ctr"/>
            <a:r>
              <a:rPr lang="en-US" sz="3600" b="1" dirty="0">
                <a:latin typeface="+mj-lt"/>
                <a:ea typeface="Sans Serif Collection" panose="020B0502040504020204" pitchFamily="34" charset="0"/>
                <a:cs typeface="Sans Serif Collection" panose="020B0502040504020204" pitchFamily="34" charset="0"/>
              </a:rPr>
              <a:t>Kam D. Dahlquist</a:t>
            </a:r>
            <a:r>
              <a:rPr lang="en-US" sz="3600" b="1" baseline="30000" dirty="0">
                <a:latin typeface="+mj-lt"/>
                <a:ea typeface="Sans Serif Collection" panose="020B0502040504020204" pitchFamily="34" charset="0"/>
                <a:cs typeface="Sans Serif Collection" panose="020B0502040504020204" pitchFamily="34" charset="0"/>
              </a:rPr>
              <a:t>1</a:t>
            </a:r>
            <a:r>
              <a:rPr lang="en-US" sz="3600" b="1" dirty="0">
                <a:latin typeface="+mj-lt"/>
                <a:ea typeface="Sans Serif Collection" panose="020B0502040504020204" pitchFamily="34" charset="0"/>
                <a:cs typeface="Sans Serif Collection" panose="020B0502040504020204" pitchFamily="34" charset="0"/>
              </a:rPr>
              <a:t>, Ben G. Fitzpatrick</a:t>
            </a:r>
            <a:r>
              <a:rPr lang="en-US" sz="3600" b="1" baseline="30000" dirty="0">
                <a:latin typeface="+mj-lt"/>
                <a:ea typeface="Sans Serif Collection" panose="020B0502040504020204" pitchFamily="34" charset="0"/>
                <a:cs typeface="Sans Serif Collection" panose="020B0502040504020204" pitchFamily="34" charset="0"/>
              </a:rPr>
              <a:t>2</a:t>
            </a:r>
            <a:r>
              <a:rPr lang="en-US" sz="3600" b="1" dirty="0">
                <a:latin typeface="+mj-lt"/>
                <a:ea typeface="Sans Serif Collection" panose="020B0502040504020204" pitchFamily="34" charset="0"/>
                <a:cs typeface="Sans Serif Collection" panose="020B0502040504020204" pitchFamily="34" charset="0"/>
              </a:rPr>
              <a:t>, John David N. Dionisio</a:t>
            </a:r>
            <a:r>
              <a:rPr lang="en-US" sz="3600" b="1" baseline="30000" dirty="0">
                <a:latin typeface="+mj-lt"/>
                <a:ea typeface="Sans Serif Collection" panose="020B0502040504020204" pitchFamily="34" charset="0"/>
                <a:cs typeface="Sans Serif Collection" panose="020B0502040504020204" pitchFamily="34" charset="0"/>
              </a:rPr>
              <a:t>3</a:t>
            </a:r>
            <a:r>
              <a:rPr lang="en-US" sz="3600" b="1" dirty="0">
                <a:latin typeface="+mj-lt"/>
                <a:ea typeface="Sans Serif Collection" panose="020B0502040504020204" pitchFamily="34" charset="0"/>
                <a:cs typeface="Sans Serif Collection" panose="020B0502040504020204" pitchFamily="34" charset="0"/>
              </a:rPr>
              <a:t>, Ngoc K. Tran</a:t>
            </a:r>
            <a:r>
              <a:rPr lang="en-US" sz="3600" b="1" baseline="30000" dirty="0">
                <a:latin typeface="+mj-lt"/>
                <a:ea typeface="Sans Serif Collection" panose="020B0502040504020204" pitchFamily="34" charset="0"/>
                <a:cs typeface="Sans Serif Collection" panose="020B0502040504020204" pitchFamily="34" charset="0"/>
              </a:rPr>
              <a:t>3</a:t>
            </a:r>
            <a:r>
              <a:rPr lang="en-US" sz="3600" b="1" dirty="0">
                <a:latin typeface="+mj-lt"/>
                <a:ea typeface="Sans Serif Collection" panose="020B0502040504020204" pitchFamily="34" charset="0"/>
                <a:cs typeface="Sans Serif Collection" panose="020B0502040504020204" pitchFamily="34" charset="0"/>
              </a:rPr>
              <a:t>, Nikki C. Chun</a:t>
            </a:r>
            <a:r>
              <a:rPr lang="en-US" sz="3600" b="1" baseline="30000" dirty="0">
                <a:latin typeface="+mj-lt"/>
                <a:ea typeface="Sans Serif Collection" panose="020B0502040504020204" pitchFamily="34" charset="0"/>
                <a:cs typeface="Sans Serif Collection" panose="020B0502040504020204" pitchFamily="34" charset="0"/>
              </a:rPr>
              <a:t>1,2</a:t>
            </a:r>
            <a:r>
              <a:rPr lang="en-US" sz="3600" b="1" dirty="0">
                <a:latin typeface="+mj-lt"/>
                <a:ea typeface="Sans Serif Collection" panose="020B0502040504020204" pitchFamily="34" charset="0"/>
                <a:cs typeface="Sans Serif Collection" panose="020B0502040504020204" pitchFamily="34" charset="0"/>
              </a:rPr>
              <a:t>, </a:t>
            </a:r>
          </a:p>
          <a:p>
            <a:pPr algn="ctr"/>
            <a:r>
              <a:rPr lang="en-US" sz="3600" b="1" dirty="0">
                <a:latin typeface="+mj-lt"/>
                <a:ea typeface="Sans Serif Collection" panose="020B0502040504020204" pitchFamily="34" charset="0"/>
                <a:cs typeface="Sans Serif Collection" panose="020B0502040504020204" pitchFamily="34" charset="0"/>
              </a:rPr>
              <a:t>Cecilia J. Zaragoza</a:t>
            </a:r>
            <a:r>
              <a:rPr lang="en-US" sz="3600" b="1" baseline="30000" dirty="0">
                <a:latin typeface="+mj-lt"/>
                <a:ea typeface="Sans Serif Collection" panose="020B0502040504020204" pitchFamily="34" charset="0"/>
                <a:cs typeface="Sans Serif Collection" panose="020B0502040504020204" pitchFamily="34" charset="0"/>
              </a:rPr>
              <a:t>3</a:t>
            </a:r>
            <a:r>
              <a:rPr lang="en-US" sz="3600" b="1" dirty="0">
                <a:latin typeface="+mj-lt"/>
                <a:ea typeface="Sans Serif Collection" panose="020B0502040504020204" pitchFamily="34" charset="0"/>
                <a:cs typeface="Sans Serif Collection" panose="020B0502040504020204" pitchFamily="34" charset="0"/>
              </a:rPr>
              <a:t>, A'Kaia L. Phelps</a:t>
            </a:r>
            <a:r>
              <a:rPr lang="en-US" sz="3600" b="1" baseline="30000" dirty="0">
                <a:latin typeface="+mj-lt"/>
                <a:ea typeface="Sans Serif Collection" panose="020B0502040504020204" pitchFamily="34" charset="0"/>
                <a:cs typeface="Sans Serif Collection" panose="020B0502040504020204" pitchFamily="34" charset="0"/>
              </a:rPr>
              <a:t>3</a:t>
            </a:r>
            <a:r>
              <a:rPr lang="en-US" sz="3600" b="1" dirty="0">
                <a:latin typeface="+mj-lt"/>
                <a:ea typeface="Sans Serif Collection" panose="020B0502040504020204" pitchFamily="34" charset="0"/>
                <a:cs typeface="Sans Serif Collection" panose="020B0502040504020204" pitchFamily="34" charset="0"/>
              </a:rPr>
              <a:t>, Amelie T. Dinh</a:t>
            </a:r>
            <a:r>
              <a:rPr lang="en-US" sz="3600" b="1" baseline="30000" dirty="0">
                <a:latin typeface="+mj-lt"/>
                <a:ea typeface="Sans Serif Collection" panose="020B0502040504020204" pitchFamily="34" charset="0"/>
                <a:cs typeface="Sans Serif Collection" panose="020B0502040504020204" pitchFamily="34" charset="0"/>
              </a:rPr>
              <a:t>3</a:t>
            </a:r>
            <a:r>
              <a:rPr lang="en-US" sz="3600" b="1" dirty="0">
                <a:latin typeface="+mj-lt"/>
                <a:ea typeface="Sans Serif Collection" panose="020B0502040504020204" pitchFamily="34" charset="0"/>
                <a:cs typeface="Sans Serif Collection" panose="020B0502040504020204" pitchFamily="34" charset="0"/>
              </a:rPr>
              <a:t>, Milka Y. Zekarias</a:t>
            </a:r>
            <a:r>
              <a:rPr lang="en-US" sz="3600" b="1" baseline="30000" dirty="0">
                <a:latin typeface="+mj-lt"/>
                <a:ea typeface="Sans Serif Collection" panose="020B0502040504020204" pitchFamily="34" charset="0"/>
                <a:cs typeface="Sans Serif Collection" panose="020B0502040504020204" pitchFamily="34" charset="0"/>
              </a:rPr>
              <a:t>3</a:t>
            </a:r>
          </a:p>
          <a:p>
            <a:pPr algn="ctr"/>
            <a:endParaRPr lang="en-US" sz="1400" b="1" baseline="30000" dirty="0">
              <a:latin typeface="+mj-lt"/>
              <a:ea typeface="Sans Serif Collection" panose="020B0502040504020204" pitchFamily="34" charset="0"/>
              <a:cs typeface="Sans Serif Collection" panose="020B0502040504020204" pitchFamily="34" charset="0"/>
            </a:endParaRPr>
          </a:p>
          <a:p>
            <a:pPr algn="ctr"/>
            <a:r>
              <a:rPr lang="en-US" sz="2800" b="1" dirty="0">
                <a:latin typeface="+mj-lt"/>
                <a:ea typeface="Sans Serif Collection" panose="020B0502040504020204" pitchFamily="34" charset="0"/>
                <a:cs typeface="Sans Serif Collection" panose="020B0502040504020204" pitchFamily="34" charset="0"/>
              </a:rPr>
              <a:t>Departments of </a:t>
            </a:r>
            <a:r>
              <a:rPr lang="en-US" sz="2800" b="1" baseline="30000" dirty="0">
                <a:latin typeface="+mj-lt"/>
                <a:ea typeface="Sans Serif Collection" panose="020B0502040504020204" pitchFamily="34" charset="0"/>
                <a:cs typeface="Sans Serif Collection" panose="020B0502040504020204" pitchFamily="34" charset="0"/>
              </a:rPr>
              <a:t>1</a:t>
            </a:r>
            <a:r>
              <a:rPr lang="en-US" sz="2800" b="1" dirty="0">
                <a:latin typeface="+mj-lt"/>
                <a:ea typeface="Sans Serif Collection" panose="020B0502040504020204" pitchFamily="34" charset="0"/>
                <a:cs typeface="Sans Serif Collection" panose="020B0502040504020204" pitchFamily="34" charset="0"/>
              </a:rPr>
              <a:t>Biology, </a:t>
            </a:r>
            <a:r>
              <a:rPr lang="en-US" sz="2800" b="1" baseline="30000" dirty="0">
                <a:latin typeface="+mj-lt"/>
                <a:ea typeface="Sans Serif Collection" panose="020B0502040504020204" pitchFamily="34" charset="0"/>
                <a:cs typeface="Sans Serif Collection" panose="020B0502040504020204" pitchFamily="34" charset="0"/>
              </a:rPr>
              <a:t>2</a:t>
            </a:r>
            <a:r>
              <a:rPr lang="en-US" sz="2800" b="1" dirty="0">
                <a:latin typeface="+mj-lt"/>
                <a:ea typeface="Sans Serif Collection" panose="020B0502040504020204" pitchFamily="34" charset="0"/>
                <a:cs typeface="Sans Serif Collection" panose="020B0502040504020204" pitchFamily="34" charset="0"/>
              </a:rPr>
              <a:t>Mathematics, and </a:t>
            </a:r>
            <a:r>
              <a:rPr lang="en-US" sz="2800" b="1" baseline="30000" dirty="0">
                <a:latin typeface="+mj-lt"/>
                <a:ea typeface="Sans Serif Collection" panose="020B0502040504020204" pitchFamily="34" charset="0"/>
                <a:cs typeface="Sans Serif Collection" panose="020B0502040504020204" pitchFamily="34" charset="0"/>
              </a:rPr>
              <a:t>3</a:t>
            </a:r>
            <a:r>
              <a:rPr lang="en-US" sz="2800" b="1" dirty="0">
                <a:latin typeface="+mj-lt"/>
                <a:ea typeface="Sans Serif Collection" panose="020B0502040504020204" pitchFamily="34" charset="0"/>
                <a:cs typeface="Sans Serif Collection" panose="020B0502040504020204" pitchFamily="34" charset="0"/>
              </a:rPr>
              <a:t>Computer Science</a:t>
            </a:r>
          </a:p>
          <a:p>
            <a:pPr algn="ctr"/>
            <a:r>
              <a:rPr lang="en-US" sz="2800" b="1" dirty="0">
                <a:latin typeface="+mj-lt"/>
                <a:ea typeface="Sans Serif Collection" panose="020B0502040504020204" pitchFamily="34" charset="0"/>
                <a:cs typeface="Sans Serif Collection" panose="020B0502040504020204" pitchFamily="34" charset="0"/>
              </a:rPr>
              <a:t>Loyola Marymount University, 1 LMU Drive, Los Angeles, CA 90045 USA</a:t>
            </a:r>
          </a:p>
          <a:p>
            <a:pPr algn="ctr"/>
            <a:endParaRPr lang="en-US" sz="550" dirty="0">
              <a:latin typeface="+mj-lt"/>
              <a:ea typeface="Sans Serif Collection" panose="020B0502040504020204" pitchFamily="34" charset="0"/>
              <a:cs typeface="Sans Serif Collection" panose="020B0502040504020204" pitchFamily="34" charset="0"/>
            </a:endParaRPr>
          </a:p>
          <a:p>
            <a:pPr algn="ctr"/>
            <a:r>
              <a:rPr lang="en-US" sz="4400" b="1" dirty="0">
                <a:solidFill>
                  <a:srgbClr val="16693F"/>
                </a:solidFill>
                <a:latin typeface="+mj-lt"/>
                <a:ea typeface="Sans Serif Collection" panose="020B0502040504020204" pitchFamily="34" charset="0"/>
                <a:cs typeface="Sans Serif Collection" panose="020B0502040504020204" pitchFamily="34" charset="0"/>
              </a:rPr>
              <a:t>http://kdahlquist.github.io/GRNmap/</a:t>
            </a:r>
            <a:r>
              <a:rPr lang="en-US" sz="4400" b="1" dirty="0">
                <a:latin typeface="+mj-lt"/>
                <a:ea typeface="Sans Serif Collection" panose="020B0502040504020204" pitchFamily="34" charset="0"/>
                <a:cs typeface="Sans Serif Collection" panose="020B0502040504020204" pitchFamily="34" charset="0"/>
              </a:rPr>
              <a:t> and </a:t>
            </a:r>
            <a:r>
              <a:rPr lang="en-US" sz="4400" b="1" dirty="0">
                <a:solidFill>
                  <a:srgbClr val="16693F"/>
                </a:solidFill>
                <a:latin typeface="+mj-lt"/>
                <a:ea typeface="Sans Serif Collection" panose="020B0502040504020204" pitchFamily="34" charset="0"/>
                <a:cs typeface="Sans Serif Collection" panose="020B0502040504020204" pitchFamily="34" charset="0"/>
              </a:rPr>
              <a:t>http://dondi.github.io/GRNsight/</a:t>
            </a:r>
          </a:p>
        </p:txBody>
      </p:sp>
      <p:pic>
        <p:nvPicPr>
          <p:cNvPr id="38" name="Picture 37"/>
          <p:cNvPicPr>
            <a:picLocks noChangeAspect="1"/>
          </p:cNvPicPr>
          <p:nvPr/>
        </p:nvPicPr>
        <p:blipFill rotWithShape="1">
          <a:blip r:embed="rId3"/>
          <a:srcRect t="7975" b="8674"/>
          <a:stretch/>
        </p:blipFill>
        <p:spPr>
          <a:xfrm>
            <a:off x="542574" y="3219450"/>
            <a:ext cx="3574811" cy="1811745"/>
          </a:xfrm>
          <a:prstGeom prst="rect">
            <a:avLst/>
          </a:prstGeom>
          <a:ln>
            <a:noFill/>
          </a:ln>
        </p:spPr>
      </p:pic>
      <p:sp>
        <p:nvSpPr>
          <p:cNvPr id="19" name="Rounded Rectangle 85">
            <a:extLst>
              <a:ext uri="{FF2B5EF4-FFF2-40B4-BE49-F238E27FC236}">
                <a16:creationId xmlns:a16="http://schemas.microsoft.com/office/drawing/2014/main" id="{F92C5ED6-8777-6FA6-64FC-DB20927486C6}"/>
              </a:ext>
            </a:extLst>
          </p:cNvPr>
          <p:cNvSpPr>
            <a:spLocks/>
          </p:cNvSpPr>
          <p:nvPr/>
        </p:nvSpPr>
        <p:spPr>
          <a:xfrm>
            <a:off x="20899017" y="27057332"/>
            <a:ext cx="9138188" cy="14874421"/>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90563" lvl="1" indent="-233363">
              <a:buFont typeface="Arial" panose="020B0604020202020204" pitchFamily="34" charset="0"/>
              <a:buChar char="•"/>
            </a:pPr>
            <a:r>
              <a:rPr lang="en-US" sz="2200">
                <a:latin typeface="Arial" panose="020B0604020202020204" pitchFamily="34" charset="0"/>
                <a:cs typeface="Arial" panose="020B0604020202020204" pitchFamily="34" charset="0"/>
              </a:rPr>
              <a:t>Datasets available: </a:t>
            </a:r>
          </a:p>
          <a:p>
            <a:pPr marL="1147763" lvl="2" indent="-233363">
              <a:buFont typeface="Arial" panose="020B0604020202020204" pitchFamily="34" charset="0"/>
              <a:buChar char="‒"/>
            </a:pPr>
            <a:r>
              <a:rPr lang="da-DK" sz="1800">
                <a:latin typeface="Arial" panose="020B0604020202020204" pitchFamily="34" charset="0"/>
                <a:cs typeface="Arial" panose="020B0604020202020204" pitchFamily="34" charset="0"/>
              </a:rPr>
              <a:t>Apweiler et al. 2012, GSE33098</a:t>
            </a:r>
          </a:p>
          <a:p>
            <a:pPr marL="1147763" lvl="2" indent="-233363">
              <a:buFont typeface="Arial" panose="020B0604020202020204" pitchFamily="34" charset="0"/>
              <a:buChar char="‒"/>
            </a:pPr>
            <a:r>
              <a:rPr lang="da-DK" sz="1800">
                <a:latin typeface="Arial" panose="020B0604020202020204" pitchFamily="34" charset="0"/>
                <a:cs typeface="Arial" panose="020B0604020202020204" pitchFamily="34" charset="0"/>
              </a:rPr>
              <a:t>Barreto et al. 2012, GSE24712</a:t>
            </a:r>
          </a:p>
          <a:p>
            <a:pPr marL="1147763" lvl="2" indent="-233363">
              <a:buFont typeface="Arial" panose="020B0604020202020204" pitchFamily="34" charset="0"/>
              <a:buChar char="‒"/>
            </a:pPr>
            <a:r>
              <a:rPr lang="da-DK" sz="1800">
                <a:latin typeface="Arial" panose="020B0604020202020204" pitchFamily="34" charset="0"/>
                <a:cs typeface="Arial" panose="020B0604020202020204" pitchFamily="34" charset="0"/>
              </a:rPr>
              <a:t>Dahlquist et al. 2018, GSE83656</a:t>
            </a:r>
          </a:p>
          <a:p>
            <a:pPr marL="1147763" lvl="2" indent="-233363">
              <a:buFont typeface="Arial" panose="020B0604020202020204" pitchFamily="34" charset="0"/>
              <a:buChar char="‒"/>
            </a:pPr>
            <a:r>
              <a:rPr lang="da-DK" sz="1800">
                <a:latin typeface="Arial" panose="020B0604020202020204" pitchFamily="34" charset="0"/>
                <a:cs typeface="Arial" panose="020B0604020202020204" pitchFamily="34" charset="0"/>
              </a:rPr>
              <a:t>Kitagawa et al. 2002, GSE9336 </a:t>
            </a:r>
          </a:p>
          <a:p>
            <a:pPr marL="1147763" lvl="2" indent="-233363">
              <a:buFont typeface="Arial" panose="020B0604020202020204" pitchFamily="34" charset="0"/>
              <a:buChar char="‒"/>
            </a:pPr>
            <a:r>
              <a:rPr lang="da-DK" sz="1800">
                <a:latin typeface="Arial" panose="020B0604020202020204" pitchFamily="34" charset="0"/>
                <a:cs typeface="Arial" panose="020B0604020202020204" pitchFamily="34" charset="0"/>
              </a:rPr>
              <a:t>Thorsen et al. 2007, GSE6068</a:t>
            </a:r>
            <a:endParaRPr lang="en-US" sz="1800" dirty="0">
              <a:latin typeface="Arial" panose="020B0604020202020204" pitchFamily="34" charset="0"/>
              <a:cs typeface="Arial" panose="020B0604020202020204" pitchFamily="34" charset="0"/>
            </a:endParaRPr>
          </a:p>
        </p:txBody>
      </p:sp>
      <p:sp>
        <p:nvSpPr>
          <p:cNvPr id="188" name="Title 1">
            <a:extLst>
              <a:ext uri="{FF2B5EF4-FFF2-40B4-BE49-F238E27FC236}">
                <a16:creationId xmlns:a16="http://schemas.microsoft.com/office/drawing/2014/main" id="{4BE9F6D9-CDE7-2612-B0EA-349065D2B00B}"/>
              </a:ext>
            </a:extLst>
          </p:cNvPr>
          <p:cNvSpPr txBox="1">
            <a:spLocks/>
          </p:cNvSpPr>
          <p:nvPr/>
        </p:nvSpPr>
        <p:spPr>
          <a:xfrm>
            <a:off x="15776424" y="5858109"/>
            <a:ext cx="13793817" cy="743663"/>
          </a:xfrm>
          <a:prstGeom prst="rect">
            <a:avLst/>
          </a:prstGeom>
          <a:noFill/>
          <a:ln>
            <a:noFill/>
          </a:ln>
        </p:spPr>
        <p:txBody>
          <a:bodyPr lIns="62855" tIns="62855" rIns="62855" bIns="62855" anchor="ctr" anchorCtr="0">
            <a:no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2800" b="1" dirty="0">
                <a:solidFill>
                  <a:srgbClr val="16693F"/>
                </a:solidFill>
                <a:latin typeface="+mj-lt"/>
                <a:ea typeface="Sans Serif Collection" panose="020B0502040504020204" pitchFamily="34" charset="0"/>
                <a:cs typeface="Sans Serif Collection" panose="020B0502040504020204" pitchFamily="34" charset="0"/>
              </a:rPr>
              <a:t>Weight estimation precision increases when production rates are held constant</a:t>
            </a:r>
          </a:p>
        </p:txBody>
      </p:sp>
      <p:sp>
        <p:nvSpPr>
          <p:cNvPr id="189" name="TextBox 188">
            <a:extLst>
              <a:ext uri="{FF2B5EF4-FFF2-40B4-BE49-F238E27FC236}">
                <a16:creationId xmlns:a16="http://schemas.microsoft.com/office/drawing/2014/main" id="{33371E72-49F4-4DFA-5CA8-C9B6C4B75DB2}"/>
              </a:ext>
            </a:extLst>
          </p:cNvPr>
          <p:cNvSpPr txBox="1"/>
          <p:nvPr/>
        </p:nvSpPr>
        <p:spPr>
          <a:xfrm>
            <a:off x="22695244" y="6581933"/>
            <a:ext cx="6996491" cy="3170099"/>
          </a:xfrm>
          <a:prstGeom prst="rect">
            <a:avLst/>
          </a:prstGeom>
          <a:noFill/>
        </p:spPr>
        <p:txBody>
          <a:bodyPr wrap="square" rtlCol="0">
            <a:spAutoFit/>
          </a:bodyPr>
          <a:lstStyle/>
          <a:p>
            <a:pPr marL="241300" indent="-241300">
              <a:buFont typeface="Arial" panose="020B0604020202020204" pitchFamily="34" charset="0"/>
              <a:buChar char="•"/>
            </a:pPr>
            <a:r>
              <a:rPr lang="en-US" sz="2000" b="1" dirty="0">
                <a:latin typeface="+mj-lt"/>
                <a:ea typeface="Sans Serif Collection" panose="020B0502040504020204" pitchFamily="34" charset="0"/>
                <a:cs typeface="Sans Serif Collection" panose="020B0502040504020204" pitchFamily="34" charset="0"/>
              </a:rPr>
              <a:t>When </a:t>
            </a:r>
            <a:r>
              <a:rPr lang="en-US" sz="2000" b="1" i="1" dirty="0">
                <a:latin typeface="Times New Roman" panose="02020603050405020304" pitchFamily="18" charset="0"/>
                <a:ea typeface="Sans Serif Collection" panose="020B0502040504020204" pitchFamily="34" charset="0"/>
                <a:cs typeface="Times New Roman" panose="02020603050405020304" pitchFamily="18" charset="0"/>
              </a:rPr>
              <a:t>P</a:t>
            </a:r>
            <a:r>
              <a:rPr lang="en-US" sz="2000" b="1" dirty="0">
                <a:latin typeface="+mj-lt"/>
                <a:ea typeface="Sans Serif Collection" panose="020B0502040504020204" pitchFamily="34" charset="0"/>
                <a:cs typeface="Sans Serif Collection" panose="020B0502040504020204" pitchFamily="34" charset="0"/>
              </a:rPr>
              <a:t> and </a:t>
            </a:r>
            <a:r>
              <a:rPr lang="en-US" sz="2000" b="1" i="1" dirty="0">
                <a:latin typeface="Times New Roman" panose="02020603050405020304" pitchFamily="18" charset="0"/>
                <a:ea typeface="Sans Serif Collection" panose="020B0502040504020204" pitchFamily="34" charset="0"/>
                <a:cs typeface="Times New Roman" panose="02020603050405020304" pitchFamily="18" charset="0"/>
              </a:rPr>
              <a:t>b</a:t>
            </a:r>
            <a:r>
              <a:rPr lang="en-US" sz="2000" b="1" dirty="0">
                <a:latin typeface="+mj-lt"/>
                <a:ea typeface="Sans Serif Collection" panose="020B0502040504020204" pitchFamily="34" charset="0"/>
                <a:cs typeface="Sans Serif Collection" panose="020B0502040504020204" pitchFamily="34" charset="0"/>
              </a:rPr>
              <a:t> were held constant, only the 4 weight parameters were estimated, compared to the 10 estimated when </a:t>
            </a:r>
            <a:r>
              <a:rPr lang="en-US" sz="2000" b="1" i="1" dirty="0">
                <a:latin typeface="Times New Roman" panose="02020603050405020304" pitchFamily="18" charset="0"/>
                <a:ea typeface="Sans Serif Collection" panose="020B0502040504020204" pitchFamily="34" charset="0"/>
                <a:cs typeface="Times New Roman" panose="02020603050405020304" pitchFamily="18" charset="0"/>
              </a:rPr>
              <a:t>P</a:t>
            </a:r>
            <a:r>
              <a:rPr lang="en-US" sz="2000" b="1" dirty="0">
                <a:latin typeface="+mj-lt"/>
                <a:ea typeface="Sans Serif Collection" panose="020B0502040504020204" pitchFamily="34" charset="0"/>
                <a:cs typeface="Sans Serif Collection" panose="020B0502040504020204" pitchFamily="34" charset="0"/>
              </a:rPr>
              <a:t>, </a:t>
            </a:r>
            <a:r>
              <a:rPr lang="en-US" sz="2000" b="1" i="1" dirty="0">
                <a:latin typeface="Times New Roman" panose="02020603050405020304" pitchFamily="18" charset="0"/>
                <a:ea typeface="Sans Serif Collection" panose="020B0502040504020204" pitchFamily="34" charset="0"/>
                <a:cs typeface="Times New Roman" panose="02020603050405020304" pitchFamily="18" charset="0"/>
              </a:rPr>
              <a:t>b</a:t>
            </a:r>
            <a:r>
              <a:rPr lang="en-US" sz="2000" b="1" dirty="0">
                <a:latin typeface="+mj-lt"/>
                <a:ea typeface="Sans Serif Collection" panose="020B0502040504020204" pitchFamily="34" charset="0"/>
                <a:cs typeface="Sans Serif Collection" panose="020B0502040504020204" pitchFamily="34" charset="0"/>
              </a:rPr>
              <a:t>, and </a:t>
            </a:r>
            <a:r>
              <a:rPr lang="en-US" sz="2000" b="1" i="1" dirty="0">
                <a:latin typeface="Times New Roman" panose="02020603050405020304" pitchFamily="18" charset="0"/>
                <a:ea typeface="Sans Serif Collection" panose="020B0502040504020204" pitchFamily="34" charset="0"/>
                <a:cs typeface="Times New Roman" panose="02020603050405020304" pitchFamily="18" charset="0"/>
              </a:rPr>
              <a:t>w</a:t>
            </a:r>
            <a:r>
              <a:rPr lang="en-US" sz="2000" b="1" dirty="0">
                <a:latin typeface="+mj-lt"/>
                <a:ea typeface="Sans Serif Collection" panose="020B0502040504020204" pitchFamily="34" charset="0"/>
                <a:cs typeface="Sans Serif Collection" panose="020B0502040504020204" pitchFamily="34" charset="0"/>
              </a:rPr>
              <a:t> were all estimated.</a:t>
            </a:r>
          </a:p>
          <a:p>
            <a:pPr marL="235752" indent="-235752">
              <a:buFont typeface="Arial" panose="020B0604020202020204" pitchFamily="34" charset="0"/>
              <a:buChar char="•"/>
            </a:pPr>
            <a:r>
              <a:rPr lang="en-US" sz="2000" b="1" dirty="0">
                <a:latin typeface="+mj-lt"/>
                <a:ea typeface="Sans Serif Collection" panose="020B0502040504020204" pitchFamily="34" charset="0"/>
                <a:cs typeface="Sans Serif Collection" panose="020B0502040504020204" pitchFamily="34" charset="0"/>
              </a:rPr>
              <a:t>The performance of the model when </a:t>
            </a:r>
            <a:r>
              <a:rPr lang="en-US" sz="2000" b="1" i="1" dirty="0">
                <a:latin typeface="Times New Roman" panose="02020603050405020304" pitchFamily="18" charset="0"/>
                <a:ea typeface="Sans Serif Collection" panose="020B0502040504020204" pitchFamily="34" charset="0"/>
                <a:cs typeface="Times New Roman" panose="02020603050405020304" pitchFamily="18" charset="0"/>
              </a:rPr>
              <a:t>P</a:t>
            </a:r>
            <a:r>
              <a:rPr lang="en-US" sz="2000" b="1" dirty="0">
                <a:latin typeface="+mj-lt"/>
                <a:ea typeface="Sans Serif Collection" panose="020B0502040504020204" pitchFamily="34" charset="0"/>
                <a:cs typeface="Sans Serif Collection" panose="020B0502040504020204" pitchFamily="34" charset="0"/>
              </a:rPr>
              <a:t> and </a:t>
            </a:r>
            <a:r>
              <a:rPr lang="en-US" sz="2000" b="1" i="1" dirty="0">
                <a:latin typeface="Times New Roman" panose="02020603050405020304" pitchFamily="18" charset="0"/>
                <a:ea typeface="Sans Serif Collection" panose="020B0502040504020204" pitchFamily="34" charset="0"/>
                <a:cs typeface="Times New Roman" panose="02020603050405020304" pitchFamily="18" charset="0"/>
              </a:rPr>
              <a:t>b</a:t>
            </a:r>
            <a:r>
              <a:rPr lang="en-US" sz="2000" b="1" dirty="0">
                <a:latin typeface="+mj-lt"/>
                <a:ea typeface="Sans Serif Collection" panose="020B0502040504020204" pitchFamily="34" charset="0"/>
                <a:cs typeface="Sans Serif Collection" panose="020B0502040504020204" pitchFamily="34" charset="0"/>
              </a:rPr>
              <a:t> were held constant and when only </a:t>
            </a:r>
            <a:r>
              <a:rPr lang="en-US" sz="2000" b="1" i="1" dirty="0">
                <a:latin typeface="Times New Roman" panose="02020603050405020304" pitchFamily="18" charset="0"/>
                <a:ea typeface="Sans Serif Collection" panose="020B0502040504020204" pitchFamily="34" charset="0"/>
                <a:cs typeface="Times New Roman" panose="02020603050405020304" pitchFamily="18" charset="0"/>
              </a:rPr>
              <a:t>P</a:t>
            </a:r>
            <a:r>
              <a:rPr lang="en-US" sz="2000" b="1" dirty="0">
                <a:latin typeface="+mj-lt"/>
                <a:ea typeface="Sans Serif Collection" panose="020B0502040504020204" pitchFamily="34" charset="0"/>
                <a:cs typeface="Sans Serif Collection" panose="020B0502040504020204" pitchFamily="34" charset="0"/>
              </a:rPr>
              <a:t> was held constant were relatively similar, suggesting that the issue is estimating the production rate, not necessarily the number of parameters estimated.</a:t>
            </a:r>
          </a:p>
          <a:p>
            <a:pPr marL="235752" indent="-235752">
              <a:buFont typeface="Arial" panose="020B0604020202020204" pitchFamily="34" charset="0"/>
              <a:buChar char="•"/>
            </a:pPr>
            <a:r>
              <a:rPr lang="en-US" sz="2000" b="1" dirty="0">
                <a:latin typeface="+mj-lt"/>
                <a:ea typeface="Sans Serif Collection" panose="020B0502040504020204" pitchFamily="34" charset="0"/>
                <a:cs typeface="Sans Serif Collection" panose="020B0502040504020204" pitchFamily="34" charset="0"/>
              </a:rPr>
              <a:t>We did not discern a clear pattern in the network structures that corresponded to model performance.</a:t>
            </a:r>
          </a:p>
        </p:txBody>
      </p:sp>
      <p:sp>
        <p:nvSpPr>
          <p:cNvPr id="260" name="TextBox 259">
            <a:extLst>
              <a:ext uri="{FF2B5EF4-FFF2-40B4-BE49-F238E27FC236}">
                <a16:creationId xmlns:a16="http://schemas.microsoft.com/office/drawing/2014/main" id="{7E5131B3-BE9E-BAC5-730F-C4E8CA8CB9C7}"/>
              </a:ext>
            </a:extLst>
          </p:cNvPr>
          <p:cNvSpPr txBox="1"/>
          <p:nvPr/>
        </p:nvSpPr>
        <p:spPr>
          <a:xfrm>
            <a:off x="16122017" y="25798442"/>
            <a:ext cx="13430305" cy="830997"/>
          </a:xfrm>
          <a:prstGeom prst="rect">
            <a:avLst/>
          </a:prstGeom>
          <a:noFill/>
        </p:spPr>
        <p:txBody>
          <a:bodyPr wrap="square" rtlCol="0">
            <a:spAutoFit/>
          </a:bodyPr>
          <a:lstStyle/>
          <a:p>
            <a:r>
              <a:rPr lang="en-US" sz="2400" b="1" dirty="0">
                <a:latin typeface="+mj-lt"/>
                <a:ea typeface="Sans Serif Collection" panose="020B0502040504020204" pitchFamily="34" charset="0"/>
                <a:cs typeface="Sans Serif Collection" panose="020B0502040504020204" pitchFamily="34" charset="0"/>
              </a:rPr>
              <a:t>The LSE’s varied dramatically over several orders of magnitude, showing that performance depended on the weight values assigned to edges, not solely on the network structure.</a:t>
            </a:r>
          </a:p>
        </p:txBody>
      </p:sp>
      <p:sp>
        <p:nvSpPr>
          <p:cNvPr id="283" name="TextBox 282">
            <a:extLst>
              <a:ext uri="{FF2B5EF4-FFF2-40B4-BE49-F238E27FC236}">
                <a16:creationId xmlns:a16="http://schemas.microsoft.com/office/drawing/2014/main" id="{596BBDFD-6DB0-DABF-8A8D-D17687569616}"/>
              </a:ext>
            </a:extLst>
          </p:cNvPr>
          <p:cNvSpPr txBox="1"/>
          <p:nvPr/>
        </p:nvSpPr>
        <p:spPr>
          <a:xfrm>
            <a:off x="23268831" y="12759215"/>
            <a:ext cx="6401752" cy="461665"/>
          </a:xfrm>
          <a:prstGeom prst="rect">
            <a:avLst/>
          </a:prstGeom>
          <a:noFill/>
        </p:spPr>
        <p:txBody>
          <a:bodyPr wrap="square" rtlCol="0">
            <a:spAutoFit/>
          </a:bodyPr>
          <a:lstStyle/>
          <a:p>
            <a:pPr algn="ctr"/>
            <a:r>
              <a:rPr lang="en-US" sz="2400" b="1" u="sng" dirty="0">
                <a:latin typeface="+mj-lt"/>
                <a:ea typeface="Sans Serif Collection" panose="020B0502040504020204" pitchFamily="34" charset="0"/>
                <a:cs typeface="Sans Serif Collection" panose="020B0502040504020204" pitchFamily="34" charset="0"/>
              </a:rPr>
              <a:t>Network Originally Ranked 7</a:t>
            </a:r>
            <a:r>
              <a:rPr lang="en-US" sz="2400" b="1" u="sng" baseline="30000" dirty="0">
                <a:latin typeface="+mj-lt"/>
                <a:ea typeface="Sans Serif Collection" panose="020B0502040504020204" pitchFamily="34" charset="0"/>
                <a:cs typeface="Sans Serif Collection" panose="020B0502040504020204" pitchFamily="34" charset="0"/>
              </a:rPr>
              <a:t>th</a:t>
            </a:r>
            <a:r>
              <a:rPr lang="en-US" sz="2400" b="1" u="sng" dirty="0">
                <a:latin typeface="+mj-lt"/>
                <a:ea typeface="Sans Serif Collection" panose="020B0502040504020204" pitchFamily="34" charset="0"/>
                <a:cs typeface="Sans Serif Collection" panose="020B0502040504020204" pitchFamily="34" charset="0"/>
              </a:rPr>
              <a:t> </a:t>
            </a:r>
          </a:p>
        </p:txBody>
      </p:sp>
      <p:sp>
        <p:nvSpPr>
          <p:cNvPr id="258" name="TextBox 257">
            <a:extLst>
              <a:ext uri="{FF2B5EF4-FFF2-40B4-BE49-F238E27FC236}">
                <a16:creationId xmlns:a16="http://schemas.microsoft.com/office/drawing/2014/main" id="{2DF5DB71-D117-60CB-F520-57168B23B665}"/>
              </a:ext>
            </a:extLst>
          </p:cNvPr>
          <p:cNvSpPr txBox="1"/>
          <p:nvPr/>
        </p:nvSpPr>
        <p:spPr>
          <a:xfrm>
            <a:off x="16240704" y="12759215"/>
            <a:ext cx="6462730" cy="461665"/>
          </a:xfrm>
          <a:prstGeom prst="rect">
            <a:avLst/>
          </a:prstGeom>
          <a:noFill/>
        </p:spPr>
        <p:txBody>
          <a:bodyPr wrap="square" rtlCol="0">
            <a:spAutoFit/>
          </a:bodyPr>
          <a:lstStyle/>
          <a:p>
            <a:pPr algn="ctr"/>
            <a:r>
              <a:rPr lang="en-US" sz="2400" b="1" u="sng" dirty="0">
                <a:latin typeface="+mj-lt"/>
                <a:ea typeface="Sans Serif Collection" panose="020B0502040504020204" pitchFamily="34" charset="0"/>
                <a:cs typeface="Sans Serif Collection" panose="020B0502040504020204" pitchFamily="34" charset="0"/>
              </a:rPr>
              <a:t>Network Originally Ranked 1</a:t>
            </a:r>
            <a:r>
              <a:rPr lang="en-US" sz="2400" b="1" u="sng" baseline="30000" dirty="0">
                <a:latin typeface="+mj-lt"/>
                <a:ea typeface="Sans Serif Collection" panose="020B0502040504020204" pitchFamily="34" charset="0"/>
                <a:cs typeface="Sans Serif Collection" panose="020B0502040504020204" pitchFamily="34" charset="0"/>
              </a:rPr>
              <a:t>st</a:t>
            </a:r>
          </a:p>
        </p:txBody>
      </p:sp>
      <p:sp>
        <p:nvSpPr>
          <p:cNvPr id="281" name="TextBox 280">
            <a:extLst>
              <a:ext uri="{FF2B5EF4-FFF2-40B4-BE49-F238E27FC236}">
                <a16:creationId xmlns:a16="http://schemas.microsoft.com/office/drawing/2014/main" id="{CE11F1F7-3F48-05DB-F694-711060AD9C93}"/>
              </a:ext>
            </a:extLst>
          </p:cNvPr>
          <p:cNvSpPr txBox="1"/>
          <p:nvPr/>
        </p:nvSpPr>
        <p:spPr>
          <a:xfrm>
            <a:off x="16302716" y="10466547"/>
            <a:ext cx="12584774" cy="2308324"/>
          </a:xfrm>
          <a:prstGeom prst="rect">
            <a:avLst/>
          </a:prstGeom>
          <a:noFill/>
        </p:spPr>
        <p:txBody>
          <a:bodyPr wrap="square" rtlCol="0">
            <a:spAutoFit/>
          </a:bodyPr>
          <a:lstStyle/>
          <a:p>
            <a:pPr marL="228600" indent="-228600">
              <a:buFont typeface="Arial" panose="020B0604020202020204" pitchFamily="34" charset="0"/>
              <a:buChar char="•"/>
            </a:pPr>
            <a:r>
              <a:rPr lang="en-US" sz="2400" b="1" dirty="0">
                <a:latin typeface="+mj-lt"/>
                <a:ea typeface="Sans Serif Collection" panose="020B0502040504020204" pitchFamily="34" charset="0"/>
                <a:cs typeface="Sans Serif Collection" panose="020B0502040504020204" pitchFamily="34" charset="0"/>
              </a:rPr>
              <a:t>Since weights were chosen arbitrarily (1, -1, 2, or -2), we also investigated whether the model performance was solely based on network structure, or whether it was also impacted by the assignment of a particular weight value to each edge. </a:t>
            </a:r>
          </a:p>
          <a:p>
            <a:pPr marL="228600" indent="-228600">
              <a:buFont typeface="Arial" panose="020B0604020202020204" pitchFamily="34" charset="0"/>
              <a:buChar char="•"/>
            </a:pPr>
            <a:r>
              <a:rPr lang="en-US" sz="2400" b="1" dirty="0">
                <a:latin typeface="+mj-lt"/>
                <a:ea typeface="Sans Serif Collection" panose="020B0502040504020204" pitchFamily="34" charset="0"/>
                <a:cs typeface="Sans Serif Collection" panose="020B0502040504020204" pitchFamily="34" charset="0"/>
              </a:rPr>
              <a:t>All 24 permutations of the weight assignments to edges were modeled for the networks originally ranked 1</a:t>
            </a:r>
            <a:r>
              <a:rPr lang="en-US" sz="2400" b="1" baseline="30000" dirty="0">
                <a:latin typeface="+mj-lt"/>
                <a:ea typeface="Sans Serif Collection" panose="020B0502040504020204" pitchFamily="34" charset="0"/>
                <a:cs typeface="Sans Serif Collection" panose="020B0502040504020204" pitchFamily="34" charset="0"/>
              </a:rPr>
              <a:t>st</a:t>
            </a:r>
            <a:r>
              <a:rPr lang="en-US" sz="2400" b="1" dirty="0">
                <a:latin typeface="+mj-lt"/>
                <a:ea typeface="Sans Serif Collection" panose="020B0502040504020204" pitchFamily="34" charset="0"/>
                <a:cs typeface="Sans Serif Collection" panose="020B0502040504020204" pitchFamily="34" charset="0"/>
              </a:rPr>
              <a:t> and 7</a:t>
            </a:r>
            <a:r>
              <a:rPr lang="en-US" sz="2400" b="1" baseline="30000" dirty="0">
                <a:latin typeface="+mj-lt"/>
                <a:ea typeface="Sans Serif Collection" panose="020B0502040504020204" pitchFamily="34" charset="0"/>
                <a:cs typeface="Sans Serif Collection" panose="020B0502040504020204" pitchFamily="34" charset="0"/>
              </a:rPr>
              <a:t>th</a:t>
            </a:r>
            <a:r>
              <a:rPr lang="en-US" sz="2400" b="1" dirty="0">
                <a:latin typeface="+mj-lt"/>
                <a:ea typeface="Sans Serif Collection" panose="020B0502040504020204" pitchFamily="34" charset="0"/>
                <a:cs typeface="Sans Serif Collection" panose="020B0502040504020204" pitchFamily="34" charset="0"/>
              </a:rPr>
              <a:t> to determine the impact of the weights. </a:t>
            </a:r>
          </a:p>
          <a:p>
            <a:pPr marL="228600" indent="-228600">
              <a:buFont typeface="Arial" panose="020B0604020202020204" pitchFamily="34" charset="0"/>
              <a:buChar char="•"/>
            </a:pPr>
            <a:r>
              <a:rPr lang="en-US" sz="2400" b="1" dirty="0">
                <a:latin typeface="+mj-lt"/>
                <a:ea typeface="Sans Serif Collection" panose="020B0502040504020204" pitchFamily="34" charset="0"/>
                <a:cs typeface="Sans Serif Collection" panose="020B0502040504020204" pitchFamily="34" charset="0"/>
              </a:rPr>
              <a:t>The LSE of the weights were calculated for each trial as before.</a:t>
            </a:r>
          </a:p>
        </p:txBody>
      </p:sp>
      <p:sp>
        <p:nvSpPr>
          <p:cNvPr id="282" name="Title 1">
            <a:extLst>
              <a:ext uri="{FF2B5EF4-FFF2-40B4-BE49-F238E27FC236}">
                <a16:creationId xmlns:a16="http://schemas.microsoft.com/office/drawing/2014/main" id="{AF02D4C6-9A43-A696-35C3-A464F3060BD3}"/>
              </a:ext>
            </a:extLst>
          </p:cNvPr>
          <p:cNvSpPr txBox="1">
            <a:spLocks/>
          </p:cNvSpPr>
          <p:nvPr/>
        </p:nvSpPr>
        <p:spPr>
          <a:xfrm>
            <a:off x="17097901" y="9891293"/>
            <a:ext cx="11150861" cy="701154"/>
          </a:xfrm>
          <a:prstGeom prst="rect">
            <a:avLst/>
          </a:prstGeom>
          <a:noFill/>
          <a:ln>
            <a:noFill/>
          </a:ln>
        </p:spPr>
        <p:txBody>
          <a:bodyPr lIns="62855" tIns="62855" rIns="62855" bIns="62855" anchor="ctr" anchorCtr="0">
            <a:no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2800" b="1" dirty="0">
                <a:solidFill>
                  <a:srgbClr val="16693F"/>
                </a:solidFill>
                <a:latin typeface="+mj-lt"/>
                <a:ea typeface="Sans Serif Collection" panose="020B0502040504020204" pitchFamily="34" charset="0"/>
                <a:cs typeface="Sans Serif Collection" panose="020B0502040504020204" pitchFamily="34" charset="0"/>
              </a:rPr>
              <a:t>Weight estimation precision is dependent on weight values</a:t>
            </a:r>
          </a:p>
        </p:txBody>
      </p:sp>
      <p:sp>
        <p:nvSpPr>
          <p:cNvPr id="287" name="TextBox 286">
            <a:extLst>
              <a:ext uri="{FF2B5EF4-FFF2-40B4-BE49-F238E27FC236}">
                <a16:creationId xmlns:a16="http://schemas.microsoft.com/office/drawing/2014/main" id="{DB2E2BE0-9F92-DD2E-DAD8-EB0B9E64F068}"/>
              </a:ext>
            </a:extLst>
          </p:cNvPr>
          <p:cNvSpPr txBox="1"/>
          <p:nvPr/>
        </p:nvSpPr>
        <p:spPr>
          <a:xfrm>
            <a:off x="21213173" y="27623986"/>
            <a:ext cx="8809565" cy="2031325"/>
          </a:xfrm>
          <a:prstGeom prst="rect">
            <a:avLst/>
          </a:prstGeom>
          <a:noFill/>
        </p:spPr>
        <p:txBody>
          <a:bodyPr wrap="square">
            <a:spAutoFit/>
          </a:bodyPr>
          <a:lstStyle/>
          <a:p>
            <a:pPr marL="228600" indent="-228600">
              <a:buFont typeface="Arial" panose="020B0604020202020204" pitchFamily="34" charset="0"/>
              <a:buChar char="•"/>
            </a:pPr>
            <a:r>
              <a:rPr lang="en-US" sz="1800" b="1" dirty="0">
                <a:latin typeface="+mj-lt"/>
                <a:ea typeface="Sans Serif Collection" panose="020B0502040504020204" pitchFamily="34" charset="0"/>
                <a:cs typeface="Sans Serif Collection" panose="020B0502040504020204" pitchFamily="34" charset="0"/>
              </a:rPr>
              <a:t>Estimating production rates from gene expression data is difficult for GRNmap to do, and we plan to determine production rates from experiments.</a:t>
            </a:r>
          </a:p>
          <a:p>
            <a:pPr marL="228600" indent="-228600">
              <a:buFont typeface="Arial" panose="020B0604020202020204" pitchFamily="34" charset="0"/>
              <a:buChar char="•"/>
            </a:pPr>
            <a:r>
              <a:rPr lang="en-US" sz="1800" b="1" dirty="0">
                <a:latin typeface="+mj-lt"/>
                <a:ea typeface="Sans Serif Collection" panose="020B0502040504020204" pitchFamily="34" charset="0"/>
                <a:cs typeface="Sans Serif Collection" panose="020B0502040504020204" pitchFamily="34" charset="0"/>
              </a:rPr>
              <a:t>Investigation of 3-gene, 4-edge “toy” networks shows that the performance </a:t>
            </a:r>
          </a:p>
          <a:p>
            <a:pPr marL="228600"/>
            <a:r>
              <a:rPr lang="en-US" sz="1800" b="1" dirty="0">
                <a:latin typeface="+mj-lt"/>
                <a:ea typeface="Sans Serif Collection" panose="020B0502040504020204" pitchFamily="34" charset="0"/>
                <a:cs typeface="Sans Serif Collection" panose="020B0502040504020204" pitchFamily="34" charset="0"/>
              </a:rPr>
              <a:t>of the </a:t>
            </a:r>
            <a:r>
              <a:rPr lang="en-US" sz="1800" b="1" dirty="0" err="1">
                <a:latin typeface="+mj-lt"/>
                <a:ea typeface="Sans Serif Collection" panose="020B0502040504020204" pitchFamily="34" charset="0"/>
                <a:cs typeface="Sans Serif Collection" panose="020B0502040504020204" pitchFamily="34" charset="0"/>
              </a:rPr>
              <a:t>GRNmap</a:t>
            </a:r>
            <a:r>
              <a:rPr lang="en-US" sz="1800" b="1" dirty="0">
                <a:latin typeface="+mj-lt"/>
                <a:ea typeface="Sans Serif Collection" panose="020B0502040504020204" pitchFamily="34" charset="0"/>
                <a:cs typeface="Sans Serif Collection" panose="020B0502040504020204" pitchFamily="34" charset="0"/>
              </a:rPr>
              <a:t> model is influenced by a combination of network structure and edge weights.</a:t>
            </a:r>
          </a:p>
          <a:p>
            <a:pPr marL="228600" indent="-228600">
              <a:buFont typeface="Arial" panose="020B0604020202020204" pitchFamily="34" charset="0"/>
              <a:buChar char="•"/>
            </a:pPr>
            <a:r>
              <a:rPr lang="en-US" sz="1800" b="1" dirty="0">
                <a:latin typeface="+mj-lt"/>
                <a:ea typeface="Sans Serif Collection" panose="020B0502040504020204" pitchFamily="34" charset="0"/>
                <a:cs typeface="Sans Serif Collection" panose="020B0502040504020204" pitchFamily="34" charset="0"/>
              </a:rPr>
              <a:t>The </a:t>
            </a:r>
            <a:r>
              <a:rPr lang="en-US" sz="1800" b="1" dirty="0" err="1">
                <a:latin typeface="+mj-lt"/>
                <a:ea typeface="Sans Serif Collection" panose="020B0502040504020204" pitchFamily="34" charset="0"/>
                <a:cs typeface="Sans Serif Collection" panose="020B0502040504020204" pitchFamily="34" charset="0"/>
              </a:rPr>
              <a:t>GRNmap</a:t>
            </a:r>
            <a:r>
              <a:rPr lang="en-US" sz="1800" b="1" dirty="0">
                <a:latin typeface="+mj-lt"/>
                <a:ea typeface="Sans Serif Collection" panose="020B0502040504020204" pitchFamily="34" charset="0"/>
                <a:cs typeface="Sans Serif Collection" panose="020B0502040504020204" pitchFamily="34" charset="0"/>
              </a:rPr>
              <a:t> – </a:t>
            </a:r>
            <a:r>
              <a:rPr lang="en-US" sz="1800" b="1" dirty="0" err="1">
                <a:latin typeface="+mj-lt"/>
                <a:ea typeface="Sans Serif Collection" panose="020B0502040504020204" pitchFamily="34" charset="0"/>
                <a:cs typeface="Sans Serif Collection" panose="020B0502040504020204" pitchFamily="34" charset="0"/>
              </a:rPr>
              <a:t>GRNsight</a:t>
            </a:r>
            <a:r>
              <a:rPr lang="en-US" sz="1800" b="1" dirty="0">
                <a:latin typeface="+mj-lt"/>
                <a:ea typeface="Sans Serif Collection" panose="020B0502040504020204" pitchFamily="34" charset="0"/>
                <a:cs typeface="Sans Serif Collection" panose="020B0502040504020204" pitchFamily="34" charset="0"/>
              </a:rPr>
              <a:t> system will speed up the rate of modeling and analysis of many networks.</a:t>
            </a:r>
          </a:p>
        </p:txBody>
      </p:sp>
      <p:sp>
        <p:nvSpPr>
          <p:cNvPr id="288" name="TextBox 287">
            <a:extLst>
              <a:ext uri="{FF2B5EF4-FFF2-40B4-BE49-F238E27FC236}">
                <a16:creationId xmlns:a16="http://schemas.microsoft.com/office/drawing/2014/main" id="{788F5172-AC96-07E2-512C-2AA051B9EB25}"/>
              </a:ext>
            </a:extLst>
          </p:cNvPr>
          <p:cNvSpPr txBox="1"/>
          <p:nvPr/>
        </p:nvSpPr>
        <p:spPr>
          <a:xfrm>
            <a:off x="23787202" y="34125057"/>
            <a:ext cx="3361818" cy="523220"/>
          </a:xfrm>
          <a:prstGeom prst="rect">
            <a:avLst/>
          </a:prstGeom>
          <a:noFill/>
        </p:spPr>
        <p:txBody>
          <a:bodyPr wrap="none" rtlCol="0">
            <a:spAutoFit/>
          </a:bodyPr>
          <a:lstStyle/>
          <a:p>
            <a:r>
              <a:rPr lang="en-US" sz="2800" b="1" dirty="0">
                <a:solidFill>
                  <a:srgbClr val="16693F"/>
                </a:solidFill>
                <a:latin typeface="+mj-lt"/>
                <a:ea typeface="Sans Serif Collection" panose="020B0502040504020204" pitchFamily="34" charset="0"/>
                <a:cs typeface="Sans Serif Collection" panose="020B0502040504020204" pitchFamily="34" charset="0"/>
              </a:rPr>
              <a:t>Acknowledgments</a:t>
            </a:r>
          </a:p>
        </p:txBody>
      </p:sp>
      <p:sp>
        <p:nvSpPr>
          <p:cNvPr id="289" name="TextBox 288">
            <a:extLst>
              <a:ext uri="{FF2B5EF4-FFF2-40B4-BE49-F238E27FC236}">
                <a16:creationId xmlns:a16="http://schemas.microsoft.com/office/drawing/2014/main" id="{6A92341A-1AA5-46CE-ABEA-EF8A1A66ED44}"/>
              </a:ext>
            </a:extLst>
          </p:cNvPr>
          <p:cNvSpPr txBox="1"/>
          <p:nvPr/>
        </p:nvSpPr>
        <p:spPr>
          <a:xfrm>
            <a:off x="24405160" y="35932234"/>
            <a:ext cx="2125903" cy="523220"/>
          </a:xfrm>
          <a:prstGeom prst="rect">
            <a:avLst/>
          </a:prstGeom>
          <a:noFill/>
        </p:spPr>
        <p:txBody>
          <a:bodyPr wrap="none" rtlCol="0">
            <a:spAutoFit/>
          </a:bodyPr>
          <a:lstStyle/>
          <a:p>
            <a:r>
              <a:rPr lang="en-US" sz="2800" b="1" dirty="0">
                <a:solidFill>
                  <a:srgbClr val="16693F"/>
                </a:solidFill>
                <a:latin typeface="+mj-lt"/>
                <a:ea typeface="Sans Serif Collection" panose="020B0502040504020204" pitchFamily="34" charset="0"/>
                <a:cs typeface="Sans Serif Collection" panose="020B0502040504020204" pitchFamily="34" charset="0"/>
              </a:rPr>
              <a:t>References</a:t>
            </a:r>
          </a:p>
        </p:txBody>
      </p:sp>
      <p:sp>
        <p:nvSpPr>
          <p:cNvPr id="290" name="TextBox 289">
            <a:extLst>
              <a:ext uri="{FF2B5EF4-FFF2-40B4-BE49-F238E27FC236}">
                <a16:creationId xmlns:a16="http://schemas.microsoft.com/office/drawing/2014/main" id="{F555D2C5-2EF9-0423-3558-D55AC28BAAF8}"/>
              </a:ext>
            </a:extLst>
          </p:cNvPr>
          <p:cNvSpPr txBox="1"/>
          <p:nvPr/>
        </p:nvSpPr>
        <p:spPr>
          <a:xfrm>
            <a:off x="21213174" y="34603865"/>
            <a:ext cx="8509875" cy="1200329"/>
          </a:xfrm>
          <a:prstGeom prst="rect">
            <a:avLst/>
          </a:prstGeom>
          <a:noFill/>
        </p:spPr>
        <p:txBody>
          <a:bodyPr wrap="square" rtlCol="0">
            <a:spAutoFit/>
          </a:bodyPr>
          <a:lstStyle/>
          <a:p>
            <a:r>
              <a:rPr lang="en-US" sz="1800" b="1" dirty="0">
                <a:latin typeface="+mj-lt"/>
                <a:ea typeface="Sans Serif Collection" panose="020B0502040504020204" pitchFamily="34" charset="0"/>
                <a:cs typeface="Sans Serif Collection" panose="020B0502040504020204" pitchFamily="34" charset="0"/>
              </a:rPr>
              <a:t>We would like to thank the previous developers on the GRNmap and GRNsight projects. This work was partially funded by an LMU Rains Research Assistantship (N.C.C.) and an HHMI Driving Change, Seaver STEM Research Learning Community Fellowship (C.T.Z, A.L.P.).</a:t>
            </a:r>
          </a:p>
        </p:txBody>
      </p:sp>
      <p:grpSp>
        <p:nvGrpSpPr>
          <p:cNvPr id="83" name="Group 82">
            <a:extLst>
              <a:ext uri="{FF2B5EF4-FFF2-40B4-BE49-F238E27FC236}">
                <a16:creationId xmlns:a16="http://schemas.microsoft.com/office/drawing/2014/main" id="{16113B02-4D12-B2E4-945C-EA25031AD8D9}"/>
              </a:ext>
            </a:extLst>
          </p:cNvPr>
          <p:cNvGrpSpPr/>
          <p:nvPr/>
        </p:nvGrpSpPr>
        <p:grpSpPr>
          <a:xfrm>
            <a:off x="80847" y="27057332"/>
            <a:ext cx="20570416" cy="14874421"/>
            <a:chOff x="80847" y="27057332"/>
            <a:chExt cx="20570416" cy="14874421"/>
          </a:xfrm>
        </p:grpSpPr>
        <p:sp>
          <p:nvSpPr>
            <p:cNvPr id="4" name="Rounded Rectangle 85">
              <a:extLst>
                <a:ext uri="{FF2B5EF4-FFF2-40B4-BE49-F238E27FC236}">
                  <a16:creationId xmlns:a16="http://schemas.microsoft.com/office/drawing/2014/main" id="{F2322BE1-B88E-E540-1B89-8EAB6018A83C}"/>
                </a:ext>
              </a:extLst>
            </p:cNvPr>
            <p:cNvSpPr/>
            <p:nvPr/>
          </p:nvSpPr>
          <p:spPr>
            <a:xfrm>
              <a:off x="80847" y="27057332"/>
              <a:ext cx="20570416" cy="14874421"/>
            </a:xfrm>
            <a:prstGeom prst="roundRect">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I’</a:t>
              </a:r>
              <a:endParaRPr lang="en-US"/>
            </a:p>
          </p:txBody>
        </p:sp>
        <p:grpSp>
          <p:nvGrpSpPr>
            <p:cNvPr id="71" name="Group 70">
              <a:extLst>
                <a:ext uri="{FF2B5EF4-FFF2-40B4-BE49-F238E27FC236}">
                  <a16:creationId xmlns:a16="http://schemas.microsoft.com/office/drawing/2014/main" id="{283B7D42-DE20-2936-F9AB-4F20278F1717}"/>
                </a:ext>
              </a:extLst>
            </p:cNvPr>
            <p:cNvGrpSpPr/>
            <p:nvPr/>
          </p:nvGrpSpPr>
          <p:grpSpPr>
            <a:xfrm>
              <a:off x="323942" y="27296807"/>
              <a:ext cx="19919177" cy="13596142"/>
              <a:chOff x="1457541" y="6755481"/>
              <a:chExt cx="19919177" cy="13596142"/>
            </a:xfrm>
          </p:grpSpPr>
          <p:sp>
            <p:nvSpPr>
              <p:cNvPr id="6" name="Title 1">
                <a:extLst>
                  <a:ext uri="{FF2B5EF4-FFF2-40B4-BE49-F238E27FC236}">
                    <a16:creationId xmlns:a16="http://schemas.microsoft.com/office/drawing/2014/main" id="{7E0B2AAA-EC2B-86EE-60AD-996E9E32F631}"/>
                  </a:ext>
                </a:extLst>
              </p:cNvPr>
              <p:cNvSpPr txBox="1">
                <a:spLocks/>
              </p:cNvSpPr>
              <p:nvPr/>
            </p:nvSpPr>
            <p:spPr>
              <a:xfrm>
                <a:off x="3144251" y="6755481"/>
                <a:ext cx="16796084" cy="1019860"/>
              </a:xfrm>
              <a:prstGeom prst="rect">
                <a:avLst/>
              </a:prstGeom>
              <a:noFill/>
              <a:ln>
                <a:noFill/>
              </a:ln>
            </p:spPr>
            <p:txBody>
              <a:bodyPr lIns="91425" tIns="91425" rIns="91425" bIns="91425" anchor="ctr" anchorCtr="0">
                <a:no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2800" b="1" dirty="0" err="1">
                    <a:solidFill>
                      <a:srgbClr val="16693F"/>
                    </a:solidFill>
                  </a:rPr>
                  <a:t>GRNsight</a:t>
                </a:r>
                <a:r>
                  <a:rPr lang="en-US" sz="2800" b="1" dirty="0">
                    <a:solidFill>
                      <a:srgbClr val="16693F"/>
                    </a:solidFill>
                  </a:rPr>
                  <a:t>, automatically lays out a gene regulatory network (GRN) graph, coloring the edges based on regulatory weights, and the nodes based on experimental or simulated expression data</a:t>
                </a:r>
              </a:p>
            </p:txBody>
          </p:sp>
          <p:sp>
            <p:nvSpPr>
              <p:cNvPr id="7" name="Google Shape;130;p1">
                <a:extLst>
                  <a:ext uri="{FF2B5EF4-FFF2-40B4-BE49-F238E27FC236}">
                    <a16:creationId xmlns:a16="http://schemas.microsoft.com/office/drawing/2014/main" id="{3D15AA64-38F3-AEC5-3710-63C9485D6141}"/>
                  </a:ext>
                </a:extLst>
              </p:cNvPr>
              <p:cNvSpPr txBox="1"/>
              <p:nvPr/>
            </p:nvSpPr>
            <p:spPr>
              <a:xfrm>
                <a:off x="11213993" y="13048643"/>
                <a:ext cx="323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endParaRPr sz="1400" b="0" i="0" u="none" strike="noStrike" cap="none">
                  <a:solidFill>
                    <a:srgbClr val="000000"/>
                  </a:solidFill>
                  <a:latin typeface="Arial"/>
                  <a:ea typeface="Arial"/>
                  <a:cs typeface="Arial"/>
                  <a:sym typeface="Arial"/>
                </a:endParaRPr>
              </a:p>
            </p:txBody>
          </p:sp>
          <p:grpSp>
            <p:nvGrpSpPr>
              <p:cNvPr id="8" name="Group 7">
                <a:extLst>
                  <a:ext uri="{FF2B5EF4-FFF2-40B4-BE49-F238E27FC236}">
                    <a16:creationId xmlns:a16="http://schemas.microsoft.com/office/drawing/2014/main" id="{C4A0CB05-2DF1-D7BA-6927-E1C70B90FBD5}"/>
                  </a:ext>
                </a:extLst>
              </p:cNvPr>
              <p:cNvGrpSpPr/>
              <p:nvPr/>
            </p:nvGrpSpPr>
            <p:grpSpPr>
              <a:xfrm>
                <a:off x="7423880" y="8147968"/>
                <a:ext cx="13926837" cy="653684"/>
                <a:chOff x="17068110" y="7276093"/>
                <a:chExt cx="13926837" cy="653684"/>
              </a:xfrm>
            </p:grpSpPr>
            <p:pic>
              <p:nvPicPr>
                <p:cNvPr id="9" name="Picture 8">
                  <a:extLst>
                    <a:ext uri="{FF2B5EF4-FFF2-40B4-BE49-F238E27FC236}">
                      <a16:creationId xmlns:a16="http://schemas.microsoft.com/office/drawing/2014/main" id="{2E502A60-75B3-70FB-9204-E50AB655174A}"/>
                    </a:ext>
                  </a:extLst>
                </p:cNvPr>
                <p:cNvPicPr>
                  <a:picLocks noChangeAspect="1"/>
                </p:cNvPicPr>
                <p:nvPr/>
              </p:nvPicPr>
              <p:blipFill rotWithShape="1">
                <a:blip r:embed="rId4">
                  <a:extLst>
                    <a:ext uri="{28A0092B-C50C-407E-A947-70E740481C1C}">
                      <a14:useLocalDpi xmlns:a14="http://schemas.microsoft.com/office/drawing/2010/main" val="0"/>
                    </a:ext>
                  </a:extLst>
                </a:blip>
                <a:srcRect l="2538" r="33299"/>
                <a:stretch/>
              </p:blipFill>
              <p:spPr>
                <a:xfrm>
                  <a:off x="17068110" y="7276093"/>
                  <a:ext cx="13421415" cy="653684"/>
                </a:xfrm>
                <a:prstGeom prst="rect">
                  <a:avLst/>
                </a:prstGeom>
              </p:spPr>
            </p:pic>
            <p:pic>
              <p:nvPicPr>
                <p:cNvPr id="10" name="Picture 9">
                  <a:extLst>
                    <a:ext uri="{FF2B5EF4-FFF2-40B4-BE49-F238E27FC236}">
                      <a16:creationId xmlns:a16="http://schemas.microsoft.com/office/drawing/2014/main" id="{AC73F4BA-3423-41AC-973A-5A09D1E0F548}"/>
                    </a:ext>
                  </a:extLst>
                </p:cNvPr>
                <p:cNvPicPr>
                  <a:picLocks noChangeAspect="1"/>
                </p:cNvPicPr>
                <p:nvPr/>
              </p:nvPicPr>
              <p:blipFill rotWithShape="1">
                <a:blip r:embed="rId4">
                  <a:extLst>
                    <a:ext uri="{28A0092B-C50C-407E-A947-70E740481C1C}">
                      <a14:useLocalDpi xmlns:a14="http://schemas.microsoft.com/office/drawing/2010/main" val="0"/>
                    </a:ext>
                  </a:extLst>
                </a:blip>
                <a:srcRect l="94713" r="1563"/>
                <a:stretch/>
              </p:blipFill>
              <p:spPr>
                <a:xfrm>
                  <a:off x="30216074" y="7276093"/>
                  <a:ext cx="778873" cy="653684"/>
                </a:xfrm>
                <a:prstGeom prst="rect">
                  <a:avLst/>
                </a:prstGeom>
              </p:spPr>
            </p:pic>
          </p:grpSp>
          <p:pic>
            <p:nvPicPr>
              <p:cNvPr id="11" name="Picture 10">
                <a:extLst>
                  <a:ext uri="{FF2B5EF4-FFF2-40B4-BE49-F238E27FC236}">
                    <a16:creationId xmlns:a16="http://schemas.microsoft.com/office/drawing/2014/main" id="{27EEAAE1-87D5-46A0-471D-DCA7845CEB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19379" y="8848105"/>
                <a:ext cx="2908300" cy="4406900"/>
              </a:xfrm>
              <a:prstGeom prst="rect">
                <a:avLst/>
              </a:prstGeom>
            </p:spPr>
          </p:pic>
          <p:pic>
            <p:nvPicPr>
              <p:cNvPr id="12" name="Picture 11">
                <a:extLst>
                  <a:ext uri="{FF2B5EF4-FFF2-40B4-BE49-F238E27FC236}">
                    <a16:creationId xmlns:a16="http://schemas.microsoft.com/office/drawing/2014/main" id="{C4B5435D-8C99-2480-5551-0D74BF7157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14090" y="13303770"/>
                <a:ext cx="2908300" cy="4178300"/>
              </a:xfrm>
              <a:prstGeom prst="rect">
                <a:avLst/>
              </a:prstGeom>
            </p:spPr>
          </p:pic>
          <p:sp>
            <p:nvSpPr>
              <p:cNvPr id="13" name="TextBox 12">
                <a:extLst>
                  <a:ext uri="{FF2B5EF4-FFF2-40B4-BE49-F238E27FC236}">
                    <a16:creationId xmlns:a16="http://schemas.microsoft.com/office/drawing/2014/main" id="{5619740A-9F0A-FA85-D1FA-A158B4DD07C1}"/>
                  </a:ext>
                </a:extLst>
              </p:cNvPr>
              <p:cNvSpPr txBox="1"/>
              <p:nvPr/>
            </p:nvSpPr>
            <p:spPr>
              <a:xfrm>
                <a:off x="1457541" y="7991983"/>
                <a:ext cx="6628123" cy="11049179"/>
              </a:xfrm>
              <a:prstGeom prst="rect">
                <a:avLst/>
              </a:prstGeom>
              <a:noFill/>
            </p:spPr>
            <p:txBody>
              <a:bodyPr wrap="square" rtlCol="0">
                <a:spAutoFit/>
              </a:bodyPr>
              <a:lstStyle/>
              <a:p>
                <a:pPr marL="342900" indent="-342900">
                  <a:buFont typeface="+mj-lt"/>
                  <a:buAutoNum type="arabicPeriod"/>
                </a:pPr>
                <a:r>
                  <a:rPr lang="en-US" sz="2200" b="1" dirty="0">
                    <a:latin typeface="Arial" panose="020B0604020202020204" pitchFamily="34" charset="0"/>
                    <a:cs typeface="Arial" panose="020B0604020202020204" pitchFamily="34" charset="0"/>
                  </a:rPr>
                  <a:t>Network</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Demo files are provided.</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Can import Excel, SIF, or </a:t>
                </a:r>
                <a:r>
                  <a:rPr lang="en-US" sz="2200" dirty="0" err="1">
                    <a:latin typeface="Arial" panose="020B0604020202020204" pitchFamily="34" charset="0"/>
                    <a:cs typeface="Arial" panose="020B0604020202020204" pitchFamily="34" charset="0"/>
                  </a:rPr>
                  <a:t>GraphML</a:t>
                </a:r>
                <a:r>
                  <a:rPr lang="en-US" sz="2200" dirty="0">
                    <a:latin typeface="Arial" panose="020B0604020202020204" pitchFamily="34" charset="0"/>
                    <a:cs typeface="Arial" panose="020B0604020202020204" pitchFamily="34" charset="0"/>
                  </a:rPr>
                  <a:t> files.</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Can construct a network from SGD regulation or PPI data stored in a backend database.</a:t>
                </a:r>
              </a:p>
              <a:p>
                <a:pPr marL="342900" indent="-342900">
                  <a:buFont typeface="+mj-lt"/>
                  <a:buAutoNum type="arabicPeriod"/>
                </a:pPr>
                <a:r>
                  <a:rPr lang="en-US" sz="2200" b="1" dirty="0">
                    <a:latin typeface="Arial" panose="020B0604020202020204" pitchFamily="34" charset="0"/>
                    <a:cs typeface="Arial" panose="020B0604020202020204" pitchFamily="34" charset="0"/>
                  </a:rPr>
                  <a:t>Layout</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Users can select force graph or grid layout.</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Force graph parameter sliders:</a:t>
                </a:r>
              </a:p>
              <a:p>
                <a:pPr marL="1147763" lvl="2" indent="-233363">
                  <a:buFont typeface="Arial" panose="020B0604020202020204" pitchFamily="34" charset="0"/>
                  <a:buChar char="‒"/>
                </a:pPr>
                <a:r>
                  <a:rPr lang="en-US" sz="1800" dirty="0">
                    <a:latin typeface="Arial" panose="020B0604020202020204" pitchFamily="34" charset="0"/>
                    <a:cs typeface="Arial" panose="020B0604020202020204" pitchFamily="34" charset="0"/>
                  </a:rPr>
                  <a:t>Link distance determines the minimum distance between nodes.</a:t>
                </a:r>
              </a:p>
              <a:p>
                <a:pPr marL="1147763" lvl="2" indent="-233363">
                  <a:buFont typeface="Arial" panose="020B0604020202020204" pitchFamily="34" charset="0"/>
                  <a:buChar char="‒"/>
                </a:pPr>
                <a:r>
                  <a:rPr lang="en-US" sz="1800" dirty="0">
                    <a:latin typeface="Arial" panose="020B0604020202020204" pitchFamily="34" charset="0"/>
                    <a:cs typeface="Arial" panose="020B0604020202020204" pitchFamily="34" charset="0"/>
                  </a:rPr>
                  <a:t>Nodes have a charge which repels or attracts </a:t>
                </a:r>
              </a:p>
              <a:p>
                <a:pPr marL="1138238" lvl="2" indent="-223838"/>
                <a:r>
                  <a:rPr lang="en-US" sz="1800" dirty="0">
                    <a:latin typeface="Arial" panose="020B0604020202020204" pitchFamily="34" charset="0"/>
                    <a:cs typeface="Arial" panose="020B0604020202020204" pitchFamily="34" charset="0"/>
                  </a:rPr>
                  <a:t>	other nodes.</a:t>
                </a:r>
              </a:p>
              <a:p>
                <a:pPr marL="342900" indent="-342900">
                  <a:buFont typeface="+mj-lt"/>
                  <a:buAutoNum type="arabicPeriod"/>
                </a:pPr>
                <a:r>
                  <a:rPr lang="en-US" sz="2200" b="1" dirty="0">
                    <a:latin typeface="Arial" panose="020B0604020202020204" pitchFamily="34" charset="0"/>
                    <a:cs typeface="Arial" panose="020B0604020202020204" pitchFamily="34" charset="0"/>
                  </a:rPr>
                  <a:t>Node</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Coloring can be based on user-uploaded expression data or from published expression datasets stored in a backend database.</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Datasets available: </a:t>
                </a:r>
              </a:p>
              <a:p>
                <a:pPr marL="1147763" lvl="2" indent="-233363">
                  <a:buFont typeface="Arial" panose="020B0604020202020204" pitchFamily="34" charset="0"/>
                  <a:buChar char="‒"/>
                </a:pPr>
                <a:r>
                  <a:rPr lang="da-DK" sz="1800" dirty="0">
                    <a:latin typeface="Arial" panose="020B0604020202020204" pitchFamily="34" charset="0"/>
                    <a:cs typeface="Arial" panose="020B0604020202020204" pitchFamily="34" charset="0"/>
                  </a:rPr>
                  <a:t>Apweiler et al. 2012, GSE33098</a:t>
                </a:r>
              </a:p>
              <a:p>
                <a:pPr marL="1147763" lvl="2" indent="-233363">
                  <a:buFont typeface="Arial" panose="020B0604020202020204" pitchFamily="34" charset="0"/>
                  <a:buChar char="‒"/>
                </a:pPr>
                <a:r>
                  <a:rPr lang="da-DK" sz="1800" dirty="0">
                    <a:latin typeface="Arial" panose="020B0604020202020204" pitchFamily="34" charset="0"/>
                    <a:cs typeface="Arial" panose="020B0604020202020204" pitchFamily="34" charset="0"/>
                  </a:rPr>
                  <a:t>Barreto et al. 2012, GSE24712</a:t>
                </a:r>
              </a:p>
              <a:p>
                <a:pPr marL="1147763" lvl="2" indent="-233363">
                  <a:buFont typeface="Arial" panose="020B0604020202020204" pitchFamily="34" charset="0"/>
                  <a:buChar char="‒"/>
                </a:pPr>
                <a:r>
                  <a:rPr lang="da-DK" sz="1800" dirty="0">
                    <a:latin typeface="Arial" panose="020B0604020202020204" pitchFamily="34" charset="0"/>
                    <a:cs typeface="Arial" panose="020B0604020202020204" pitchFamily="34" charset="0"/>
                  </a:rPr>
                  <a:t>Dahlquist et al. 2018, GSE83656</a:t>
                </a:r>
              </a:p>
              <a:p>
                <a:pPr marL="1147763" lvl="2" indent="-233363">
                  <a:buFont typeface="Arial" panose="020B0604020202020204" pitchFamily="34" charset="0"/>
                  <a:buChar char="‒"/>
                </a:pPr>
                <a:r>
                  <a:rPr lang="da-DK" sz="1800" dirty="0">
                    <a:latin typeface="Arial" panose="020B0604020202020204" pitchFamily="34" charset="0"/>
                    <a:cs typeface="Arial" panose="020B0604020202020204" pitchFamily="34" charset="0"/>
                  </a:rPr>
                  <a:t>Kitagawa et al. 2002, GSE9336 </a:t>
                </a:r>
              </a:p>
              <a:p>
                <a:pPr marL="1147763" lvl="2" indent="-233363">
                  <a:buFont typeface="Arial" panose="020B0604020202020204" pitchFamily="34" charset="0"/>
                  <a:buChar char="‒"/>
                </a:pPr>
                <a:r>
                  <a:rPr lang="da-DK" sz="1800" dirty="0">
                    <a:latin typeface="Arial" panose="020B0604020202020204" pitchFamily="34" charset="0"/>
                    <a:cs typeface="Arial" panose="020B0604020202020204" pitchFamily="34" charset="0"/>
                  </a:rPr>
                  <a:t>Thorsen et al. 2007, GSE6068</a:t>
                </a:r>
                <a:endParaRPr lang="en-US" sz="1800" dirty="0">
                  <a:latin typeface="Arial" panose="020B0604020202020204" pitchFamily="34" charset="0"/>
                  <a:cs typeface="Arial" panose="020B0604020202020204" pitchFamily="34" charset="0"/>
                </a:endParaRPr>
              </a:p>
              <a:p>
                <a:pPr marL="342900" indent="-342900">
                  <a:buFont typeface="+mj-lt"/>
                  <a:buAutoNum type="arabicPeriod"/>
                </a:pPr>
                <a:r>
                  <a:rPr lang="en-US" sz="2200" b="1" dirty="0">
                    <a:latin typeface="Arial" panose="020B0604020202020204" pitchFamily="34" charset="0"/>
                    <a:cs typeface="Arial" panose="020B0604020202020204" pitchFamily="34" charset="0"/>
                  </a:rPr>
                  <a:t>Edge</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Edge coloring can be toggled on and off.</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Buttons enable the user to always/never see edge weights, or see them upon mouseover.</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Allows user to set normalization factor so that edge thicknesses for different graphs can be rendered on the same scale.</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Changing the gray threshold deemphasizes weaker edges in the visualization.</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Presenting gray edges as dashed lines further deemphasizes weak edges.</a:t>
                </a:r>
              </a:p>
            </p:txBody>
          </p:sp>
          <p:pic>
            <p:nvPicPr>
              <p:cNvPr id="15" name="Picture 14">
                <a:extLst>
                  <a:ext uri="{FF2B5EF4-FFF2-40B4-BE49-F238E27FC236}">
                    <a16:creationId xmlns:a16="http://schemas.microsoft.com/office/drawing/2014/main" id="{3A78D854-355E-FED5-720D-0A6687AFD8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455718" y="14956854"/>
                <a:ext cx="2921000" cy="3073400"/>
              </a:xfrm>
              <a:prstGeom prst="rect">
                <a:avLst/>
              </a:prstGeom>
            </p:spPr>
          </p:pic>
          <p:pic>
            <p:nvPicPr>
              <p:cNvPr id="16" name="Picture 15">
                <a:extLst>
                  <a:ext uri="{FF2B5EF4-FFF2-40B4-BE49-F238E27FC236}">
                    <a16:creationId xmlns:a16="http://schemas.microsoft.com/office/drawing/2014/main" id="{D9B44FFC-4FBF-FB54-2776-98371EC007E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539838" y="14928723"/>
                <a:ext cx="2959100" cy="5422900"/>
              </a:xfrm>
              <a:prstGeom prst="rect">
                <a:avLst/>
              </a:prstGeom>
            </p:spPr>
          </p:pic>
          <p:pic>
            <p:nvPicPr>
              <p:cNvPr id="18" name="Picture 17">
                <a:extLst>
                  <a:ext uri="{FF2B5EF4-FFF2-40B4-BE49-F238E27FC236}">
                    <a16:creationId xmlns:a16="http://schemas.microsoft.com/office/drawing/2014/main" id="{68F868E0-F007-11A7-AC20-CBB36EDB310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284700" y="8864159"/>
                <a:ext cx="10058400" cy="5975287"/>
              </a:xfrm>
              <a:prstGeom prst="rect">
                <a:avLst/>
              </a:prstGeom>
            </p:spPr>
          </p:pic>
          <p:grpSp>
            <p:nvGrpSpPr>
              <p:cNvPr id="20" name="Google Shape;116;p1">
                <a:extLst>
                  <a:ext uri="{FF2B5EF4-FFF2-40B4-BE49-F238E27FC236}">
                    <a16:creationId xmlns:a16="http://schemas.microsoft.com/office/drawing/2014/main" id="{A4DBCB21-CEE2-BB48-4A0F-23B6CFA266BE}"/>
                  </a:ext>
                </a:extLst>
              </p:cNvPr>
              <p:cNvGrpSpPr/>
              <p:nvPr/>
            </p:nvGrpSpPr>
            <p:grpSpPr>
              <a:xfrm>
                <a:off x="19374396" y="12949669"/>
                <a:ext cx="1786246" cy="1743523"/>
                <a:chOff x="30688219" y="11355256"/>
                <a:chExt cx="1799200" cy="1743523"/>
              </a:xfrm>
            </p:grpSpPr>
            <p:sp>
              <p:nvSpPr>
                <p:cNvPr id="22" name="Google Shape;117;p1">
                  <a:extLst>
                    <a:ext uri="{FF2B5EF4-FFF2-40B4-BE49-F238E27FC236}">
                      <a16:creationId xmlns:a16="http://schemas.microsoft.com/office/drawing/2014/main" id="{7EF19AEB-7608-9BE7-5934-588391244C01}"/>
                    </a:ext>
                  </a:extLst>
                </p:cNvPr>
                <p:cNvSpPr/>
                <p:nvPr/>
              </p:nvSpPr>
              <p:spPr>
                <a:xfrm>
                  <a:off x="30710519" y="11364179"/>
                  <a:ext cx="1776900" cy="1734600"/>
                </a:xfrm>
                <a:prstGeom prst="rect">
                  <a:avLst/>
                </a:prstGeom>
                <a:noFill/>
                <a:ln w="127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23" name="Google Shape;118;p1">
                  <a:extLst>
                    <a:ext uri="{FF2B5EF4-FFF2-40B4-BE49-F238E27FC236}">
                      <a16:creationId xmlns:a16="http://schemas.microsoft.com/office/drawing/2014/main" id="{87038961-64A0-BEF5-D20B-E6272A2F0666}"/>
                    </a:ext>
                  </a:extLst>
                </p:cNvPr>
                <p:cNvCxnSpPr/>
                <p:nvPr/>
              </p:nvCxnSpPr>
              <p:spPr>
                <a:xfrm>
                  <a:off x="32001200" y="12955670"/>
                  <a:ext cx="365700" cy="0"/>
                </a:xfrm>
                <a:prstGeom prst="straightConnector1">
                  <a:avLst/>
                </a:prstGeom>
                <a:noFill/>
                <a:ln w="34925" cap="flat" cmpd="sng">
                  <a:solidFill>
                    <a:srgbClr val="807F80"/>
                  </a:solidFill>
                  <a:prstDash val="solid"/>
                  <a:round/>
                  <a:headEnd type="none" w="sm" len="sm"/>
                  <a:tailEnd type="triangle" w="med" len="med"/>
                </a:ln>
              </p:spPr>
            </p:cxnSp>
            <p:cxnSp>
              <p:nvCxnSpPr>
                <p:cNvPr id="24" name="Google Shape;119;p1">
                  <a:extLst>
                    <a:ext uri="{FF2B5EF4-FFF2-40B4-BE49-F238E27FC236}">
                      <a16:creationId xmlns:a16="http://schemas.microsoft.com/office/drawing/2014/main" id="{C65ECD98-8980-BF68-7455-D4DEDD9E42A1}"/>
                    </a:ext>
                  </a:extLst>
                </p:cNvPr>
                <p:cNvCxnSpPr/>
                <p:nvPr/>
              </p:nvCxnSpPr>
              <p:spPr>
                <a:xfrm>
                  <a:off x="31629503" y="12281806"/>
                  <a:ext cx="733500" cy="0"/>
                </a:xfrm>
                <a:prstGeom prst="straightConnector1">
                  <a:avLst/>
                </a:prstGeom>
                <a:noFill/>
                <a:ln w="57150" cap="flat" cmpd="sng">
                  <a:solidFill>
                    <a:srgbClr val="C43D3C"/>
                  </a:solidFill>
                  <a:prstDash val="solid"/>
                  <a:round/>
                  <a:headEnd type="none" w="sm" len="sm"/>
                  <a:tailEnd type="triangle" w="med" len="med"/>
                </a:ln>
              </p:spPr>
            </p:cxnSp>
            <p:grpSp>
              <p:nvGrpSpPr>
                <p:cNvPr id="32" name="Google Shape;120;p1">
                  <a:extLst>
                    <a:ext uri="{FF2B5EF4-FFF2-40B4-BE49-F238E27FC236}">
                      <a16:creationId xmlns:a16="http://schemas.microsoft.com/office/drawing/2014/main" id="{955ED64F-D3FA-088D-0369-B5061003F9BD}"/>
                    </a:ext>
                  </a:extLst>
                </p:cNvPr>
                <p:cNvGrpSpPr/>
                <p:nvPr/>
              </p:nvGrpSpPr>
              <p:grpSpPr>
                <a:xfrm>
                  <a:off x="31694421" y="12531373"/>
                  <a:ext cx="673500" cy="174833"/>
                  <a:chOff x="294155" y="3559219"/>
                  <a:chExt cx="733500" cy="260400"/>
                </a:xfrm>
              </p:grpSpPr>
              <p:cxnSp>
                <p:nvCxnSpPr>
                  <p:cNvPr id="46" name="Google Shape;121;p1">
                    <a:extLst>
                      <a:ext uri="{FF2B5EF4-FFF2-40B4-BE49-F238E27FC236}">
                        <a16:creationId xmlns:a16="http://schemas.microsoft.com/office/drawing/2014/main" id="{EB9C71B6-B87C-4EB6-E368-53C21E76A7FC}"/>
                      </a:ext>
                    </a:extLst>
                  </p:cNvPr>
                  <p:cNvCxnSpPr/>
                  <p:nvPr/>
                </p:nvCxnSpPr>
                <p:spPr>
                  <a:xfrm>
                    <a:off x="294155" y="3689468"/>
                    <a:ext cx="733500" cy="0"/>
                  </a:xfrm>
                  <a:prstGeom prst="straightConnector1">
                    <a:avLst/>
                  </a:prstGeom>
                  <a:noFill/>
                  <a:ln w="57150" cap="flat" cmpd="sng">
                    <a:solidFill>
                      <a:srgbClr val="337BB8"/>
                    </a:solidFill>
                    <a:prstDash val="solid"/>
                    <a:round/>
                    <a:headEnd type="none" w="sm" len="sm"/>
                    <a:tailEnd type="none" w="sm" len="sm"/>
                  </a:ln>
                </p:spPr>
              </p:cxnSp>
              <p:cxnSp>
                <p:nvCxnSpPr>
                  <p:cNvPr id="47" name="Google Shape;122;p1">
                    <a:extLst>
                      <a:ext uri="{FF2B5EF4-FFF2-40B4-BE49-F238E27FC236}">
                        <a16:creationId xmlns:a16="http://schemas.microsoft.com/office/drawing/2014/main" id="{42F52179-9E4E-6758-977C-EF35FA3932F4}"/>
                      </a:ext>
                    </a:extLst>
                  </p:cNvPr>
                  <p:cNvCxnSpPr/>
                  <p:nvPr/>
                </p:nvCxnSpPr>
                <p:spPr>
                  <a:xfrm>
                    <a:off x="1015403" y="3559219"/>
                    <a:ext cx="0" cy="260400"/>
                  </a:xfrm>
                  <a:prstGeom prst="straightConnector1">
                    <a:avLst/>
                  </a:prstGeom>
                  <a:noFill/>
                  <a:ln w="57150" cap="rnd" cmpd="sng">
                    <a:solidFill>
                      <a:srgbClr val="337BB8"/>
                    </a:solidFill>
                    <a:prstDash val="solid"/>
                    <a:round/>
                    <a:headEnd type="none" w="sm" len="sm"/>
                    <a:tailEnd type="none" w="sm" len="sm"/>
                  </a:ln>
                </p:spPr>
              </p:cxnSp>
            </p:grpSp>
            <p:sp>
              <p:nvSpPr>
                <p:cNvPr id="36" name="Google Shape;123;p1">
                  <a:extLst>
                    <a:ext uri="{FF2B5EF4-FFF2-40B4-BE49-F238E27FC236}">
                      <a16:creationId xmlns:a16="http://schemas.microsoft.com/office/drawing/2014/main" id="{D6533A02-B89D-CEF4-10D7-D8AB0B70D417}"/>
                    </a:ext>
                  </a:extLst>
                </p:cNvPr>
                <p:cNvSpPr txBox="1"/>
                <p:nvPr/>
              </p:nvSpPr>
              <p:spPr>
                <a:xfrm>
                  <a:off x="30688219" y="12102149"/>
                  <a:ext cx="94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activation</a:t>
                  </a:r>
                  <a:endParaRPr sz="1400" b="0" i="0" u="none" strike="noStrike" cap="none">
                    <a:solidFill>
                      <a:srgbClr val="000000"/>
                    </a:solidFill>
                    <a:latin typeface="Arial"/>
                    <a:ea typeface="Arial"/>
                    <a:cs typeface="Arial"/>
                    <a:sym typeface="Arial"/>
                  </a:endParaRPr>
                </a:p>
              </p:txBody>
            </p:sp>
            <p:sp>
              <p:nvSpPr>
                <p:cNvPr id="39" name="Google Shape;124;p1">
                  <a:extLst>
                    <a:ext uri="{FF2B5EF4-FFF2-40B4-BE49-F238E27FC236}">
                      <a16:creationId xmlns:a16="http://schemas.microsoft.com/office/drawing/2014/main" id="{3829B39C-E7A6-A8D5-57CB-D2E9DEB30607}"/>
                    </a:ext>
                  </a:extLst>
                </p:cNvPr>
                <p:cNvSpPr txBox="1"/>
                <p:nvPr/>
              </p:nvSpPr>
              <p:spPr>
                <a:xfrm>
                  <a:off x="30691825" y="12438742"/>
                  <a:ext cx="1171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repression</a:t>
                  </a:r>
                  <a:endParaRPr sz="1400" b="0" i="0" u="none" strike="noStrike" cap="none">
                    <a:solidFill>
                      <a:srgbClr val="000000"/>
                    </a:solidFill>
                    <a:latin typeface="Arial"/>
                    <a:ea typeface="Arial"/>
                    <a:cs typeface="Arial"/>
                    <a:sym typeface="Arial"/>
                  </a:endParaRPr>
                </a:p>
              </p:txBody>
            </p:sp>
            <p:sp>
              <p:nvSpPr>
                <p:cNvPr id="40" name="Google Shape;125;p1">
                  <a:extLst>
                    <a:ext uri="{FF2B5EF4-FFF2-40B4-BE49-F238E27FC236}">
                      <a16:creationId xmlns:a16="http://schemas.microsoft.com/office/drawing/2014/main" id="{6C0140FC-3F56-6329-2753-CFA11DCD5F35}"/>
                    </a:ext>
                  </a:extLst>
                </p:cNvPr>
                <p:cNvSpPr txBox="1"/>
                <p:nvPr/>
              </p:nvSpPr>
              <p:spPr>
                <a:xfrm>
                  <a:off x="30688219" y="12782546"/>
                  <a:ext cx="1369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weak influence</a:t>
                  </a:r>
                  <a:endParaRPr sz="1400" b="0" i="0" u="none" strike="noStrike" cap="none">
                    <a:solidFill>
                      <a:srgbClr val="000000"/>
                    </a:solidFill>
                    <a:latin typeface="Arial"/>
                    <a:ea typeface="Arial"/>
                    <a:cs typeface="Arial"/>
                    <a:sym typeface="Arial"/>
                  </a:endParaRPr>
                </a:p>
              </p:txBody>
            </p:sp>
            <p:pic>
              <p:nvPicPr>
                <p:cNvPr id="41" name="Google Shape;126;p1">
                  <a:extLst>
                    <a:ext uri="{FF2B5EF4-FFF2-40B4-BE49-F238E27FC236}">
                      <a16:creationId xmlns:a16="http://schemas.microsoft.com/office/drawing/2014/main" id="{4ADAE3EF-7CC3-27AC-EC85-48DFB9CE6428}"/>
                    </a:ext>
                  </a:extLst>
                </p:cNvPr>
                <p:cNvPicPr preferRelativeResize="0"/>
                <p:nvPr/>
              </p:nvPicPr>
              <p:blipFill rotWithShape="1">
                <a:blip r:embed="rId10">
                  <a:alphaModFix/>
                </a:blip>
                <a:srcRect r="4532" b="11079"/>
                <a:stretch/>
              </p:blipFill>
              <p:spPr>
                <a:xfrm>
                  <a:off x="31620078" y="11721299"/>
                  <a:ext cx="752498" cy="355862"/>
                </a:xfrm>
                <a:prstGeom prst="rect">
                  <a:avLst/>
                </a:prstGeom>
                <a:noFill/>
                <a:ln>
                  <a:noFill/>
                </a:ln>
              </p:spPr>
            </p:pic>
            <p:sp>
              <p:nvSpPr>
                <p:cNvPr id="42" name="Google Shape;127;p1">
                  <a:extLst>
                    <a:ext uri="{FF2B5EF4-FFF2-40B4-BE49-F238E27FC236}">
                      <a16:creationId xmlns:a16="http://schemas.microsoft.com/office/drawing/2014/main" id="{95BD92C7-3ABC-6FDA-7F8F-DB93B93EE96D}"/>
                    </a:ext>
                  </a:extLst>
                </p:cNvPr>
                <p:cNvSpPr txBox="1"/>
                <p:nvPr/>
              </p:nvSpPr>
              <p:spPr>
                <a:xfrm>
                  <a:off x="30698725" y="11760617"/>
                  <a:ext cx="752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gene</a:t>
                  </a:r>
                  <a:endParaRPr sz="1400" b="0" i="0" u="none" strike="noStrike" cap="none">
                    <a:solidFill>
                      <a:srgbClr val="000000"/>
                    </a:solidFill>
                    <a:latin typeface="Arial"/>
                    <a:ea typeface="Arial"/>
                    <a:cs typeface="Arial"/>
                    <a:sym typeface="Arial"/>
                  </a:endParaRPr>
                </a:p>
              </p:txBody>
            </p:sp>
            <p:sp>
              <p:nvSpPr>
                <p:cNvPr id="45" name="Google Shape;128;p1">
                  <a:extLst>
                    <a:ext uri="{FF2B5EF4-FFF2-40B4-BE49-F238E27FC236}">
                      <a16:creationId xmlns:a16="http://schemas.microsoft.com/office/drawing/2014/main" id="{B5C4E96B-135B-8CFE-FF13-8917788ADFBB}"/>
                    </a:ext>
                  </a:extLst>
                </p:cNvPr>
                <p:cNvSpPr txBox="1"/>
                <p:nvPr/>
              </p:nvSpPr>
              <p:spPr>
                <a:xfrm>
                  <a:off x="30710516" y="11355256"/>
                  <a:ext cx="17769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Arial"/>
                      <a:ea typeface="Arial"/>
                      <a:cs typeface="Arial"/>
                      <a:sym typeface="Arial"/>
                    </a:rPr>
                    <a:t>Key</a:t>
                  </a:r>
                  <a:endParaRPr sz="1400" b="0" i="0" u="none" strike="noStrike" cap="none">
                    <a:solidFill>
                      <a:srgbClr val="000000"/>
                    </a:solidFill>
                    <a:latin typeface="Arial"/>
                    <a:ea typeface="Arial"/>
                    <a:cs typeface="Arial"/>
                    <a:sym typeface="Arial"/>
                  </a:endParaRPr>
                </a:p>
              </p:txBody>
            </p:sp>
          </p:grpSp>
          <p:sp>
            <p:nvSpPr>
              <p:cNvPr id="49" name="Google Shape;129;p1">
                <a:extLst>
                  <a:ext uri="{FF2B5EF4-FFF2-40B4-BE49-F238E27FC236}">
                    <a16:creationId xmlns:a16="http://schemas.microsoft.com/office/drawing/2014/main" id="{738E083E-C5E7-AFBA-7383-8E6DB2049D30}"/>
                  </a:ext>
                </a:extLst>
              </p:cNvPr>
              <p:cNvSpPr txBox="1"/>
              <p:nvPr/>
            </p:nvSpPr>
            <p:spPr>
              <a:xfrm>
                <a:off x="7895679" y="8849098"/>
                <a:ext cx="323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1</a:t>
                </a:r>
                <a:endParaRPr sz="1400" b="0" i="0" u="none" strike="noStrike" cap="none">
                  <a:solidFill>
                    <a:srgbClr val="C33B3B"/>
                  </a:solidFill>
                  <a:latin typeface="Arial"/>
                  <a:ea typeface="Arial"/>
                  <a:cs typeface="Arial"/>
                  <a:sym typeface="Arial"/>
                </a:endParaRPr>
              </a:p>
            </p:txBody>
          </p:sp>
          <p:sp>
            <p:nvSpPr>
              <p:cNvPr id="50" name="Google Shape;141;p1">
                <a:extLst>
                  <a:ext uri="{FF2B5EF4-FFF2-40B4-BE49-F238E27FC236}">
                    <a16:creationId xmlns:a16="http://schemas.microsoft.com/office/drawing/2014/main" id="{44D58C4C-50B9-ACA2-A3BD-51BD36F29286}"/>
                  </a:ext>
                </a:extLst>
              </p:cNvPr>
              <p:cNvSpPr txBox="1"/>
              <p:nvPr/>
            </p:nvSpPr>
            <p:spPr>
              <a:xfrm>
                <a:off x="7895679" y="14157504"/>
                <a:ext cx="323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2</a:t>
                </a:r>
                <a:endParaRPr sz="1400" b="0" i="0" u="none" strike="noStrike" cap="none">
                  <a:solidFill>
                    <a:srgbClr val="C33B3B"/>
                  </a:solidFill>
                  <a:latin typeface="Arial"/>
                  <a:ea typeface="Arial"/>
                  <a:cs typeface="Arial"/>
                  <a:sym typeface="Arial"/>
                </a:endParaRPr>
              </a:p>
            </p:txBody>
          </p:sp>
          <p:sp>
            <p:nvSpPr>
              <p:cNvPr id="51" name="Google Shape;143;p1">
                <a:extLst>
                  <a:ext uri="{FF2B5EF4-FFF2-40B4-BE49-F238E27FC236}">
                    <a16:creationId xmlns:a16="http://schemas.microsoft.com/office/drawing/2014/main" id="{2132B5C3-2CEB-90F6-5B20-2E8F1FE9E436}"/>
                  </a:ext>
                </a:extLst>
              </p:cNvPr>
              <p:cNvSpPr txBox="1"/>
              <p:nvPr/>
            </p:nvSpPr>
            <p:spPr>
              <a:xfrm>
                <a:off x="18058270" y="14940812"/>
                <a:ext cx="4623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dirty="0">
                    <a:solidFill>
                      <a:srgbClr val="C33B3B"/>
                    </a:solidFill>
                    <a:latin typeface="Arial"/>
                    <a:ea typeface="Arial"/>
                    <a:cs typeface="Arial"/>
                    <a:sym typeface="Arial"/>
                  </a:rPr>
                  <a:t>5</a:t>
                </a:r>
                <a:endParaRPr sz="1400" b="0" i="0" u="none" strike="noStrike" cap="none" dirty="0">
                  <a:solidFill>
                    <a:srgbClr val="C33B3B"/>
                  </a:solidFill>
                  <a:latin typeface="Arial"/>
                  <a:ea typeface="Arial"/>
                  <a:cs typeface="Arial"/>
                  <a:sym typeface="Arial"/>
                </a:endParaRPr>
              </a:p>
            </p:txBody>
          </p:sp>
          <p:sp>
            <p:nvSpPr>
              <p:cNvPr id="52" name="Google Shape;157;p1">
                <a:extLst>
                  <a:ext uri="{FF2B5EF4-FFF2-40B4-BE49-F238E27FC236}">
                    <a16:creationId xmlns:a16="http://schemas.microsoft.com/office/drawing/2014/main" id="{CC56A9DA-1719-F225-CF66-C1D4A2F93677}"/>
                  </a:ext>
                </a:extLst>
              </p:cNvPr>
              <p:cNvSpPr txBox="1"/>
              <p:nvPr/>
            </p:nvSpPr>
            <p:spPr>
              <a:xfrm>
                <a:off x="14641501" y="14940812"/>
                <a:ext cx="323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4</a:t>
                </a:r>
                <a:endParaRPr sz="1400" b="0" i="0" u="none" strike="noStrike" cap="none">
                  <a:solidFill>
                    <a:srgbClr val="C33B3B"/>
                  </a:solidFill>
                  <a:latin typeface="Arial"/>
                  <a:ea typeface="Arial"/>
                  <a:cs typeface="Arial"/>
                  <a:sym typeface="Arial"/>
                </a:endParaRPr>
              </a:p>
            </p:txBody>
          </p:sp>
          <p:sp>
            <p:nvSpPr>
              <p:cNvPr id="53" name="Google Shape;142;p1">
                <a:extLst>
                  <a:ext uri="{FF2B5EF4-FFF2-40B4-BE49-F238E27FC236}">
                    <a16:creationId xmlns:a16="http://schemas.microsoft.com/office/drawing/2014/main" id="{88F3BEBC-DE2F-C68D-8970-928406073E44}"/>
                  </a:ext>
                </a:extLst>
              </p:cNvPr>
              <p:cNvSpPr txBox="1"/>
              <p:nvPr/>
            </p:nvSpPr>
            <p:spPr>
              <a:xfrm>
                <a:off x="11216551" y="14940812"/>
                <a:ext cx="323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a:solidFill>
                      <a:srgbClr val="C33B3B"/>
                    </a:solidFill>
                    <a:latin typeface="Arial"/>
                    <a:ea typeface="Arial"/>
                    <a:cs typeface="Arial"/>
                    <a:sym typeface="Arial"/>
                  </a:rPr>
                  <a:t>3</a:t>
                </a:r>
                <a:endParaRPr sz="1400" b="0" i="0" u="none" strike="noStrike" cap="none">
                  <a:solidFill>
                    <a:srgbClr val="C33B3B"/>
                  </a:solidFill>
                  <a:latin typeface="Arial"/>
                  <a:ea typeface="Arial"/>
                  <a:cs typeface="Arial"/>
                  <a:sym typeface="Arial"/>
                </a:endParaRPr>
              </a:p>
            </p:txBody>
          </p:sp>
          <p:pic>
            <p:nvPicPr>
              <p:cNvPr id="55" name="Picture 54">
                <a:extLst>
                  <a:ext uri="{FF2B5EF4-FFF2-40B4-BE49-F238E27FC236}">
                    <a16:creationId xmlns:a16="http://schemas.microsoft.com/office/drawing/2014/main" id="{29375A03-519F-28A3-D6DD-C704D1C71675}"/>
                  </a:ext>
                </a:extLst>
              </p:cNvPr>
              <p:cNvPicPr>
                <a:picLocks noChangeAspect="1"/>
              </p:cNvPicPr>
              <p:nvPr/>
            </p:nvPicPr>
            <p:blipFill rotWithShape="1">
              <a:blip r:embed="rId11"/>
              <a:srcRect l="14906" t="17042" r="68080" b="28965"/>
              <a:stretch/>
            </p:blipFill>
            <p:spPr>
              <a:xfrm>
                <a:off x="8153573" y="8837066"/>
                <a:ext cx="3111516" cy="5348576"/>
              </a:xfrm>
              <a:prstGeom prst="rect">
                <a:avLst/>
              </a:prstGeom>
            </p:spPr>
          </p:pic>
          <p:pic>
            <p:nvPicPr>
              <p:cNvPr id="56" name="Picture 55">
                <a:extLst>
                  <a:ext uri="{FF2B5EF4-FFF2-40B4-BE49-F238E27FC236}">
                    <a16:creationId xmlns:a16="http://schemas.microsoft.com/office/drawing/2014/main" id="{E38B6728-B064-2A24-C071-2AABA2F4BDF2}"/>
                  </a:ext>
                </a:extLst>
              </p:cNvPr>
              <p:cNvPicPr>
                <a:picLocks noChangeAspect="1"/>
              </p:cNvPicPr>
              <p:nvPr/>
            </p:nvPicPr>
            <p:blipFill rotWithShape="1">
              <a:blip r:embed="rId12"/>
              <a:srcRect l="15354" t="28878" r="68305" b="28859"/>
              <a:stretch/>
            </p:blipFill>
            <p:spPr>
              <a:xfrm>
                <a:off x="8235484" y="14134202"/>
                <a:ext cx="2988264" cy="4186514"/>
              </a:xfrm>
              <a:prstGeom prst="rect">
                <a:avLst/>
              </a:prstGeom>
            </p:spPr>
          </p:pic>
          <p:pic>
            <p:nvPicPr>
              <p:cNvPr id="70" name="Picture 69">
                <a:extLst>
                  <a:ext uri="{FF2B5EF4-FFF2-40B4-BE49-F238E27FC236}">
                    <a16:creationId xmlns:a16="http://schemas.microsoft.com/office/drawing/2014/main" id="{23775733-13F9-CACB-7565-E4C916296F6D}"/>
                  </a:ext>
                </a:extLst>
              </p:cNvPr>
              <p:cNvPicPr>
                <a:picLocks noChangeAspect="1"/>
              </p:cNvPicPr>
              <p:nvPr/>
            </p:nvPicPr>
            <p:blipFill>
              <a:blip r:embed="rId13"/>
              <a:stretch>
                <a:fillRect/>
              </a:stretch>
            </p:blipFill>
            <p:spPr>
              <a:xfrm>
                <a:off x="15067306" y="14972372"/>
                <a:ext cx="2933925" cy="5344972"/>
              </a:xfrm>
              <a:prstGeom prst="rect">
                <a:avLst/>
              </a:prstGeom>
            </p:spPr>
          </p:pic>
        </p:grpSp>
        <p:sp>
          <p:nvSpPr>
            <p:cNvPr id="75" name="TextBox 74">
              <a:extLst>
                <a:ext uri="{FF2B5EF4-FFF2-40B4-BE49-F238E27FC236}">
                  <a16:creationId xmlns:a16="http://schemas.microsoft.com/office/drawing/2014/main" id="{423EF299-E946-209F-4CB8-57B9FF8BEA91}"/>
                </a:ext>
              </a:extLst>
            </p:cNvPr>
            <p:cNvSpPr txBox="1"/>
            <p:nvPr/>
          </p:nvSpPr>
          <p:spPr>
            <a:xfrm>
              <a:off x="323942" y="39072563"/>
              <a:ext cx="7603958" cy="1446550"/>
            </a:xfrm>
            <a:prstGeom prst="rect">
              <a:avLst/>
            </a:prstGeom>
            <a:noFill/>
          </p:spPr>
          <p:txBody>
            <a:bodyPr wrap="square">
              <a:spAutoFit/>
            </a:bodyPr>
            <a:lstStyle/>
            <a:p>
              <a:pPr marL="223838" indent="-223838"/>
              <a:r>
                <a:rPr lang="en-US" sz="2200" b="1" dirty="0">
                  <a:latin typeface="Arial" panose="020B0604020202020204" pitchFamily="34" charset="0"/>
                  <a:cs typeface="Arial" panose="020B0604020202020204" pitchFamily="34" charset="0"/>
                </a:rPr>
                <a:t>5.  View</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Multiple viewport sizes available.</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Graph bounding box can be separated from viewport.</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Zooming and scrolling available.</a:t>
              </a:r>
            </a:p>
          </p:txBody>
        </p:sp>
      </p:grpSp>
      <p:sp>
        <p:nvSpPr>
          <p:cNvPr id="77" name="TextBox 76">
            <a:extLst>
              <a:ext uri="{FF2B5EF4-FFF2-40B4-BE49-F238E27FC236}">
                <a16:creationId xmlns:a16="http://schemas.microsoft.com/office/drawing/2014/main" id="{BF474652-D84C-F6D6-DC3E-66B342C5EB66}"/>
              </a:ext>
            </a:extLst>
          </p:cNvPr>
          <p:cNvSpPr txBox="1"/>
          <p:nvPr/>
        </p:nvSpPr>
        <p:spPr>
          <a:xfrm>
            <a:off x="24080963" y="29713244"/>
            <a:ext cx="2774296" cy="523220"/>
          </a:xfrm>
          <a:prstGeom prst="rect">
            <a:avLst/>
          </a:prstGeom>
          <a:noFill/>
        </p:spPr>
        <p:txBody>
          <a:bodyPr wrap="square" lIns="91440" tIns="45720" rIns="91440" bIns="45720" rtlCol="0" anchor="t">
            <a:spAutoFit/>
          </a:bodyPr>
          <a:lstStyle/>
          <a:p>
            <a:pPr algn="ctr"/>
            <a:r>
              <a:rPr lang="en-US" sz="2800" b="1" dirty="0">
                <a:solidFill>
                  <a:srgbClr val="16693F"/>
                </a:solidFill>
              </a:rPr>
              <a:t>Availability</a:t>
            </a:r>
          </a:p>
        </p:txBody>
      </p:sp>
      <p:grpSp>
        <p:nvGrpSpPr>
          <p:cNvPr id="86" name="Group 85">
            <a:extLst>
              <a:ext uri="{FF2B5EF4-FFF2-40B4-BE49-F238E27FC236}">
                <a16:creationId xmlns:a16="http://schemas.microsoft.com/office/drawing/2014/main" id="{09614A76-2E24-EC0A-1E56-2676F065C2C0}"/>
              </a:ext>
            </a:extLst>
          </p:cNvPr>
          <p:cNvGrpSpPr/>
          <p:nvPr/>
        </p:nvGrpSpPr>
        <p:grpSpPr>
          <a:xfrm>
            <a:off x="21213174" y="30178021"/>
            <a:ext cx="8329569" cy="3878943"/>
            <a:chOff x="20977982" y="30387574"/>
            <a:chExt cx="8329569" cy="3878943"/>
          </a:xfrm>
        </p:grpSpPr>
        <p:sp>
          <p:nvSpPr>
            <p:cNvPr id="78" name="TextBox 77">
              <a:extLst>
                <a:ext uri="{FF2B5EF4-FFF2-40B4-BE49-F238E27FC236}">
                  <a16:creationId xmlns:a16="http://schemas.microsoft.com/office/drawing/2014/main" id="{FAE6B8CA-FC98-E52E-8ECD-6887B28655A2}"/>
                </a:ext>
              </a:extLst>
            </p:cNvPr>
            <p:cNvSpPr txBox="1"/>
            <p:nvPr/>
          </p:nvSpPr>
          <p:spPr>
            <a:xfrm>
              <a:off x="20977982" y="32512191"/>
              <a:ext cx="8329569" cy="1754326"/>
            </a:xfrm>
            <a:prstGeom prst="rect">
              <a:avLst/>
            </a:prstGeom>
            <a:noFill/>
          </p:spPr>
          <p:txBody>
            <a:bodyPr wrap="square" lIns="91440" tIns="45720" rIns="91440" bIns="45720" rtlCol="0" anchor="t">
              <a:spAutoFit/>
            </a:bodyPr>
            <a:lstStyle/>
            <a:p>
              <a:pPr marL="228600" lvl="0" indent="-225425">
                <a:buClr>
                  <a:srgbClr val="333333"/>
                </a:buClr>
                <a:buSzPct val="100000"/>
                <a:buFont typeface="Arial"/>
                <a:buChar char="•"/>
              </a:pPr>
              <a:r>
                <a:rPr lang="en-US" sz="1800" b="1" dirty="0">
                  <a:solidFill>
                    <a:schemeClr val="dk1"/>
                  </a:solidFill>
                </a:rPr>
                <a:t>The </a:t>
              </a:r>
              <a:r>
                <a:rPr lang="en-US" sz="1800" b="1" dirty="0" err="1">
                  <a:solidFill>
                    <a:schemeClr val="dk1"/>
                  </a:solidFill>
                </a:rPr>
                <a:t>GRNmap</a:t>
              </a:r>
              <a:r>
                <a:rPr lang="en-US" sz="1800" b="1" dirty="0">
                  <a:solidFill>
                    <a:schemeClr val="dk1"/>
                  </a:solidFill>
                </a:rPr>
                <a:t> model can be run from code only on Windows with MATLAB versions 2014b or 2024b.</a:t>
              </a:r>
            </a:p>
            <a:p>
              <a:pPr marL="228600" lvl="0" indent="-225425">
                <a:buClr>
                  <a:srgbClr val="333333"/>
                </a:buClr>
                <a:buSzPct val="100000"/>
                <a:buFont typeface="Arial" panose="020B0604020202020204" pitchFamily="34" charset="0"/>
                <a:buChar char="•"/>
              </a:pPr>
              <a:r>
                <a:rPr lang="en-US" sz="1800" b="1" dirty="0">
                  <a:solidFill>
                    <a:schemeClr val="dk1"/>
                  </a:solidFill>
                </a:rPr>
                <a:t>Although originally developed with yeast data, both </a:t>
              </a:r>
              <a:r>
                <a:rPr lang="en-US" sz="1800" b="1" dirty="0" err="1">
                  <a:solidFill>
                    <a:schemeClr val="dk1"/>
                  </a:solidFill>
                </a:rPr>
                <a:t>GRNmap</a:t>
              </a:r>
              <a:r>
                <a:rPr lang="en-US" sz="1800" b="1" dirty="0">
                  <a:solidFill>
                    <a:schemeClr val="dk1"/>
                  </a:solidFill>
                </a:rPr>
                <a:t> and </a:t>
              </a:r>
              <a:r>
                <a:rPr lang="en-US" sz="1800" b="1" dirty="0" err="1">
                  <a:solidFill>
                    <a:schemeClr val="dk1"/>
                  </a:solidFill>
                </a:rPr>
                <a:t>GRNsight</a:t>
              </a:r>
              <a:r>
                <a:rPr lang="en-US" sz="1800" b="1" dirty="0">
                  <a:solidFill>
                    <a:schemeClr val="dk1"/>
                  </a:solidFill>
                </a:rPr>
                <a:t> can be used with any species for which you have time course gene expression data or an unweighted or weighted adjacency matrix, respectively.</a:t>
              </a:r>
            </a:p>
          </p:txBody>
        </p:sp>
        <p:sp>
          <p:nvSpPr>
            <p:cNvPr id="81" name="TextBox 80">
              <a:extLst>
                <a:ext uri="{FF2B5EF4-FFF2-40B4-BE49-F238E27FC236}">
                  <a16:creationId xmlns:a16="http://schemas.microsoft.com/office/drawing/2014/main" id="{B6122EA3-FEF9-53A0-9DF2-20AD7BAD1B8F}"/>
                </a:ext>
              </a:extLst>
            </p:cNvPr>
            <p:cNvSpPr txBox="1"/>
            <p:nvPr/>
          </p:nvSpPr>
          <p:spPr>
            <a:xfrm>
              <a:off x="20977982" y="30387574"/>
              <a:ext cx="7769471" cy="1138773"/>
            </a:xfrm>
            <a:prstGeom prst="rect">
              <a:avLst/>
            </a:prstGeom>
            <a:noFill/>
          </p:spPr>
          <p:txBody>
            <a:bodyPr wrap="square">
              <a:spAutoFit/>
            </a:bodyPr>
            <a:lstStyle/>
            <a:p>
              <a:pPr marL="228600" lvl="1" indent="-228600">
                <a:buFont typeface="Arial" panose="020B0604020202020204" pitchFamily="34" charset="0"/>
                <a:buChar char="•"/>
              </a:pPr>
              <a:r>
                <a:rPr lang="en-US" sz="1800" b="1" dirty="0" err="1">
                  <a:latin typeface="Arial" panose="020B0604020202020204" pitchFamily="34" charset="0"/>
                  <a:cs typeface="Arial" panose="020B0604020202020204" pitchFamily="34" charset="0"/>
                </a:rPr>
                <a:t>GRNmap</a:t>
              </a:r>
              <a:r>
                <a:rPr lang="en-US" sz="1800" b="1" dirty="0">
                  <a:latin typeface="Arial" panose="020B0604020202020204" pitchFamily="34" charset="0"/>
                  <a:cs typeface="Arial" panose="020B0604020202020204" pitchFamily="34" charset="0"/>
                </a:rPr>
                <a:t> and </a:t>
              </a:r>
              <a:r>
                <a:rPr lang="en-US" sz="1800" b="1" dirty="0" err="1">
                  <a:latin typeface="Arial" panose="020B0604020202020204" pitchFamily="34" charset="0"/>
                  <a:cs typeface="Arial" panose="020B0604020202020204" pitchFamily="34" charset="0"/>
                </a:rPr>
                <a:t>GRNsight</a:t>
              </a:r>
              <a:r>
                <a:rPr lang="en-US" sz="1800" b="1" dirty="0">
                  <a:latin typeface="Arial" panose="020B0604020202020204" pitchFamily="34" charset="0"/>
                  <a:cs typeface="Arial" panose="020B0604020202020204" pitchFamily="34" charset="0"/>
                </a:rPr>
                <a:t> are free and open to all users and there is no login requirement.</a:t>
              </a:r>
            </a:p>
            <a:p>
              <a:pPr marL="690563" lvl="2" indent="-233363">
                <a:buFont typeface="Arial" panose="020B0604020202020204" pitchFamily="34" charset="0"/>
                <a:buChar char="‒"/>
              </a:pPr>
              <a:r>
                <a:rPr lang="da-DK" sz="1600" b="1" dirty="0">
                  <a:latin typeface="Arial" panose="020B0604020202020204" pitchFamily="34" charset="0"/>
                  <a:cs typeface="Arial" panose="020B0604020202020204" pitchFamily="34" charset="0"/>
                </a:rPr>
                <a:t>http://kdahlquist.github.io/GRNmap/</a:t>
              </a:r>
            </a:p>
            <a:p>
              <a:pPr marL="690563" lvl="2" indent="-233363">
                <a:buFont typeface="Arial" panose="020B0604020202020204" pitchFamily="34" charset="0"/>
                <a:buChar char="‒"/>
              </a:pPr>
              <a:r>
                <a:rPr lang="da-DK" sz="1600" b="1" dirty="0">
                  <a:latin typeface="Arial" panose="020B0604020202020204" pitchFamily="34" charset="0"/>
                  <a:cs typeface="Arial" panose="020B0604020202020204" pitchFamily="34" charset="0"/>
                </a:rPr>
                <a:t>http://dondi.github.io/GRNsight/</a:t>
              </a:r>
            </a:p>
          </p:txBody>
        </p:sp>
        <p:sp>
          <p:nvSpPr>
            <p:cNvPr id="82" name="TextBox 81">
              <a:extLst>
                <a:ext uri="{FF2B5EF4-FFF2-40B4-BE49-F238E27FC236}">
                  <a16:creationId xmlns:a16="http://schemas.microsoft.com/office/drawing/2014/main" id="{7B88AB90-B3FB-278C-E294-31F6B9486F32}"/>
                </a:ext>
              </a:extLst>
            </p:cNvPr>
            <p:cNvSpPr txBox="1"/>
            <p:nvPr/>
          </p:nvSpPr>
          <p:spPr>
            <a:xfrm>
              <a:off x="20977982" y="31455022"/>
              <a:ext cx="7769471" cy="1138773"/>
            </a:xfrm>
            <a:prstGeom prst="rect">
              <a:avLst/>
            </a:prstGeom>
            <a:noFill/>
          </p:spPr>
          <p:txBody>
            <a:bodyPr wrap="square">
              <a:spAutoFit/>
            </a:bodyPr>
            <a:lstStyle/>
            <a:p>
              <a:pPr marL="228600" lvl="1" indent="-228600">
                <a:buFont typeface="Arial" panose="020B0604020202020204" pitchFamily="34" charset="0"/>
                <a:buChar char="•"/>
              </a:pPr>
              <a:r>
                <a:rPr lang="en-US" sz="1800" b="1" dirty="0" err="1">
                  <a:latin typeface="Arial" panose="020B0604020202020204" pitchFamily="34" charset="0"/>
                  <a:cs typeface="Arial" panose="020B0604020202020204" pitchFamily="34" charset="0"/>
                </a:rPr>
                <a:t>GRNmap</a:t>
              </a:r>
              <a:r>
                <a:rPr lang="en-US" sz="1800" b="1" dirty="0">
                  <a:latin typeface="Arial" panose="020B0604020202020204" pitchFamily="34" charset="0"/>
                  <a:cs typeface="Arial" panose="020B0604020202020204" pitchFamily="34" charset="0"/>
                </a:rPr>
                <a:t> and </a:t>
              </a:r>
              <a:r>
                <a:rPr lang="en-US" sz="1800" b="1" dirty="0" err="1">
                  <a:latin typeface="Arial" panose="020B0604020202020204" pitchFamily="34" charset="0"/>
                  <a:cs typeface="Arial" panose="020B0604020202020204" pitchFamily="34" charset="0"/>
                </a:rPr>
                <a:t>GRNsight</a:t>
              </a:r>
              <a:r>
                <a:rPr lang="en-US" sz="1800" b="1" dirty="0">
                  <a:latin typeface="Arial" panose="020B0604020202020204" pitchFamily="34" charset="0"/>
                  <a:cs typeface="Arial" panose="020B0604020202020204" pitchFamily="34" charset="0"/>
                </a:rPr>
                <a:t> code are available under the open source BSD license at our GitHub repositories.</a:t>
              </a:r>
            </a:p>
            <a:p>
              <a:pPr marL="690563" lvl="2" indent="-233363">
                <a:buFont typeface="Arial" panose="020B0604020202020204" pitchFamily="34" charset="0"/>
                <a:buChar char="‒"/>
              </a:pPr>
              <a:r>
                <a:rPr lang="da-DK" sz="1600" b="1" dirty="0">
                  <a:latin typeface="Arial" panose="020B0604020202020204" pitchFamily="34" charset="0"/>
                  <a:cs typeface="Arial" panose="020B0604020202020204" pitchFamily="34" charset="0"/>
                </a:rPr>
                <a:t>https://github.com/kdahlquist/GRNmap/</a:t>
              </a:r>
            </a:p>
            <a:p>
              <a:pPr marL="690563" lvl="2" indent="-233363">
                <a:buFont typeface="Arial" panose="020B0604020202020204" pitchFamily="34" charset="0"/>
                <a:buChar char="‒"/>
              </a:pPr>
              <a:r>
                <a:rPr lang="da-DK" sz="1600" b="1" dirty="0">
                  <a:latin typeface="Arial" panose="020B0604020202020204" pitchFamily="34" charset="0"/>
                  <a:cs typeface="Arial" panose="020B0604020202020204" pitchFamily="34" charset="0"/>
                </a:rPr>
                <a:t>https://github.com/dondi/GRNsight</a:t>
              </a:r>
            </a:p>
          </p:txBody>
        </p:sp>
      </p:grpSp>
      <p:sp>
        <p:nvSpPr>
          <p:cNvPr id="84" name="Rounded Rectangle 85">
            <a:extLst>
              <a:ext uri="{FF2B5EF4-FFF2-40B4-BE49-F238E27FC236}">
                <a16:creationId xmlns:a16="http://schemas.microsoft.com/office/drawing/2014/main" id="{0B37F0DE-857D-F9F9-FA66-713CA4398CA4}"/>
              </a:ext>
            </a:extLst>
          </p:cNvPr>
          <p:cNvSpPr>
            <a:spLocks/>
          </p:cNvSpPr>
          <p:nvPr/>
        </p:nvSpPr>
        <p:spPr>
          <a:xfrm>
            <a:off x="110833" y="5664472"/>
            <a:ext cx="14698809" cy="21003784"/>
          </a:xfrm>
          <a:prstGeom prst="roundRect">
            <a:avLst>
              <a:gd name="adj" fmla="val 7549"/>
            </a:avLst>
          </a:prstGeom>
          <a:solidFill>
            <a:schemeClr val="bg1"/>
          </a:solidFill>
          <a:ln w="57150">
            <a:solidFill>
              <a:srgbClr val="166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63" dirty="0">
                <a:latin typeface="+mj-lt"/>
                <a:ea typeface="Sans Serif Collection" panose="020B0502040504020204" pitchFamily="34" charset="0"/>
                <a:cs typeface="Sans Serif Collection" panose="020B0502040504020204" pitchFamily="34" charset="0"/>
              </a:rPr>
              <a:t>Trial 8 – best performing network </a:t>
            </a:r>
          </a:p>
          <a:p>
            <a:r>
              <a:rPr lang="en-US" sz="963" dirty="0">
                <a:latin typeface="+mj-lt"/>
                <a:ea typeface="Sans Serif Collection" panose="020B0502040504020204" pitchFamily="34" charset="0"/>
                <a:cs typeface="Sans Serif Collection" panose="020B0502040504020204" pitchFamily="34" charset="0"/>
              </a:rPr>
              <a:t>The LSE of the weights when the models were run with no parameters held constant were calculated resulting in the following:</a:t>
            </a:r>
          </a:p>
          <a:p>
            <a:r>
              <a:rPr lang="en-US" sz="963" dirty="0">
                <a:latin typeface="+mj-lt"/>
                <a:ea typeface="Sans Serif Collection" panose="020B0502040504020204" pitchFamily="34" charset="0"/>
                <a:cs typeface="Sans Serif Collection" panose="020B0502040504020204" pitchFamily="34" charset="0"/>
              </a:rPr>
              <a:t>Minimum of 0.069, median of 0.54, SD of 4.34, and maximum of 14.93</a:t>
            </a:r>
            <a:endParaRPr lang="en-US" sz="825" dirty="0">
              <a:latin typeface="+mj-lt"/>
              <a:ea typeface="Sans Serif Collection" panose="020B0502040504020204" pitchFamily="34" charset="0"/>
              <a:cs typeface="Sans Serif Collection" panose="020B0502040504020204" pitchFamily="34" charset="0"/>
            </a:endParaRPr>
          </a:p>
        </p:txBody>
      </p:sp>
      <p:sp>
        <p:nvSpPr>
          <p:cNvPr id="130" name="TextBox 129">
            <a:extLst>
              <a:ext uri="{FF2B5EF4-FFF2-40B4-BE49-F238E27FC236}">
                <a16:creationId xmlns:a16="http://schemas.microsoft.com/office/drawing/2014/main" id="{876C22AE-B406-AA5D-A683-4B95B1ED27CD}"/>
              </a:ext>
            </a:extLst>
          </p:cNvPr>
          <p:cNvSpPr txBox="1"/>
          <p:nvPr/>
        </p:nvSpPr>
        <p:spPr>
          <a:xfrm>
            <a:off x="24080963" y="27166497"/>
            <a:ext cx="2774296" cy="523220"/>
          </a:xfrm>
          <a:prstGeom prst="rect">
            <a:avLst/>
          </a:prstGeom>
          <a:noFill/>
        </p:spPr>
        <p:txBody>
          <a:bodyPr wrap="square" lIns="91440" tIns="45720" rIns="91440" bIns="45720" rtlCol="0" anchor="t">
            <a:spAutoFit/>
          </a:bodyPr>
          <a:lstStyle/>
          <a:p>
            <a:pPr algn="ctr"/>
            <a:r>
              <a:rPr lang="en-US" sz="2800" b="1" dirty="0">
                <a:solidFill>
                  <a:srgbClr val="16693F"/>
                </a:solidFill>
              </a:rPr>
              <a:t>Conclusions</a:t>
            </a:r>
          </a:p>
        </p:txBody>
      </p:sp>
      <p:graphicFrame>
        <p:nvGraphicFramePr>
          <p:cNvPr id="135" name="Object 134">
            <a:extLst>
              <a:ext uri="{FF2B5EF4-FFF2-40B4-BE49-F238E27FC236}">
                <a16:creationId xmlns:a16="http://schemas.microsoft.com/office/drawing/2014/main" id="{01485068-7EF8-937C-A122-5C9C5DB84FB3}"/>
              </a:ext>
            </a:extLst>
          </p:cNvPr>
          <p:cNvGraphicFramePr>
            <a:graphicFrameLocks noChangeAspect="1"/>
          </p:cNvGraphicFramePr>
          <p:nvPr>
            <p:extLst>
              <p:ext uri="{D42A27DB-BD31-4B8C-83A1-F6EECF244321}">
                <p14:modId xmlns:p14="http://schemas.microsoft.com/office/powerpoint/2010/main" val="3908382377"/>
              </p:ext>
            </p:extLst>
          </p:nvPr>
        </p:nvGraphicFramePr>
        <p:xfrm>
          <a:off x="1242616" y="6950703"/>
          <a:ext cx="4800600" cy="1188267"/>
        </p:xfrm>
        <a:graphic>
          <a:graphicData uri="http://schemas.openxmlformats.org/presentationml/2006/ole">
            <mc:AlternateContent xmlns:mc="http://schemas.openxmlformats.org/markup-compatibility/2006">
              <mc:Choice xmlns:v="urn:schemas-microsoft-com:vml" Requires="v">
                <p:oleObj name="Equation" r:id="rId14" imgW="2870200" imgH="711200" progId="Equation.3">
                  <p:embed/>
                </p:oleObj>
              </mc:Choice>
              <mc:Fallback>
                <p:oleObj name="Equation" r:id="rId14" imgW="2870200" imgH="711200" progId="Equation.3">
                  <p:embed/>
                  <p:pic>
                    <p:nvPicPr>
                      <p:cNvPr id="148" name="Object 14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42616" y="6950703"/>
                        <a:ext cx="4800600" cy="1188267"/>
                      </a:xfrm>
                      <a:prstGeom prst="rect">
                        <a:avLst/>
                      </a:prstGeom>
                      <a:noFill/>
                      <a:ln>
                        <a:noFill/>
                      </a:ln>
                    </p:spPr>
                  </p:pic>
                </p:oleObj>
              </mc:Fallback>
            </mc:AlternateContent>
          </a:graphicData>
        </a:graphic>
      </p:graphicFrame>
      <p:graphicFrame>
        <p:nvGraphicFramePr>
          <p:cNvPr id="142" name="Object 3">
            <a:extLst>
              <a:ext uri="{FF2B5EF4-FFF2-40B4-BE49-F238E27FC236}">
                <a16:creationId xmlns:a16="http://schemas.microsoft.com/office/drawing/2014/main" id="{50C9D9EA-6D7E-6CE1-CBD8-5704692E65FA}"/>
              </a:ext>
            </a:extLst>
          </p:cNvPr>
          <p:cNvGraphicFramePr>
            <a:graphicFrameLocks noChangeAspect="1"/>
          </p:cNvGraphicFramePr>
          <p:nvPr>
            <p:extLst>
              <p:ext uri="{D42A27DB-BD31-4B8C-83A1-F6EECF244321}">
                <p14:modId xmlns:p14="http://schemas.microsoft.com/office/powerpoint/2010/main" val="3305127598"/>
              </p:ext>
            </p:extLst>
          </p:nvPr>
        </p:nvGraphicFramePr>
        <p:xfrm>
          <a:off x="1472804" y="9234400"/>
          <a:ext cx="4340225" cy="974725"/>
        </p:xfrm>
        <a:graphic>
          <a:graphicData uri="http://schemas.openxmlformats.org/presentationml/2006/ole">
            <mc:AlternateContent xmlns:mc="http://schemas.openxmlformats.org/markup-compatibility/2006">
              <mc:Choice xmlns:v="urn:schemas-microsoft-com:vml" Requires="v">
                <p:oleObj name="Equation" r:id="rId16" imgW="2108160" imgH="444240" progId="Equation.3">
                  <p:embed/>
                </p:oleObj>
              </mc:Choice>
              <mc:Fallback>
                <p:oleObj name="Equation" r:id="rId16" imgW="2108160" imgH="444240" progId="Equation.3">
                  <p:embed/>
                  <p:pic>
                    <p:nvPicPr>
                      <p:cNvPr id="167" name="Object 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72804" y="9234400"/>
                        <a:ext cx="4340225"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0" name="Group 159">
            <a:extLst>
              <a:ext uri="{FF2B5EF4-FFF2-40B4-BE49-F238E27FC236}">
                <a16:creationId xmlns:a16="http://schemas.microsoft.com/office/drawing/2014/main" id="{731C69C9-B6F2-4B99-5BA7-A974BEE0B8AD}"/>
              </a:ext>
            </a:extLst>
          </p:cNvPr>
          <p:cNvGrpSpPr/>
          <p:nvPr/>
        </p:nvGrpSpPr>
        <p:grpSpPr>
          <a:xfrm>
            <a:off x="10386185" y="5802513"/>
            <a:ext cx="3809776" cy="3301806"/>
            <a:chOff x="-5353523" y="14235413"/>
            <a:chExt cx="3809776" cy="3301806"/>
          </a:xfrm>
        </p:grpSpPr>
        <p:grpSp>
          <p:nvGrpSpPr>
            <p:cNvPr id="153" name="Group 1184">
              <a:extLst>
                <a:ext uri="{FF2B5EF4-FFF2-40B4-BE49-F238E27FC236}">
                  <a16:creationId xmlns:a16="http://schemas.microsoft.com/office/drawing/2014/main" id="{95EA9714-101B-805D-F204-F027742AAFB3}"/>
                </a:ext>
              </a:extLst>
            </p:cNvPr>
            <p:cNvGrpSpPr>
              <a:grpSpLocks/>
            </p:cNvGrpSpPr>
            <p:nvPr/>
          </p:nvGrpSpPr>
          <p:grpSpPr bwMode="auto">
            <a:xfrm>
              <a:off x="-5353523" y="14235413"/>
              <a:ext cx="3809776" cy="3301806"/>
              <a:chOff x="666" y="21558"/>
              <a:chExt cx="2496" cy="2112"/>
            </a:xfrm>
          </p:grpSpPr>
          <p:pic>
            <p:nvPicPr>
              <p:cNvPr id="154" name="Picture 46">
                <a:extLst>
                  <a:ext uri="{FF2B5EF4-FFF2-40B4-BE49-F238E27FC236}">
                    <a16:creationId xmlns:a16="http://schemas.microsoft.com/office/drawing/2014/main" id="{B46B1BCC-4FD9-BB75-BBD8-54E1CCE26187}"/>
                  </a:ext>
                </a:extLst>
              </p:cNvPr>
              <p:cNvPicPr>
                <a:picLocks noChangeAspect="1" noChangeArrowheads="1"/>
              </p:cNvPicPr>
              <p:nvPr/>
            </p:nvPicPr>
            <p:blipFill>
              <a:blip r:embed="rId18" cstate="email">
                <a:extLst>
                  <a:ext uri="{28A0092B-C50C-407E-A947-70E740481C1C}">
                    <a14:useLocalDpi xmlns:a14="http://schemas.microsoft.com/office/drawing/2010/main" val="0"/>
                  </a:ext>
                </a:extLst>
              </a:blip>
              <a:srcRect l="28751" t="23000" r="28125" b="20000"/>
              <a:stretch>
                <a:fillRect/>
              </a:stretch>
            </p:blipFill>
            <p:spPr bwMode="auto">
              <a:xfrm>
                <a:off x="810" y="21558"/>
                <a:ext cx="2352" cy="1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 name="Rectangle 47">
                <a:extLst>
                  <a:ext uri="{FF2B5EF4-FFF2-40B4-BE49-F238E27FC236}">
                    <a16:creationId xmlns:a16="http://schemas.microsoft.com/office/drawing/2014/main" id="{DEBC7522-3A94-39A4-A6E0-9F8BE6244672}"/>
                  </a:ext>
                </a:extLst>
              </p:cNvPr>
              <p:cNvSpPr>
                <a:spLocks noChangeArrowheads="1"/>
              </p:cNvSpPr>
              <p:nvPr/>
            </p:nvSpPr>
            <p:spPr bwMode="auto">
              <a:xfrm>
                <a:off x="666" y="23334"/>
                <a:ext cx="288" cy="3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defTabSz="457200" eaLnBrk="0" hangingPunct="0">
                  <a:spcBef>
                    <a:spcPct val="20000"/>
                  </a:spcBef>
                  <a:buChar char="•"/>
                  <a:defRPr sz="3200">
                    <a:solidFill>
                      <a:schemeClr val="tx1"/>
                    </a:solidFill>
                    <a:latin typeface="Arial" pitchFamily="34" charset="0"/>
                  </a:defRPr>
                </a:lvl1pPr>
                <a:lvl2pPr marL="742950" indent="-285750" defTabSz="457200" eaLnBrk="0" hangingPunct="0">
                  <a:spcBef>
                    <a:spcPct val="20000"/>
                  </a:spcBef>
                  <a:buChar char="–"/>
                  <a:defRPr sz="2800">
                    <a:solidFill>
                      <a:schemeClr val="tx1"/>
                    </a:solidFill>
                    <a:latin typeface="Arial" pitchFamily="34" charset="0"/>
                  </a:defRPr>
                </a:lvl2pPr>
                <a:lvl3pPr marL="1143000" indent="-228600" defTabSz="457200" eaLnBrk="0" hangingPunct="0">
                  <a:spcBef>
                    <a:spcPct val="20000"/>
                  </a:spcBef>
                  <a:buChar char="•"/>
                  <a:defRPr sz="2400">
                    <a:solidFill>
                      <a:schemeClr val="tx1"/>
                    </a:solidFill>
                    <a:latin typeface="Arial" pitchFamily="34" charset="0"/>
                  </a:defRPr>
                </a:lvl3pPr>
                <a:lvl4pPr marL="1600200" indent="-228600" defTabSz="457200" eaLnBrk="0" hangingPunct="0">
                  <a:spcBef>
                    <a:spcPct val="20000"/>
                  </a:spcBef>
                  <a:buChar char="–"/>
                  <a:defRPr sz="2000">
                    <a:solidFill>
                      <a:schemeClr val="tx1"/>
                    </a:solidFill>
                    <a:latin typeface="Arial" pitchFamily="34" charset="0"/>
                  </a:defRPr>
                </a:lvl4pPr>
                <a:lvl5pPr marL="2057400" indent="-228600" defTabSz="457200" eaLnBrk="0" hangingPunct="0">
                  <a:spcBef>
                    <a:spcPct val="20000"/>
                  </a:spcBef>
                  <a:buChar char="»"/>
                  <a:defRPr sz="2000">
                    <a:solidFill>
                      <a:schemeClr val="tx1"/>
                    </a:solidFill>
                    <a:latin typeface="Arial" pitchFamily="34" charset="0"/>
                  </a:defRPr>
                </a:lvl5pPr>
                <a:lvl6pPr marL="2514600" indent="-228600" defTabSz="457200" eaLnBrk="0" fontAlgn="base" hangingPunct="0">
                  <a:spcBef>
                    <a:spcPct val="20000"/>
                  </a:spcBef>
                  <a:spcAft>
                    <a:spcPct val="0"/>
                  </a:spcAft>
                  <a:buChar char="»"/>
                  <a:defRPr sz="2000">
                    <a:solidFill>
                      <a:schemeClr val="tx1"/>
                    </a:solidFill>
                    <a:latin typeface="Arial" pitchFamily="34" charset="0"/>
                  </a:defRPr>
                </a:lvl6pPr>
                <a:lvl7pPr marL="2971800" indent="-228600" defTabSz="457200" eaLnBrk="0" fontAlgn="base" hangingPunct="0">
                  <a:spcBef>
                    <a:spcPct val="20000"/>
                  </a:spcBef>
                  <a:spcAft>
                    <a:spcPct val="0"/>
                  </a:spcAft>
                  <a:buChar char="»"/>
                  <a:defRPr sz="2000">
                    <a:solidFill>
                      <a:schemeClr val="tx1"/>
                    </a:solidFill>
                    <a:latin typeface="Arial" pitchFamily="34" charset="0"/>
                  </a:defRPr>
                </a:lvl7pPr>
                <a:lvl8pPr marL="3429000" indent="-228600" defTabSz="457200" eaLnBrk="0" fontAlgn="base" hangingPunct="0">
                  <a:spcBef>
                    <a:spcPct val="20000"/>
                  </a:spcBef>
                  <a:spcAft>
                    <a:spcPct val="0"/>
                  </a:spcAft>
                  <a:buChar char="»"/>
                  <a:defRPr sz="2000">
                    <a:solidFill>
                      <a:schemeClr val="tx1"/>
                    </a:solidFill>
                    <a:latin typeface="Arial" pitchFamily="34" charset="0"/>
                  </a:defRPr>
                </a:lvl8pPr>
                <a:lvl9pPr marL="3886200" indent="-228600" defTabSz="4572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endParaRPr lang="en-US" altLang="en-US" sz="1800">
                  <a:ea typeface="MS PGothic" pitchFamily="34" charset="-128"/>
                </a:endParaRPr>
              </a:p>
            </p:txBody>
          </p:sp>
        </p:grpSp>
        <p:sp>
          <p:nvSpPr>
            <p:cNvPr id="156" name="TextBox 155">
              <a:extLst>
                <a:ext uri="{FF2B5EF4-FFF2-40B4-BE49-F238E27FC236}">
                  <a16:creationId xmlns:a16="http://schemas.microsoft.com/office/drawing/2014/main" id="{6B82697C-FB22-CFBC-CFBC-14B729A3AE10}"/>
                </a:ext>
              </a:extLst>
            </p:cNvPr>
            <p:cNvSpPr txBox="1"/>
            <p:nvPr/>
          </p:nvSpPr>
          <p:spPr>
            <a:xfrm>
              <a:off x="-5088657" y="17103277"/>
              <a:ext cx="1309974" cy="276999"/>
            </a:xfrm>
            <a:prstGeom prst="rect">
              <a:avLst/>
            </a:prstGeom>
            <a:noFill/>
          </p:spPr>
          <p:txBody>
            <a:bodyPr wrap="none" rtlCol="0">
              <a:spAutoFit/>
            </a:bodyPr>
            <a:lstStyle/>
            <a:p>
              <a:r>
                <a:rPr lang="en-US" sz="1200" b="1"/>
                <a:t>Freeman (2002)</a:t>
              </a:r>
            </a:p>
          </p:txBody>
        </p:sp>
        <p:sp>
          <p:nvSpPr>
            <p:cNvPr id="157" name="TextBox 156">
              <a:extLst>
                <a:ext uri="{FF2B5EF4-FFF2-40B4-BE49-F238E27FC236}">
                  <a16:creationId xmlns:a16="http://schemas.microsoft.com/office/drawing/2014/main" id="{9E3E877D-D680-9A7A-BB24-D76185E7233F}"/>
                </a:ext>
              </a:extLst>
            </p:cNvPr>
            <p:cNvSpPr txBox="1"/>
            <p:nvPr/>
          </p:nvSpPr>
          <p:spPr>
            <a:xfrm>
              <a:off x="-3996634" y="15070419"/>
              <a:ext cx="435901" cy="369332"/>
            </a:xfrm>
            <a:prstGeom prst="rect">
              <a:avLst/>
            </a:prstGeom>
            <a:noFill/>
          </p:spPr>
          <p:txBody>
            <a:bodyPr wrap="square" rtlCol="0">
              <a:spAutoFit/>
            </a:bodyPr>
            <a:lstStyle/>
            <a:p>
              <a:r>
                <a:rPr lang="en-US" sz="1800" i="1" dirty="0">
                  <a:latin typeface="Times New Roman" panose="02020603050405020304" pitchFamily="18" charset="0"/>
                  <a:cs typeface="Times New Roman" panose="02020603050405020304" pitchFamily="18" charset="0"/>
                </a:rPr>
                <a:t>P</a:t>
              </a:r>
              <a:r>
                <a:rPr lang="en-US" sz="1800" i="1" baseline="-25000" dirty="0">
                  <a:latin typeface="Times New Roman" panose="02020603050405020304" pitchFamily="18" charset="0"/>
                  <a:cs typeface="Times New Roman" panose="02020603050405020304" pitchFamily="18" charset="0"/>
                </a:rPr>
                <a:t>i</a:t>
              </a:r>
            </a:p>
          </p:txBody>
        </p:sp>
        <p:sp>
          <p:nvSpPr>
            <p:cNvPr id="158" name="TextBox 157">
              <a:extLst>
                <a:ext uri="{FF2B5EF4-FFF2-40B4-BE49-F238E27FC236}">
                  <a16:creationId xmlns:a16="http://schemas.microsoft.com/office/drawing/2014/main" id="{3E1644D4-057C-7DB5-E614-91786567AD4D}"/>
                </a:ext>
              </a:extLst>
            </p:cNvPr>
            <p:cNvSpPr txBox="1"/>
            <p:nvPr/>
          </p:nvSpPr>
          <p:spPr>
            <a:xfrm>
              <a:off x="-3393061" y="15646962"/>
              <a:ext cx="435901" cy="369332"/>
            </a:xfrm>
            <a:prstGeom prst="rect">
              <a:avLst/>
            </a:prstGeom>
            <a:noFill/>
          </p:spPr>
          <p:txBody>
            <a:bodyPr wrap="square" rtlCol="0">
              <a:spAutoFit/>
            </a:bodyPr>
            <a:lstStyle/>
            <a:p>
              <a:r>
                <a:rPr lang="en-US" sz="1800" i="1" dirty="0">
                  <a:latin typeface="Times New Roman" panose="02020603050405020304" pitchFamily="18" charset="0"/>
                  <a:cs typeface="Times New Roman" panose="02020603050405020304" pitchFamily="18" charset="0"/>
                </a:rPr>
                <a:t>d</a:t>
              </a:r>
              <a:r>
                <a:rPr lang="en-US" sz="1800" i="1" baseline="-25000" dirty="0">
                  <a:latin typeface="Times New Roman" panose="02020603050405020304" pitchFamily="18" charset="0"/>
                  <a:cs typeface="Times New Roman" panose="02020603050405020304" pitchFamily="18" charset="0"/>
                </a:rPr>
                <a:t>i</a:t>
              </a:r>
            </a:p>
          </p:txBody>
        </p:sp>
      </p:grpSp>
      <p:grpSp>
        <p:nvGrpSpPr>
          <p:cNvPr id="182" name="Group 181">
            <a:extLst>
              <a:ext uri="{FF2B5EF4-FFF2-40B4-BE49-F238E27FC236}">
                <a16:creationId xmlns:a16="http://schemas.microsoft.com/office/drawing/2014/main" id="{680C546C-3B43-80DF-BEAB-EE4A68635BCE}"/>
              </a:ext>
            </a:extLst>
          </p:cNvPr>
          <p:cNvGrpSpPr/>
          <p:nvPr/>
        </p:nvGrpSpPr>
        <p:grpSpPr>
          <a:xfrm>
            <a:off x="6297244" y="9269285"/>
            <a:ext cx="8187620" cy="3511739"/>
            <a:chOff x="3381522" y="22169791"/>
            <a:chExt cx="8187620" cy="3511739"/>
          </a:xfrm>
        </p:grpSpPr>
        <p:grpSp>
          <p:nvGrpSpPr>
            <p:cNvPr id="161" name="Group 160">
              <a:extLst>
                <a:ext uri="{FF2B5EF4-FFF2-40B4-BE49-F238E27FC236}">
                  <a16:creationId xmlns:a16="http://schemas.microsoft.com/office/drawing/2014/main" id="{3C840C0E-5C23-2B44-6687-A1A5ADC83E2B}"/>
                </a:ext>
              </a:extLst>
            </p:cNvPr>
            <p:cNvGrpSpPr/>
            <p:nvPr/>
          </p:nvGrpSpPr>
          <p:grpSpPr>
            <a:xfrm>
              <a:off x="6064506" y="22169791"/>
              <a:ext cx="2786477" cy="934104"/>
              <a:chOff x="3063195" y="1371002"/>
              <a:chExt cx="2786477" cy="934104"/>
            </a:xfrm>
          </p:grpSpPr>
          <p:sp>
            <p:nvSpPr>
              <p:cNvPr id="162" name="Rounded Rectangle 1">
                <a:extLst>
                  <a:ext uri="{FF2B5EF4-FFF2-40B4-BE49-F238E27FC236}">
                    <a16:creationId xmlns:a16="http://schemas.microsoft.com/office/drawing/2014/main" id="{6A4C464F-600A-5890-3A37-A7B6B666E704}"/>
                  </a:ext>
                </a:extLst>
              </p:cNvPr>
              <p:cNvSpPr>
                <a:spLocks noChangeArrowheads="1"/>
              </p:cNvSpPr>
              <p:nvPr/>
            </p:nvSpPr>
            <p:spPr bwMode="auto">
              <a:xfrm>
                <a:off x="3201526" y="1381487"/>
                <a:ext cx="2509815" cy="923619"/>
              </a:xfrm>
              <a:prstGeom prst="roundRect">
                <a:avLst>
                  <a:gd name="adj" fmla="val 16667"/>
                </a:avLst>
              </a:prstGeom>
              <a:solidFill>
                <a:srgbClr val="297B49"/>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63" name="TextBox 2">
                <a:extLst>
                  <a:ext uri="{FF2B5EF4-FFF2-40B4-BE49-F238E27FC236}">
                    <a16:creationId xmlns:a16="http://schemas.microsoft.com/office/drawing/2014/main" id="{2EFC51EF-379E-67E1-DB5A-0F1199544657}"/>
                  </a:ext>
                </a:extLst>
              </p:cNvPr>
              <p:cNvSpPr txBox="1">
                <a:spLocks noChangeArrowheads="1"/>
              </p:cNvSpPr>
              <p:nvPr/>
            </p:nvSpPr>
            <p:spPr bwMode="auto">
              <a:xfrm>
                <a:off x="3063195" y="1371002"/>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Export to Excel</a:t>
                </a:r>
                <a:endParaRPr lang="en-US" altLang="en-US" sz="1800" b="1" dirty="0">
                  <a:solidFill>
                    <a:schemeClr val="bg1"/>
                  </a:solidFill>
                </a:endParaRPr>
              </a:p>
            </p:txBody>
          </p:sp>
        </p:grpSp>
        <p:cxnSp>
          <p:nvCxnSpPr>
            <p:cNvPr id="164" name="Straight Arrow Connector 163">
              <a:extLst>
                <a:ext uri="{FF2B5EF4-FFF2-40B4-BE49-F238E27FC236}">
                  <a16:creationId xmlns:a16="http://schemas.microsoft.com/office/drawing/2014/main" id="{C1313AFB-02E0-8BE8-6727-56A6102A80C4}"/>
                </a:ext>
              </a:extLst>
            </p:cNvPr>
            <p:cNvCxnSpPr/>
            <p:nvPr/>
          </p:nvCxnSpPr>
          <p:spPr bwMode="auto">
            <a:xfrm>
              <a:off x="9024439" y="2264177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65" name="Rounded Rectangle 1">
              <a:extLst>
                <a:ext uri="{FF2B5EF4-FFF2-40B4-BE49-F238E27FC236}">
                  <a16:creationId xmlns:a16="http://schemas.microsoft.com/office/drawing/2014/main" id="{5386DB9C-542D-8442-8A8D-D5AE096B9A30}"/>
                </a:ext>
              </a:extLst>
            </p:cNvPr>
            <p:cNvSpPr>
              <a:spLocks noChangeArrowheads="1"/>
            </p:cNvSpPr>
            <p:nvPr/>
          </p:nvSpPr>
          <p:spPr bwMode="auto">
            <a:xfrm>
              <a:off x="9059327" y="23524516"/>
              <a:ext cx="2509815" cy="923619"/>
            </a:xfrm>
            <a:prstGeom prst="roundRect">
              <a:avLst>
                <a:gd name="adj" fmla="val 16667"/>
              </a:avLst>
            </a:prstGeom>
            <a:solidFill>
              <a:srgbClr val="378B57"/>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66" name="TextBox 5">
              <a:extLst>
                <a:ext uri="{FF2B5EF4-FFF2-40B4-BE49-F238E27FC236}">
                  <a16:creationId xmlns:a16="http://schemas.microsoft.com/office/drawing/2014/main" id="{6F748B68-2E60-8006-508D-C2C74973304D}"/>
                </a:ext>
              </a:extLst>
            </p:cNvPr>
            <p:cNvSpPr txBox="1">
              <a:spLocks noChangeArrowheads="1"/>
            </p:cNvSpPr>
            <p:nvPr/>
          </p:nvSpPr>
          <p:spPr bwMode="auto">
            <a:xfrm>
              <a:off x="9059327" y="23524660"/>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eaLnBrk="1" hangingPunct="1">
                <a:spcBef>
                  <a:spcPct val="0"/>
                </a:spcBef>
                <a:buFontTx/>
                <a:buNone/>
              </a:pPr>
              <a:r>
                <a:rPr lang="en-US" altLang="en-US" sz="1800" b="1" dirty="0">
                  <a:solidFill>
                    <a:schemeClr val="bg1"/>
                  </a:solidFill>
                </a:rPr>
                <a:t>Dynamical systems modeling using </a:t>
              </a:r>
              <a:r>
                <a:rPr lang="en-US" altLang="en-US" sz="1800" b="1" dirty="0" err="1">
                  <a:solidFill>
                    <a:schemeClr val="bg1"/>
                  </a:solidFill>
                </a:rPr>
                <a:t>GRNmap</a:t>
              </a:r>
              <a:endParaRPr lang="en-US" altLang="en-US" sz="1800" b="1" dirty="0">
                <a:solidFill>
                  <a:schemeClr val="bg1"/>
                </a:solidFill>
              </a:endParaRPr>
            </a:p>
          </p:txBody>
        </p:sp>
        <p:grpSp>
          <p:nvGrpSpPr>
            <p:cNvPr id="167" name="Group 166">
              <a:extLst>
                <a:ext uri="{FF2B5EF4-FFF2-40B4-BE49-F238E27FC236}">
                  <a16:creationId xmlns:a16="http://schemas.microsoft.com/office/drawing/2014/main" id="{4060D1DA-C7D5-EEBF-97FD-9C7E63843DF4}"/>
                </a:ext>
              </a:extLst>
            </p:cNvPr>
            <p:cNvGrpSpPr/>
            <p:nvPr/>
          </p:nvGrpSpPr>
          <p:grpSpPr>
            <a:xfrm>
              <a:off x="6202837" y="24757911"/>
              <a:ext cx="2509815" cy="923619"/>
              <a:chOff x="534387" y="4504947"/>
              <a:chExt cx="2509815" cy="923619"/>
            </a:xfrm>
          </p:grpSpPr>
          <p:sp>
            <p:nvSpPr>
              <p:cNvPr id="168" name="Rounded Rectangle 1">
                <a:extLst>
                  <a:ext uri="{FF2B5EF4-FFF2-40B4-BE49-F238E27FC236}">
                    <a16:creationId xmlns:a16="http://schemas.microsoft.com/office/drawing/2014/main" id="{A404AD19-27BC-66DF-AD63-BCB0140E7007}"/>
                  </a:ext>
                </a:extLst>
              </p:cNvPr>
              <p:cNvSpPr>
                <a:spLocks noChangeArrowheads="1"/>
              </p:cNvSpPr>
              <p:nvPr/>
            </p:nvSpPr>
            <p:spPr bwMode="auto">
              <a:xfrm>
                <a:off x="534387" y="4504947"/>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69" name="TextBox 5">
                <a:extLst>
                  <a:ext uri="{FF2B5EF4-FFF2-40B4-BE49-F238E27FC236}">
                    <a16:creationId xmlns:a16="http://schemas.microsoft.com/office/drawing/2014/main" id="{E32BFD3B-DD73-E028-A412-ACD55D536BA8}"/>
                  </a:ext>
                </a:extLst>
              </p:cNvPr>
              <p:cNvSpPr txBox="1">
                <a:spLocks noChangeArrowheads="1"/>
              </p:cNvSpPr>
              <p:nvPr/>
            </p:nvSpPr>
            <p:spPr bwMode="auto">
              <a:xfrm>
                <a:off x="637563" y="4505091"/>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Visualization of  modeling results using GRNsight</a:t>
                </a:r>
                <a:endParaRPr lang="en-US" altLang="en-US" sz="1800" b="1" dirty="0">
                  <a:solidFill>
                    <a:schemeClr val="bg1"/>
                  </a:solidFill>
                </a:endParaRPr>
              </a:p>
            </p:txBody>
          </p:sp>
        </p:grpSp>
        <p:grpSp>
          <p:nvGrpSpPr>
            <p:cNvPr id="170" name="Group 169">
              <a:extLst>
                <a:ext uri="{FF2B5EF4-FFF2-40B4-BE49-F238E27FC236}">
                  <a16:creationId xmlns:a16="http://schemas.microsoft.com/office/drawing/2014/main" id="{966A5143-EE34-4049-E6C5-3635B97AA1F9}"/>
                </a:ext>
              </a:extLst>
            </p:cNvPr>
            <p:cNvGrpSpPr/>
            <p:nvPr/>
          </p:nvGrpSpPr>
          <p:grpSpPr>
            <a:xfrm>
              <a:off x="3381522" y="23521122"/>
              <a:ext cx="2509815" cy="923619"/>
              <a:chOff x="545024" y="2899435"/>
              <a:chExt cx="2509815" cy="923619"/>
            </a:xfrm>
          </p:grpSpPr>
          <p:sp>
            <p:nvSpPr>
              <p:cNvPr id="171" name="Rounded Rectangle 1">
                <a:extLst>
                  <a:ext uri="{FF2B5EF4-FFF2-40B4-BE49-F238E27FC236}">
                    <a16:creationId xmlns:a16="http://schemas.microsoft.com/office/drawing/2014/main" id="{C4F65063-10EF-4223-C3B9-D4631C2C1337}"/>
                  </a:ext>
                </a:extLst>
              </p:cNvPr>
              <p:cNvSpPr>
                <a:spLocks noChangeArrowheads="1"/>
              </p:cNvSpPr>
              <p:nvPr/>
            </p:nvSpPr>
            <p:spPr bwMode="auto">
              <a:xfrm>
                <a:off x="545024" y="2899435"/>
                <a:ext cx="2509815" cy="923619"/>
              </a:xfrm>
              <a:prstGeom prst="roundRect">
                <a:avLst>
                  <a:gd name="adj" fmla="val 16667"/>
                </a:avLst>
              </a:prstGeom>
              <a:solidFill>
                <a:srgbClr val="16693F"/>
              </a:solidFill>
              <a:ln>
                <a:noFill/>
              </a:ln>
            </p:spPr>
            <p:txBody>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eaLnBrk="1" hangingPunct="1"/>
                <a:endParaRPr lang="en-US" altLang="en-US"/>
              </a:p>
            </p:txBody>
          </p:sp>
          <p:sp>
            <p:nvSpPr>
              <p:cNvPr id="172" name="TextBox 5">
                <a:extLst>
                  <a:ext uri="{FF2B5EF4-FFF2-40B4-BE49-F238E27FC236}">
                    <a16:creationId xmlns:a16="http://schemas.microsoft.com/office/drawing/2014/main" id="{E5E27033-BB0D-16D8-FCE6-4D46050BE6CD}"/>
                  </a:ext>
                </a:extLst>
              </p:cNvPr>
              <p:cNvSpPr txBox="1">
                <a:spLocks noChangeArrowheads="1"/>
              </p:cNvSpPr>
              <p:nvPr/>
            </p:nvSpPr>
            <p:spPr bwMode="auto">
              <a:xfrm>
                <a:off x="648200" y="2899579"/>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itchFamily="34" charset="0"/>
                  </a:defRPr>
                </a:lvl1pPr>
                <a:lvl2pPr marL="742950" indent="-285750" eaLnBrk="0" hangingPunct="0">
                  <a:spcBef>
                    <a:spcPct val="20000"/>
                  </a:spcBef>
                  <a:buChar char="–"/>
                  <a:defRPr sz="2800">
                    <a:solidFill>
                      <a:schemeClr val="tx1"/>
                    </a:solidFill>
                    <a:latin typeface="Arial" pitchFamily="34" charset="0"/>
                  </a:defRPr>
                </a:lvl2pPr>
                <a:lvl3pPr marL="1143000" indent="-228600" eaLnBrk="0" hangingPunct="0">
                  <a:spcBef>
                    <a:spcPct val="20000"/>
                  </a:spcBef>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eaLnBrk="1" hangingPunct="1">
                  <a:spcBef>
                    <a:spcPct val="0"/>
                  </a:spcBef>
                  <a:buFontTx/>
                  <a:buNone/>
                </a:pPr>
                <a:r>
                  <a:rPr lang="en-US" altLang="en-US" sz="1800" b="1">
                    <a:solidFill>
                      <a:schemeClr val="bg1"/>
                    </a:solidFill>
                  </a:rPr>
                  <a:t>Select network and expression data in GRNsight</a:t>
                </a:r>
                <a:endParaRPr lang="en-US" altLang="en-US" sz="1800" b="1" dirty="0">
                  <a:solidFill>
                    <a:schemeClr val="bg1"/>
                  </a:solidFill>
                </a:endParaRPr>
              </a:p>
            </p:txBody>
          </p:sp>
        </p:grpSp>
        <p:cxnSp>
          <p:nvCxnSpPr>
            <p:cNvPr id="173" name="Straight Arrow Connector 172">
              <a:extLst>
                <a:ext uri="{FF2B5EF4-FFF2-40B4-BE49-F238E27FC236}">
                  <a16:creationId xmlns:a16="http://schemas.microsoft.com/office/drawing/2014/main" id="{18BFCB16-9592-095C-1CAE-32EA0685AF5F}"/>
                </a:ext>
              </a:extLst>
            </p:cNvPr>
            <p:cNvCxnSpPr/>
            <p:nvPr/>
          </p:nvCxnSpPr>
          <p:spPr bwMode="auto">
            <a:xfrm flipH="1">
              <a:off x="9024439" y="24522084"/>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9891BC53-A338-5308-166C-40079593517E}"/>
                </a:ext>
              </a:extLst>
            </p:cNvPr>
            <p:cNvCxnSpPr/>
            <p:nvPr/>
          </p:nvCxnSpPr>
          <p:spPr bwMode="auto">
            <a:xfrm flipV="1">
              <a:off x="4795924" y="2264177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482F41FC-9069-AF21-E8AD-1FCED83619E6}"/>
                </a:ext>
              </a:extLst>
            </p:cNvPr>
            <p:cNvCxnSpPr/>
            <p:nvPr/>
          </p:nvCxnSpPr>
          <p:spPr bwMode="auto">
            <a:xfrm flipH="1" flipV="1">
              <a:off x="4795924" y="24522084"/>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pic>
          <p:nvPicPr>
            <p:cNvPr id="176" name="Picture 175">
              <a:extLst>
                <a:ext uri="{FF2B5EF4-FFF2-40B4-BE49-F238E27FC236}">
                  <a16:creationId xmlns:a16="http://schemas.microsoft.com/office/drawing/2014/main" id="{D698FA5E-6316-96CD-A27B-E214EA8CD720}"/>
                </a:ext>
              </a:extLst>
            </p:cNvPr>
            <p:cNvPicPr>
              <a:picLocks noChangeAspect="1"/>
            </p:cNvPicPr>
            <p:nvPr/>
          </p:nvPicPr>
          <p:blipFill rotWithShape="1">
            <a:blip r:embed="rId19" cstate="print">
              <a:extLst>
                <a:ext uri="{28A0092B-C50C-407E-A947-70E740481C1C}">
                  <a14:useLocalDpi xmlns:a14="http://schemas.microsoft.com/office/drawing/2010/main" val="0"/>
                </a:ext>
              </a:extLst>
            </a:blip>
            <a:srcRect l="23115" t="25234" r="21151" b="25277"/>
            <a:stretch/>
          </p:blipFill>
          <p:spPr>
            <a:xfrm>
              <a:off x="7141467" y="22502851"/>
              <a:ext cx="632554" cy="561663"/>
            </a:xfrm>
            <a:prstGeom prst="rect">
              <a:avLst/>
            </a:prstGeom>
          </p:spPr>
        </p:pic>
        <p:pic>
          <p:nvPicPr>
            <p:cNvPr id="177" name="Picture 176">
              <a:extLst>
                <a:ext uri="{FF2B5EF4-FFF2-40B4-BE49-F238E27FC236}">
                  <a16:creationId xmlns:a16="http://schemas.microsoft.com/office/drawing/2014/main" id="{551C4331-A928-1A10-2FAD-7D708039CACD}"/>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0915922" y="23840767"/>
              <a:ext cx="577385" cy="511340"/>
            </a:xfrm>
            <a:prstGeom prst="rect">
              <a:avLst/>
            </a:prstGeom>
          </p:spPr>
        </p:pic>
        <p:pic>
          <p:nvPicPr>
            <p:cNvPr id="178" name="Picture 177">
              <a:extLst>
                <a:ext uri="{FF2B5EF4-FFF2-40B4-BE49-F238E27FC236}">
                  <a16:creationId xmlns:a16="http://schemas.microsoft.com/office/drawing/2014/main" id="{C9243AE6-0F1C-8710-1725-E52F9BBD672A}"/>
                </a:ext>
              </a:extLst>
            </p:cNvPr>
            <p:cNvPicPr>
              <a:picLocks noChangeAspect="1"/>
            </p:cNvPicPr>
            <p:nvPr/>
          </p:nvPicPr>
          <p:blipFill rotWithShape="1">
            <a:blip r:embed="rId3"/>
            <a:srcRect t="10601" b="8675"/>
            <a:stretch/>
          </p:blipFill>
          <p:spPr>
            <a:xfrm>
              <a:off x="3482280" y="24468114"/>
              <a:ext cx="1274626" cy="609062"/>
            </a:xfrm>
            <a:prstGeom prst="rect">
              <a:avLst/>
            </a:prstGeom>
            <a:ln>
              <a:noFill/>
            </a:ln>
          </p:spPr>
        </p:pic>
        <p:pic>
          <p:nvPicPr>
            <p:cNvPr id="179" name="Picture 178">
              <a:extLst>
                <a:ext uri="{FF2B5EF4-FFF2-40B4-BE49-F238E27FC236}">
                  <a16:creationId xmlns:a16="http://schemas.microsoft.com/office/drawing/2014/main" id="{2A89D061-AFFF-F449-4D11-EA5296A469D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484698" y="23123810"/>
              <a:ext cx="1252399" cy="319996"/>
            </a:xfrm>
            <a:prstGeom prst="rect">
              <a:avLst/>
            </a:prstGeom>
          </p:spPr>
        </p:pic>
      </p:grpSp>
      <p:sp>
        <p:nvSpPr>
          <p:cNvPr id="180" name="TextBox 179">
            <a:extLst>
              <a:ext uri="{FF2B5EF4-FFF2-40B4-BE49-F238E27FC236}">
                <a16:creationId xmlns:a16="http://schemas.microsoft.com/office/drawing/2014/main" id="{3288F577-AD90-42F1-DBFD-BA3B2FD8A16A}"/>
              </a:ext>
            </a:extLst>
          </p:cNvPr>
          <p:cNvSpPr txBox="1"/>
          <p:nvPr/>
        </p:nvSpPr>
        <p:spPr>
          <a:xfrm>
            <a:off x="520584" y="10421980"/>
            <a:ext cx="8183299" cy="6678751"/>
          </a:xfrm>
          <a:prstGeom prst="rect">
            <a:avLst/>
          </a:prstGeom>
          <a:noFill/>
        </p:spPr>
        <p:txBody>
          <a:bodyPr wrap="square" rtlCol="0">
            <a:spAutoFit/>
          </a:bodyPr>
          <a:lstStyle/>
          <a:p>
            <a:pPr marL="228600" indent="-228600">
              <a:buFont typeface="Arial" panose="020B0604020202020204" pitchFamily="34" charset="0"/>
              <a:buChar char="•"/>
            </a:pPr>
            <a:r>
              <a:rPr lang="en-US" sz="2400" b="1" dirty="0"/>
              <a:t>Each node represents one gene </a:t>
            </a:r>
          </a:p>
          <a:p>
            <a:r>
              <a:rPr lang="en-US" sz="2400" b="1" dirty="0"/>
              <a:t>   encoding a transcription factor.</a:t>
            </a:r>
          </a:p>
          <a:p>
            <a:pPr marL="228600" indent="-228600">
              <a:buFont typeface="Arial" panose="020B0604020202020204" pitchFamily="34" charset="0"/>
              <a:buChar char="•"/>
            </a:pPr>
            <a:r>
              <a:rPr lang="en-US" sz="2400" b="1" dirty="0">
                <a:latin typeface="Arial" charset="0"/>
              </a:rPr>
              <a:t>Each edge represents a regulatory </a:t>
            </a:r>
          </a:p>
          <a:p>
            <a:r>
              <a:rPr lang="en-US" sz="2400" b="1" dirty="0">
                <a:latin typeface="Arial" charset="0"/>
              </a:rPr>
              <a:t>   relationship.</a:t>
            </a:r>
            <a:endParaRPr lang="en-US" sz="2400" b="1" dirty="0">
              <a:latin typeface="Arial" panose="020B0604020202020204" pitchFamily="34" charset="0"/>
              <a:cs typeface="Arial" panose="020B0604020202020204" pitchFamily="34" charset="0"/>
            </a:endParaRPr>
          </a:p>
          <a:p>
            <a:pPr marL="228600" indent="-228600">
              <a:buFont typeface="Arial" panose="020B0604020202020204" pitchFamily="34" charset="0"/>
              <a:buChar char="•"/>
            </a:pPr>
            <a:r>
              <a:rPr lang="en-US" sz="2400" b="1" dirty="0">
                <a:latin typeface="Arial" panose="020B0604020202020204" pitchFamily="34" charset="0"/>
                <a:cs typeface="Arial" panose="020B0604020202020204" pitchFamily="34" charset="0"/>
              </a:rPr>
              <a:t>Model is coded in MATLAB.</a:t>
            </a:r>
          </a:p>
          <a:p>
            <a:pPr marL="228600" indent="-228600">
              <a:buFont typeface="Arial" panose="020B0604020202020204" pitchFamily="34" charset="0"/>
              <a:buChar char="•"/>
            </a:pPr>
            <a:r>
              <a:rPr lang="en-US" sz="2400" b="1" dirty="0">
                <a:latin typeface="Arial" panose="020B0604020202020204" pitchFamily="34" charset="0"/>
                <a:cs typeface="Arial" panose="020B0604020202020204" pitchFamily="34" charset="0"/>
              </a:rPr>
              <a:t>Input Excel workbook requires:</a:t>
            </a:r>
          </a:p>
          <a:p>
            <a:pPr marL="742950" lvl="1" indent="-285750">
              <a:buFont typeface="Arial" panose="020B0604020202020204" pitchFamily="34" charset="0"/>
              <a:buChar char="‒"/>
            </a:pPr>
            <a:r>
              <a:rPr lang="en-US" sz="2000" b="1" dirty="0">
                <a:latin typeface="Arial" panose="020B0604020202020204" pitchFamily="34" charset="0"/>
                <a:cs typeface="Arial" panose="020B0604020202020204" pitchFamily="34" charset="0"/>
              </a:rPr>
              <a:t>Network adjacency matrix</a:t>
            </a:r>
          </a:p>
          <a:p>
            <a:pPr marL="742950" lvl="1" indent="-285750">
              <a:buFont typeface="Arial" panose="020B0604020202020204" pitchFamily="34" charset="0"/>
              <a:buChar char="‒"/>
            </a:pPr>
            <a:r>
              <a:rPr lang="en-US" sz="2000" b="1" dirty="0" err="1">
                <a:latin typeface="Arial" panose="020B0604020202020204" pitchFamily="34" charset="0"/>
                <a:cs typeface="Arial" panose="020B0604020202020204" pitchFamily="34" charset="0"/>
              </a:rPr>
              <a:t>Timecourse</a:t>
            </a:r>
            <a:r>
              <a:rPr lang="en-US" sz="2000" b="1" dirty="0">
                <a:latin typeface="Arial" panose="020B0604020202020204" pitchFamily="34" charset="0"/>
                <a:cs typeface="Arial" panose="020B0604020202020204" pitchFamily="34" charset="0"/>
              </a:rPr>
              <a:t> expression data, </a:t>
            </a:r>
            <a:r>
              <a:rPr lang="en-US" sz="2000" b="1" i="1" dirty="0">
                <a:latin typeface="Times New Roman" panose="02020603050405020304" pitchFamily="18" charset="0"/>
                <a:cs typeface="Times New Roman" panose="02020603050405020304" pitchFamily="18" charset="0"/>
              </a:rPr>
              <a:t>x(t)</a:t>
            </a:r>
          </a:p>
          <a:p>
            <a:pPr marL="742950" lvl="1" indent="-285750">
              <a:buFont typeface="Arial" panose="020B0604020202020204" pitchFamily="34" charset="0"/>
              <a:buChar char="‒"/>
            </a:pPr>
            <a:r>
              <a:rPr lang="en-US" sz="2000" b="1" dirty="0">
                <a:latin typeface="Arial" panose="020B0604020202020204" pitchFamily="34" charset="0"/>
                <a:cs typeface="Arial" panose="020B0604020202020204" pitchFamily="34" charset="0"/>
              </a:rPr>
              <a:t>mRNA degradation rates, </a:t>
            </a:r>
            <a:r>
              <a:rPr lang="en-US" sz="2000" b="1" i="1" dirty="0">
                <a:latin typeface="Times New Roman" panose="02020603050405020304" pitchFamily="18" charset="0"/>
                <a:cs typeface="Times New Roman" panose="02020603050405020304" pitchFamily="18" charset="0"/>
              </a:rPr>
              <a:t>d</a:t>
            </a:r>
          </a:p>
          <a:p>
            <a:pPr marL="228600" indent="-228600">
              <a:buFont typeface="Arial" panose="020B0604020202020204" pitchFamily="34" charset="0"/>
              <a:buChar char="•"/>
            </a:pPr>
            <a:r>
              <a:rPr lang="en-US" sz="2400" b="1" dirty="0">
                <a:latin typeface="Arial" panose="020B0604020202020204" pitchFamily="34" charset="0"/>
                <a:cs typeface="Arial" panose="020B0604020202020204" pitchFamily="34" charset="0"/>
              </a:rPr>
              <a:t>Output workbook provides optimized:</a:t>
            </a:r>
          </a:p>
          <a:p>
            <a:pPr marL="742950" lvl="1" indent="-285750">
              <a:buFont typeface="Arial" panose="020B0604020202020204" pitchFamily="34" charset="0"/>
              <a:buChar char="‒"/>
            </a:pPr>
            <a:r>
              <a:rPr lang="en-US" sz="2000" b="1" dirty="0">
                <a:latin typeface="Arial" panose="020B0604020202020204" pitchFamily="34" charset="0"/>
                <a:cs typeface="Arial" panose="020B0604020202020204" pitchFamily="34" charset="0"/>
              </a:rPr>
              <a:t>Production rates, </a:t>
            </a:r>
            <a:r>
              <a:rPr lang="en-US" sz="2000" b="1" i="1" dirty="0">
                <a:latin typeface="Times New Roman" panose="02020603050405020304" pitchFamily="18" charset="0"/>
                <a:cs typeface="Times New Roman" panose="02020603050405020304" pitchFamily="18" charset="0"/>
              </a:rPr>
              <a:t>P</a:t>
            </a:r>
            <a:endParaRPr lang="en-US" sz="2000" b="1"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latin typeface="Arial" panose="020B0604020202020204" pitchFamily="34" charset="0"/>
                <a:cs typeface="Arial" panose="020B0604020202020204" pitchFamily="34" charset="0"/>
              </a:rPr>
              <a:t>Expression threshold, </a:t>
            </a:r>
            <a:r>
              <a:rPr lang="en-US" sz="2000" b="1" i="1" dirty="0">
                <a:latin typeface="Times New Roman" panose="02020603050405020304" pitchFamily="18" charset="0"/>
                <a:cs typeface="Times New Roman" panose="02020603050405020304" pitchFamily="18" charset="0"/>
              </a:rPr>
              <a:t>b</a:t>
            </a:r>
            <a:endParaRPr lang="en-US" sz="2000" b="1"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latin typeface="Arial" panose="020B0604020202020204" pitchFamily="34" charset="0"/>
                <a:cs typeface="Arial" panose="020B0604020202020204" pitchFamily="34" charset="0"/>
              </a:rPr>
              <a:t>Weight parameters, </a:t>
            </a:r>
            <a:r>
              <a:rPr lang="en-US" sz="2000" b="1" i="1" dirty="0">
                <a:latin typeface="Times New Roman"/>
                <a:cs typeface="Times New Roman"/>
              </a:rPr>
              <a:t>w</a:t>
            </a:r>
            <a:r>
              <a:rPr lang="en-US" sz="2000" b="1" dirty="0">
                <a:latin typeface="Arial" panose="020B0604020202020204" pitchFamily="34" charset="0"/>
                <a:cs typeface="Arial" panose="020B0604020202020204" pitchFamily="34" charset="0"/>
              </a:rPr>
              <a:t>, give the direction (activation or repression) and magnitude of the regulatory relationship</a:t>
            </a:r>
          </a:p>
          <a:p>
            <a:pPr marL="228600" indent="-228600">
              <a:buFont typeface="Arial" panose="020B0604020202020204" pitchFamily="34" charset="0"/>
              <a:buChar char="•"/>
            </a:pPr>
            <a:r>
              <a:rPr lang="en-US" sz="2400" b="1" dirty="0">
                <a:latin typeface="Arial" panose="020B0604020202020204" pitchFamily="34" charset="0"/>
                <a:cs typeface="Arial" panose="020B0604020202020204" pitchFamily="34" charset="0"/>
              </a:rPr>
              <a:t>When </a:t>
            </a:r>
            <a:r>
              <a:rPr lang="en-US" sz="2400" b="1" i="1" dirty="0">
                <a:latin typeface="Times New Roman" panose="02020603050405020304" pitchFamily="18" charset="0"/>
                <a:cs typeface="Times New Roman" panose="02020603050405020304" pitchFamily="18" charset="0"/>
              </a:rPr>
              <a:t>P</a:t>
            </a:r>
            <a:r>
              <a:rPr lang="en-US" sz="2400" b="1" dirty="0">
                <a:latin typeface="Arial" panose="020B0604020202020204" pitchFamily="34" charset="0"/>
                <a:cs typeface="Arial" panose="020B0604020202020204" pitchFamily="34" charset="0"/>
              </a:rPr>
              <a:t>s, </a:t>
            </a:r>
            <a:r>
              <a:rPr lang="en-US" sz="2400" b="1" i="1" dirty="0">
                <a:latin typeface="Times New Roman" panose="02020603050405020304" pitchFamily="18" charset="0"/>
                <a:cs typeface="Times New Roman" panose="02020603050405020304" pitchFamily="18" charset="0"/>
              </a:rPr>
              <a:t>b</a:t>
            </a:r>
            <a:r>
              <a:rPr lang="en-US" sz="2400" b="1" dirty="0">
                <a:latin typeface="Arial" panose="020B0604020202020204" pitchFamily="34" charset="0"/>
                <a:cs typeface="Arial" panose="020B0604020202020204" pitchFamily="34" charset="0"/>
              </a:rPr>
              <a:t>s, and </a:t>
            </a:r>
            <a:r>
              <a:rPr lang="en-US" sz="2400" b="1" i="1" dirty="0" err="1">
                <a:latin typeface="Times New Roman" panose="02020603050405020304" pitchFamily="18" charset="0"/>
                <a:cs typeface="Times New Roman" panose="02020603050405020304" pitchFamily="18" charset="0"/>
              </a:rPr>
              <a:t>w</a:t>
            </a:r>
            <a:r>
              <a:rPr lang="en-US" sz="2400" b="1" dirty="0" err="1">
                <a:latin typeface="Arial" panose="020B0604020202020204" pitchFamily="34" charset="0"/>
                <a:cs typeface="Arial" panose="020B0604020202020204" pitchFamily="34" charset="0"/>
              </a:rPr>
              <a:t>s</a:t>
            </a:r>
            <a:r>
              <a:rPr lang="en-US" sz="2400" b="1" dirty="0">
                <a:latin typeface="Arial" panose="020B0604020202020204" pitchFamily="34" charset="0"/>
                <a:cs typeface="Arial" panose="020B0604020202020204" pitchFamily="34" charset="0"/>
              </a:rPr>
              <a:t> are all estimated, the total number of parameters is </a:t>
            </a:r>
          </a:p>
          <a:p>
            <a:r>
              <a:rPr lang="en-US" sz="2400" b="1" dirty="0">
                <a:latin typeface="Arial" panose="020B0604020202020204" pitchFamily="34" charset="0"/>
                <a:cs typeface="Arial" panose="020B0604020202020204" pitchFamily="34" charset="0"/>
              </a:rPr>
              <a:t>   (2 X no. of genes) + no. of edges.</a:t>
            </a:r>
          </a:p>
          <a:p>
            <a:pPr marL="241300" indent="-241300">
              <a:buFont typeface="Arial" panose="020B0604020202020204" pitchFamily="34" charset="0"/>
              <a:buChar char="•"/>
            </a:pPr>
            <a:r>
              <a:rPr lang="en-US" sz="2400" b="1" dirty="0">
                <a:latin typeface="Arial" panose="020B0604020202020204" pitchFamily="34" charset="0"/>
                <a:cs typeface="Arial" panose="020B0604020202020204" pitchFamily="34" charset="0"/>
              </a:rPr>
              <a:t>However, </a:t>
            </a:r>
            <a:r>
              <a:rPr lang="en-US" sz="2400" b="1" i="1" dirty="0">
                <a:latin typeface="Times New Roman" panose="02020603050405020304" pitchFamily="18" charset="0"/>
                <a:cs typeface="Times New Roman" panose="02020603050405020304" pitchFamily="18" charset="0"/>
              </a:rPr>
              <a:t>P</a:t>
            </a:r>
            <a:r>
              <a:rPr lang="en-US" sz="2400" b="1" dirty="0">
                <a:latin typeface="Arial" panose="020B0604020202020204" pitchFamily="34" charset="0"/>
                <a:cs typeface="Arial" panose="020B0604020202020204" pitchFamily="34" charset="0"/>
              </a:rPr>
              <a:t>, </a:t>
            </a:r>
            <a:r>
              <a:rPr lang="en-US" sz="2400" b="1" i="1" dirty="0">
                <a:latin typeface="Times New Roman" panose="02020603050405020304" pitchFamily="18" charset="0"/>
                <a:cs typeface="Times New Roman" panose="02020603050405020304" pitchFamily="18" charset="0"/>
              </a:rPr>
              <a:t>b</a:t>
            </a:r>
            <a:r>
              <a:rPr lang="en-US" sz="2400" b="1" dirty="0">
                <a:latin typeface="Arial" panose="020B0604020202020204" pitchFamily="34" charset="0"/>
                <a:cs typeface="Arial" panose="020B0604020202020204" pitchFamily="34" charset="0"/>
              </a:rPr>
              <a:t>, or </a:t>
            </a:r>
            <a:r>
              <a:rPr lang="en-US" sz="2400" b="1" i="1" dirty="0">
                <a:latin typeface="Times New Roman" panose="02020603050405020304" pitchFamily="18" charset="0"/>
                <a:cs typeface="Times New Roman" panose="02020603050405020304" pitchFamily="18" charset="0"/>
              </a:rPr>
              <a:t>P</a:t>
            </a:r>
            <a:r>
              <a:rPr lang="en-US" sz="2400" b="1" dirty="0">
                <a:latin typeface="Arial" panose="020B0604020202020204" pitchFamily="34" charset="0"/>
                <a:cs typeface="Arial" panose="020B0604020202020204" pitchFamily="34" charset="0"/>
              </a:rPr>
              <a:t> and </a:t>
            </a:r>
            <a:r>
              <a:rPr lang="en-US" sz="2400" b="1" i="1" dirty="0">
                <a:latin typeface="Times New Roman" panose="02020603050405020304" pitchFamily="18" charset="0"/>
                <a:cs typeface="Times New Roman" panose="02020603050405020304" pitchFamily="18" charset="0"/>
              </a:rPr>
              <a:t>b</a:t>
            </a:r>
            <a:r>
              <a:rPr lang="en-US" sz="2400" b="1" dirty="0">
                <a:latin typeface="Arial" panose="020B0604020202020204" pitchFamily="34" charset="0"/>
                <a:cs typeface="Arial" panose="020B0604020202020204" pitchFamily="34" charset="0"/>
              </a:rPr>
              <a:t> can be held constant, reducing the number of parameters to be estimated.</a:t>
            </a:r>
          </a:p>
        </p:txBody>
      </p:sp>
      <p:graphicFrame>
        <p:nvGraphicFramePr>
          <p:cNvPr id="14" name="Table 13">
            <a:extLst>
              <a:ext uri="{FF2B5EF4-FFF2-40B4-BE49-F238E27FC236}">
                <a16:creationId xmlns:a16="http://schemas.microsoft.com/office/drawing/2014/main" id="{D4FDF131-6CD8-FC65-E08A-EDA6227BDA70}"/>
              </a:ext>
            </a:extLst>
          </p:cNvPr>
          <p:cNvGraphicFramePr>
            <a:graphicFrameLocks noGrp="1"/>
          </p:cNvGraphicFramePr>
          <p:nvPr>
            <p:extLst>
              <p:ext uri="{D42A27DB-BD31-4B8C-83A1-F6EECF244321}">
                <p14:modId xmlns:p14="http://schemas.microsoft.com/office/powerpoint/2010/main" val="4023294988"/>
              </p:ext>
            </p:extLst>
          </p:nvPr>
        </p:nvGraphicFramePr>
        <p:xfrm>
          <a:off x="16606024" y="15311445"/>
          <a:ext cx="5539587" cy="2550160"/>
        </p:xfrm>
        <a:graphic>
          <a:graphicData uri="http://schemas.openxmlformats.org/drawingml/2006/table">
            <a:tbl>
              <a:tblPr firstRow="1" bandRow="1">
                <a:tableStyleId>{5940675A-B579-460E-94D1-54222C63F5DA}</a:tableStyleId>
              </a:tblPr>
              <a:tblGrid>
                <a:gridCol w="1036551">
                  <a:extLst>
                    <a:ext uri="{9D8B030D-6E8A-4147-A177-3AD203B41FA5}">
                      <a16:colId xmlns:a16="http://schemas.microsoft.com/office/drawing/2014/main" val="2348388866"/>
                    </a:ext>
                  </a:extLst>
                </a:gridCol>
                <a:gridCol w="1101628">
                  <a:extLst>
                    <a:ext uri="{9D8B030D-6E8A-4147-A177-3AD203B41FA5}">
                      <a16:colId xmlns:a16="http://schemas.microsoft.com/office/drawing/2014/main" val="2964128758"/>
                    </a:ext>
                  </a:extLst>
                </a:gridCol>
                <a:gridCol w="1676400">
                  <a:extLst>
                    <a:ext uri="{9D8B030D-6E8A-4147-A177-3AD203B41FA5}">
                      <a16:colId xmlns:a16="http://schemas.microsoft.com/office/drawing/2014/main" val="3792741971"/>
                    </a:ext>
                  </a:extLst>
                </a:gridCol>
                <a:gridCol w="1725008">
                  <a:extLst>
                    <a:ext uri="{9D8B030D-6E8A-4147-A177-3AD203B41FA5}">
                      <a16:colId xmlns:a16="http://schemas.microsoft.com/office/drawing/2014/main" val="3182888620"/>
                    </a:ext>
                  </a:extLst>
                </a:gridCol>
              </a:tblGrid>
              <a:tr h="370840">
                <a:tc>
                  <a:txBody>
                    <a:bodyPr/>
                    <a:lstStyle/>
                    <a:p>
                      <a:endParaRPr lang="en-US" sz="1600" b="1" dirty="0"/>
                    </a:p>
                    <a:p>
                      <a:r>
                        <a:rPr lang="en-US" sz="1600" b="1" dirty="0"/>
                        <a:t>*Best</a:t>
                      </a:r>
                    </a:p>
                  </a:txBody>
                  <a:tcPr/>
                </a:tc>
                <a:tc>
                  <a:txBody>
                    <a:bodyPr/>
                    <a:lstStyle/>
                    <a:p>
                      <a:r>
                        <a:rPr lang="en-US" sz="1600" b="1" dirty="0"/>
                        <a:t>Actual Weights</a:t>
                      </a:r>
                    </a:p>
                  </a:txBody>
                  <a:tcPr/>
                </a:tc>
                <a:tc>
                  <a:txBody>
                    <a:bodyPr/>
                    <a:lstStyle/>
                    <a:p>
                      <a:r>
                        <a:rPr lang="en-US" sz="1600" b="1" dirty="0"/>
                        <a:t>Weight estimates with </a:t>
                      </a:r>
                    </a:p>
                    <a:p>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held constant</a:t>
                      </a:r>
                    </a:p>
                  </a:txBody>
                  <a:tcPr/>
                </a:tc>
                <a:tc>
                  <a:txBody>
                    <a:bodyPr/>
                    <a:lstStyle/>
                    <a:p>
                      <a:r>
                        <a:rPr lang="en-US" sz="1600" b="1" dirty="0"/>
                        <a:t>Weight estimates when </a:t>
                      </a:r>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also estimated</a:t>
                      </a:r>
                    </a:p>
                  </a:txBody>
                  <a:tcPr/>
                </a:tc>
                <a:extLst>
                  <a:ext uri="{0D108BD9-81ED-4DB2-BD59-A6C34878D82A}">
                    <a16:rowId xmlns:a16="http://schemas.microsoft.com/office/drawing/2014/main" val="3435138147"/>
                  </a:ext>
                </a:extLst>
              </a:tr>
              <a:tr h="370840">
                <a:tc>
                  <a:txBody>
                    <a:bodyPr/>
                    <a:lstStyle/>
                    <a:p>
                      <a:r>
                        <a:rPr lang="en-US" sz="1600" b="1" dirty="0"/>
                        <a:t>Weight 1</a:t>
                      </a:r>
                    </a:p>
                  </a:txBody>
                  <a:tcPr/>
                </a:tc>
                <a:tc>
                  <a:txBody>
                    <a:bodyPr/>
                    <a:lstStyle/>
                    <a:p>
                      <a:r>
                        <a:rPr lang="en-US" sz="1600" b="1" dirty="0"/>
                        <a:t>     -2</a:t>
                      </a:r>
                    </a:p>
                  </a:txBody>
                  <a:tcPr/>
                </a:tc>
                <a:tc>
                  <a:txBody>
                    <a:bodyPr/>
                    <a:lstStyle/>
                    <a:p>
                      <a:r>
                        <a:rPr lang="en-US" sz="1600" b="1" dirty="0"/>
                        <a:t>        -2.0000</a:t>
                      </a:r>
                    </a:p>
                  </a:txBody>
                  <a:tcPr/>
                </a:tc>
                <a:tc>
                  <a:txBody>
                    <a:bodyPr/>
                    <a:lstStyle/>
                    <a:p>
                      <a:r>
                        <a:rPr lang="en-US" sz="1600" b="1" dirty="0"/>
                        <a:t>        -1.9172</a:t>
                      </a:r>
                    </a:p>
                  </a:txBody>
                  <a:tcPr/>
                </a:tc>
                <a:extLst>
                  <a:ext uri="{0D108BD9-81ED-4DB2-BD59-A6C34878D82A}">
                    <a16:rowId xmlns:a16="http://schemas.microsoft.com/office/drawing/2014/main" val="3841675654"/>
                  </a:ext>
                </a:extLst>
              </a:tr>
              <a:tr h="370840">
                <a:tc>
                  <a:txBody>
                    <a:bodyPr/>
                    <a:lstStyle/>
                    <a:p>
                      <a:r>
                        <a:rPr lang="en-US" sz="1600" b="1" dirty="0"/>
                        <a:t>Weight 2</a:t>
                      </a:r>
                    </a:p>
                  </a:txBody>
                  <a:tcPr/>
                </a:tc>
                <a:tc>
                  <a:txBody>
                    <a:bodyPr/>
                    <a:lstStyle/>
                    <a:p>
                      <a:r>
                        <a:rPr lang="en-US" sz="1600" b="1" dirty="0"/>
                        <a:t>     -1</a:t>
                      </a:r>
                    </a:p>
                  </a:txBody>
                  <a:tcPr/>
                </a:tc>
                <a:tc>
                  <a:txBody>
                    <a:bodyPr/>
                    <a:lstStyle/>
                    <a:p>
                      <a:r>
                        <a:rPr lang="en-US" sz="1600" b="1" dirty="0"/>
                        <a:t>        -1.0000</a:t>
                      </a:r>
                    </a:p>
                  </a:txBody>
                  <a:tcPr/>
                </a:tc>
                <a:tc>
                  <a:txBody>
                    <a:bodyPr/>
                    <a:lstStyle/>
                    <a:p>
                      <a:r>
                        <a:rPr lang="en-US" sz="1600" b="1" dirty="0"/>
                        <a:t>        -0.9030</a:t>
                      </a:r>
                    </a:p>
                  </a:txBody>
                  <a:tcPr/>
                </a:tc>
                <a:extLst>
                  <a:ext uri="{0D108BD9-81ED-4DB2-BD59-A6C34878D82A}">
                    <a16:rowId xmlns:a16="http://schemas.microsoft.com/office/drawing/2014/main" val="1220385822"/>
                  </a:ext>
                </a:extLst>
              </a:tr>
              <a:tr h="370840">
                <a:tc>
                  <a:txBody>
                    <a:bodyPr/>
                    <a:lstStyle/>
                    <a:p>
                      <a:r>
                        <a:rPr lang="en-US" sz="1600" b="1" dirty="0"/>
                        <a:t>Weight 3</a:t>
                      </a:r>
                    </a:p>
                  </a:txBody>
                  <a:tcPr/>
                </a:tc>
                <a:tc>
                  <a:txBody>
                    <a:bodyPr/>
                    <a:lstStyle/>
                    <a:p>
                      <a:r>
                        <a:rPr lang="en-US" sz="1600" b="1" dirty="0"/>
                        <a:t>      1</a:t>
                      </a:r>
                    </a:p>
                  </a:txBody>
                  <a:tcPr/>
                </a:tc>
                <a:tc>
                  <a:txBody>
                    <a:bodyPr/>
                    <a:lstStyle/>
                    <a:p>
                      <a:r>
                        <a:rPr lang="en-US" sz="1600" b="1" dirty="0"/>
                        <a:t>         1.0000</a:t>
                      </a:r>
                    </a:p>
                  </a:txBody>
                  <a:tcPr/>
                </a:tc>
                <a:tc>
                  <a:txBody>
                    <a:bodyPr/>
                    <a:lstStyle/>
                    <a:p>
                      <a:r>
                        <a:rPr lang="en-US" sz="1600" b="1" dirty="0"/>
                        <a:t>         0.9764</a:t>
                      </a:r>
                    </a:p>
                  </a:txBody>
                  <a:tcPr/>
                </a:tc>
                <a:extLst>
                  <a:ext uri="{0D108BD9-81ED-4DB2-BD59-A6C34878D82A}">
                    <a16:rowId xmlns:a16="http://schemas.microsoft.com/office/drawing/2014/main" val="3492808468"/>
                  </a:ext>
                </a:extLst>
              </a:tr>
              <a:tr h="370840">
                <a:tc>
                  <a:txBody>
                    <a:bodyPr/>
                    <a:lstStyle/>
                    <a:p>
                      <a:r>
                        <a:rPr lang="en-US" sz="1600" b="1" dirty="0"/>
                        <a:t>Weight 4</a:t>
                      </a:r>
                    </a:p>
                  </a:txBody>
                  <a:tcPr/>
                </a:tc>
                <a:tc>
                  <a:txBody>
                    <a:bodyPr/>
                    <a:lstStyle/>
                    <a:p>
                      <a:r>
                        <a:rPr lang="en-US" sz="1600" b="1" dirty="0"/>
                        <a:t>      2</a:t>
                      </a:r>
                    </a:p>
                  </a:txBody>
                  <a:tcPr/>
                </a:tc>
                <a:tc>
                  <a:txBody>
                    <a:bodyPr/>
                    <a:lstStyle/>
                    <a:p>
                      <a:r>
                        <a:rPr lang="en-US" sz="1600" b="1" dirty="0"/>
                        <a:t>         2.0000</a:t>
                      </a:r>
                    </a:p>
                  </a:txBody>
                  <a:tcPr/>
                </a:tc>
                <a:tc>
                  <a:txBody>
                    <a:bodyPr/>
                    <a:lstStyle/>
                    <a:p>
                      <a:r>
                        <a:rPr lang="en-US" sz="1600" b="1" dirty="0"/>
                        <a:t>         1.9388</a:t>
                      </a:r>
                    </a:p>
                  </a:txBody>
                  <a:tcPr/>
                </a:tc>
                <a:extLst>
                  <a:ext uri="{0D108BD9-81ED-4DB2-BD59-A6C34878D82A}">
                    <a16:rowId xmlns:a16="http://schemas.microsoft.com/office/drawing/2014/main" val="3167986225"/>
                  </a:ext>
                </a:extLst>
              </a:tr>
            </a:tbl>
          </a:graphicData>
        </a:graphic>
      </p:graphicFrame>
      <p:graphicFrame>
        <p:nvGraphicFramePr>
          <p:cNvPr id="17" name="Table 16">
            <a:extLst>
              <a:ext uri="{FF2B5EF4-FFF2-40B4-BE49-F238E27FC236}">
                <a16:creationId xmlns:a16="http://schemas.microsoft.com/office/drawing/2014/main" id="{86ACD4D7-DE59-404D-D43D-377F1166618D}"/>
              </a:ext>
            </a:extLst>
          </p:cNvPr>
          <p:cNvGraphicFramePr>
            <a:graphicFrameLocks noGrp="1"/>
          </p:cNvGraphicFramePr>
          <p:nvPr>
            <p:extLst>
              <p:ext uri="{D42A27DB-BD31-4B8C-83A1-F6EECF244321}">
                <p14:modId xmlns:p14="http://schemas.microsoft.com/office/powerpoint/2010/main" val="3455263153"/>
              </p:ext>
            </p:extLst>
          </p:nvPr>
        </p:nvGraphicFramePr>
        <p:xfrm>
          <a:off x="23780125" y="15311445"/>
          <a:ext cx="5539587" cy="2550160"/>
        </p:xfrm>
        <a:graphic>
          <a:graphicData uri="http://schemas.openxmlformats.org/drawingml/2006/table">
            <a:tbl>
              <a:tblPr firstRow="1" bandRow="1">
                <a:tableStyleId>{5940675A-B579-460E-94D1-54222C63F5DA}</a:tableStyleId>
              </a:tblPr>
              <a:tblGrid>
                <a:gridCol w="1050199">
                  <a:extLst>
                    <a:ext uri="{9D8B030D-6E8A-4147-A177-3AD203B41FA5}">
                      <a16:colId xmlns:a16="http://schemas.microsoft.com/office/drawing/2014/main" val="2348388866"/>
                    </a:ext>
                  </a:extLst>
                </a:gridCol>
                <a:gridCol w="1087980">
                  <a:extLst>
                    <a:ext uri="{9D8B030D-6E8A-4147-A177-3AD203B41FA5}">
                      <a16:colId xmlns:a16="http://schemas.microsoft.com/office/drawing/2014/main" val="2964128758"/>
                    </a:ext>
                  </a:extLst>
                </a:gridCol>
                <a:gridCol w="1676400">
                  <a:extLst>
                    <a:ext uri="{9D8B030D-6E8A-4147-A177-3AD203B41FA5}">
                      <a16:colId xmlns:a16="http://schemas.microsoft.com/office/drawing/2014/main" val="3792741971"/>
                    </a:ext>
                  </a:extLst>
                </a:gridCol>
                <a:gridCol w="1725008">
                  <a:extLst>
                    <a:ext uri="{9D8B030D-6E8A-4147-A177-3AD203B41FA5}">
                      <a16:colId xmlns:a16="http://schemas.microsoft.com/office/drawing/2014/main" val="3182888620"/>
                    </a:ext>
                  </a:extLst>
                </a:gridCol>
              </a:tblGrid>
              <a:tr h="370840">
                <a:tc>
                  <a:txBody>
                    <a:bodyPr/>
                    <a:lstStyle/>
                    <a:p>
                      <a:endParaRPr lang="en-US" sz="1600" b="1" dirty="0"/>
                    </a:p>
                    <a:p>
                      <a:r>
                        <a:rPr lang="en-US" sz="1600" b="1" dirty="0"/>
                        <a:t>**Best</a:t>
                      </a:r>
                    </a:p>
                  </a:txBody>
                  <a:tcPr/>
                </a:tc>
                <a:tc>
                  <a:txBody>
                    <a:bodyPr/>
                    <a:lstStyle/>
                    <a:p>
                      <a:r>
                        <a:rPr lang="en-US" sz="1600" b="1" dirty="0"/>
                        <a:t>Actual Weights</a:t>
                      </a:r>
                    </a:p>
                  </a:txBody>
                  <a:tcPr/>
                </a:tc>
                <a:tc>
                  <a:txBody>
                    <a:bodyPr/>
                    <a:lstStyle/>
                    <a:p>
                      <a:r>
                        <a:rPr lang="en-US" sz="1600" b="1" dirty="0"/>
                        <a:t>Weight estimates with </a:t>
                      </a:r>
                    </a:p>
                    <a:p>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held constant</a:t>
                      </a:r>
                    </a:p>
                  </a:txBody>
                  <a:tcPr/>
                </a:tc>
                <a:tc>
                  <a:txBody>
                    <a:bodyPr/>
                    <a:lstStyle/>
                    <a:p>
                      <a:r>
                        <a:rPr lang="en-US" sz="1600" b="1" dirty="0"/>
                        <a:t>Weight estimates when </a:t>
                      </a:r>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also estimated</a:t>
                      </a:r>
                    </a:p>
                  </a:txBody>
                  <a:tcPr/>
                </a:tc>
                <a:extLst>
                  <a:ext uri="{0D108BD9-81ED-4DB2-BD59-A6C34878D82A}">
                    <a16:rowId xmlns:a16="http://schemas.microsoft.com/office/drawing/2014/main" val="3435138147"/>
                  </a:ext>
                </a:extLst>
              </a:tr>
              <a:tr h="370840">
                <a:tc>
                  <a:txBody>
                    <a:bodyPr/>
                    <a:lstStyle/>
                    <a:p>
                      <a:r>
                        <a:rPr lang="en-US" sz="1600" b="1" dirty="0"/>
                        <a:t>Weight 1</a:t>
                      </a:r>
                    </a:p>
                  </a:txBody>
                  <a:tcPr/>
                </a:tc>
                <a:tc>
                  <a:txBody>
                    <a:bodyPr/>
                    <a:lstStyle/>
                    <a:p>
                      <a:r>
                        <a:rPr lang="en-US" sz="1600" b="1" dirty="0"/>
                        <a:t>     -2</a:t>
                      </a:r>
                    </a:p>
                  </a:txBody>
                  <a:tcPr/>
                </a:tc>
                <a:tc>
                  <a:txBody>
                    <a:bodyPr/>
                    <a:lstStyle/>
                    <a:p>
                      <a:r>
                        <a:rPr lang="en-US" sz="1600" b="1" dirty="0"/>
                        <a:t>         -2.0000</a:t>
                      </a:r>
                    </a:p>
                  </a:txBody>
                  <a:tcPr/>
                </a:tc>
                <a:tc>
                  <a:txBody>
                    <a:bodyPr/>
                    <a:lstStyle/>
                    <a:p>
                      <a:r>
                        <a:rPr lang="en-US" sz="1600" b="1" dirty="0"/>
                        <a:t>       -2.0121</a:t>
                      </a:r>
                    </a:p>
                  </a:txBody>
                  <a:tcPr/>
                </a:tc>
                <a:extLst>
                  <a:ext uri="{0D108BD9-81ED-4DB2-BD59-A6C34878D82A}">
                    <a16:rowId xmlns:a16="http://schemas.microsoft.com/office/drawing/2014/main" val="3841675654"/>
                  </a:ext>
                </a:extLst>
              </a:tr>
              <a:tr h="370840">
                <a:tc>
                  <a:txBody>
                    <a:bodyPr/>
                    <a:lstStyle/>
                    <a:p>
                      <a:r>
                        <a:rPr lang="en-US" sz="1600" b="1" dirty="0"/>
                        <a:t>Weight 2</a:t>
                      </a:r>
                    </a:p>
                  </a:txBody>
                  <a:tcPr/>
                </a:tc>
                <a:tc>
                  <a:txBody>
                    <a:bodyPr/>
                    <a:lstStyle/>
                    <a:p>
                      <a:r>
                        <a:rPr lang="en-US" sz="1600" b="1" dirty="0"/>
                        <a:t>      2</a:t>
                      </a:r>
                    </a:p>
                  </a:txBody>
                  <a:tcPr/>
                </a:tc>
                <a:tc>
                  <a:txBody>
                    <a:bodyPr/>
                    <a:lstStyle/>
                    <a:p>
                      <a:r>
                        <a:rPr lang="en-US" sz="1600" b="1" dirty="0"/>
                        <a:t>          1.9999</a:t>
                      </a:r>
                    </a:p>
                  </a:txBody>
                  <a:tcPr/>
                </a:tc>
                <a:tc>
                  <a:txBody>
                    <a:bodyPr/>
                    <a:lstStyle/>
                    <a:p>
                      <a:r>
                        <a:rPr lang="en-US" sz="1600" b="1" dirty="0"/>
                        <a:t>        2.3139</a:t>
                      </a:r>
                    </a:p>
                  </a:txBody>
                  <a:tcPr/>
                </a:tc>
                <a:extLst>
                  <a:ext uri="{0D108BD9-81ED-4DB2-BD59-A6C34878D82A}">
                    <a16:rowId xmlns:a16="http://schemas.microsoft.com/office/drawing/2014/main" val="1220385822"/>
                  </a:ext>
                </a:extLst>
              </a:tr>
              <a:tr h="370840">
                <a:tc>
                  <a:txBody>
                    <a:bodyPr/>
                    <a:lstStyle/>
                    <a:p>
                      <a:r>
                        <a:rPr lang="en-US" sz="1600" b="1" dirty="0"/>
                        <a:t>Weight 3</a:t>
                      </a:r>
                    </a:p>
                  </a:txBody>
                  <a:tcPr/>
                </a:tc>
                <a:tc>
                  <a:txBody>
                    <a:bodyPr/>
                    <a:lstStyle/>
                    <a:p>
                      <a:r>
                        <a:rPr lang="en-US" sz="1600" b="1" dirty="0"/>
                        <a:t>      1</a:t>
                      </a:r>
                    </a:p>
                  </a:txBody>
                  <a:tcPr/>
                </a:tc>
                <a:tc>
                  <a:txBody>
                    <a:bodyPr/>
                    <a:lstStyle/>
                    <a:p>
                      <a:r>
                        <a:rPr lang="en-US" sz="1600" b="1" dirty="0"/>
                        <a:t>          1.0000</a:t>
                      </a:r>
                    </a:p>
                  </a:txBody>
                  <a:tcPr/>
                </a:tc>
                <a:tc>
                  <a:txBody>
                    <a:bodyPr/>
                    <a:lstStyle/>
                    <a:p>
                      <a:r>
                        <a:rPr lang="en-US" sz="1600" b="1" dirty="0"/>
                        <a:t>        1.1456</a:t>
                      </a:r>
                    </a:p>
                  </a:txBody>
                  <a:tcPr/>
                </a:tc>
                <a:extLst>
                  <a:ext uri="{0D108BD9-81ED-4DB2-BD59-A6C34878D82A}">
                    <a16:rowId xmlns:a16="http://schemas.microsoft.com/office/drawing/2014/main" val="3492808468"/>
                  </a:ext>
                </a:extLst>
              </a:tr>
              <a:tr h="370840">
                <a:tc>
                  <a:txBody>
                    <a:bodyPr/>
                    <a:lstStyle/>
                    <a:p>
                      <a:r>
                        <a:rPr lang="en-US" sz="1600" b="1" dirty="0"/>
                        <a:t>Weight 4</a:t>
                      </a:r>
                    </a:p>
                  </a:txBody>
                  <a:tcPr/>
                </a:tc>
                <a:tc>
                  <a:txBody>
                    <a:bodyPr/>
                    <a:lstStyle/>
                    <a:p>
                      <a:r>
                        <a:rPr lang="en-US" sz="1600" b="1" dirty="0"/>
                        <a:t>     -1</a:t>
                      </a:r>
                    </a:p>
                  </a:txBody>
                  <a:tcPr/>
                </a:tc>
                <a:tc>
                  <a:txBody>
                    <a:bodyPr/>
                    <a:lstStyle/>
                    <a:p>
                      <a:r>
                        <a:rPr lang="en-US" sz="1600" b="1" dirty="0"/>
                        <a:t>         -1.0000</a:t>
                      </a:r>
                    </a:p>
                  </a:txBody>
                  <a:tcPr/>
                </a:tc>
                <a:tc>
                  <a:txBody>
                    <a:bodyPr/>
                    <a:lstStyle/>
                    <a:p>
                      <a:r>
                        <a:rPr lang="en-US" sz="1600" b="1" dirty="0"/>
                        <a:t>      -0.9312</a:t>
                      </a:r>
                    </a:p>
                  </a:txBody>
                  <a:tcPr/>
                </a:tc>
                <a:extLst>
                  <a:ext uri="{0D108BD9-81ED-4DB2-BD59-A6C34878D82A}">
                    <a16:rowId xmlns:a16="http://schemas.microsoft.com/office/drawing/2014/main" val="3167986225"/>
                  </a:ext>
                </a:extLst>
              </a:tr>
            </a:tbl>
          </a:graphicData>
        </a:graphic>
      </p:graphicFrame>
      <p:pic>
        <p:nvPicPr>
          <p:cNvPr id="21" name="Picture 2" descr="figure01a">
            <a:extLst>
              <a:ext uri="{FF2B5EF4-FFF2-40B4-BE49-F238E27FC236}">
                <a16:creationId xmlns:a16="http://schemas.microsoft.com/office/drawing/2014/main" id="{FE05FCF7-726C-E76A-BC0F-6E08CFB6FEAB}"/>
              </a:ext>
            </a:extLst>
          </p:cNvPr>
          <p:cNvPicPr>
            <a:picLocks noChangeAspect="1" noChangeArrowheads="1"/>
          </p:cNvPicPr>
          <p:nvPr/>
        </p:nvPicPr>
        <p:blipFill>
          <a:blip r:embed="rId22" cstate="email">
            <a:extLst>
              <a:ext uri="{28A0092B-C50C-407E-A947-70E740481C1C}">
                <a14:useLocalDpi xmlns:a14="http://schemas.microsoft.com/office/drawing/2010/main" val="0"/>
              </a:ext>
            </a:extLst>
          </a:blip>
          <a:srcRect/>
          <a:stretch>
            <a:fillRect/>
          </a:stretch>
        </p:blipFill>
        <p:spPr bwMode="auto">
          <a:xfrm>
            <a:off x="6565239" y="5890882"/>
            <a:ext cx="4028868" cy="302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 24">
            <a:extLst>
              <a:ext uri="{FF2B5EF4-FFF2-40B4-BE49-F238E27FC236}">
                <a16:creationId xmlns:a16="http://schemas.microsoft.com/office/drawing/2014/main" id="{08C91E89-09C2-1BF6-D027-8D0EE5FAA4A3}"/>
              </a:ext>
            </a:extLst>
          </p:cNvPr>
          <p:cNvGrpSpPr/>
          <p:nvPr/>
        </p:nvGrpSpPr>
        <p:grpSpPr>
          <a:xfrm>
            <a:off x="8881840" y="13048427"/>
            <a:ext cx="5527288" cy="3017312"/>
            <a:chOff x="3096883" y="3252158"/>
            <a:chExt cx="5357004" cy="2924355"/>
          </a:xfrm>
        </p:grpSpPr>
        <p:pic>
          <p:nvPicPr>
            <p:cNvPr id="26" name="Picture 25">
              <a:extLst>
                <a:ext uri="{FF2B5EF4-FFF2-40B4-BE49-F238E27FC236}">
                  <a16:creationId xmlns:a16="http://schemas.microsoft.com/office/drawing/2014/main" id="{C62E6CE3-37B1-D3EF-6BDB-237EAACFAEE9}"/>
                </a:ext>
              </a:extLst>
            </p:cNvPr>
            <p:cNvPicPr>
              <a:picLocks noChangeAspect="1"/>
            </p:cNvPicPr>
            <p:nvPr/>
          </p:nvPicPr>
          <p:blipFill rotWithShape="1">
            <a:blip r:embed="rId23"/>
            <a:srcRect l="33867" t="47104" r="7548" b="5013"/>
            <a:stretch/>
          </p:blipFill>
          <p:spPr>
            <a:xfrm>
              <a:off x="3096883" y="3252158"/>
              <a:ext cx="5357004" cy="2924355"/>
            </a:xfrm>
            <a:prstGeom prst="rect">
              <a:avLst/>
            </a:prstGeom>
          </p:spPr>
        </p:pic>
        <p:sp>
          <p:nvSpPr>
            <p:cNvPr id="27" name="Rectangle 26">
              <a:extLst>
                <a:ext uri="{FF2B5EF4-FFF2-40B4-BE49-F238E27FC236}">
                  <a16:creationId xmlns:a16="http://schemas.microsoft.com/office/drawing/2014/main" id="{F952DB89-9A99-B12D-1CA0-7BF4BDF2317F}"/>
                </a:ext>
              </a:extLst>
            </p:cNvPr>
            <p:cNvSpPr/>
            <p:nvPr/>
          </p:nvSpPr>
          <p:spPr>
            <a:xfrm>
              <a:off x="3098208" y="5503652"/>
              <a:ext cx="18115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82CB1DBD-FAC1-993C-3F4B-10FC29D7886E}"/>
              </a:ext>
            </a:extLst>
          </p:cNvPr>
          <p:cNvSpPr txBox="1"/>
          <p:nvPr/>
        </p:nvSpPr>
        <p:spPr>
          <a:xfrm>
            <a:off x="8822925" y="16076850"/>
            <a:ext cx="5978159" cy="1169551"/>
          </a:xfrm>
          <a:prstGeom prst="rect">
            <a:avLst/>
          </a:prstGeom>
          <a:noFill/>
        </p:spPr>
        <p:txBody>
          <a:bodyPr wrap="square" rtlCol="0">
            <a:spAutoFit/>
          </a:bodyPr>
          <a:lstStyle/>
          <a:p>
            <a:pPr marL="117475" indent="-117475">
              <a:buFont typeface="Arial" panose="020B0604020202020204" pitchFamily="34" charset="0"/>
              <a:buChar char="•"/>
            </a:pPr>
            <a:r>
              <a:rPr lang="en-US" sz="1400" b="1" dirty="0">
                <a:latin typeface="Arial" panose="020B0604020202020204" pitchFamily="34" charset="0"/>
                <a:cs typeface="Arial" panose="020B0604020202020204" pitchFamily="34" charset="0"/>
              </a:rPr>
              <a:t>15-gene, 28-edge network modeled with Dahlquist et al. (2018) expression data and visualized with </a:t>
            </a:r>
            <a:r>
              <a:rPr lang="en-US" sz="1400" b="1" dirty="0" err="1">
                <a:latin typeface="Arial" panose="020B0604020202020204" pitchFamily="34" charset="0"/>
                <a:cs typeface="Arial" panose="020B0604020202020204" pitchFamily="34" charset="0"/>
              </a:rPr>
              <a:t>GRNsight</a:t>
            </a:r>
            <a:r>
              <a:rPr lang="en-US" sz="1400" b="1" dirty="0">
                <a:latin typeface="Arial" panose="020B0604020202020204" pitchFamily="34" charset="0"/>
                <a:cs typeface="Arial" panose="020B0604020202020204" pitchFamily="34" charset="0"/>
              </a:rPr>
              <a:t>. </a:t>
            </a:r>
            <a:r>
              <a:rPr lang="en-US" sz="1400" b="1" dirty="0">
                <a:latin typeface="Times New Roman" panose="02020603050405020304" pitchFamily="18" charset="0"/>
                <a:cs typeface="Times New Roman" panose="02020603050405020304" pitchFamily="18" charset="0"/>
              </a:rPr>
              <a:t>P</a:t>
            </a:r>
            <a:r>
              <a:rPr lang="en-US" sz="1400" b="1" dirty="0">
                <a:latin typeface="Arial" panose="020B0604020202020204" pitchFamily="34" charset="0"/>
                <a:cs typeface="Arial" panose="020B0604020202020204" pitchFamily="34" charset="0"/>
              </a:rPr>
              <a:t>, </a:t>
            </a:r>
            <a:r>
              <a:rPr lang="en-US" sz="1400" b="1" dirty="0">
                <a:latin typeface="Times New Roman" panose="02020603050405020304" pitchFamily="18" charset="0"/>
                <a:cs typeface="Times New Roman" panose="02020603050405020304" pitchFamily="18" charset="0"/>
              </a:rPr>
              <a:t>b</a:t>
            </a:r>
            <a:r>
              <a:rPr lang="en-US" sz="1400" b="1" dirty="0">
                <a:latin typeface="Arial" panose="020B0604020202020204" pitchFamily="34" charset="0"/>
                <a:cs typeface="Arial" panose="020B0604020202020204" pitchFamily="34" charset="0"/>
              </a:rPr>
              <a:t>, </a:t>
            </a:r>
            <a:r>
              <a:rPr lang="en-US" sz="1400" b="1" dirty="0">
                <a:latin typeface="Times New Roman" panose="02020603050405020304" pitchFamily="18" charset="0"/>
                <a:cs typeface="Times New Roman" panose="02020603050405020304" pitchFamily="18" charset="0"/>
              </a:rPr>
              <a:t>w</a:t>
            </a:r>
            <a:r>
              <a:rPr lang="en-US" sz="1400" b="1" dirty="0">
                <a:latin typeface="Arial" panose="020B0604020202020204" pitchFamily="34" charset="0"/>
                <a:cs typeface="Arial" panose="020B0604020202020204" pitchFamily="34" charset="0"/>
              </a:rPr>
              <a:t> estimated.</a:t>
            </a:r>
          </a:p>
          <a:p>
            <a:pPr marL="117475" indent="-117475">
              <a:buFont typeface="Arial" panose="020B0604020202020204" pitchFamily="34" charset="0"/>
              <a:buChar char="•"/>
            </a:pPr>
            <a:r>
              <a:rPr lang="en-US" sz="1400" b="1" dirty="0" err="1">
                <a:latin typeface="Arial" panose="020B0604020202020204" pitchFamily="34" charset="0"/>
                <a:cs typeface="Arial" panose="020B0604020202020204" pitchFamily="34" charset="0"/>
              </a:rPr>
              <a:t>wt</a:t>
            </a:r>
            <a:r>
              <a:rPr lang="en-US" sz="1400" b="1" dirty="0">
                <a:latin typeface="Arial" panose="020B0604020202020204" pitchFamily="34" charset="0"/>
                <a:cs typeface="Arial" panose="020B0604020202020204" pitchFamily="34" charset="0"/>
              </a:rPr>
              <a:t> yeast subjected to 15, 30, and 60 minutes of cold shock at 13</a:t>
            </a:r>
            <a:r>
              <a:rPr lang="en-US" sz="1400" b="1" dirty="0">
                <a:latin typeface="Times New Roman" panose="02020603050405020304" pitchFamily="18" charset="0"/>
                <a:cs typeface="Times New Roman" panose="02020603050405020304" pitchFamily="18" charset="0"/>
              </a:rPr>
              <a:t>°</a:t>
            </a:r>
            <a:r>
              <a:rPr lang="en-US" sz="1400" b="1" dirty="0">
                <a:latin typeface="Arial" panose="020B0604020202020204" pitchFamily="34" charset="0"/>
                <a:cs typeface="Arial" panose="020B0604020202020204" pitchFamily="34" charset="0"/>
              </a:rPr>
              <a:t>C.</a:t>
            </a:r>
          </a:p>
          <a:p>
            <a:pPr marL="114300" lvl="1" indent="-114300">
              <a:buFont typeface="Arial" panose="020B0604020202020204" pitchFamily="34" charset="0"/>
              <a:buChar char="•"/>
            </a:pPr>
            <a:r>
              <a:rPr lang="en-US" sz="1400" b="1" dirty="0">
                <a:latin typeface="Arial" panose="020B0604020202020204" pitchFamily="34" charset="0"/>
                <a:cs typeface="Arial" panose="020B0604020202020204" pitchFamily="34" charset="0"/>
              </a:rPr>
              <a:t>Top stripe in each node is actual log</a:t>
            </a:r>
            <a:r>
              <a:rPr lang="en-US" sz="1400" b="1" baseline="-25000" dirty="0">
                <a:latin typeface="Arial" panose="020B0604020202020204" pitchFamily="34" charset="0"/>
                <a:cs typeface="Arial" panose="020B0604020202020204" pitchFamily="34" charset="0"/>
              </a:rPr>
              <a:t>2</a:t>
            </a:r>
            <a:r>
              <a:rPr lang="en-US" sz="1400" b="1" dirty="0">
                <a:latin typeface="Arial" panose="020B0604020202020204" pitchFamily="34" charset="0"/>
                <a:cs typeface="Arial" panose="020B0604020202020204" pitchFamily="34" charset="0"/>
              </a:rPr>
              <a:t> fold change expression data for each timepoint, bottom stripe is model-simulated data.</a:t>
            </a:r>
          </a:p>
        </p:txBody>
      </p:sp>
      <p:sp>
        <p:nvSpPr>
          <p:cNvPr id="29" name="TextBox 28">
            <a:extLst>
              <a:ext uri="{FF2B5EF4-FFF2-40B4-BE49-F238E27FC236}">
                <a16:creationId xmlns:a16="http://schemas.microsoft.com/office/drawing/2014/main" id="{7F770925-0584-1020-9650-37990A1A0172}"/>
              </a:ext>
            </a:extLst>
          </p:cNvPr>
          <p:cNvSpPr txBox="1"/>
          <p:nvPr/>
        </p:nvSpPr>
        <p:spPr>
          <a:xfrm>
            <a:off x="152462" y="17352192"/>
            <a:ext cx="14648622" cy="1200329"/>
          </a:xfrm>
          <a:prstGeom prst="rect">
            <a:avLst/>
          </a:prstGeom>
          <a:noFill/>
        </p:spPr>
        <p:txBody>
          <a:bodyPr wrap="square" rtlCol="0">
            <a:spAutoFit/>
          </a:bodyPr>
          <a:lstStyle/>
          <a:p>
            <a:pPr algn="ctr"/>
            <a:r>
              <a:rPr lang="en-US" sz="2400" b="1" dirty="0">
                <a:solidFill>
                  <a:srgbClr val="16693F"/>
                </a:solidFill>
                <a:latin typeface="+mj-lt"/>
                <a:ea typeface="Sans Serif Collection" panose="020B0502040504020204" pitchFamily="34" charset="0"/>
                <a:cs typeface="Sans Serif Collection" panose="020B0502040504020204" pitchFamily="34" charset="0"/>
              </a:rPr>
              <a:t>Model sensitivity was tested using all 21 possible 3 gene, 4 edge “toy” networks. </a:t>
            </a:r>
          </a:p>
          <a:p>
            <a:pPr algn="ctr"/>
            <a:r>
              <a:rPr lang="en-US" sz="2400" b="1" dirty="0">
                <a:solidFill>
                  <a:srgbClr val="16693F"/>
                </a:solidFill>
                <a:latin typeface="+mj-lt"/>
                <a:ea typeface="Sans Serif Collection" panose="020B0502040504020204" pitchFamily="34" charset="0"/>
                <a:cs typeface="Sans Serif Collection" panose="020B0502040504020204" pitchFamily="34" charset="0"/>
              </a:rPr>
              <a:t>Simulated data was generated based on known arbitrary parameters.  Then the</a:t>
            </a:r>
          </a:p>
          <a:p>
            <a:pPr algn="ctr"/>
            <a:r>
              <a:rPr lang="en-US" sz="2400" b="1" dirty="0">
                <a:solidFill>
                  <a:srgbClr val="16693F"/>
                </a:solidFill>
                <a:latin typeface="+mj-lt"/>
                <a:ea typeface="Sans Serif Collection" panose="020B0502040504020204" pitchFamily="34" charset="0"/>
                <a:cs typeface="Sans Serif Collection" panose="020B0502040504020204" pitchFamily="34" charset="0"/>
              </a:rPr>
              <a:t>simulated data was used to estimate parameters to see if the model returned the known values.</a:t>
            </a:r>
            <a:endParaRPr lang="en-US" sz="2400" dirty="0"/>
          </a:p>
        </p:txBody>
      </p:sp>
      <p:grpSp>
        <p:nvGrpSpPr>
          <p:cNvPr id="44" name="Group 43">
            <a:extLst>
              <a:ext uri="{FF2B5EF4-FFF2-40B4-BE49-F238E27FC236}">
                <a16:creationId xmlns:a16="http://schemas.microsoft.com/office/drawing/2014/main" id="{83C623B7-9720-7C7E-DA69-9475E57A2A05}"/>
              </a:ext>
            </a:extLst>
          </p:cNvPr>
          <p:cNvGrpSpPr/>
          <p:nvPr/>
        </p:nvGrpSpPr>
        <p:grpSpPr>
          <a:xfrm>
            <a:off x="2927728" y="19158201"/>
            <a:ext cx="11395213" cy="1172387"/>
            <a:chOff x="2927728" y="19215351"/>
            <a:chExt cx="11395213" cy="1172387"/>
          </a:xfrm>
        </p:grpSpPr>
        <p:sp>
          <p:nvSpPr>
            <p:cNvPr id="30" name="TextBox 29">
              <a:extLst>
                <a:ext uri="{FF2B5EF4-FFF2-40B4-BE49-F238E27FC236}">
                  <a16:creationId xmlns:a16="http://schemas.microsoft.com/office/drawing/2014/main" id="{C0E57C53-7DEC-3986-A514-BC1C13AB515A}"/>
                </a:ext>
              </a:extLst>
            </p:cNvPr>
            <p:cNvSpPr txBox="1"/>
            <p:nvPr/>
          </p:nvSpPr>
          <p:spPr>
            <a:xfrm>
              <a:off x="6046316" y="19601489"/>
              <a:ext cx="8276625" cy="400110"/>
            </a:xfrm>
            <a:prstGeom prst="rect">
              <a:avLst/>
            </a:prstGeom>
            <a:noFill/>
          </p:spPr>
          <p:txBody>
            <a:bodyPr wrap="none" rtlCol="0">
              <a:spAutoFit/>
            </a:bodyPr>
            <a:lstStyle/>
            <a:p>
              <a:r>
                <a:rPr lang="en-US" sz="2000" b="1" dirty="0">
                  <a:latin typeface="+mj-lt"/>
                  <a:ea typeface="Sans Serif Collection" panose="020B0502040504020204" pitchFamily="34" charset="0"/>
                  <a:cs typeface="Sans Serif Collection" panose="020B0502040504020204" pitchFamily="34" charset="0"/>
                </a:rPr>
                <a:t> where </a:t>
              </a:r>
              <a:r>
                <a:rPr lang="en-US" sz="2000" b="1" i="1" dirty="0" err="1">
                  <a:latin typeface="Times New Roman" panose="02020603050405020304" pitchFamily="18" charset="0"/>
                  <a:ea typeface="Sans Serif Collection" panose="020B0502040504020204" pitchFamily="34" charset="0"/>
                  <a:cs typeface="Times New Roman" panose="02020603050405020304" pitchFamily="18" charset="0"/>
                </a:rPr>
                <a:t>w</a:t>
              </a:r>
              <a:r>
                <a:rPr lang="en-US" sz="2000" b="1" i="1" baseline="-25000" dirty="0" err="1">
                  <a:latin typeface="Times New Roman" panose="02020603050405020304" pitchFamily="18" charset="0"/>
                  <a:ea typeface="Sans Serif Collection" panose="020B0502040504020204" pitchFamily="34" charset="0"/>
                  <a:cs typeface="Times New Roman" panose="02020603050405020304" pitchFamily="18" charset="0"/>
                </a:rPr>
                <a:t>i</a:t>
              </a:r>
              <a:r>
                <a:rPr lang="en-US" sz="2000" b="1" i="1" baseline="-25000" dirty="0">
                  <a:latin typeface="+mj-lt"/>
                  <a:ea typeface="Sans Serif Collection" panose="020B0502040504020204" pitchFamily="34" charset="0"/>
                  <a:cs typeface="Sans Serif Collection" panose="020B0502040504020204" pitchFamily="34" charset="0"/>
                </a:rPr>
                <a:t> </a:t>
              </a:r>
              <a:r>
                <a:rPr lang="en-US" sz="2000" b="1" dirty="0">
                  <a:latin typeface="+mj-lt"/>
                  <a:ea typeface="Sans Serif Collection" panose="020B0502040504020204" pitchFamily="34" charset="0"/>
                  <a:cs typeface="Sans Serif Collection" panose="020B0502040504020204" pitchFamily="34" charset="0"/>
                </a:rPr>
                <a:t> are the actual weights and </a:t>
              </a:r>
              <a:r>
                <a:rPr lang="en-US" sz="2000" b="1" i="1" dirty="0" err="1">
                  <a:latin typeface="Times New Roman" panose="02020603050405020304" pitchFamily="18" charset="0"/>
                  <a:ea typeface="Sans Serif Collection" panose="020B0502040504020204" pitchFamily="34" charset="0"/>
                  <a:cs typeface="Times New Roman" panose="02020603050405020304" pitchFamily="18" charset="0"/>
                </a:rPr>
                <a:t>w'</a:t>
              </a:r>
              <a:r>
                <a:rPr lang="en-US" sz="2000" b="1" i="1" baseline="-25000" dirty="0" err="1">
                  <a:latin typeface="Times New Roman" panose="02020603050405020304" pitchFamily="18" charset="0"/>
                  <a:ea typeface="Sans Serif Collection" panose="020B0502040504020204" pitchFamily="34" charset="0"/>
                  <a:cs typeface="Times New Roman" panose="02020603050405020304" pitchFamily="18" charset="0"/>
                </a:rPr>
                <a:t>i</a:t>
              </a:r>
              <a:r>
                <a:rPr lang="en-US" sz="2000" b="1" dirty="0">
                  <a:latin typeface="+mj-lt"/>
                  <a:ea typeface="Sans Serif Collection" panose="020B0502040504020204" pitchFamily="34" charset="0"/>
                  <a:cs typeface="Sans Serif Collection" panose="020B0502040504020204" pitchFamily="34" charset="0"/>
                </a:rPr>
                <a:t> are the estimated weights. </a:t>
              </a:r>
              <a:endParaRPr lang="en-US" sz="2000" b="1" dirty="0"/>
            </a:p>
          </p:txBody>
        </p:sp>
        <p:pic>
          <p:nvPicPr>
            <p:cNvPr id="43" name="Picture 42">
              <a:extLst>
                <a:ext uri="{FF2B5EF4-FFF2-40B4-BE49-F238E27FC236}">
                  <a16:creationId xmlns:a16="http://schemas.microsoft.com/office/drawing/2014/main" id="{A07AD642-AE2C-79EC-0C23-037E9A070627}"/>
                </a:ext>
              </a:extLst>
            </p:cNvPr>
            <p:cNvPicPr>
              <a:picLocks noChangeAspect="1"/>
            </p:cNvPicPr>
            <p:nvPr/>
          </p:nvPicPr>
          <p:blipFill>
            <a:blip r:embed="rId24"/>
            <a:stretch>
              <a:fillRect/>
            </a:stretch>
          </p:blipFill>
          <p:spPr>
            <a:xfrm>
              <a:off x="3642916" y="19215351"/>
              <a:ext cx="2344776" cy="1172387"/>
            </a:xfrm>
            <a:prstGeom prst="rect">
              <a:avLst/>
            </a:prstGeom>
          </p:spPr>
        </p:pic>
        <p:sp>
          <p:nvSpPr>
            <p:cNvPr id="31" name="TextBox 30">
              <a:extLst>
                <a:ext uri="{FF2B5EF4-FFF2-40B4-BE49-F238E27FC236}">
                  <a16:creationId xmlns:a16="http://schemas.microsoft.com/office/drawing/2014/main" id="{D62CD4A9-17C0-9B1F-02C8-473001822715}"/>
                </a:ext>
              </a:extLst>
            </p:cNvPr>
            <p:cNvSpPr txBox="1"/>
            <p:nvPr/>
          </p:nvSpPr>
          <p:spPr>
            <a:xfrm>
              <a:off x="2927728" y="19601489"/>
              <a:ext cx="974947" cy="400110"/>
            </a:xfrm>
            <a:prstGeom prst="rect">
              <a:avLst/>
            </a:prstGeom>
            <a:noFill/>
          </p:spPr>
          <p:txBody>
            <a:bodyPr wrap="none" rtlCol="0">
              <a:spAutoFit/>
            </a:bodyPr>
            <a:lstStyle/>
            <a:p>
              <a:r>
                <a:rPr lang="en-US" sz="2000" b="1" dirty="0"/>
                <a:t>LSE = </a:t>
              </a:r>
            </a:p>
          </p:txBody>
        </p:sp>
      </p:grpSp>
      <p:sp>
        <p:nvSpPr>
          <p:cNvPr id="37" name="TextBox 36">
            <a:extLst>
              <a:ext uri="{FF2B5EF4-FFF2-40B4-BE49-F238E27FC236}">
                <a16:creationId xmlns:a16="http://schemas.microsoft.com/office/drawing/2014/main" id="{A60840A2-427E-91C5-CFC8-F42D5799C1E5}"/>
              </a:ext>
            </a:extLst>
          </p:cNvPr>
          <p:cNvSpPr txBox="1"/>
          <p:nvPr/>
        </p:nvSpPr>
        <p:spPr>
          <a:xfrm>
            <a:off x="1106632" y="18612920"/>
            <a:ext cx="13244745" cy="707886"/>
          </a:xfrm>
          <a:prstGeom prst="rect">
            <a:avLst/>
          </a:prstGeom>
          <a:noFill/>
        </p:spPr>
        <p:txBody>
          <a:bodyPr wrap="square" rtlCol="0">
            <a:spAutoFit/>
          </a:bodyPr>
          <a:lstStyle/>
          <a:p>
            <a:pPr marL="228600" indent="-228600">
              <a:buFont typeface="Arial" panose="020B0604020202020204" pitchFamily="34" charset="0"/>
              <a:buChar char="•"/>
            </a:pPr>
            <a:r>
              <a:rPr lang="en-US" sz="2000" b="1" dirty="0">
                <a:latin typeface="+mj-lt"/>
                <a:ea typeface="Sans Serif Collection" panose="020B0502040504020204" pitchFamily="34" charset="0"/>
                <a:cs typeface="Sans Serif Collection" panose="020B0502040504020204" pitchFamily="34" charset="0"/>
              </a:rPr>
              <a:t>Least squares error (LSE) was used to rank the performance of the networks relative to one another. </a:t>
            </a:r>
          </a:p>
          <a:p>
            <a:pPr marL="228600" indent="-228600">
              <a:buFont typeface="Arial" panose="020B0604020202020204" pitchFamily="34" charset="0"/>
              <a:buChar char="•"/>
            </a:pPr>
            <a:r>
              <a:rPr lang="en-US" sz="2000" b="1" dirty="0">
                <a:latin typeface="+mj-lt"/>
                <a:ea typeface="Sans Serif Collection" panose="020B0502040504020204" pitchFamily="34" charset="0"/>
                <a:cs typeface="Sans Serif Collection" panose="020B0502040504020204" pitchFamily="34" charset="0"/>
              </a:rPr>
              <a:t>The error between the known weights and the estimated weights was computed as follows:		</a:t>
            </a:r>
          </a:p>
        </p:txBody>
      </p:sp>
      <p:sp>
        <p:nvSpPr>
          <p:cNvPr id="72" name="Rectangle 71">
            <a:extLst>
              <a:ext uri="{FF2B5EF4-FFF2-40B4-BE49-F238E27FC236}">
                <a16:creationId xmlns:a16="http://schemas.microsoft.com/office/drawing/2014/main" id="{1BC3F0B7-B6B6-6A61-89CD-E80CBB1BC162}"/>
              </a:ext>
            </a:extLst>
          </p:cNvPr>
          <p:cNvSpPr/>
          <p:nvPr/>
        </p:nvSpPr>
        <p:spPr>
          <a:xfrm>
            <a:off x="16104510" y="21283866"/>
            <a:ext cx="307777" cy="32920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ADAA79B8-41FC-E87A-75E9-E7A5922D1681}"/>
              </a:ext>
            </a:extLst>
          </p:cNvPr>
          <p:cNvSpPr/>
          <p:nvPr/>
        </p:nvSpPr>
        <p:spPr>
          <a:xfrm>
            <a:off x="23147136" y="21254993"/>
            <a:ext cx="307777" cy="32920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B1DA1B91-B10D-752A-7C1E-4B0CB2520409}"/>
              </a:ext>
            </a:extLst>
          </p:cNvPr>
          <p:cNvSpPr txBox="1"/>
          <p:nvPr/>
        </p:nvSpPr>
        <p:spPr>
          <a:xfrm>
            <a:off x="21213174" y="36402597"/>
            <a:ext cx="8471519" cy="5262979"/>
          </a:xfrm>
          <a:prstGeom prst="rect">
            <a:avLst/>
          </a:prstGeom>
          <a:noFill/>
        </p:spPr>
        <p:txBody>
          <a:bodyPr wrap="square" rtlCol="0">
            <a:spAutoFit/>
          </a:bodyPr>
          <a:lstStyle/>
          <a:p>
            <a:pPr marL="114300" indent="-114300">
              <a:buFont typeface="Arial" panose="020B0604020202020204" pitchFamily="34" charset="0"/>
              <a:buChar char="•"/>
            </a:pPr>
            <a:r>
              <a:rPr lang="en-US" sz="1200" b="1" dirty="0" err="1">
                <a:latin typeface="+mn-lt"/>
              </a:rPr>
              <a:t>Apweiler</a:t>
            </a:r>
            <a:r>
              <a:rPr lang="en-US" sz="1200" b="1" dirty="0">
                <a:latin typeface="+mn-lt"/>
              </a:rPr>
              <a:t>, E., </a:t>
            </a:r>
            <a:r>
              <a:rPr lang="en-US" sz="1200" b="1" dirty="0" err="1">
                <a:latin typeface="+mn-lt"/>
              </a:rPr>
              <a:t>Sameith</a:t>
            </a:r>
            <a:r>
              <a:rPr lang="en-US" sz="1200" b="1" dirty="0">
                <a:latin typeface="+mn-lt"/>
              </a:rPr>
              <a:t>, K., Margaritis, T., </a:t>
            </a:r>
            <a:r>
              <a:rPr lang="en-US" sz="1200" b="1" dirty="0" err="1">
                <a:latin typeface="+mn-lt"/>
              </a:rPr>
              <a:t>Brabers</a:t>
            </a:r>
            <a:r>
              <a:rPr lang="en-US" sz="1200" b="1" dirty="0">
                <a:latin typeface="+mn-lt"/>
              </a:rPr>
              <a:t>, N., van de Pasch, L., Bakker, L. V., ... &amp; </a:t>
            </a:r>
            <a:r>
              <a:rPr lang="en-US" sz="1200" b="1" dirty="0" err="1">
                <a:latin typeface="+mn-lt"/>
              </a:rPr>
              <a:t>Kemmeren</a:t>
            </a:r>
            <a:r>
              <a:rPr lang="en-US" sz="1200" b="1" dirty="0">
                <a:latin typeface="+mn-lt"/>
              </a:rPr>
              <a:t>, P. (2012). Yeast glucose pathways converge on the transcriptional regulation of trehalose biosynthesis. </a:t>
            </a:r>
            <a:r>
              <a:rPr lang="en-US" sz="1200" b="1" i="1" dirty="0">
                <a:latin typeface="+mn-lt"/>
              </a:rPr>
              <a:t>BMC genomics</a:t>
            </a:r>
            <a:r>
              <a:rPr lang="en-US" sz="1200" b="1" dirty="0">
                <a:latin typeface="+mn-lt"/>
              </a:rPr>
              <a:t>, 13(1), 1-14. DOI: 10.1186/1471-2164-13-239 </a:t>
            </a:r>
          </a:p>
          <a:p>
            <a:pPr marL="114300" indent="-114300">
              <a:buFont typeface="Arial" panose="020B0604020202020204" pitchFamily="34" charset="0"/>
              <a:buChar char="•"/>
            </a:pPr>
            <a:r>
              <a:rPr lang="en-US" sz="1200" b="1" dirty="0">
                <a:latin typeface="+mn-lt"/>
              </a:rPr>
              <a:t>Barreto, L., </a:t>
            </a:r>
            <a:r>
              <a:rPr lang="en-US" sz="1200" b="1" dirty="0" err="1">
                <a:latin typeface="+mn-lt"/>
              </a:rPr>
              <a:t>Canadell</a:t>
            </a:r>
            <a:r>
              <a:rPr lang="en-US" sz="1200" b="1" dirty="0">
                <a:latin typeface="+mn-lt"/>
              </a:rPr>
              <a:t>, D., Valverde‐</a:t>
            </a:r>
            <a:r>
              <a:rPr lang="en-US" sz="1200" b="1" dirty="0" err="1">
                <a:latin typeface="+mn-lt"/>
              </a:rPr>
              <a:t>Saubí</a:t>
            </a:r>
            <a:r>
              <a:rPr lang="en-US" sz="1200" b="1" dirty="0">
                <a:latin typeface="+mn-lt"/>
              </a:rPr>
              <a:t>, D., Casamayor, A., &amp; </a:t>
            </a:r>
            <a:r>
              <a:rPr lang="en-US" sz="1200" b="1" dirty="0" err="1">
                <a:latin typeface="+mn-lt"/>
              </a:rPr>
              <a:t>Ariño</a:t>
            </a:r>
            <a:r>
              <a:rPr lang="en-US" sz="1200" b="1" dirty="0">
                <a:latin typeface="+mn-lt"/>
              </a:rPr>
              <a:t>, J. (2012). The short‐term response of yeast to potassium starvation. </a:t>
            </a:r>
            <a:r>
              <a:rPr lang="en-US" sz="1200" b="1" i="1" dirty="0">
                <a:latin typeface="+mn-lt"/>
              </a:rPr>
              <a:t>Environmental microbiology</a:t>
            </a:r>
            <a:r>
              <a:rPr lang="en-US" sz="1200" b="1" dirty="0">
                <a:latin typeface="+mn-lt"/>
              </a:rPr>
              <a:t>, </a:t>
            </a:r>
            <a:r>
              <a:rPr lang="en-US" sz="1200" b="1" i="1" dirty="0">
                <a:latin typeface="+mn-lt"/>
              </a:rPr>
              <a:t>14</a:t>
            </a:r>
            <a:r>
              <a:rPr lang="en-US" sz="1200" b="1" dirty="0">
                <a:latin typeface="+mn-lt"/>
              </a:rPr>
              <a:t>(11), 3026-3042. DOI</a:t>
            </a:r>
            <a:r>
              <a:rPr lang="en-US" sz="1200" b="1" i="0" u="none" strike="noStrike" baseline="0" dirty="0">
                <a:latin typeface="+mn-lt"/>
              </a:rPr>
              <a:t>: 10.1111/j.1462-2920.2012.02887.x</a:t>
            </a:r>
            <a:endParaRPr lang="en-US" sz="1200" b="1" dirty="0">
              <a:latin typeface="+mn-lt"/>
            </a:endParaRPr>
          </a:p>
          <a:p>
            <a:pPr marL="114300" indent="-114300">
              <a:buFont typeface="Arial" panose="020B0604020202020204" pitchFamily="34" charset="0"/>
              <a:buChar char="•"/>
            </a:pPr>
            <a:r>
              <a:rPr lang="en-US" sz="1200" b="1" dirty="0">
                <a:latin typeface="+mn-lt"/>
              </a:rPr>
              <a:t>Dahlquist, K.D., Abdulla, H., Arnell, A.J., Arsan, C., Baker, J.M., Carson, R.M., … &amp; Zapata, B.B. (2018).</a:t>
            </a:r>
            <a:r>
              <a:rPr lang="en-US" sz="1200" b="1" dirty="0"/>
              <a:t> Global transcriptional response of wild type and transcription factor deletion strains of Saccharomyces cerevisiae to the environmental stress of cold shock and subsequent recovery. </a:t>
            </a:r>
            <a:r>
              <a:rPr lang="en-US" sz="1200" b="1" dirty="0">
                <a:latin typeface="+mn-lt"/>
              </a:rPr>
              <a:t>GEO Dataset GSE83656. https://www.ncbi.nlm.nih.gov/geo/query/acc.cgi?acc=GSE83656</a:t>
            </a:r>
          </a:p>
          <a:p>
            <a:pPr marL="114300" indent="-114300">
              <a:buFont typeface="Arial" panose="020B0604020202020204" pitchFamily="34" charset="0"/>
              <a:buChar char="•"/>
            </a:pPr>
            <a:r>
              <a:rPr lang="en-US" sz="1200" b="1" dirty="0">
                <a:latin typeface="+mn-lt"/>
              </a:rPr>
              <a:t>Dahlquist, K.D., Fitzpatrick, B.G., Camacho, E.T., Entzminger, S.D., &amp; </a:t>
            </a:r>
            <a:r>
              <a:rPr lang="en-US" sz="1200" b="1" dirty="0" err="1">
                <a:latin typeface="+mn-lt"/>
              </a:rPr>
              <a:t>Wanner</a:t>
            </a:r>
            <a:r>
              <a:rPr lang="en-US" sz="1200" b="1" dirty="0">
                <a:latin typeface="+mn-lt"/>
              </a:rPr>
              <a:t>, N.C. (2015) Parameter Estimation for Gene Regulatory Networks from Microarray Data: Cold Shock Response in Saccharomyces cerevisiae. </a:t>
            </a:r>
            <a:r>
              <a:rPr lang="en-US" sz="1200" b="1" i="1" dirty="0">
                <a:latin typeface="+mn-lt"/>
              </a:rPr>
              <a:t>Bulletin of Mathematical Biology</a:t>
            </a:r>
            <a:r>
              <a:rPr lang="en-US" sz="1200" b="1" dirty="0">
                <a:latin typeface="+mn-lt"/>
              </a:rPr>
              <a:t>, </a:t>
            </a:r>
            <a:r>
              <a:rPr lang="en-US" sz="1200" b="1" i="1" dirty="0">
                <a:latin typeface="+mn-lt"/>
              </a:rPr>
              <a:t>77</a:t>
            </a:r>
            <a:r>
              <a:rPr lang="en-US" sz="1200" b="1" dirty="0">
                <a:latin typeface="+mn-lt"/>
              </a:rPr>
              <a:t>(8), 1457-1492. DOI: 10.1007/s11538-015-0092-6</a:t>
            </a:r>
          </a:p>
          <a:p>
            <a:pPr marL="114300" indent="-114300">
              <a:buFont typeface="Arial" panose="020B0604020202020204" pitchFamily="34" charset="0"/>
              <a:buChar char="•"/>
            </a:pPr>
            <a:r>
              <a:rPr lang="en-US" sz="1200" b="1" dirty="0">
                <a:latin typeface="+mn-lt"/>
              </a:rPr>
              <a:t>Dahlquist, K.D., Dionisio, J.D.N., Fitzpatrick, B.G., Anguiano, N.A., Varshneya, A., Southwick, B.J., &amp; Samdarshi, M. (2016) </a:t>
            </a:r>
            <a:r>
              <a:rPr lang="en-US" sz="1200" b="1" dirty="0" err="1">
                <a:latin typeface="+mn-lt"/>
              </a:rPr>
              <a:t>GRNsight</a:t>
            </a:r>
            <a:r>
              <a:rPr lang="en-US" sz="1200" b="1" dirty="0">
                <a:latin typeface="+mn-lt"/>
              </a:rPr>
              <a:t>: a web application and service for visualizing models of small- to medium-scale gene regulatory networks. </a:t>
            </a:r>
            <a:r>
              <a:rPr lang="en-US" sz="1200" b="1" i="1" dirty="0" err="1">
                <a:latin typeface="+mn-lt"/>
                <a:ea typeface="Sans Serif Collection" panose="020B0502040504020204" pitchFamily="34" charset="0"/>
                <a:cs typeface="Sans Serif Collection" panose="020B0502040504020204" pitchFamily="34" charset="0"/>
              </a:rPr>
              <a:t>PeerJ</a:t>
            </a:r>
            <a:r>
              <a:rPr lang="en-US" sz="1200" b="1" i="1" dirty="0">
                <a:latin typeface="+mn-lt"/>
                <a:ea typeface="Sans Serif Collection" panose="020B0502040504020204" pitchFamily="34" charset="0"/>
                <a:cs typeface="Sans Serif Collection" panose="020B0502040504020204" pitchFamily="34" charset="0"/>
              </a:rPr>
              <a:t> Computer Science</a:t>
            </a:r>
            <a:r>
              <a:rPr lang="en-US" sz="1200" b="1" dirty="0">
                <a:latin typeface="+mn-lt"/>
                <a:ea typeface="Sans Serif Collection" panose="020B0502040504020204" pitchFamily="34" charset="0"/>
                <a:cs typeface="Sans Serif Collection" panose="020B0502040504020204" pitchFamily="34" charset="0"/>
              </a:rPr>
              <a:t>, 2, e85. DOI: 10.7717/peerj-cs.85</a:t>
            </a:r>
            <a:endParaRPr lang="en-US" sz="1200" b="1" dirty="0">
              <a:latin typeface="+mn-lt"/>
            </a:endParaRPr>
          </a:p>
          <a:p>
            <a:pPr marL="114300" indent="-114300">
              <a:buFont typeface="Arial" panose="020B0604020202020204" pitchFamily="34" charset="0"/>
              <a:buChar char="•"/>
            </a:pPr>
            <a:r>
              <a:rPr lang="en-US" sz="1200" b="1" dirty="0">
                <a:latin typeface="+mn-lt"/>
              </a:rPr>
              <a:t>Engel, S. R., Aleksander, S., Nash, R. S., Wong, E. D., Weng, S., Miyasato, S. R., ... &amp; Cherry, J. M. (2025). Saccharomyces Genome Database: advances in genome annotation, expanded biochemical pathways, and other key enhancements. </a:t>
            </a:r>
            <a:r>
              <a:rPr lang="en-US" sz="1200" b="1" i="1" dirty="0">
                <a:latin typeface="+mn-lt"/>
              </a:rPr>
              <a:t>Genetics</a:t>
            </a:r>
            <a:r>
              <a:rPr lang="en-US" sz="1200" b="1" dirty="0">
                <a:latin typeface="+mn-lt"/>
              </a:rPr>
              <a:t>, </a:t>
            </a:r>
            <a:r>
              <a:rPr lang="en-US" sz="1200" b="1" i="1" dirty="0">
                <a:latin typeface="+mn-lt"/>
              </a:rPr>
              <a:t>229</a:t>
            </a:r>
            <a:r>
              <a:rPr lang="en-US" sz="1200" b="1" dirty="0">
                <a:latin typeface="+mn-lt"/>
              </a:rPr>
              <a:t>(3), iyae185. DOI: 10.1093/genetics/iyae185</a:t>
            </a:r>
          </a:p>
          <a:p>
            <a:pPr marL="114300" lvl="0" indent="-114300">
              <a:buFont typeface="Arial" panose="020B0604020202020204" pitchFamily="34" charset="0"/>
              <a:buChar char="•"/>
            </a:pPr>
            <a:r>
              <a:rPr lang="en-US" sz="1200" b="1" dirty="0">
                <a:latin typeface="+mn-lt"/>
              </a:rPr>
              <a:t>Freeman, S. (2002) Biological Science. Upper Saddle River, New Jersey: Prentice Hall.</a:t>
            </a:r>
          </a:p>
          <a:p>
            <a:pPr marL="114300" indent="-114300">
              <a:buFont typeface="Arial" panose="020B0604020202020204" pitchFamily="34" charset="0"/>
              <a:buChar char="•"/>
            </a:pPr>
            <a:r>
              <a:rPr lang="en-US" sz="1200" b="1" dirty="0">
                <a:latin typeface="+mn-lt"/>
              </a:rPr>
              <a:t>Kitagawa, E., Takahashi, J., Momose, Y., &amp; Iwahashi, H. (2002). Effects of the pesticide thiuram: genome-wide screening of indicator genes by yeast DNA microarray. </a:t>
            </a:r>
            <a:r>
              <a:rPr lang="en-US" sz="1200" b="1" i="1" dirty="0">
                <a:latin typeface="+mn-lt"/>
              </a:rPr>
              <a:t>Environmental science &amp; technology</a:t>
            </a:r>
            <a:r>
              <a:rPr lang="en-US" sz="1200" b="1" dirty="0">
                <a:latin typeface="+mn-lt"/>
              </a:rPr>
              <a:t>, 36(18), 3908-3915. DOI: 10.1021/es015705v</a:t>
            </a:r>
          </a:p>
          <a:p>
            <a:pPr marL="114300" indent="-114300">
              <a:buFont typeface="Arial" panose="020B0604020202020204" pitchFamily="34" charset="0"/>
              <a:buChar char="•"/>
            </a:pPr>
            <a:r>
              <a:rPr lang="en-US" sz="1200" b="1" dirty="0" err="1"/>
              <a:t>Neymotin</a:t>
            </a:r>
            <a:r>
              <a:rPr lang="en-US" sz="1200" b="1" dirty="0"/>
              <a:t>, B., Athanasiadou, R., &amp; Gresham, D. (2014). Determination of in vivo RNA kinetics using RATE-seq. </a:t>
            </a:r>
            <a:r>
              <a:rPr lang="en-US" sz="1200" b="1" i="1" dirty="0" err="1"/>
              <a:t>Rna</a:t>
            </a:r>
            <a:r>
              <a:rPr lang="en-US" sz="1200" b="1" dirty="0"/>
              <a:t>, </a:t>
            </a:r>
            <a:r>
              <a:rPr lang="en-US" sz="1200" b="1" i="1" dirty="0"/>
              <a:t>20</a:t>
            </a:r>
            <a:r>
              <a:rPr lang="en-US" sz="1200" b="1" dirty="0"/>
              <a:t>(10), 1645-1652. DOI: 10.1261/rna.045104.114</a:t>
            </a:r>
            <a:endParaRPr lang="en-US" sz="1200" b="1" dirty="0">
              <a:latin typeface="+mn-lt"/>
            </a:endParaRPr>
          </a:p>
          <a:p>
            <a:pPr marL="114300" indent="-114300">
              <a:buFont typeface="Arial" panose="020B0604020202020204" pitchFamily="34" charset="0"/>
              <a:buChar char="•"/>
            </a:pPr>
            <a:r>
              <a:rPr lang="en-US" sz="1200" b="1" dirty="0">
                <a:latin typeface="+mn-lt"/>
              </a:rPr>
              <a:t>Thorsen, M., </a:t>
            </a:r>
            <a:r>
              <a:rPr lang="en-US" sz="1200" b="1" dirty="0" err="1">
                <a:latin typeface="+mn-lt"/>
              </a:rPr>
              <a:t>Lagniel</a:t>
            </a:r>
            <a:r>
              <a:rPr lang="en-US" sz="1200" b="1" dirty="0">
                <a:latin typeface="+mn-lt"/>
              </a:rPr>
              <a:t>, G., Kristiansson, E., Junot, C., </a:t>
            </a:r>
            <a:r>
              <a:rPr lang="en-US" sz="1200" b="1" dirty="0" err="1">
                <a:latin typeface="+mn-lt"/>
              </a:rPr>
              <a:t>Nerman</a:t>
            </a:r>
            <a:r>
              <a:rPr lang="en-US" sz="1200" b="1" dirty="0">
                <a:latin typeface="+mn-lt"/>
              </a:rPr>
              <a:t>, O., Labarre, J., &amp; Tamás, M. J. (2007). Quantitative transcriptome, proteome, and sulfur metabolite profiling of the Saccharomyces cerevisiae response to </a:t>
            </a:r>
            <a:r>
              <a:rPr lang="en-US" sz="1200" b="1" dirty="0" err="1">
                <a:latin typeface="+mn-lt"/>
              </a:rPr>
              <a:t>arsenite</a:t>
            </a:r>
            <a:r>
              <a:rPr lang="en-US" sz="1200" b="1" dirty="0">
                <a:latin typeface="+mn-lt"/>
              </a:rPr>
              <a:t>. </a:t>
            </a:r>
            <a:r>
              <a:rPr lang="en-US" sz="1200" b="1" i="1" dirty="0">
                <a:latin typeface="+mn-lt"/>
              </a:rPr>
              <a:t>Physiological genomics</a:t>
            </a:r>
            <a:r>
              <a:rPr lang="en-US" sz="1200" b="1" dirty="0">
                <a:latin typeface="+mn-lt"/>
              </a:rPr>
              <a:t>, 30(1), 35-43. DOI: 10.1152/physiolgenomics.00236.2006</a:t>
            </a:r>
          </a:p>
        </p:txBody>
      </p:sp>
      <p:sp>
        <p:nvSpPr>
          <p:cNvPr id="2" name="Google Shape;143;p1">
            <a:extLst>
              <a:ext uri="{FF2B5EF4-FFF2-40B4-BE49-F238E27FC236}">
                <a16:creationId xmlns:a16="http://schemas.microsoft.com/office/drawing/2014/main" id="{83AA0DD8-80DF-F93F-1F48-8E7FCD956BF2}"/>
              </a:ext>
            </a:extLst>
          </p:cNvPr>
          <p:cNvSpPr txBox="1"/>
          <p:nvPr/>
        </p:nvSpPr>
        <p:spPr>
          <a:xfrm>
            <a:off x="16925960" y="38744986"/>
            <a:ext cx="4623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200"/>
              <a:buFont typeface="Arial"/>
              <a:buNone/>
            </a:pPr>
            <a:r>
              <a:rPr lang="en-US" sz="3200" b="1" i="0" u="none" strike="noStrike" cap="none" dirty="0">
                <a:solidFill>
                  <a:srgbClr val="C33B3B"/>
                </a:solidFill>
                <a:latin typeface="Arial"/>
                <a:ea typeface="Arial"/>
                <a:cs typeface="Arial"/>
                <a:sym typeface="Arial"/>
              </a:rPr>
              <a:t>6</a:t>
            </a:r>
            <a:endParaRPr sz="1400" b="0" i="0" u="none" strike="noStrike" cap="none" dirty="0">
              <a:solidFill>
                <a:srgbClr val="C33B3B"/>
              </a:solidFill>
              <a:latin typeface="Arial"/>
              <a:ea typeface="Arial"/>
              <a:cs typeface="Arial"/>
              <a:sym typeface="Arial"/>
            </a:endParaRPr>
          </a:p>
        </p:txBody>
      </p:sp>
      <p:pic>
        <p:nvPicPr>
          <p:cNvPr id="33" name="Picture 32">
            <a:extLst>
              <a:ext uri="{FF2B5EF4-FFF2-40B4-BE49-F238E27FC236}">
                <a16:creationId xmlns:a16="http://schemas.microsoft.com/office/drawing/2014/main" id="{10EBB101-D008-DE62-1894-B412E6DEB320}"/>
              </a:ext>
            </a:extLst>
          </p:cNvPr>
          <p:cNvPicPr>
            <a:picLocks noChangeAspect="1"/>
          </p:cNvPicPr>
          <p:nvPr/>
        </p:nvPicPr>
        <p:blipFill>
          <a:blip r:embed="rId25"/>
          <a:srcRect l="30449" t="37474" r="59639" b="45396"/>
          <a:stretch/>
        </p:blipFill>
        <p:spPr>
          <a:xfrm>
            <a:off x="17371401" y="38668762"/>
            <a:ext cx="2548677" cy="2385784"/>
          </a:xfrm>
          <a:prstGeom prst="rect">
            <a:avLst/>
          </a:prstGeom>
        </p:spPr>
      </p:pic>
      <p:sp>
        <p:nvSpPr>
          <p:cNvPr id="48" name="TextBox 47">
            <a:extLst>
              <a:ext uri="{FF2B5EF4-FFF2-40B4-BE49-F238E27FC236}">
                <a16:creationId xmlns:a16="http://schemas.microsoft.com/office/drawing/2014/main" id="{CF045E62-29F7-14A2-CAE7-CCDF7386F49C}"/>
              </a:ext>
            </a:extLst>
          </p:cNvPr>
          <p:cNvSpPr txBox="1"/>
          <p:nvPr/>
        </p:nvSpPr>
        <p:spPr>
          <a:xfrm>
            <a:off x="757074" y="40573875"/>
            <a:ext cx="19375769" cy="769441"/>
          </a:xfrm>
          <a:prstGeom prst="rect">
            <a:avLst/>
          </a:prstGeom>
          <a:noFill/>
        </p:spPr>
        <p:txBody>
          <a:bodyPr wrap="square">
            <a:spAutoFit/>
          </a:bodyPr>
          <a:lstStyle/>
          <a:p>
            <a:pPr marL="223838" indent="-223838"/>
            <a:r>
              <a:rPr lang="en-US" sz="2200" b="1" dirty="0">
                <a:latin typeface="Arial" panose="020B0604020202020204" pitchFamily="34" charset="0"/>
                <a:cs typeface="Arial" panose="020B0604020202020204" pitchFamily="34" charset="0"/>
              </a:rPr>
              <a:t>6.  Export</a:t>
            </a:r>
          </a:p>
          <a:p>
            <a:pPr marL="690563" lvl="1" indent="-233363">
              <a:buFont typeface="Arial" panose="020B0604020202020204" pitchFamily="34" charset="0"/>
              <a:buChar char="•"/>
            </a:pPr>
            <a:r>
              <a:rPr lang="en-US" sz="2200" dirty="0">
                <a:latin typeface="Arial" panose="020B0604020202020204" pitchFamily="34" charset="0"/>
                <a:cs typeface="Arial" panose="020B0604020202020204" pitchFamily="34" charset="0"/>
              </a:rPr>
              <a:t>Basic data export to SIF or </a:t>
            </a:r>
            <a:r>
              <a:rPr lang="en-US" sz="2200" dirty="0" err="1">
                <a:latin typeface="Arial" panose="020B0604020202020204" pitchFamily="34" charset="0"/>
                <a:cs typeface="Arial" panose="020B0604020202020204" pitchFamily="34" charset="0"/>
              </a:rPr>
              <a:t>GraphML</a:t>
            </a:r>
            <a:r>
              <a:rPr lang="en-US" sz="2200" dirty="0">
                <a:latin typeface="Arial" panose="020B0604020202020204" pitchFamily="34" charset="0"/>
                <a:cs typeface="Arial" panose="020B0604020202020204" pitchFamily="34" charset="0"/>
              </a:rPr>
              <a:t> or full </a:t>
            </a:r>
            <a:r>
              <a:rPr lang="en-US" sz="2200" dirty="0" err="1">
                <a:latin typeface="Arial" panose="020B0604020202020204" pitchFamily="34" charset="0"/>
                <a:cs typeface="Arial" panose="020B0604020202020204" pitchFamily="34" charset="0"/>
              </a:rPr>
              <a:t>GRNmap</a:t>
            </a:r>
            <a:r>
              <a:rPr lang="en-US" sz="2200" dirty="0">
                <a:latin typeface="Arial" panose="020B0604020202020204" pitchFamily="34" charset="0"/>
                <a:cs typeface="Arial" panose="020B0604020202020204" pitchFamily="34" charset="0"/>
              </a:rPr>
              <a:t>-compatible Excel workbook, with yeast mRNA degradation rates from </a:t>
            </a:r>
            <a:r>
              <a:rPr lang="en-US" sz="2200" dirty="0" err="1">
                <a:latin typeface="Arial" panose="020B0604020202020204" pitchFamily="34" charset="0"/>
                <a:cs typeface="Arial" panose="020B0604020202020204" pitchFamily="34" charset="0"/>
              </a:rPr>
              <a:t>Neymotin</a:t>
            </a:r>
            <a:r>
              <a:rPr lang="en-US" sz="2200" dirty="0">
                <a:latin typeface="Arial" panose="020B0604020202020204" pitchFamily="34" charset="0"/>
                <a:cs typeface="Arial" panose="020B0604020202020204" pitchFamily="34" charset="0"/>
              </a:rPr>
              <a:t> et al. (2014). </a:t>
            </a:r>
          </a:p>
        </p:txBody>
      </p:sp>
      <p:sp>
        <p:nvSpPr>
          <p:cNvPr id="60" name="TextBox 59">
            <a:extLst>
              <a:ext uri="{FF2B5EF4-FFF2-40B4-BE49-F238E27FC236}">
                <a16:creationId xmlns:a16="http://schemas.microsoft.com/office/drawing/2014/main" id="{47CFAF3C-CC2B-27C7-9103-6D272887EB2B}"/>
              </a:ext>
            </a:extLst>
          </p:cNvPr>
          <p:cNvSpPr txBox="1"/>
          <p:nvPr/>
        </p:nvSpPr>
        <p:spPr>
          <a:xfrm>
            <a:off x="1484023" y="41269751"/>
            <a:ext cx="4945906" cy="430887"/>
          </a:xfrm>
          <a:prstGeom prst="rect">
            <a:avLst/>
          </a:prstGeom>
          <a:noFill/>
        </p:spPr>
        <p:txBody>
          <a:bodyPr wrap="none" rtlCol="0">
            <a:spAutoFit/>
          </a:bodyPr>
          <a:lstStyle/>
          <a:p>
            <a:pPr marL="223838" indent="-223838">
              <a:buFont typeface="Arial" panose="020B0604020202020204" pitchFamily="34" charset="0"/>
              <a:buChar char="•"/>
            </a:pPr>
            <a:r>
              <a:rPr lang="en-US" sz="2200" dirty="0"/>
              <a:t>Image export to PNG, SVG, or PDF.</a:t>
            </a:r>
          </a:p>
        </p:txBody>
      </p:sp>
      <p:sp>
        <p:nvSpPr>
          <p:cNvPr id="132" name="Title 1">
            <a:extLst>
              <a:ext uri="{FF2B5EF4-FFF2-40B4-BE49-F238E27FC236}">
                <a16:creationId xmlns:a16="http://schemas.microsoft.com/office/drawing/2014/main" id="{86ED9B79-0E31-B3F9-8383-8129BC789C67}"/>
              </a:ext>
            </a:extLst>
          </p:cNvPr>
          <p:cNvSpPr txBox="1">
            <a:spLocks/>
          </p:cNvSpPr>
          <p:nvPr/>
        </p:nvSpPr>
        <p:spPr>
          <a:xfrm>
            <a:off x="416323" y="5758061"/>
            <a:ext cx="6453186" cy="1099053"/>
          </a:xfrm>
          <a:prstGeom prst="rect">
            <a:avLst/>
          </a:prstGeom>
          <a:noFill/>
          <a:ln>
            <a:noFill/>
          </a:ln>
        </p:spPr>
        <p:txBody>
          <a:bodyPr lIns="91425" tIns="91425" rIns="91425" bIns="91425" anchor="ctr" anchorCtr="0">
            <a:normAutofit/>
          </a:bodyPr>
          <a:lstStyle>
            <a:defPPr marR="0" algn="l" rtl="0">
              <a:lnSpc>
                <a:spcPct val="100000"/>
              </a:lnSpc>
              <a:spcBef>
                <a:spcPts val="0"/>
              </a:spcBef>
              <a:spcAft>
                <a:spcPts val="0"/>
              </a:spcAft>
            </a:defPPr>
            <a:lvl1pPr marL="0" marR="0" indent="0" algn="ctr" rtl="0">
              <a:lnSpc>
                <a:spcPct val="100000"/>
              </a:lnSpc>
              <a:spcBef>
                <a:spcPts val="0"/>
              </a:spcBef>
              <a:spcAft>
                <a:spcPts val="0"/>
              </a:spcAft>
              <a:buClr>
                <a:schemeClr val="dk1"/>
              </a:buClr>
              <a:buFont typeface="Calibri"/>
              <a:buNone/>
              <a:defRPr sz="1400" b="0" i="0" u="none" strike="noStrike" cap="none" baseline="0">
                <a:solidFill>
                  <a:srgbClr val="000000"/>
                </a:solidFill>
                <a:latin typeface="Arial"/>
                <a:ea typeface="Arial"/>
                <a:cs typeface="Arial"/>
                <a:sym typeface="Arial"/>
                <a:rtl val="0"/>
              </a:defRPr>
            </a:lvl1pPr>
            <a:lvl2pPr marL="0" marR="0" indent="0" algn="l" rtl="0">
              <a:lnSpc>
                <a:spcPct val="100000"/>
              </a:lnSpc>
              <a:spcBef>
                <a:spcPts val="0"/>
              </a:spcBef>
              <a:spcAft>
                <a:spcPts val="0"/>
              </a:spcAft>
              <a:buClr>
                <a:srgbClr val="000000"/>
              </a:buClr>
              <a:buFont typeface="Arial"/>
              <a:buNone/>
              <a:defRPr sz="1400" b="0" i="0" u="none" strike="noStrike" cap="none" baseline="0">
                <a:solidFill>
                  <a:srgbClr val="000000"/>
                </a:solidFill>
                <a:latin typeface="Arial"/>
                <a:ea typeface="Arial"/>
                <a:cs typeface="Arial"/>
                <a:sym typeface="Arial"/>
                <a:rtl val="0"/>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sz="2800" b="1" dirty="0" err="1">
                <a:solidFill>
                  <a:srgbClr val="16693F"/>
                </a:solidFill>
              </a:rPr>
              <a:t>GRNmap</a:t>
            </a:r>
            <a:r>
              <a:rPr lang="en-US" sz="2800" b="1" dirty="0">
                <a:solidFill>
                  <a:srgbClr val="16693F"/>
                </a:solidFill>
              </a:rPr>
              <a:t>: Gene Regulatory Network modeling and parameter estimation</a:t>
            </a:r>
          </a:p>
        </p:txBody>
      </p:sp>
      <p:sp>
        <p:nvSpPr>
          <p:cNvPr id="181" name="Text Box 2">
            <a:extLst>
              <a:ext uri="{FF2B5EF4-FFF2-40B4-BE49-F238E27FC236}">
                <a16:creationId xmlns:a16="http://schemas.microsoft.com/office/drawing/2014/main" id="{9B48F69A-8F70-A08C-F9A3-4305C7511BA8}"/>
              </a:ext>
            </a:extLst>
          </p:cNvPr>
          <p:cNvSpPr txBox="1">
            <a:spLocks noChangeArrowheads="1"/>
          </p:cNvSpPr>
          <p:nvPr/>
        </p:nvSpPr>
        <p:spPr bwMode="auto">
          <a:xfrm>
            <a:off x="169243" y="8255415"/>
            <a:ext cx="694734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Arial" pitchFamily="34" charset="0"/>
              </a:defRPr>
            </a:lvl1pPr>
            <a:lvl2pPr marL="742950" indent="-285750" eaLnBrk="0" hangingPunct="0">
              <a:defRPr sz="2400" b="1">
                <a:solidFill>
                  <a:schemeClr val="tx1"/>
                </a:solidFill>
                <a:latin typeface="Arial" pitchFamily="34" charset="0"/>
              </a:defRPr>
            </a:lvl2pPr>
            <a:lvl3pPr marL="1143000" indent="-228600" eaLnBrk="0" hangingPunct="0">
              <a:defRPr sz="2400" b="1">
                <a:solidFill>
                  <a:schemeClr val="tx1"/>
                </a:solidFill>
                <a:latin typeface="Arial" pitchFamily="34" charset="0"/>
              </a:defRPr>
            </a:lvl3pPr>
            <a:lvl4pPr marL="1600200" indent="-228600" eaLnBrk="0" hangingPunct="0">
              <a:defRPr sz="2400" b="1">
                <a:solidFill>
                  <a:schemeClr val="tx1"/>
                </a:solidFill>
                <a:latin typeface="Arial" pitchFamily="34" charset="0"/>
              </a:defRPr>
            </a:lvl4pPr>
            <a:lvl5pPr marL="2057400" indent="-228600" eaLnBrk="0" hangingPunct="0">
              <a:defRPr sz="2400" b="1">
                <a:solidFill>
                  <a:schemeClr val="tx1"/>
                </a:solidFill>
                <a:latin typeface="Arial" pitchFamily="34" charset="0"/>
              </a:defRPr>
            </a:lvl5pPr>
            <a:lvl6pPr marL="2514600" indent="-228600" eaLnBrk="0" fontAlgn="base" hangingPunct="0">
              <a:spcBef>
                <a:spcPct val="0"/>
              </a:spcBef>
              <a:spcAft>
                <a:spcPct val="0"/>
              </a:spcAft>
              <a:defRPr sz="2400" b="1">
                <a:solidFill>
                  <a:schemeClr val="tx1"/>
                </a:solidFill>
                <a:latin typeface="Arial" pitchFamily="34" charset="0"/>
              </a:defRPr>
            </a:lvl6pPr>
            <a:lvl7pPr marL="2971800" indent="-228600" eaLnBrk="0" fontAlgn="base" hangingPunct="0">
              <a:spcBef>
                <a:spcPct val="0"/>
              </a:spcBef>
              <a:spcAft>
                <a:spcPct val="0"/>
              </a:spcAft>
              <a:defRPr sz="2400" b="1">
                <a:solidFill>
                  <a:schemeClr val="tx1"/>
                </a:solidFill>
                <a:latin typeface="Arial" pitchFamily="34" charset="0"/>
              </a:defRPr>
            </a:lvl7pPr>
            <a:lvl8pPr marL="3429000" indent="-228600" eaLnBrk="0" fontAlgn="base" hangingPunct="0">
              <a:spcBef>
                <a:spcPct val="0"/>
              </a:spcBef>
              <a:spcAft>
                <a:spcPct val="0"/>
              </a:spcAft>
              <a:defRPr sz="2400" b="1">
                <a:solidFill>
                  <a:schemeClr val="tx1"/>
                </a:solidFill>
                <a:latin typeface="Arial" pitchFamily="34" charset="0"/>
              </a:defRPr>
            </a:lvl8pPr>
            <a:lvl9pPr marL="3886200" indent="-228600" eaLnBrk="0" fontAlgn="base" hangingPunct="0">
              <a:spcBef>
                <a:spcPct val="0"/>
              </a:spcBef>
              <a:spcAft>
                <a:spcPct val="0"/>
              </a:spcAft>
              <a:defRPr sz="2400" b="1">
                <a:solidFill>
                  <a:schemeClr val="tx1"/>
                </a:solidFill>
                <a:latin typeface="Arial" pitchFamily="34" charset="0"/>
              </a:defRPr>
            </a:lvl9pPr>
          </a:lstStyle>
          <a:p>
            <a:pPr algn="ctr" eaLnBrk="1" hangingPunct="1"/>
            <a:r>
              <a:rPr lang="en-US" altLang="en-US" sz="2800" dirty="0">
                <a:solidFill>
                  <a:srgbClr val="16693F"/>
                </a:solidFill>
              </a:rPr>
              <a:t>Parameters are optimized using a penalized least squares error function</a:t>
            </a:r>
          </a:p>
        </p:txBody>
      </p:sp>
      <p:pic>
        <p:nvPicPr>
          <p:cNvPr id="64" name="Picture 63">
            <a:extLst>
              <a:ext uri="{FF2B5EF4-FFF2-40B4-BE49-F238E27FC236}">
                <a16:creationId xmlns:a16="http://schemas.microsoft.com/office/drawing/2014/main" id="{C982105D-B08A-3359-6F9A-3CC59DE57B73}"/>
              </a:ext>
            </a:extLst>
          </p:cNvPr>
          <p:cNvPicPr>
            <a:picLocks noChangeAspect="1"/>
          </p:cNvPicPr>
          <p:nvPr/>
        </p:nvPicPr>
        <p:blipFill>
          <a:blip r:embed="rId26" cstate="email">
            <a:extLst>
              <a:ext uri="{28A0092B-C50C-407E-A947-70E740481C1C}">
                <a14:useLocalDpi xmlns:a14="http://schemas.microsoft.com/office/drawing/2010/main" val="0"/>
              </a:ext>
            </a:extLst>
          </a:blip>
          <a:srcRect l="5431" t="3858" r="5637" b="10592"/>
          <a:stretch/>
        </p:blipFill>
        <p:spPr>
          <a:xfrm>
            <a:off x="25336500" y="3458671"/>
            <a:ext cx="4386549" cy="1523803"/>
          </a:xfrm>
          <a:prstGeom prst="rect">
            <a:avLst/>
          </a:prstGeom>
        </p:spPr>
      </p:pic>
      <p:grpSp>
        <p:nvGrpSpPr>
          <p:cNvPr id="105" name="Group 104">
            <a:extLst>
              <a:ext uri="{FF2B5EF4-FFF2-40B4-BE49-F238E27FC236}">
                <a16:creationId xmlns:a16="http://schemas.microsoft.com/office/drawing/2014/main" id="{199405DF-B451-6E89-624B-7A2E45337993}"/>
              </a:ext>
            </a:extLst>
          </p:cNvPr>
          <p:cNvGrpSpPr/>
          <p:nvPr/>
        </p:nvGrpSpPr>
        <p:grpSpPr>
          <a:xfrm>
            <a:off x="195741" y="20267554"/>
            <a:ext cx="14457343" cy="4279447"/>
            <a:chOff x="-4434325" y="102814"/>
            <a:chExt cx="21618013" cy="6399041"/>
          </a:xfrm>
        </p:grpSpPr>
        <p:grpSp>
          <p:nvGrpSpPr>
            <p:cNvPr id="106" name="Group 105">
              <a:extLst>
                <a:ext uri="{FF2B5EF4-FFF2-40B4-BE49-F238E27FC236}">
                  <a16:creationId xmlns:a16="http://schemas.microsoft.com/office/drawing/2014/main" id="{D57AD8DE-208D-91CC-6540-F62C1ECE9169}"/>
                </a:ext>
              </a:extLst>
            </p:cNvPr>
            <p:cNvGrpSpPr/>
            <p:nvPr/>
          </p:nvGrpSpPr>
          <p:grpSpPr>
            <a:xfrm>
              <a:off x="-4434325" y="2166614"/>
              <a:ext cx="21618013" cy="2186367"/>
              <a:chOff x="-4434325" y="145307"/>
              <a:chExt cx="21618013" cy="2186367"/>
            </a:xfrm>
          </p:grpSpPr>
          <p:pic>
            <p:nvPicPr>
              <p:cNvPr id="123" name="Picture 122" descr="A red arrow pointing to a white background&#10;&#10;AI-generated content may be incorrect.">
                <a:extLst>
                  <a:ext uri="{FF2B5EF4-FFF2-40B4-BE49-F238E27FC236}">
                    <a16:creationId xmlns:a16="http://schemas.microsoft.com/office/drawing/2014/main" id="{374403F2-BAB5-AE78-95AC-2F73C525B17B}"/>
                  </a:ext>
                </a:extLst>
              </p:cNvPr>
              <p:cNvPicPr>
                <a:picLocks noChangeAspect="1"/>
              </p:cNvPicPr>
              <p:nvPr/>
            </p:nvPicPr>
            <p:blipFill>
              <a:blip r:embed="rId27" cstate="email">
                <a:extLst>
                  <a:ext uri="{28A0092B-C50C-407E-A947-70E740481C1C}">
                    <a14:useLocalDpi xmlns:a14="http://schemas.microsoft.com/office/drawing/2010/main" val="0"/>
                  </a:ext>
                </a:extLst>
              </a:blip>
              <a:srcRect r="66290" b="62256"/>
              <a:stretch/>
            </p:blipFill>
            <p:spPr>
              <a:xfrm>
                <a:off x="7854799" y="168449"/>
                <a:ext cx="3082452" cy="2046345"/>
              </a:xfrm>
              <a:prstGeom prst="rect">
                <a:avLst/>
              </a:prstGeom>
            </p:spPr>
          </p:pic>
          <p:pic>
            <p:nvPicPr>
              <p:cNvPr id="124" name="Picture 123" descr="A blue and red arrows&#10;&#10;AI-generated content may be incorrect.">
                <a:extLst>
                  <a:ext uri="{FF2B5EF4-FFF2-40B4-BE49-F238E27FC236}">
                    <a16:creationId xmlns:a16="http://schemas.microsoft.com/office/drawing/2014/main" id="{DC392336-CBCE-D574-382E-DB53A1063905}"/>
                  </a:ext>
                </a:extLst>
              </p:cNvPr>
              <p:cNvPicPr>
                <a:picLocks noChangeAspect="1"/>
              </p:cNvPicPr>
              <p:nvPr/>
            </p:nvPicPr>
            <p:blipFill>
              <a:blip r:embed="rId28" cstate="email">
                <a:extLst>
                  <a:ext uri="{28A0092B-C50C-407E-A947-70E740481C1C}">
                    <a14:useLocalDpi xmlns:a14="http://schemas.microsoft.com/office/drawing/2010/main" val="0"/>
                  </a:ext>
                </a:extLst>
              </a:blip>
              <a:srcRect r="66291" b="60864"/>
              <a:stretch/>
            </p:blipFill>
            <p:spPr>
              <a:xfrm>
                <a:off x="1682795" y="168449"/>
                <a:ext cx="3082452" cy="2121778"/>
              </a:xfrm>
              <a:prstGeom prst="rect">
                <a:avLst/>
              </a:prstGeom>
            </p:spPr>
          </p:pic>
          <p:pic>
            <p:nvPicPr>
              <p:cNvPr id="125" name="Picture 124" descr="A red and blue lines on a white background&#10;&#10;AI-generated content may be incorrect.">
                <a:extLst>
                  <a:ext uri="{FF2B5EF4-FFF2-40B4-BE49-F238E27FC236}">
                    <a16:creationId xmlns:a16="http://schemas.microsoft.com/office/drawing/2014/main" id="{A7862F63-BE65-F44A-1FE6-EE4E2DB92ED6}"/>
                  </a:ext>
                </a:extLst>
              </p:cNvPr>
              <p:cNvPicPr>
                <a:picLocks noChangeAspect="1"/>
              </p:cNvPicPr>
              <p:nvPr/>
            </p:nvPicPr>
            <p:blipFill>
              <a:blip r:embed="rId29" cstate="email">
                <a:extLst>
                  <a:ext uri="{28A0092B-C50C-407E-A947-70E740481C1C}">
                    <a14:useLocalDpi xmlns:a14="http://schemas.microsoft.com/office/drawing/2010/main" val="0"/>
                  </a:ext>
                </a:extLst>
              </a:blip>
              <a:srcRect r="64349" b="65163"/>
              <a:stretch/>
            </p:blipFill>
            <p:spPr>
              <a:xfrm>
                <a:off x="4734660" y="168449"/>
                <a:ext cx="3259960" cy="1888677"/>
              </a:xfrm>
              <a:prstGeom prst="rect">
                <a:avLst/>
              </a:prstGeom>
            </p:spPr>
          </p:pic>
          <p:pic>
            <p:nvPicPr>
              <p:cNvPr id="126" name="Picture 125" descr="A blue and red arrows&#10;&#10;AI-generated content may be incorrect.">
                <a:extLst>
                  <a:ext uri="{FF2B5EF4-FFF2-40B4-BE49-F238E27FC236}">
                    <a16:creationId xmlns:a16="http://schemas.microsoft.com/office/drawing/2014/main" id="{CE69E614-85A7-5C95-9FCA-95E2A17000E8}"/>
                  </a:ext>
                </a:extLst>
              </p:cNvPr>
              <p:cNvPicPr>
                <a:picLocks noChangeAspect="1"/>
              </p:cNvPicPr>
              <p:nvPr/>
            </p:nvPicPr>
            <p:blipFill>
              <a:blip r:embed="rId30" cstate="email">
                <a:extLst>
                  <a:ext uri="{28A0092B-C50C-407E-A947-70E740481C1C}">
                    <a14:useLocalDpi xmlns:a14="http://schemas.microsoft.com/office/drawing/2010/main" val="0"/>
                  </a:ext>
                </a:extLst>
              </a:blip>
              <a:srcRect r="66291" b="60405"/>
              <a:stretch/>
            </p:blipFill>
            <p:spPr>
              <a:xfrm>
                <a:off x="10896878" y="168449"/>
                <a:ext cx="3082452" cy="2146622"/>
              </a:xfrm>
              <a:prstGeom prst="rect">
                <a:avLst/>
              </a:prstGeom>
            </p:spPr>
          </p:pic>
          <p:pic>
            <p:nvPicPr>
              <p:cNvPr id="127" name="Picture 126">
                <a:extLst>
                  <a:ext uri="{FF2B5EF4-FFF2-40B4-BE49-F238E27FC236}">
                    <a16:creationId xmlns:a16="http://schemas.microsoft.com/office/drawing/2014/main" id="{0977A40D-F3AB-AABC-0E3E-A06DBB36CCCA}"/>
                  </a:ext>
                </a:extLst>
              </p:cNvPr>
              <p:cNvPicPr>
                <a:picLocks noChangeAspect="1"/>
              </p:cNvPicPr>
              <p:nvPr/>
            </p:nvPicPr>
            <p:blipFill>
              <a:blip r:embed="rId31" cstate="email">
                <a:extLst>
                  <a:ext uri="{28A0092B-C50C-407E-A947-70E740481C1C}">
                    <a14:useLocalDpi xmlns:a14="http://schemas.microsoft.com/office/drawing/2010/main" val="0"/>
                  </a:ext>
                </a:extLst>
              </a:blip>
              <a:srcRect r="64317" b="65312"/>
              <a:stretch/>
            </p:blipFill>
            <p:spPr>
              <a:xfrm>
                <a:off x="13920786" y="168449"/>
                <a:ext cx="3262902" cy="1880611"/>
              </a:xfrm>
              <a:prstGeom prst="rect">
                <a:avLst/>
              </a:prstGeom>
            </p:spPr>
          </p:pic>
          <p:pic>
            <p:nvPicPr>
              <p:cNvPr id="128" name="Picture 127" descr="A blue and red arrow pointing to a blue object&#10;&#10;AI-generated content may be incorrect.">
                <a:extLst>
                  <a:ext uri="{FF2B5EF4-FFF2-40B4-BE49-F238E27FC236}">
                    <a16:creationId xmlns:a16="http://schemas.microsoft.com/office/drawing/2014/main" id="{31AFA5B4-5D29-5517-8EB3-ABCEEBEBA0F7}"/>
                  </a:ext>
                </a:extLst>
              </p:cNvPr>
              <p:cNvPicPr>
                <a:picLocks noChangeAspect="1"/>
              </p:cNvPicPr>
              <p:nvPr/>
            </p:nvPicPr>
            <p:blipFill>
              <a:blip r:embed="rId32" cstate="email">
                <a:extLst>
                  <a:ext uri="{28A0092B-C50C-407E-A947-70E740481C1C}">
                    <a14:useLocalDpi xmlns:a14="http://schemas.microsoft.com/office/drawing/2010/main" val="0"/>
                  </a:ext>
                </a:extLst>
              </a:blip>
              <a:srcRect r="64007" b="60100"/>
              <a:stretch/>
            </p:blipFill>
            <p:spPr>
              <a:xfrm>
                <a:off x="-1502689" y="168449"/>
                <a:ext cx="3291240" cy="2163225"/>
              </a:xfrm>
              <a:prstGeom prst="rect">
                <a:avLst/>
              </a:prstGeom>
            </p:spPr>
          </p:pic>
          <p:pic>
            <p:nvPicPr>
              <p:cNvPr id="129" name="Picture 128" descr="A red arrow pointing to a white background&#10;&#10;AI-generated content may be incorrect.">
                <a:extLst>
                  <a:ext uri="{FF2B5EF4-FFF2-40B4-BE49-F238E27FC236}">
                    <a16:creationId xmlns:a16="http://schemas.microsoft.com/office/drawing/2014/main" id="{5FBAC697-3E35-C2F2-B329-CFE3E3E17461}"/>
                  </a:ext>
                </a:extLst>
              </p:cNvPr>
              <p:cNvPicPr>
                <a:picLocks noChangeAspect="1"/>
              </p:cNvPicPr>
              <p:nvPr/>
            </p:nvPicPr>
            <p:blipFill>
              <a:blip r:embed="rId33" cstate="email">
                <a:extLst>
                  <a:ext uri="{28A0092B-C50C-407E-A947-70E740481C1C}">
                    <a14:useLocalDpi xmlns:a14="http://schemas.microsoft.com/office/drawing/2010/main" val="0"/>
                  </a:ext>
                </a:extLst>
              </a:blip>
              <a:srcRect r="66401" b="65164"/>
              <a:stretch/>
            </p:blipFill>
            <p:spPr>
              <a:xfrm>
                <a:off x="-4434325" y="145307"/>
                <a:ext cx="3072346" cy="1888677"/>
              </a:xfrm>
              <a:prstGeom prst="rect">
                <a:avLst/>
              </a:prstGeom>
            </p:spPr>
          </p:pic>
        </p:grpSp>
        <p:grpSp>
          <p:nvGrpSpPr>
            <p:cNvPr id="107" name="Group 106">
              <a:extLst>
                <a:ext uri="{FF2B5EF4-FFF2-40B4-BE49-F238E27FC236}">
                  <a16:creationId xmlns:a16="http://schemas.microsoft.com/office/drawing/2014/main" id="{12AC821E-CE2A-84B6-03A5-6F881D3520A8}"/>
                </a:ext>
              </a:extLst>
            </p:cNvPr>
            <p:cNvGrpSpPr/>
            <p:nvPr/>
          </p:nvGrpSpPr>
          <p:grpSpPr>
            <a:xfrm>
              <a:off x="-4434325" y="102814"/>
              <a:ext cx="21605338" cy="2168406"/>
              <a:chOff x="-4434325" y="102814"/>
              <a:chExt cx="21605338" cy="2168406"/>
            </a:xfrm>
          </p:grpSpPr>
          <p:pic>
            <p:nvPicPr>
              <p:cNvPr id="116" name="Picture 115" descr="A blue and red line with a red line and a blue arrow&#10;&#10;AI-generated content may be incorrect.">
                <a:extLst>
                  <a:ext uri="{FF2B5EF4-FFF2-40B4-BE49-F238E27FC236}">
                    <a16:creationId xmlns:a16="http://schemas.microsoft.com/office/drawing/2014/main" id="{1C5E4625-D64A-4820-FD92-A506E8752529}"/>
                  </a:ext>
                </a:extLst>
              </p:cNvPr>
              <p:cNvPicPr>
                <a:picLocks noChangeAspect="1"/>
              </p:cNvPicPr>
              <p:nvPr/>
            </p:nvPicPr>
            <p:blipFill>
              <a:blip r:embed="rId34" cstate="email">
                <a:extLst>
                  <a:ext uri="{28A0092B-C50C-407E-A947-70E740481C1C}">
                    <a14:useLocalDpi xmlns:a14="http://schemas.microsoft.com/office/drawing/2010/main" val="0"/>
                  </a:ext>
                </a:extLst>
              </a:blip>
              <a:srcRect r="65686" b="60831"/>
              <a:stretch/>
            </p:blipFill>
            <p:spPr>
              <a:xfrm>
                <a:off x="4672492" y="102814"/>
                <a:ext cx="3137647" cy="2123586"/>
              </a:xfrm>
              <a:prstGeom prst="rect">
                <a:avLst/>
              </a:prstGeom>
            </p:spPr>
          </p:pic>
          <p:pic>
            <p:nvPicPr>
              <p:cNvPr id="117" name="Picture 116" descr="A blue and red lines and a white background&#10;&#10;AI-generated content may be incorrect.">
                <a:extLst>
                  <a:ext uri="{FF2B5EF4-FFF2-40B4-BE49-F238E27FC236}">
                    <a16:creationId xmlns:a16="http://schemas.microsoft.com/office/drawing/2014/main" id="{5D9449F5-05C0-D2F0-2F14-B9638FE239F4}"/>
                  </a:ext>
                </a:extLst>
              </p:cNvPr>
              <p:cNvPicPr>
                <a:picLocks noChangeAspect="1"/>
              </p:cNvPicPr>
              <p:nvPr/>
            </p:nvPicPr>
            <p:blipFill>
              <a:blip r:embed="rId35" cstate="email">
                <a:extLst>
                  <a:ext uri="{28A0092B-C50C-407E-A947-70E740481C1C}">
                    <a14:useLocalDpi xmlns:a14="http://schemas.microsoft.com/office/drawing/2010/main" val="0"/>
                  </a:ext>
                </a:extLst>
              </a:blip>
              <a:srcRect l="-1" r="66395" b="65163"/>
              <a:stretch/>
            </p:blipFill>
            <p:spPr>
              <a:xfrm>
                <a:off x="14098118" y="102814"/>
                <a:ext cx="3072895" cy="1888676"/>
              </a:xfrm>
              <a:prstGeom prst="rect">
                <a:avLst/>
              </a:prstGeom>
            </p:spPr>
          </p:pic>
          <p:pic>
            <p:nvPicPr>
              <p:cNvPr id="118" name="Picture 117" descr="A red and blue triangle with text&#10;&#10;AI-generated content may be incorrect.">
                <a:extLst>
                  <a:ext uri="{FF2B5EF4-FFF2-40B4-BE49-F238E27FC236}">
                    <a16:creationId xmlns:a16="http://schemas.microsoft.com/office/drawing/2014/main" id="{E07F1294-F0DF-32E0-DFE9-BB5BB090EA9E}"/>
                  </a:ext>
                </a:extLst>
              </p:cNvPr>
              <p:cNvPicPr>
                <a:picLocks noChangeAspect="1"/>
              </p:cNvPicPr>
              <p:nvPr/>
            </p:nvPicPr>
            <p:blipFill>
              <a:blip r:embed="rId36" cstate="email">
                <a:extLst>
                  <a:ext uri="{28A0092B-C50C-407E-A947-70E740481C1C}">
                    <a14:useLocalDpi xmlns:a14="http://schemas.microsoft.com/office/drawing/2010/main" val="0"/>
                  </a:ext>
                </a:extLst>
              </a:blip>
              <a:srcRect r="66523" b="65163"/>
              <a:stretch/>
            </p:blipFill>
            <p:spPr>
              <a:xfrm>
                <a:off x="-1481749" y="128584"/>
                <a:ext cx="3061170" cy="1888677"/>
              </a:xfrm>
              <a:prstGeom prst="rect">
                <a:avLst/>
              </a:prstGeom>
            </p:spPr>
          </p:pic>
          <p:pic>
            <p:nvPicPr>
              <p:cNvPr id="119" name="Picture 118" descr="A blue and red line&#10;&#10;AI-generated content may be incorrect.">
                <a:extLst>
                  <a:ext uri="{FF2B5EF4-FFF2-40B4-BE49-F238E27FC236}">
                    <a16:creationId xmlns:a16="http://schemas.microsoft.com/office/drawing/2014/main" id="{229BE963-ACF6-2044-088B-8EF9736FC0B6}"/>
                  </a:ext>
                </a:extLst>
              </p:cNvPr>
              <p:cNvPicPr>
                <a:picLocks noChangeAspect="1"/>
              </p:cNvPicPr>
              <p:nvPr/>
            </p:nvPicPr>
            <p:blipFill>
              <a:blip r:embed="rId37" cstate="email">
                <a:extLst>
                  <a:ext uri="{28A0092B-C50C-407E-A947-70E740481C1C}">
                    <a14:useLocalDpi xmlns:a14="http://schemas.microsoft.com/office/drawing/2010/main" val="0"/>
                  </a:ext>
                </a:extLst>
              </a:blip>
              <a:srcRect r="66781" b="65164"/>
              <a:stretch/>
            </p:blipFill>
            <p:spPr>
              <a:xfrm>
                <a:off x="-4434325" y="102814"/>
                <a:ext cx="3037550" cy="1888676"/>
              </a:xfrm>
              <a:prstGeom prst="rect">
                <a:avLst/>
              </a:prstGeom>
            </p:spPr>
          </p:pic>
          <p:pic>
            <p:nvPicPr>
              <p:cNvPr id="120" name="Picture 119" descr="A blue and red graph&#10;&#10;AI-generated content may be incorrect.">
                <a:extLst>
                  <a:ext uri="{FF2B5EF4-FFF2-40B4-BE49-F238E27FC236}">
                    <a16:creationId xmlns:a16="http://schemas.microsoft.com/office/drawing/2014/main" id="{1774294D-A94C-6372-7115-87465AA82614}"/>
                  </a:ext>
                </a:extLst>
              </p:cNvPr>
              <p:cNvPicPr>
                <a:picLocks noChangeAspect="1"/>
              </p:cNvPicPr>
              <p:nvPr/>
            </p:nvPicPr>
            <p:blipFill>
              <a:blip r:embed="rId38" cstate="email">
                <a:extLst>
                  <a:ext uri="{28A0092B-C50C-407E-A947-70E740481C1C}">
                    <a14:useLocalDpi xmlns:a14="http://schemas.microsoft.com/office/drawing/2010/main" val="0"/>
                  </a:ext>
                </a:extLst>
              </a:blip>
              <a:srcRect r="64422" b="60004"/>
              <a:stretch/>
            </p:blipFill>
            <p:spPr>
              <a:xfrm>
                <a:off x="1522284" y="102814"/>
                <a:ext cx="3253295" cy="2168406"/>
              </a:xfrm>
              <a:prstGeom prst="rect">
                <a:avLst/>
              </a:prstGeom>
            </p:spPr>
          </p:pic>
          <p:pic>
            <p:nvPicPr>
              <p:cNvPr id="121" name="Picture 120" descr="A red and white line with a black text&#10;&#10;AI-generated content may be incorrect.">
                <a:extLst>
                  <a:ext uri="{FF2B5EF4-FFF2-40B4-BE49-F238E27FC236}">
                    <a16:creationId xmlns:a16="http://schemas.microsoft.com/office/drawing/2014/main" id="{0FFD89D6-E920-0C50-1354-185619E8FC08}"/>
                  </a:ext>
                </a:extLst>
              </p:cNvPr>
              <p:cNvPicPr>
                <a:picLocks noChangeAspect="1"/>
              </p:cNvPicPr>
              <p:nvPr/>
            </p:nvPicPr>
            <p:blipFill>
              <a:blip r:embed="rId39" cstate="email">
                <a:extLst>
                  <a:ext uri="{28A0092B-C50C-407E-A947-70E740481C1C}">
                    <a14:useLocalDpi xmlns:a14="http://schemas.microsoft.com/office/drawing/2010/main" val="0"/>
                  </a:ext>
                </a:extLst>
              </a:blip>
              <a:srcRect l="-1" r="64317" b="65775"/>
              <a:stretch/>
            </p:blipFill>
            <p:spPr>
              <a:xfrm>
                <a:off x="10929245" y="102814"/>
                <a:ext cx="3262902" cy="1855509"/>
              </a:xfrm>
              <a:prstGeom prst="rect">
                <a:avLst/>
              </a:prstGeom>
            </p:spPr>
          </p:pic>
          <p:pic>
            <p:nvPicPr>
              <p:cNvPr id="122" name="Picture 121" descr="A red and blue spiral&#10;&#10;AI-generated content may be incorrect.">
                <a:extLst>
                  <a:ext uri="{FF2B5EF4-FFF2-40B4-BE49-F238E27FC236}">
                    <a16:creationId xmlns:a16="http://schemas.microsoft.com/office/drawing/2014/main" id="{E4A13CE8-AC61-7366-4183-BDECFDA5C902}"/>
                  </a:ext>
                </a:extLst>
              </p:cNvPr>
              <p:cNvPicPr>
                <a:picLocks noChangeAspect="1"/>
              </p:cNvPicPr>
              <p:nvPr/>
            </p:nvPicPr>
            <p:blipFill>
              <a:blip r:embed="rId40" cstate="email">
                <a:extLst>
                  <a:ext uri="{28A0092B-C50C-407E-A947-70E740481C1C}">
                    <a14:useLocalDpi xmlns:a14="http://schemas.microsoft.com/office/drawing/2010/main" val="0"/>
                  </a:ext>
                </a:extLst>
              </a:blip>
              <a:srcRect r="63176" b="65164"/>
              <a:stretch/>
            </p:blipFill>
            <p:spPr>
              <a:xfrm>
                <a:off x="7692577" y="102814"/>
                <a:ext cx="3367144" cy="1888676"/>
              </a:xfrm>
              <a:prstGeom prst="rect">
                <a:avLst/>
              </a:prstGeom>
            </p:spPr>
          </p:pic>
        </p:grpSp>
        <p:grpSp>
          <p:nvGrpSpPr>
            <p:cNvPr id="108" name="Group 107">
              <a:extLst>
                <a:ext uri="{FF2B5EF4-FFF2-40B4-BE49-F238E27FC236}">
                  <a16:creationId xmlns:a16="http://schemas.microsoft.com/office/drawing/2014/main" id="{4D628016-B08F-C042-704F-AD569109EFBF}"/>
                </a:ext>
              </a:extLst>
            </p:cNvPr>
            <p:cNvGrpSpPr/>
            <p:nvPr/>
          </p:nvGrpSpPr>
          <p:grpSpPr>
            <a:xfrm>
              <a:off x="-4434325" y="4355233"/>
              <a:ext cx="21401761" cy="2146622"/>
              <a:chOff x="-4434325" y="4355233"/>
              <a:chExt cx="21401761" cy="2146622"/>
            </a:xfrm>
          </p:grpSpPr>
          <p:pic>
            <p:nvPicPr>
              <p:cNvPr id="109" name="Picture 108" descr="A screenshot of a computer&#10;&#10;AI-generated content may be incorrect.">
                <a:extLst>
                  <a:ext uri="{FF2B5EF4-FFF2-40B4-BE49-F238E27FC236}">
                    <a16:creationId xmlns:a16="http://schemas.microsoft.com/office/drawing/2014/main" id="{94914AD1-BB73-A2AE-FE9C-08490A15B094}"/>
                  </a:ext>
                </a:extLst>
              </p:cNvPr>
              <p:cNvPicPr>
                <a:picLocks noChangeAspect="1"/>
              </p:cNvPicPr>
              <p:nvPr/>
            </p:nvPicPr>
            <p:blipFill>
              <a:blip r:embed="rId41" cstate="email">
                <a:extLst>
                  <a:ext uri="{28A0092B-C50C-407E-A947-70E740481C1C}">
                    <a14:useLocalDpi xmlns:a14="http://schemas.microsoft.com/office/drawing/2010/main" val="0"/>
                  </a:ext>
                </a:extLst>
              </a:blip>
              <a:srcRect t="1" r="65884" b="65312"/>
              <a:stretch/>
            </p:blipFill>
            <p:spPr>
              <a:xfrm>
                <a:off x="13847891" y="4355233"/>
                <a:ext cx="3119545" cy="1880611"/>
              </a:xfrm>
              <a:prstGeom prst="rect">
                <a:avLst/>
              </a:prstGeom>
            </p:spPr>
          </p:pic>
          <p:pic>
            <p:nvPicPr>
              <p:cNvPr id="110" name="Picture 109">
                <a:extLst>
                  <a:ext uri="{FF2B5EF4-FFF2-40B4-BE49-F238E27FC236}">
                    <a16:creationId xmlns:a16="http://schemas.microsoft.com/office/drawing/2014/main" id="{AFCBAACF-83A6-9141-A620-E12E38ED08A0}"/>
                  </a:ext>
                </a:extLst>
              </p:cNvPr>
              <p:cNvPicPr>
                <a:picLocks noChangeAspect="1"/>
              </p:cNvPicPr>
              <p:nvPr/>
            </p:nvPicPr>
            <p:blipFill>
              <a:blip r:embed="rId42" cstate="email">
                <a:extLst>
                  <a:ext uri="{28A0092B-C50C-407E-A947-70E740481C1C}">
                    <a14:useLocalDpi xmlns:a14="http://schemas.microsoft.com/office/drawing/2010/main" val="0"/>
                  </a:ext>
                </a:extLst>
              </a:blip>
              <a:srcRect r="66290" b="65164"/>
              <a:stretch/>
            </p:blipFill>
            <p:spPr>
              <a:xfrm>
                <a:off x="4867999" y="4355233"/>
                <a:ext cx="3082452" cy="1888677"/>
              </a:xfrm>
              <a:prstGeom prst="rect">
                <a:avLst/>
              </a:prstGeom>
            </p:spPr>
          </p:pic>
          <p:pic>
            <p:nvPicPr>
              <p:cNvPr id="111" name="Picture 110" descr="A blue and red arrow pointing to a red line&#10;&#10;AI-generated content may be incorrect.">
                <a:extLst>
                  <a:ext uri="{FF2B5EF4-FFF2-40B4-BE49-F238E27FC236}">
                    <a16:creationId xmlns:a16="http://schemas.microsoft.com/office/drawing/2014/main" id="{6A01F70F-9040-5CC0-C61D-75FFA9FCF0E8}"/>
                  </a:ext>
                </a:extLst>
              </p:cNvPr>
              <p:cNvPicPr>
                <a:picLocks noChangeAspect="1"/>
              </p:cNvPicPr>
              <p:nvPr/>
            </p:nvPicPr>
            <p:blipFill>
              <a:blip r:embed="rId43" cstate="email">
                <a:extLst>
                  <a:ext uri="{28A0092B-C50C-407E-A947-70E740481C1C}">
                    <a14:useLocalDpi xmlns:a14="http://schemas.microsoft.com/office/drawing/2010/main" val="0"/>
                  </a:ext>
                </a:extLst>
              </a:blip>
              <a:srcRect r="66290" b="60405"/>
              <a:stretch/>
            </p:blipFill>
            <p:spPr>
              <a:xfrm>
                <a:off x="10863895" y="4355233"/>
                <a:ext cx="3082452" cy="2146622"/>
              </a:xfrm>
              <a:prstGeom prst="rect">
                <a:avLst/>
              </a:prstGeom>
            </p:spPr>
          </p:pic>
          <p:pic>
            <p:nvPicPr>
              <p:cNvPr id="112" name="Picture 111" descr="A red and blue line with a blue arrow&#10;&#10;AI-generated content may be incorrect.">
                <a:extLst>
                  <a:ext uri="{FF2B5EF4-FFF2-40B4-BE49-F238E27FC236}">
                    <a16:creationId xmlns:a16="http://schemas.microsoft.com/office/drawing/2014/main" id="{02D6AFE7-5844-BA99-01B1-E3CA53A21AA3}"/>
                  </a:ext>
                </a:extLst>
              </p:cNvPr>
              <p:cNvPicPr>
                <a:picLocks noChangeAspect="1"/>
              </p:cNvPicPr>
              <p:nvPr/>
            </p:nvPicPr>
            <p:blipFill>
              <a:blip r:embed="rId44" cstate="email">
                <a:extLst>
                  <a:ext uri="{28A0092B-C50C-407E-A947-70E740481C1C}">
                    <a14:useLocalDpi xmlns:a14="http://schemas.microsoft.com/office/drawing/2010/main" val="0"/>
                  </a:ext>
                </a:extLst>
              </a:blip>
              <a:srcRect l="-1" r="64000" b="65163"/>
              <a:stretch/>
            </p:blipFill>
            <p:spPr>
              <a:xfrm>
                <a:off x="-4434325" y="4355233"/>
                <a:ext cx="3291882" cy="1888677"/>
              </a:xfrm>
              <a:prstGeom prst="rect">
                <a:avLst/>
              </a:prstGeom>
            </p:spPr>
          </p:pic>
          <p:pic>
            <p:nvPicPr>
              <p:cNvPr id="113" name="Picture 112" descr="A red and blue arrows pointing to a blue arrow&#10;&#10;AI-generated content may be incorrect.">
                <a:extLst>
                  <a:ext uri="{FF2B5EF4-FFF2-40B4-BE49-F238E27FC236}">
                    <a16:creationId xmlns:a16="http://schemas.microsoft.com/office/drawing/2014/main" id="{90461E92-631D-408B-5825-491B660FC9B0}"/>
                  </a:ext>
                </a:extLst>
              </p:cNvPr>
              <p:cNvPicPr>
                <a:picLocks noChangeAspect="1"/>
              </p:cNvPicPr>
              <p:nvPr/>
            </p:nvPicPr>
            <p:blipFill>
              <a:blip r:embed="rId45" cstate="email">
                <a:extLst>
                  <a:ext uri="{28A0092B-C50C-407E-A947-70E740481C1C}">
                    <a14:useLocalDpi xmlns:a14="http://schemas.microsoft.com/office/drawing/2010/main" val="0"/>
                  </a:ext>
                </a:extLst>
              </a:blip>
              <a:srcRect r="64007" b="60830"/>
              <a:stretch/>
            </p:blipFill>
            <p:spPr>
              <a:xfrm>
                <a:off x="1694575" y="4355233"/>
                <a:ext cx="3291240" cy="2123587"/>
              </a:xfrm>
              <a:prstGeom prst="rect">
                <a:avLst/>
              </a:prstGeom>
            </p:spPr>
          </p:pic>
          <p:pic>
            <p:nvPicPr>
              <p:cNvPr id="114" name="Picture 113">
                <a:extLst>
                  <a:ext uri="{FF2B5EF4-FFF2-40B4-BE49-F238E27FC236}">
                    <a16:creationId xmlns:a16="http://schemas.microsoft.com/office/drawing/2014/main" id="{86FBAE81-EBF8-84F5-1788-1E5BDB8F4C64}"/>
                  </a:ext>
                </a:extLst>
              </p:cNvPr>
              <p:cNvPicPr>
                <a:picLocks noChangeAspect="1"/>
              </p:cNvPicPr>
              <p:nvPr/>
            </p:nvPicPr>
            <p:blipFill>
              <a:blip r:embed="rId46" cstate="email">
                <a:extLst>
                  <a:ext uri="{28A0092B-C50C-407E-A947-70E740481C1C}">
                    <a14:useLocalDpi xmlns:a14="http://schemas.microsoft.com/office/drawing/2010/main" val="0"/>
                  </a:ext>
                </a:extLst>
              </a:blip>
              <a:srcRect r="66290" b="65164"/>
              <a:stretch/>
            </p:blipFill>
            <p:spPr>
              <a:xfrm>
                <a:off x="7888330" y="4355233"/>
                <a:ext cx="3082452" cy="1888677"/>
              </a:xfrm>
              <a:prstGeom prst="rect">
                <a:avLst/>
              </a:prstGeom>
            </p:spPr>
          </p:pic>
          <p:pic>
            <p:nvPicPr>
              <p:cNvPr id="115" name="Picture 114">
                <a:extLst>
                  <a:ext uri="{FF2B5EF4-FFF2-40B4-BE49-F238E27FC236}">
                    <a16:creationId xmlns:a16="http://schemas.microsoft.com/office/drawing/2014/main" id="{07E2651E-8FDA-0C10-5B94-CEBE8122F0AD}"/>
                  </a:ext>
                </a:extLst>
              </p:cNvPr>
              <p:cNvPicPr>
                <a:picLocks noChangeAspect="1"/>
              </p:cNvPicPr>
              <p:nvPr/>
            </p:nvPicPr>
            <p:blipFill>
              <a:blip r:embed="rId47" cstate="email">
                <a:extLst>
                  <a:ext uri="{28A0092B-C50C-407E-A947-70E740481C1C}">
                    <a14:useLocalDpi xmlns:a14="http://schemas.microsoft.com/office/drawing/2010/main" val="0"/>
                  </a:ext>
                </a:extLst>
              </a:blip>
              <a:srcRect r="66522" b="60865"/>
              <a:stretch/>
            </p:blipFill>
            <p:spPr>
              <a:xfrm>
                <a:off x="-1229933" y="4355233"/>
                <a:ext cx="3061170" cy="2121777"/>
              </a:xfrm>
              <a:prstGeom prst="rect">
                <a:avLst/>
              </a:prstGeom>
            </p:spPr>
          </p:pic>
        </p:grpSp>
      </p:grpSp>
      <p:graphicFrame>
        <p:nvGraphicFramePr>
          <p:cNvPr id="194" name="Table 193">
            <a:extLst>
              <a:ext uri="{FF2B5EF4-FFF2-40B4-BE49-F238E27FC236}">
                <a16:creationId xmlns:a16="http://schemas.microsoft.com/office/drawing/2014/main" id="{7A1936DE-1C79-919A-1F15-990B014676F1}"/>
              </a:ext>
            </a:extLst>
          </p:cNvPr>
          <p:cNvGraphicFramePr>
            <a:graphicFrameLocks noGrp="1"/>
          </p:cNvGraphicFramePr>
          <p:nvPr>
            <p:extLst>
              <p:ext uri="{D42A27DB-BD31-4B8C-83A1-F6EECF244321}">
                <p14:modId xmlns:p14="http://schemas.microsoft.com/office/powerpoint/2010/main" val="3458480328"/>
              </p:ext>
            </p:extLst>
          </p:nvPr>
        </p:nvGraphicFramePr>
        <p:xfrm>
          <a:off x="4276374" y="24566052"/>
          <a:ext cx="9585832" cy="2034938"/>
        </p:xfrm>
        <a:graphic>
          <a:graphicData uri="http://schemas.openxmlformats.org/drawingml/2006/table">
            <a:tbl>
              <a:tblPr firstRow="1" bandRow="1">
                <a:tableStyleId>{5940675A-B579-460E-94D1-54222C63F5DA}</a:tableStyleId>
              </a:tblPr>
              <a:tblGrid>
                <a:gridCol w="724667">
                  <a:extLst>
                    <a:ext uri="{9D8B030D-6E8A-4147-A177-3AD203B41FA5}">
                      <a16:colId xmlns:a16="http://schemas.microsoft.com/office/drawing/2014/main" val="711769920"/>
                    </a:ext>
                  </a:extLst>
                </a:gridCol>
                <a:gridCol w="1770619">
                  <a:extLst>
                    <a:ext uri="{9D8B030D-6E8A-4147-A177-3AD203B41FA5}">
                      <a16:colId xmlns:a16="http://schemas.microsoft.com/office/drawing/2014/main" val="2079248041"/>
                    </a:ext>
                  </a:extLst>
                </a:gridCol>
                <a:gridCol w="1932826">
                  <a:extLst>
                    <a:ext uri="{9D8B030D-6E8A-4147-A177-3AD203B41FA5}">
                      <a16:colId xmlns:a16="http://schemas.microsoft.com/office/drawing/2014/main" val="3314593877"/>
                    </a:ext>
                  </a:extLst>
                </a:gridCol>
                <a:gridCol w="1853934">
                  <a:extLst>
                    <a:ext uri="{9D8B030D-6E8A-4147-A177-3AD203B41FA5}">
                      <a16:colId xmlns:a16="http://schemas.microsoft.com/office/drawing/2014/main" val="1308645783"/>
                    </a:ext>
                  </a:extLst>
                </a:gridCol>
                <a:gridCol w="2300330">
                  <a:extLst>
                    <a:ext uri="{9D8B030D-6E8A-4147-A177-3AD203B41FA5}">
                      <a16:colId xmlns:a16="http://schemas.microsoft.com/office/drawing/2014/main" val="2306007445"/>
                    </a:ext>
                  </a:extLst>
                </a:gridCol>
                <a:gridCol w="1003456">
                  <a:extLst>
                    <a:ext uri="{9D8B030D-6E8A-4147-A177-3AD203B41FA5}">
                      <a16:colId xmlns:a16="http://schemas.microsoft.com/office/drawing/2014/main" val="2250653474"/>
                    </a:ext>
                  </a:extLst>
                </a:gridCol>
              </a:tblGrid>
              <a:tr h="370840">
                <a:tc>
                  <a:txBody>
                    <a:bodyPr/>
                    <a:lstStyle/>
                    <a:p>
                      <a:r>
                        <a:rPr lang="en-US" sz="1600" b="1" dirty="0"/>
                        <a:t>Rank</a:t>
                      </a:r>
                    </a:p>
                  </a:txBody>
                  <a:tcPr marL="63897" marR="63897" marT="31949" marB="31949"/>
                </a:tc>
                <a:tc>
                  <a:txBody>
                    <a:bodyPr/>
                    <a:lstStyle/>
                    <a:p>
                      <a:r>
                        <a:rPr lang="en-US" sz="1600" b="1" dirty="0"/>
                        <a:t>Estimate </a:t>
                      </a:r>
                      <a:r>
                        <a:rPr lang="en-US" sz="1600" b="1" i="1" dirty="0">
                          <a:latin typeface="Times New Roman" panose="02020603050405020304" pitchFamily="18" charset="0"/>
                          <a:cs typeface="Times New Roman" panose="02020603050405020304" pitchFamily="18" charset="0"/>
                        </a:rPr>
                        <a:t>P</a:t>
                      </a:r>
                      <a:r>
                        <a:rPr lang="en-US" sz="1600" b="1" dirty="0"/>
                        <a:t>, </a:t>
                      </a:r>
                      <a:r>
                        <a:rPr lang="en-US" sz="1600" b="1" i="1" dirty="0">
                          <a:latin typeface="Times New Roman" panose="02020603050405020304" pitchFamily="18" charset="0"/>
                          <a:cs typeface="Times New Roman" panose="02020603050405020304" pitchFamily="18" charset="0"/>
                        </a:rPr>
                        <a:t>b</a:t>
                      </a:r>
                      <a:r>
                        <a:rPr lang="en-US" sz="1600" b="1" dirty="0"/>
                        <a:t>, </a:t>
                      </a:r>
                      <a:r>
                        <a:rPr lang="en-US" sz="1600" b="1" i="1" dirty="0">
                          <a:latin typeface="Times New Roman" panose="02020603050405020304" pitchFamily="18" charset="0"/>
                          <a:cs typeface="Times New Roman" panose="02020603050405020304" pitchFamily="18" charset="0"/>
                        </a:rPr>
                        <a:t>w</a:t>
                      </a:r>
                    </a:p>
                  </a:txBody>
                  <a:tcPr marL="63897" marR="63897" marT="31949" marB="31949"/>
                </a:tc>
                <a:tc>
                  <a:txBody>
                    <a:bodyPr/>
                    <a:lstStyle/>
                    <a:p>
                      <a:r>
                        <a:rPr lang="en-US" sz="1600" b="1" dirty="0"/>
                        <a:t>Estimate </a:t>
                      </a:r>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w</a:t>
                      </a:r>
                    </a:p>
                    <a:p>
                      <a:r>
                        <a:rPr lang="en-US" sz="1600" b="1" i="1" dirty="0">
                          <a:latin typeface="Times New Roman" panose="02020603050405020304" pitchFamily="18" charset="0"/>
                          <a:cs typeface="Times New Roman" panose="02020603050405020304" pitchFamily="18" charset="0"/>
                        </a:rPr>
                        <a:t>b</a:t>
                      </a:r>
                      <a:r>
                        <a:rPr lang="en-US" sz="1600" b="1" dirty="0"/>
                        <a:t> held constant</a:t>
                      </a:r>
                    </a:p>
                  </a:txBody>
                  <a:tcPr marL="63897" marR="63897" marT="31949" marB="31949"/>
                </a:tc>
                <a:tc>
                  <a:txBody>
                    <a:bodyPr/>
                    <a:lstStyle/>
                    <a:p>
                      <a:r>
                        <a:rPr lang="en-US" sz="1600" b="1" dirty="0"/>
                        <a:t>Estimate </a:t>
                      </a:r>
                      <a:r>
                        <a:rPr lang="en-US" sz="1600" b="1" i="1" dirty="0">
                          <a:latin typeface="Times New Roman" panose="02020603050405020304" pitchFamily="18" charset="0"/>
                          <a:cs typeface="Times New Roman" panose="02020603050405020304" pitchFamily="18" charset="0"/>
                        </a:rPr>
                        <a:t>b</a:t>
                      </a:r>
                      <a:r>
                        <a:rPr lang="en-US" sz="1600" b="1" dirty="0"/>
                        <a:t> and </a:t>
                      </a:r>
                      <a:r>
                        <a:rPr lang="en-US" sz="1600" b="1" i="1" dirty="0">
                          <a:latin typeface="Times New Roman" panose="02020603050405020304" pitchFamily="18" charset="0"/>
                          <a:cs typeface="Times New Roman" panose="02020603050405020304" pitchFamily="18" charset="0"/>
                        </a:rPr>
                        <a:t>w</a:t>
                      </a:r>
                    </a:p>
                    <a:p>
                      <a:r>
                        <a:rPr lang="en-US" sz="1600" b="1" i="1" dirty="0">
                          <a:latin typeface="Times New Roman" panose="02020603050405020304" pitchFamily="18" charset="0"/>
                          <a:cs typeface="Times New Roman" panose="02020603050405020304" pitchFamily="18" charset="0"/>
                        </a:rPr>
                        <a:t>P</a:t>
                      </a:r>
                      <a:r>
                        <a:rPr lang="en-US" sz="1600" b="1" dirty="0"/>
                        <a:t> held constant</a:t>
                      </a:r>
                    </a:p>
                  </a:txBody>
                  <a:tcPr marL="63897" marR="63897" marT="31949" marB="31949"/>
                </a:tc>
                <a:tc>
                  <a:txBody>
                    <a:bodyPr/>
                    <a:lstStyle/>
                    <a:p>
                      <a:r>
                        <a:rPr lang="en-US" sz="1600" b="1" dirty="0"/>
                        <a:t>Estimate </a:t>
                      </a:r>
                      <a:r>
                        <a:rPr lang="en-US" sz="1600" b="1" i="1" dirty="0">
                          <a:latin typeface="Times New Roman" panose="02020603050405020304" pitchFamily="18" charset="0"/>
                          <a:cs typeface="Times New Roman" panose="02020603050405020304" pitchFamily="18" charset="0"/>
                        </a:rPr>
                        <a:t>w</a:t>
                      </a:r>
                    </a:p>
                    <a:p>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held constant</a:t>
                      </a:r>
                    </a:p>
                  </a:txBody>
                  <a:tcPr marL="63897" marR="63897" marT="31949" marB="31949"/>
                </a:tc>
                <a:tc>
                  <a:txBody>
                    <a:bodyPr/>
                    <a:lstStyle/>
                    <a:p>
                      <a:r>
                        <a:rPr lang="en-US" sz="1600" b="1" dirty="0"/>
                        <a:t>Sum</a:t>
                      </a:r>
                    </a:p>
                  </a:txBody>
                  <a:tcPr/>
                </a:tc>
                <a:extLst>
                  <a:ext uri="{0D108BD9-81ED-4DB2-BD59-A6C34878D82A}">
                    <a16:rowId xmlns:a16="http://schemas.microsoft.com/office/drawing/2014/main" val="2549161821"/>
                  </a:ext>
                </a:extLst>
              </a:tr>
              <a:tr h="370840">
                <a:tc>
                  <a:txBody>
                    <a:bodyPr/>
                    <a:lstStyle/>
                    <a:p>
                      <a:r>
                        <a:rPr lang="en-US" sz="1600" b="1" dirty="0"/>
                        <a:t>   1</a:t>
                      </a:r>
                    </a:p>
                  </a:txBody>
                  <a:tcPr/>
                </a:tc>
                <a:tc>
                  <a:txBody>
                    <a:bodyPr/>
                    <a:lstStyle/>
                    <a:p>
                      <a:r>
                        <a:rPr lang="en-US" sz="1600" b="1" dirty="0"/>
                        <a:t>   0.0209</a:t>
                      </a:r>
                    </a:p>
                  </a:txBody>
                  <a:tcPr marL="63897" marR="63897" marT="31949" marB="31949"/>
                </a:tc>
                <a:tc>
                  <a:txBody>
                    <a:bodyPr/>
                    <a:lstStyle/>
                    <a:p>
                      <a:r>
                        <a:rPr lang="en-US" sz="1600" b="1" dirty="0"/>
                        <a:t>    1.02E-07</a:t>
                      </a:r>
                    </a:p>
                  </a:txBody>
                  <a:tcPr marL="63897" marR="63897" marT="31949" marB="31949"/>
                </a:tc>
                <a:tc>
                  <a:txBody>
                    <a:bodyPr/>
                    <a:lstStyle/>
                    <a:p>
                      <a:r>
                        <a:rPr lang="en-US" sz="1600" b="1" dirty="0"/>
                        <a:t>   3.60E-08</a:t>
                      </a:r>
                    </a:p>
                  </a:txBody>
                  <a:tcPr marL="63897" marR="63897" marT="31949" marB="31949"/>
                </a:tc>
                <a:tc>
                  <a:txBody>
                    <a:bodyPr/>
                    <a:lstStyle/>
                    <a:p>
                      <a:r>
                        <a:rPr lang="en-US" sz="1600" b="1" dirty="0"/>
                        <a:t>   1.69E-12</a:t>
                      </a:r>
                    </a:p>
                  </a:txBody>
                  <a:tcPr marL="63897" marR="63897" marT="31949" marB="31949"/>
                </a:tc>
                <a:tc>
                  <a:txBody>
                    <a:bodyPr/>
                    <a:lstStyle/>
                    <a:p>
                      <a:r>
                        <a:rPr lang="en-US" sz="1600" b="1" dirty="0"/>
                        <a:t>  0.0209</a:t>
                      </a:r>
                    </a:p>
                  </a:txBody>
                  <a:tcPr/>
                </a:tc>
                <a:extLst>
                  <a:ext uri="{0D108BD9-81ED-4DB2-BD59-A6C34878D82A}">
                    <a16:rowId xmlns:a16="http://schemas.microsoft.com/office/drawing/2014/main" val="2109359308"/>
                  </a:ext>
                </a:extLst>
              </a:tr>
              <a:tr h="370840">
                <a:tc>
                  <a:txBody>
                    <a:bodyPr/>
                    <a:lstStyle/>
                    <a:p>
                      <a:r>
                        <a:rPr lang="en-US" sz="1600" b="1" dirty="0"/>
                        <a:t>   7</a:t>
                      </a:r>
                    </a:p>
                  </a:txBody>
                  <a:tcPr/>
                </a:tc>
                <a:tc>
                  <a:txBody>
                    <a:bodyPr/>
                    <a:lstStyle/>
                    <a:p>
                      <a:r>
                        <a:rPr lang="en-US" sz="1600" b="1" dirty="0"/>
                        <a:t>   2.2486</a:t>
                      </a:r>
                    </a:p>
                  </a:txBody>
                  <a:tcPr marL="63897" marR="63897" marT="31949" marB="31949"/>
                </a:tc>
                <a:tc>
                  <a:txBody>
                    <a:bodyPr/>
                    <a:lstStyle/>
                    <a:p>
                      <a:r>
                        <a:rPr lang="en-US" sz="1600" b="1" dirty="0"/>
                        <a:t>    1.9650</a:t>
                      </a:r>
                    </a:p>
                  </a:txBody>
                  <a:tcPr marL="63897" marR="63897" marT="31949" marB="31949"/>
                </a:tc>
                <a:tc>
                  <a:txBody>
                    <a:bodyPr/>
                    <a:lstStyle/>
                    <a:p>
                      <a:r>
                        <a:rPr lang="en-US" sz="1600" b="1" dirty="0"/>
                        <a:t>   8.12E-10</a:t>
                      </a:r>
                    </a:p>
                  </a:txBody>
                  <a:tcPr marL="63897" marR="63897" marT="31949" marB="31949"/>
                </a:tc>
                <a:tc>
                  <a:txBody>
                    <a:bodyPr/>
                    <a:lstStyle/>
                    <a:p>
                      <a:r>
                        <a:rPr lang="en-US" sz="1600" b="1" dirty="0"/>
                        <a:t>   3.92E-11</a:t>
                      </a:r>
                    </a:p>
                  </a:txBody>
                  <a:tcPr marL="63897" marR="63897" marT="31949" marB="31949"/>
                </a:tc>
                <a:tc>
                  <a:txBody>
                    <a:bodyPr/>
                    <a:lstStyle/>
                    <a:p>
                      <a:r>
                        <a:rPr lang="en-US" sz="1600" b="1" dirty="0"/>
                        <a:t>  4.2136</a:t>
                      </a:r>
                    </a:p>
                  </a:txBody>
                  <a:tcPr/>
                </a:tc>
                <a:extLst>
                  <a:ext uri="{0D108BD9-81ED-4DB2-BD59-A6C34878D82A}">
                    <a16:rowId xmlns:a16="http://schemas.microsoft.com/office/drawing/2014/main" val="4168347904"/>
                  </a:ext>
                </a:extLst>
              </a:tr>
              <a:tr h="370840">
                <a:tc>
                  <a:txBody>
                    <a:bodyPr/>
                    <a:lstStyle/>
                    <a:p>
                      <a:r>
                        <a:rPr lang="en-US" sz="1600" b="1" dirty="0"/>
                        <a:t> 14</a:t>
                      </a:r>
                    </a:p>
                  </a:txBody>
                  <a:tcPr/>
                </a:tc>
                <a:tc>
                  <a:txBody>
                    <a:bodyPr/>
                    <a:lstStyle/>
                    <a:p>
                      <a:r>
                        <a:rPr lang="en-US" sz="1600" b="1" dirty="0"/>
                        <a:t>   4.4742</a:t>
                      </a:r>
                    </a:p>
                  </a:txBody>
                  <a:tcPr marL="63897" marR="63897" marT="31949" marB="31949"/>
                </a:tc>
                <a:tc>
                  <a:txBody>
                    <a:bodyPr/>
                    <a:lstStyle/>
                    <a:p>
                      <a:r>
                        <a:rPr lang="en-US" sz="1600" b="1" dirty="0"/>
                        <a:t>    2.67E-07</a:t>
                      </a:r>
                    </a:p>
                  </a:txBody>
                  <a:tcPr marL="63897" marR="63897" marT="31949" marB="31949"/>
                </a:tc>
                <a:tc>
                  <a:txBody>
                    <a:bodyPr/>
                    <a:lstStyle/>
                    <a:p>
                      <a:r>
                        <a:rPr lang="en-US" sz="1600" b="1" dirty="0"/>
                        <a:t>   4.5016</a:t>
                      </a:r>
                    </a:p>
                  </a:txBody>
                  <a:tcPr marL="63897" marR="63897" marT="31949" marB="31949"/>
                </a:tc>
                <a:tc>
                  <a:txBody>
                    <a:bodyPr/>
                    <a:lstStyle/>
                    <a:p>
                      <a:r>
                        <a:rPr lang="en-US" sz="1600" b="1" dirty="0"/>
                        <a:t>   4.4999</a:t>
                      </a:r>
                    </a:p>
                  </a:txBody>
                  <a:tcPr marL="63897" marR="63897" marT="31949" marB="31949"/>
                </a:tc>
                <a:tc>
                  <a:txBody>
                    <a:bodyPr/>
                    <a:lstStyle/>
                    <a:p>
                      <a:r>
                        <a:rPr lang="en-US" sz="1600" b="1" dirty="0"/>
                        <a:t> 13.4757</a:t>
                      </a:r>
                    </a:p>
                  </a:txBody>
                  <a:tcPr/>
                </a:tc>
                <a:extLst>
                  <a:ext uri="{0D108BD9-81ED-4DB2-BD59-A6C34878D82A}">
                    <a16:rowId xmlns:a16="http://schemas.microsoft.com/office/drawing/2014/main" val="1231853164"/>
                  </a:ext>
                </a:extLst>
              </a:tr>
              <a:tr h="370840">
                <a:tc>
                  <a:txBody>
                    <a:bodyPr/>
                    <a:lstStyle/>
                    <a:p>
                      <a:r>
                        <a:rPr lang="en-US" sz="1600" b="1" dirty="0"/>
                        <a:t> 21</a:t>
                      </a:r>
                    </a:p>
                  </a:txBody>
                  <a:tcPr/>
                </a:tc>
                <a:tc>
                  <a:txBody>
                    <a:bodyPr/>
                    <a:lstStyle/>
                    <a:p>
                      <a:r>
                        <a:rPr lang="en-US" sz="1600" b="1" dirty="0"/>
                        <a:t> 26.9602</a:t>
                      </a:r>
                    </a:p>
                  </a:txBody>
                  <a:tcPr/>
                </a:tc>
                <a:tc>
                  <a:txBody>
                    <a:bodyPr/>
                    <a:lstStyle/>
                    <a:p>
                      <a:r>
                        <a:rPr lang="en-US" sz="1600" b="1" dirty="0"/>
                        <a:t>  22.4204</a:t>
                      </a:r>
                    </a:p>
                  </a:txBody>
                  <a:tcPr/>
                </a:tc>
                <a:tc>
                  <a:txBody>
                    <a:bodyPr/>
                    <a:lstStyle/>
                    <a:p>
                      <a:r>
                        <a:rPr lang="en-US" sz="1600" b="1" dirty="0"/>
                        <a:t>   9.9182</a:t>
                      </a:r>
                    </a:p>
                  </a:txBody>
                  <a:tcPr/>
                </a:tc>
                <a:tc>
                  <a:txBody>
                    <a:bodyPr/>
                    <a:lstStyle/>
                    <a:p>
                      <a:r>
                        <a:rPr lang="en-US" sz="1600" b="1" dirty="0"/>
                        <a:t>   9.9871</a:t>
                      </a:r>
                    </a:p>
                  </a:txBody>
                  <a:tcPr/>
                </a:tc>
                <a:tc>
                  <a:txBody>
                    <a:bodyPr/>
                    <a:lstStyle/>
                    <a:p>
                      <a:r>
                        <a:rPr lang="en-US" sz="1600" b="1" dirty="0"/>
                        <a:t>69.2858</a:t>
                      </a:r>
                    </a:p>
                  </a:txBody>
                  <a:tcPr/>
                </a:tc>
                <a:extLst>
                  <a:ext uri="{0D108BD9-81ED-4DB2-BD59-A6C34878D82A}">
                    <a16:rowId xmlns:a16="http://schemas.microsoft.com/office/drawing/2014/main" val="2096016147"/>
                  </a:ext>
                </a:extLst>
              </a:tr>
            </a:tbl>
          </a:graphicData>
        </a:graphic>
      </p:graphicFrame>
      <p:sp>
        <p:nvSpPr>
          <p:cNvPr id="197" name="TextBox 196">
            <a:extLst>
              <a:ext uri="{FF2B5EF4-FFF2-40B4-BE49-F238E27FC236}">
                <a16:creationId xmlns:a16="http://schemas.microsoft.com/office/drawing/2014/main" id="{A3B2E45B-1417-F2A5-4032-D1524247CEBD}"/>
              </a:ext>
            </a:extLst>
          </p:cNvPr>
          <p:cNvSpPr txBox="1"/>
          <p:nvPr/>
        </p:nvSpPr>
        <p:spPr>
          <a:xfrm>
            <a:off x="1059899" y="20653683"/>
            <a:ext cx="327334" cy="400110"/>
          </a:xfrm>
          <a:prstGeom prst="rect">
            <a:avLst/>
          </a:prstGeom>
          <a:noFill/>
        </p:spPr>
        <p:txBody>
          <a:bodyPr wrap="none" rtlCol="0">
            <a:spAutoFit/>
          </a:bodyPr>
          <a:lstStyle/>
          <a:p>
            <a:r>
              <a:rPr lang="en-US" sz="2000" b="1" dirty="0"/>
              <a:t>1</a:t>
            </a:r>
          </a:p>
        </p:txBody>
      </p:sp>
      <p:sp>
        <p:nvSpPr>
          <p:cNvPr id="198" name="TextBox 197">
            <a:extLst>
              <a:ext uri="{FF2B5EF4-FFF2-40B4-BE49-F238E27FC236}">
                <a16:creationId xmlns:a16="http://schemas.microsoft.com/office/drawing/2014/main" id="{36CFF577-3734-5347-993A-E04F808E6791}"/>
              </a:ext>
            </a:extLst>
          </p:cNvPr>
          <p:cNvSpPr txBox="1"/>
          <p:nvPr/>
        </p:nvSpPr>
        <p:spPr>
          <a:xfrm>
            <a:off x="2907749" y="20653683"/>
            <a:ext cx="327334" cy="400110"/>
          </a:xfrm>
          <a:prstGeom prst="rect">
            <a:avLst/>
          </a:prstGeom>
          <a:noFill/>
        </p:spPr>
        <p:txBody>
          <a:bodyPr wrap="none" rtlCol="0">
            <a:spAutoFit/>
          </a:bodyPr>
          <a:lstStyle/>
          <a:p>
            <a:r>
              <a:rPr lang="en-US" sz="2000" b="1" dirty="0"/>
              <a:t>2</a:t>
            </a:r>
          </a:p>
        </p:txBody>
      </p:sp>
      <p:sp>
        <p:nvSpPr>
          <p:cNvPr id="199" name="TextBox 198">
            <a:extLst>
              <a:ext uri="{FF2B5EF4-FFF2-40B4-BE49-F238E27FC236}">
                <a16:creationId xmlns:a16="http://schemas.microsoft.com/office/drawing/2014/main" id="{36006F7E-499B-BB79-E4CF-E8E0274F6A8B}"/>
              </a:ext>
            </a:extLst>
          </p:cNvPr>
          <p:cNvSpPr txBox="1"/>
          <p:nvPr/>
        </p:nvSpPr>
        <p:spPr>
          <a:xfrm>
            <a:off x="4874766" y="20653683"/>
            <a:ext cx="327334" cy="400110"/>
          </a:xfrm>
          <a:prstGeom prst="rect">
            <a:avLst/>
          </a:prstGeom>
          <a:noFill/>
        </p:spPr>
        <p:txBody>
          <a:bodyPr wrap="none" rtlCol="0">
            <a:spAutoFit/>
          </a:bodyPr>
          <a:lstStyle/>
          <a:p>
            <a:r>
              <a:rPr lang="en-US" sz="2000" b="1" dirty="0"/>
              <a:t>3</a:t>
            </a:r>
          </a:p>
        </p:txBody>
      </p:sp>
      <p:sp>
        <p:nvSpPr>
          <p:cNvPr id="200" name="TextBox 199">
            <a:extLst>
              <a:ext uri="{FF2B5EF4-FFF2-40B4-BE49-F238E27FC236}">
                <a16:creationId xmlns:a16="http://schemas.microsoft.com/office/drawing/2014/main" id="{C1A23F08-947E-CB79-2FF9-D7F3EC50F7AF}"/>
              </a:ext>
            </a:extLst>
          </p:cNvPr>
          <p:cNvSpPr txBox="1"/>
          <p:nvPr/>
        </p:nvSpPr>
        <p:spPr>
          <a:xfrm>
            <a:off x="7094731" y="20653683"/>
            <a:ext cx="327334" cy="400110"/>
          </a:xfrm>
          <a:prstGeom prst="rect">
            <a:avLst/>
          </a:prstGeom>
          <a:noFill/>
        </p:spPr>
        <p:txBody>
          <a:bodyPr wrap="none" rtlCol="0">
            <a:spAutoFit/>
          </a:bodyPr>
          <a:lstStyle/>
          <a:p>
            <a:r>
              <a:rPr lang="en-US" sz="2000" b="1" dirty="0"/>
              <a:t>4</a:t>
            </a:r>
          </a:p>
        </p:txBody>
      </p:sp>
      <p:sp>
        <p:nvSpPr>
          <p:cNvPr id="201" name="TextBox 200">
            <a:extLst>
              <a:ext uri="{FF2B5EF4-FFF2-40B4-BE49-F238E27FC236}">
                <a16:creationId xmlns:a16="http://schemas.microsoft.com/office/drawing/2014/main" id="{05990D5C-CB23-2827-1B32-A8DC4FB5AA62}"/>
              </a:ext>
            </a:extLst>
          </p:cNvPr>
          <p:cNvSpPr txBox="1"/>
          <p:nvPr/>
        </p:nvSpPr>
        <p:spPr>
          <a:xfrm>
            <a:off x="9135658" y="20653683"/>
            <a:ext cx="327334" cy="400110"/>
          </a:xfrm>
          <a:prstGeom prst="rect">
            <a:avLst/>
          </a:prstGeom>
          <a:noFill/>
        </p:spPr>
        <p:txBody>
          <a:bodyPr wrap="none" rtlCol="0">
            <a:spAutoFit/>
          </a:bodyPr>
          <a:lstStyle/>
          <a:p>
            <a:r>
              <a:rPr lang="en-US" sz="2000" b="1" dirty="0"/>
              <a:t>5</a:t>
            </a:r>
          </a:p>
        </p:txBody>
      </p:sp>
      <p:sp>
        <p:nvSpPr>
          <p:cNvPr id="202" name="TextBox 201">
            <a:extLst>
              <a:ext uri="{FF2B5EF4-FFF2-40B4-BE49-F238E27FC236}">
                <a16:creationId xmlns:a16="http://schemas.microsoft.com/office/drawing/2014/main" id="{CD1E21A0-709E-408B-6740-29CE52BCB02A}"/>
              </a:ext>
            </a:extLst>
          </p:cNvPr>
          <p:cNvSpPr txBox="1"/>
          <p:nvPr/>
        </p:nvSpPr>
        <p:spPr>
          <a:xfrm>
            <a:off x="11139749" y="20653683"/>
            <a:ext cx="327334" cy="400110"/>
          </a:xfrm>
          <a:prstGeom prst="rect">
            <a:avLst/>
          </a:prstGeom>
          <a:noFill/>
        </p:spPr>
        <p:txBody>
          <a:bodyPr wrap="none" rtlCol="0">
            <a:spAutoFit/>
          </a:bodyPr>
          <a:lstStyle/>
          <a:p>
            <a:r>
              <a:rPr lang="en-US" sz="2000" b="1" dirty="0"/>
              <a:t>6</a:t>
            </a:r>
          </a:p>
        </p:txBody>
      </p:sp>
      <p:sp>
        <p:nvSpPr>
          <p:cNvPr id="203" name="TextBox 202">
            <a:extLst>
              <a:ext uri="{FF2B5EF4-FFF2-40B4-BE49-F238E27FC236}">
                <a16:creationId xmlns:a16="http://schemas.microsoft.com/office/drawing/2014/main" id="{EB9D5837-C809-AD28-EB18-FE34953A05C9}"/>
              </a:ext>
            </a:extLst>
          </p:cNvPr>
          <p:cNvSpPr txBox="1"/>
          <p:nvPr/>
        </p:nvSpPr>
        <p:spPr>
          <a:xfrm>
            <a:off x="13279696" y="20653683"/>
            <a:ext cx="327334" cy="400110"/>
          </a:xfrm>
          <a:prstGeom prst="rect">
            <a:avLst/>
          </a:prstGeom>
          <a:noFill/>
        </p:spPr>
        <p:txBody>
          <a:bodyPr wrap="none" rtlCol="0">
            <a:spAutoFit/>
          </a:bodyPr>
          <a:lstStyle/>
          <a:p>
            <a:r>
              <a:rPr lang="en-US" sz="2000" b="1" dirty="0"/>
              <a:t>7</a:t>
            </a:r>
          </a:p>
        </p:txBody>
      </p:sp>
      <p:sp>
        <p:nvSpPr>
          <p:cNvPr id="204" name="TextBox 203">
            <a:extLst>
              <a:ext uri="{FF2B5EF4-FFF2-40B4-BE49-F238E27FC236}">
                <a16:creationId xmlns:a16="http://schemas.microsoft.com/office/drawing/2014/main" id="{9DD6D593-3C3C-8DED-7AD8-DE9F82FF37FB}"/>
              </a:ext>
            </a:extLst>
          </p:cNvPr>
          <p:cNvSpPr txBox="1"/>
          <p:nvPr/>
        </p:nvSpPr>
        <p:spPr>
          <a:xfrm>
            <a:off x="1059899" y="22034989"/>
            <a:ext cx="327334" cy="400110"/>
          </a:xfrm>
          <a:prstGeom prst="rect">
            <a:avLst/>
          </a:prstGeom>
          <a:noFill/>
        </p:spPr>
        <p:txBody>
          <a:bodyPr wrap="none" rtlCol="0">
            <a:spAutoFit/>
          </a:bodyPr>
          <a:lstStyle/>
          <a:p>
            <a:r>
              <a:rPr lang="en-US" sz="2000" b="1" dirty="0"/>
              <a:t>8</a:t>
            </a:r>
          </a:p>
        </p:txBody>
      </p:sp>
      <p:sp>
        <p:nvSpPr>
          <p:cNvPr id="205" name="TextBox 204">
            <a:extLst>
              <a:ext uri="{FF2B5EF4-FFF2-40B4-BE49-F238E27FC236}">
                <a16:creationId xmlns:a16="http://schemas.microsoft.com/office/drawing/2014/main" id="{4ACF7522-BA09-533C-1927-C0060A05C2D0}"/>
              </a:ext>
            </a:extLst>
          </p:cNvPr>
          <p:cNvSpPr txBox="1"/>
          <p:nvPr/>
        </p:nvSpPr>
        <p:spPr>
          <a:xfrm>
            <a:off x="2907749" y="22034989"/>
            <a:ext cx="327334" cy="400110"/>
          </a:xfrm>
          <a:prstGeom prst="rect">
            <a:avLst/>
          </a:prstGeom>
          <a:noFill/>
        </p:spPr>
        <p:txBody>
          <a:bodyPr wrap="none" rtlCol="0">
            <a:spAutoFit/>
          </a:bodyPr>
          <a:lstStyle/>
          <a:p>
            <a:r>
              <a:rPr lang="en-US" sz="2000" b="1" dirty="0"/>
              <a:t>9</a:t>
            </a:r>
          </a:p>
        </p:txBody>
      </p:sp>
      <p:sp>
        <p:nvSpPr>
          <p:cNvPr id="206" name="TextBox 205">
            <a:extLst>
              <a:ext uri="{FF2B5EF4-FFF2-40B4-BE49-F238E27FC236}">
                <a16:creationId xmlns:a16="http://schemas.microsoft.com/office/drawing/2014/main" id="{6B2547A3-3C06-2F1B-3FF9-A3C2A6346AB7}"/>
              </a:ext>
            </a:extLst>
          </p:cNvPr>
          <p:cNvSpPr txBox="1"/>
          <p:nvPr/>
        </p:nvSpPr>
        <p:spPr>
          <a:xfrm>
            <a:off x="4874766" y="22034989"/>
            <a:ext cx="470000" cy="400110"/>
          </a:xfrm>
          <a:prstGeom prst="rect">
            <a:avLst/>
          </a:prstGeom>
          <a:noFill/>
        </p:spPr>
        <p:txBody>
          <a:bodyPr wrap="none" rtlCol="0">
            <a:spAutoFit/>
          </a:bodyPr>
          <a:lstStyle/>
          <a:p>
            <a:r>
              <a:rPr lang="en-US" sz="2000" b="1" dirty="0"/>
              <a:t>10</a:t>
            </a:r>
          </a:p>
        </p:txBody>
      </p:sp>
      <p:sp>
        <p:nvSpPr>
          <p:cNvPr id="207" name="TextBox 206">
            <a:extLst>
              <a:ext uri="{FF2B5EF4-FFF2-40B4-BE49-F238E27FC236}">
                <a16:creationId xmlns:a16="http://schemas.microsoft.com/office/drawing/2014/main" id="{21657B46-BF1C-E5C8-6341-F2CB017B04A7}"/>
              </a:ext>
            </a:extLst>
          </p:cNvPr>
          <p:cNvSpPr txBox="1"/>
          <p:nvPr/>
        </p:nvSpPr>
        <p:spPr>
          <a:xfrm>
            <a:off x="6952065" y="22034989"/>
            <a:ext cx="470000" cy="400110"/>
          </a:xfrm>
          <a:prstGeom prst="rect">
            <a:avLst/>
          </a:prstGeom>
          <a:noFill/>
        </p:spPr>
        <p:txBody>
          <a:bodyPr wrap="none" rtlCol="0">
            <a:spAutoFit/>
          </a:bodyPr>
          <a:lstStyle/>
          <a:p>
            <a:r>
              <a:rPr lang="en-US" sz="2000" b="1" dirty="0"/>
              <a:t>11</a:t>
            </a:r>
          </a:p>
        </p:txBody>
      </p:sp>
      <p:sp>
        <p:nvSpPr>
          <p:cNvPr id="208" name="TextBox 207">
            <a:extLst>
              <a:ext uri="{FF2B5EF4-FFF2-40B4-BE49-F238E27FC236}">
                <a16:creationId xmlns:a16="http://schemas.microsoft.com/office/drawing/2014/main" id="{FD99F317-CA3B-6119-7196-790263781D4E}"/>
              </a:ext>
            </a:extLst>
          </p:cNvPr>
          <p:cNvSpPr txBox="1"/>
          <p:nvPr/>
        </p:nvSpPr>
        <p:spPr>
          <a:xfrm>
            <a:off x="8992992" y="22034989"/>
            <a:ext cx="470000" cy="400110"/>
          </a:xfrm>
          <a:prstGeom prst="rect">
            <a:avLst/>
          </a:prstGeom>
          <a:noFill/>
        </p:spPr>
        <p:txBody>
          <a:bodyPr wrap="none" rtlCol="0">
            <a:spAutoFit/>
          </a:bodyPr>
          <a:lstStyle/>
          <a:p>
            <a:r>
              <a:rPr lang="en-US" sz="2000" b="1" dirty="0"/>
              <a:t>12</a:t>
            </a:r>
          </a:p>
        </p:txBody>
      </p:sp>
      <p:sp>
        <p:nvSpPr>
          <p:cNvPr id="209" name="TextBox 208">
            <a:extLst>
              <a:ext uri="{FF2B5EF4-FFF2-40B4-BE49-F238E27FC236}">
                <a16:creationId xmlns:a16="http://schemas.microsoft.com/office/drawing/2014/main" id="{A7AB34B4-E476-E3FA-C9AB-94E4FB8F2497}"/>
              </a:ext>
            </a:extLst>
          </p:cNvPr>
          <p:cNvSpPr txBox="1"/>
          <p:nvPr/>
        </p:nvSpPr>
        <p:spPr>
          <a:xfrm>
            <a:off x="10997083" y="22034989"/>
            <a:ext cx="470000" cy="400110"/>
          </a:xfrm>
          <a:prstGeom prst="rect">
            <a:avLst/>
          </a:prstGeom>
          <a:noFill/>
        </p:spPr>
        <p:txBody>
          <a:bodyPr wrap="none" rtlCol="0">
            <a:spAutoFit/>
          </a:bodyPr>
          <a:lstStyle/>
          <a:p>
            <a:r>
              <a:rPr lang="en-US" sz="2000" b="1" dirty="0"/>
              <a:t>13</a:t>
            </a:r>
          </a:p>
        </p:txBody>
      </p:sp>
      <p:sp>
        <p:nvSpPr>
          <p:cNvPr id="210" name="TextBox 209">
            <a:extLst>
              <a:ext uri="{FF2B5EF4-FFF2-40B4-BE49-F238E27FC236}">
                <a16:creationId xmlns:a16="http://schemas.microsoft.com/office/drawing/2014/main" id="{98FD9BA1-1F32-D736-F113-187B03731641}"/>
              </a:ext>
            </a:extLst>
          </p:cNvPr>
          <p:cNvSpPr txBox="1"/>
          <p:nvPr/>
        </p:nvSpPr>
        <p:spPr>
          <a:xfrm>
            <a:off x="13137030" y="22034989"/>
            <a:ext cx="470000" cy="400110"/>
          </a:xfrm>
          <a:prstGeom prst="rect">
            <a:avLst/>
          </a:prstGeom>
          <a:noFill/>
        </p:spPr>
        <p:txBody>
          <a:bodyPr wrap="none" rtlCol="0">
            <a:spAutoFit/>
          </a:bodyPr>
          <a:lstStyle/>
          <a:p>
            <a:r>
              <a:rPr lang="en-US" sz="2000" b="1" dirty="0"/>
              <a:t>14</a:t>
            </a:r>
          </a:p>
        </p:txBody>
      </p:sp>
      <p:sp>
        <p:nvSpPr>
          <p:cNvPr id="211" name="TextBox 210">
            <a:extLst>
              <a:ext uri="{FF2B5EF4-FFF2-40B4-BE49-F238E27FC236}">
                <a16:creationId xmlns:a16="http://schemas.microsoft.com/office/drawing/2014/main" id="{49C73F9C-5378-9A0E-BA6D-93F9AA5B3CCF}"/>
              </a:ext>
            </a:extLst>
          </p:cNvPr>
          <p:cNvSpPr txBox="1"/>
          <p:nvPr/>
        </p:nvSpPr>
        <p:spPr>
          <a:xfrm>
            <a:off x="917233" y="23471042"/>
            <a:ext cx="470000" cy="400110"/>
          </a:xfrm>
          <a:prstGeom prst="rect">
            <a:avLst/>
          </a:prstGeom>
          <a:noFill/>
        </p:spPr>
        <p:txBody>
          <a:bodyPr wrap="none" rtlCol="0">
            <a:spAutoFit/>
          </a:bodyPr>
          <a:lstStyle/>
          <a:p>
            <a:r>
              <a:rPr lang="en-US" sz="2000" b="1" dirty="0"/>
              <a:t>15</a:t>
            </a:r>
          </a:p>
        </p:txBody>
      </p:sp>
      <p:sp>
        <p:nvSpPr>
          <p:cNvPr id="212" name="TextBox 211">
            <a:extLst>
              <a:ext uri="{FF2B5EF4-FFF2-40B4-BE49-F238E27FC236}">
                <a16:creationId xmlns:a16="http://schemas.microsoft.com/office/drawing/2014/main" id="{05F4309F-BCBD-647D-9A97-A9ABC06F4065}"/>
              </a:ext>
            </a:extLst>
          </p:cNvPr>
          <p:cNvSpPr txBox="1"/>
          <p:nvPr/>
        </p:nvSpPr>
        <p:spPr>
          <a:xfrm>
            <a:off x="2907749" y="23471042"/>
            <a:ext cx="470000" cy="400110"/>
          </a:xfrm>
          <a:prstGeom prst="rect">
            <a:avLst/>
          </a:prstGeom>
          <a:noFill/>
        </p:spPr>
        <p:txBody>
          <a:bodyPr wrap="none" rtlCol="0">
            <a:spAutoFit/>
          </a:bodyPr>
          <a:lstStyle/>
          <a:p>
            <a:r>
              <a:rPr lang="en-US" sz="2000" b="1" dirty="0"/>
              <a:t>16</a:t>
            </a:r>
          </a:p>
        </p:txBody>
      </p:sp>
      <p:sp>
        <p:nvSpPr>
          <p:cNvPr id="213" name="TextBox 212">
            <a:extLst>
              <a:ext uri="{FF2B5EF4-FFF2-40B4-BE49-F238E27FC236}">
                <a16:creationId xmlns:a16="http://schemas.microsoft.com/office/drawing/2014/main" id="{1321812E-3D4A-9247-69FC-6C5F6B3DFDAA}"/>
              </a:ext>
            </a:extLst>
          </p:cNvPr>
          <p:cNvSpPr txBox="1"/>
          <p:nvPr/>
        </p:nvSpPr>
        <p:spPr>
          <a:xfrm>
            <a:off x="4874766" y="23471042"/>
            <a:ext cx="470000" cy="400110"/>
          </a:xfrm>
          <a:prstGeom prst="rect">
            <a:avLst/>
          </a:prstGeom>
          <a:noFill/>
        </p:spPr>
        <p:txBody>
          <a:bodyPr wrap="none" rtlCol="0">
            <a:spAutoFit/>
          </a:bodyPr>
          <a:lstStyle/>
          <a:p>
            <a:r>
              <a:rPr lang="en-US" sz="2000" b="1" dirty="0"/>
              <a:t>17</a:t>
            </a:r>
          </a:p>
        </p:txBody>
      </p:sp>
      <p:sp>
        <p:nvSpPr>
          <p:cNvPr id="214" name="TextBox 213">
            <a:extLst>
              <a:ext uri="{FF2B5EF4-FFF2-40B4-BE49-F238E27FC236}">
                <a16:creationId xmlns:a16="http://schemas.microsoft.com/office/drawing/2014/main" id="{6786615F-0D30-1812-D121-291AF6E4DCEC}"/>
              </a:ext>
            </a:extLst>
          </p:cNvPr>
          <p:cNvSpPr txBox="1"/>
          <p:nvPr/>
        </p:nvSpPr>
        <p:spPr>
          <a:xfrm>
            <a:off x="6952065" y="23471042"/>
            <a:ext cx="470000" cy="400110"/>
          </a:xfrm>
          <a:prstGeom prst="rect">
            <a:avLst/>
          </a:prstGeom>
          <a:noFill/>
        </p:spPr>
        <p:txBody>
          <a:bodyPr wrap="none" rtlCol="0">
            <a:spAutoFit/>
          </a:bodyPr>
          <a:lstStyle/>
          <a:p>
            <a:r>
              <a:rPr lang="en-US" sz="2000" b="1" dirty="0"/>
              <a:t>18</a:t>
            </a:r>
          </a:p>
        </p:txBody>
      </p:sp>
      <p:sp>
        <p:nvSpPr>
          <p:cNvPr id="215" name="TextBox 214">
            <a:extLst>
              <a:ext uri="{FF2B5EF4-FFF2-40B4-BE49-F238E27FC236}">
                <a16:creationId xmlns:a16="http://schemas.microsoft.com/office/drawing/2014/main" id="{78F0A781-59B7-725A-1071-FCF4BAECACAA}"/>
              </a:ext>
            </a:extLst>
          </p:cNvPr>
          <p:cNvSpPr txBox="1"/>
          <p:nvPr/>
        </p:nvSpPr>
        <p:spPr>
          <a:xfrm>
            <a:off x="8992992" y="23471042"/>
            <a:ext cx="470000" cy="400110"/>
          </a:xfrm>
          <a:prstGeom prst="rect">
            <a:avLst/>
          </a:prstGeom>
          <a:noFill/>
        </p:spPr>
        <p:txBody>
          <a:bodyPr wrap="none" rtlCol="0">
            <a:spAutoFit/>
          </a:bodyPr>
          <a:lstStyle/>
          <a:p>
            <a:r>
              <a:rPr lang="en-US" sz="2000" b="1" dirty="0"/>
              <a:t>19</a:t>
            </a:r>
          </a:p>
        </p:txBody>
      </p:sp>
      <p:sp>
        <p:nvSpPr>
          <p:cNvPr id="216" name="TextBox 215">
            <a:extLst>
              <a:ext uri="{FF2B5EF4-FFF2-40B4-BE49-F238E27FC236}">
                <a16:creationId xmlns:a16="http://schemas.microsoft.com/office/drawing/2014/main" id="{255DD57F-C9B1-C676-5D59-9798AF7DAB87}"/>
              </a:ext>
            </a:extLst>
          </p:cNvPr>
          <p:cNvSpPr txBox="1"/>
          <p:nvPr/>
        </p:nvSpPr>
        <p:spPr>
          <a:xfrm>
            <a:off x="10997083" y="23471042"/>
            <a:ext cx="470000" cy="400110"/>
          </a:xfrm>
          <a:prstGeom prst="rect">
            <a:avLst/>
          </a:prstGeom>
          <a:noFill/>
        </p:spPr>
        <p:txBody>
          <a:bodyPr wrap="none" rtlCol="0">
            <a:spAutoFit/>
          </a:bodyPr>
          <a:lstStyle/>
          <a:p>
            <a:r>
              <a:rPr lang="en-US" sz="2000" b="1" dirty="0"/>
              <a:t>20</a:t>
            </a:r>
          </a:p>
        </p:txBody>
      </p:sp>
      <p:sp>
        <p:nvSpPr>
          <p:cNvPr id="217" name="TextBox 216">
            <a:extLst>
              <a:ext uri="{FF2B5EF4-FFF2-40B4-BE49-F238E27FC236}">
                <a16:creationId xmlns:a16="http://schemas.microsoft.com/office/drawing/2014/main" id="{1322097E-D986-219E-7855-1B29561A5557}"/>
              </a:ext>
            </a:extLst>
          </p:cNvPr>
          <p:cNvSpPr txBox="1"/>
          <p:nvPr/>
        </p:nvSpPr>
        <p:spPr>
          <a:xfrm>
            <a:off x="13137030" y="23471042"/>
            <a:ext cx="470000" cy="400110"/>
          </a:xfrm>
          <a:prstGeom prst="rect">
            <a:avLst/>
          </a:prstGeom>
          <a:noFill/>
        </p:spPr>
        <p:txBody>
          <a:bodyPr wrap="none" rtlCol="0">
            <a:spAutoFit/>
          </a:bodyPr>
          <a:lstStyle/>
          <a:p>
            <a:r>
              <a:rPr lang="en-US" sz="2000" b="1" dirty="0"/>
              <a:t>21</a:t>
            </a:r>
          </a:p>
        </p:txBody>
      </p:sp>
      <p:sp>
        <p:nvSpPr>
          <p:cNvPr id="218" name="TextBox 217">
            <a:extLst>
              <a:ext uri="{FF2B5EF4-FFF2-40B4-BE49-F238E27FC236}">
                <a16:creationId xmlns:a16="http://schemas.microsoft.com/office/drawing/2014/main" id="{E23F02D7-780C-1DBC-C066-BC9BF93A4610}"/>
              </a:ext>
            </a:extLst>
          </p:cNvPr>
          <p:cNvSpPr txBox="1"/>
          <p:nvPr/>
        </p:nvSpPr>
        <p:spPr>
          <a:xfrm>
            <a:off x="847375" y="25196391"/>
            <a:ext cx="3360100" cy="1323439"/>
          </a:xfrm>
          <a:prstGeom prst="rect">
            <a:avLst/>
          </a:prstGeom>
          <a:noFill/>
        </p:spPr>
        <p:txBody>
          <a:bodyPr wrap="square" rtlCol="0">
            <a:spAutoFit/>
          </a:bodyPr>
          <a:lstStyle/>
          <a:p>
            <a:r>
              <a:rPr lang="en-US" sz="2000" b="1" dirty="0"/>
              <a:t>LSE values for representative networks when different parameters were estimated.</a:t>
            </a:r>
          </a:p>
        </p:txBody>
      </p:sp>
      <p:sp>
        <p:nvSpPr>
          <p:cNvPr id="221" name="TextBox 220">
            <a:extLst>
              <a:ext uri="{FF2B5EF4-FFF2-40B4-BE49-F238E27FC236}">
                <a16:creationId xmlns:a16="http://schemas.microsoft.com/office/drawing/2014/main" id="{DFDEB6CA-6B16-CCB2-3773-C7E9B9EDE0FD}"/>
              </a:ext>
            </a:extLst>
          </p:cNvPr>
          <p:cNvSpPr txBox="1"/>
          <p:nvPr/>
        </p:nvSpPr>
        <p:spPr>
          <a:xfrm>
            <a:off x="18311129" y="9650886"/>
            <a:ext cx="3597980" cy="307777"/>
          </a:xfrm>
          <a:prstGeom prst="rect">
            <a:avLst/>
          </a:prstGeom>
          <a:noFill/>
        </p:spPr>
        <p:txBody>
          <a:bodyPr wrap="square" rtlCol="0">
            <a:spAutoFit/>
          </a:bodyPr>
          <a:lstStyle/>
          <a:p>
            <a:r>
              <a:rPr lang="en-US" sz="1400" b="1" dirty="0">
                <a:latin typeface="+mj-lt"/>
                <a:ea typeface="Sans Serif Collection" panose="020B0502040504020204" pitchFamily="34" charset="0"/>
                <a:cs typeface="Sans Serif Collection" panose="020B0502040504020204" pitchFamily="34" charset="0"/>
              </a:rPr>
              <a:t>log</a:t>
            </a:r>
            <a:r>
              <a:rPr lang="en-US" sz="1400" b="1" baseline="-25000" dirty="0">
                <a:latin typeface="+mj-lt"/>
                <a:ea typeface="Sans Serif Collection" panose="020B0502040504020204" pitchFamily="34" charset="0"/>
                <a:cs typeface="Sans Serif Collection" panose="020B0502040504020204" pitchFamily="34" charset="0"/>
              </a:rPr>
              <a:t>10</a:t>
            </a:r>
            <a:r>
              <a:rPr lang="en-US" sz="1400" b="1" dirty="0">
                <a:latin typeface="+mj-lt"/>
                <a:ea typeface="Sans Serif Collection" panose="020B0502040504020204" pitchFamily="34" charset="0"/>
                <a:cs typeface="Sans Serif Collection" panose="020B0502040504020204" pitchFamily="34" charset="0"/>
              </a:rPr>
              <a:t> of the weight LSE for each network</a:t>
            </a:r>
          </a:p>
        </p:txBody>
      </p:sp>
      <p:sp>
        <p:nvSpPr>
          <p:cNvPr id="222" name="TextBox 221">
            <a:extLst>
              <a:ext uri="{FF2B5EF4-FFF2-40B4-BE49-F238E27FC236}">
                <a16:creationId xmlns:a16="http://schemas.microsoft.com/office/drawing/2014/main" id="{01499C5B-1734-C413-9B1E-B28F83A7BD89}"/>
              </a:ext>
            </a:extLst>
          </p:cNvPr>
          <p:cNvSpPr txBox="1"/>
          <p:nvPr/>
        </p:nvSpPr>
        <p:spPr>
          <a:xfrm>
            <a:off x="15851147" y="8691686"/>
            <a:ext cx="2000250" cy="523220"/>
          </a:xfrm>
          <a:prstGeom prst="rect">
            <a:avLst/>
          </a:prstGeom>
          <a:noFill/>
        </p:spPr>
        <p:txBody>
          <a:bodyPr wrap="square">
            <a:spAutoFit/>
          </a:bodyPr>
          <a:lstStyle/>
          <a:p>
            <a:pPr algn="r"/>
            <a:r>
              <a:rPr lang="en-US" sz="1400" b="1" dirty="0"/>
              <a:t>Estimate </a:t>
            </a:r>
            <a:r>
              <a:rPr lang="en-US" sz="1400" b="1" i="1" dirty="0">
                <a:latin typeface="Times New Roman" panose="02020603050405020304" pitchFamily="18" charset="0"/>
                <a:cs typeface="Times New Roman" panose="02020603050405020304" pitchFamily="18" charset="0"/>
              </a:rPr>
              <a:t>w</a:t>
            </a:r>
          </a:p>
          <a:p>
            <a:pPr algn="r"/>
            <a:r>
              <a:rPr lang="en-US" sz="1400" b="1" i="1" dirty="0">
                <a:latin typeface="Times New Roman" panose="02020603050405020304" pitchFamily="18" charset="0"/>
                <a:cs typeface="Times New Roman" panose="02020603050405020304" pitchFamily="18" charset="0"/>
              </a:rPr>
              <a:t>P</a:t>
            </a:r>
            <a:r>
              <a:rPr lang="en-US" sz="1400" b="1" dirty="0"/>
              <a:t> and </a:t>
            </a:r>
            <a:r>
              <a:rPr lang="en-US" sz="1400" b="1" i="1" dirty="0">
                <a:latin typeface="Times New Roman" panose="02020603050405020304" pitchFamily="18" charset="0"/>
                <a:cs typeface="Times New Roman" panose="02020603050405020304" pitchFamily="18" charset="0"/>
              </a:rPr>
              <a:t>b</a:t>
            </a:r>
            <a:r>
              <a:rPr lang="en-US" sz="1400" b="1" dirty="0"/>
              <a:t> held constant</a:t>
            </a:r>
          </a:p>
        </p:txBody>
      </p:sp>
      <p:sp>
        <p:nvSpPr>
          <p:cNvPr id="223" name="TextBox 222">
            <a:extLst>
              <a:ext uri="{FF2B5EF4-FFF2-40B4-BE49-F238E27FC236}">
                <a16:creationId xmlns:a16="http://schemas.microsoft.com/office/drawing/2014/main" id="{B00719AC-59E4-070F-F551-D005F660FBF4}"/>
              </a:ext>
            </a:extLst>
          </p:cNvPr>
          <p:cNvSpPr txBox="1"/>
          <p:nvPr/>
        </p:nvSpPr>
        <p:spPr>
          <a:xfrm>
            <a:off x="16165472" y="8087837"/>
            <a:ext cx="1685925" cy="523220"/>
          </a:xfrm>
          <a:prstGeom prst="rect">
            <a:avLst/>
          </a:prstGeom>
          <a:noFill/>
        </p:spPr>
        <p:txBody>
          <a:bodyPr wrap="square">
            <a:spAutoFit/>
          </a:bodyPr>
          <a:lstStyle/>
          <a:p>
            <a:pPr algn="r"/>
            <a:r>
              <a:rPr lang="en-US" sz="1400" b="1" dirty="0"/>
              <a:t>Estimate </a:t>
            </a:r>
            <a:r>
              <a:rPr lang="en-US" sz="1400" b="1" i="1" dirty="0">
                <a:latin typeface="Times New Roman" panose="02020603050405020304" pitchFamily="18" charset="0"/>
                <a:cs typeface="Times New Roman" panose="02020603050405020304" pitchFamily="18" charset="0"/>
              </a:rPr>
              <a:t>b</a:t>
            </a:r>
            <a:r>
              <a:rPr lang="en-US" sz="1400" b="1" dirty="0"/>
              <a:t> and </a:t>
            </a:r>
            <a:r>
              <a:rPr lang="en-US" sz="1400" b="1" i="1" dirty="0">
                <a:latin typeface="Times New Roman" panose="02020603050405020304" pitchFamily="18" charset="0"/>
                <a:cs typeface="Times New Roman" panose="02020603050405020304" pitchFamily="18" charset="0"/>
              </a:rPr>
              <a:t>w</a:t>
            </a:r>
          </a:p>
          <a:p>
            <a:pPr algn="r"/>
            <a:r>
              <a:rPr lang="en-US" sz="1400" b="1" i="1" dirty="0">
                <a:latin typeface="Times New Roman" panose="02020603050405020304" pitchFamily="18" charset="0"/>
                <a:cs typeface="Times New Roman" panose="02020603050405020304" pitchFamily="18" charset="0"/>
              </a:rPr>
              <a:t>P</a:t>
            </a:r>
            <a:r>
              <a:rPr lang="en-US" sz="1400" b="1" dirty="0"/>
              <a:t> held constant</a:t>
            </a:r>
          </a:p>
        </p:txBody>
      </p:sp>
      <p:sp>
        <p:nvSpPr>
          <p:cNvPr id="224" name="TextBox 223">
            <a:extLst>
              <a:ext uri="{FF2B5EF4-FFF2-40B4-BE49-F238E27FC236}">
                <a16:creationId xmlns:a16="http://schemas.microsoft.com/office/drawing/2014/main" id="{8B486378-D6F7-E27B-36DC-EA7A42659F9C}"/>
              </a:ext>
            </a:extLst>
          </p:cNvPr>
          <p:cNvSpPr txBox="1"/>
          <p:nvPr/>
        </p:nvSpPr>
        <p:spPr>
          <a:xfrm>
            <a:off x="16127372" y="7469330"/>
            <a:ext cx="1724025" cy="523220"/>
          </a:xfrm>
          <a:prstGeom prst="rect">
            <a:avLst/>
          </a:prstGeom>
          <a:noFill/>
        </p:spPr>
        <p:txBody>
          <a:bodyPr wrap="square">
            <a:spAutoFit/>
          </a:bodyPr>
          <a:lstStyle/>
          <a:p>
            <a:pPr algn="r"/>
            <a:r>
              <a:rPr lang="en-US" sz="1400" b="1" dirty="0"/>
              <a:t>Estimate </a:t>
            </a:r>
            <a:r>
              <a:rPr lang="en-US" sz="1400" b="1" i="1" dirty="0">
                <a:latin typeface="Times New Roman" panose="02020603050405020304" pitchFamily="18" charset="0"/>
                <a:cs typeface="Times New Roman" panose="02020603050405020304" pitchFamily="18" charset="0"/>
              </a:rPr>
              <a:t>P</a:t>
            </a:r>
            <a:r>
              <a:rPr lang="en-US" sz="1400" b="1" dirty="0"/>
              <a:t> and </a:t>
            </a:r>
            <a:r>
              <a:rPr lang="en-US" sz="1400" b="1" i="1" dirty="0">
                <a:latin typeface="Times New Roman" panose="02020603050405020304" pitchFamily="18" charset="0"/>
                <a:cs typeface="Times New Roman" panose="02020603050405020304" pitchFamily="18" charset="0"/>
              </a:rPr>
              <a:t>w</a:t>
            </a:r>
          </a:p>
          <a:p>
            <a:pPr algn="r"/>
            <a:r>
              <a:rPr lang="en-US" sz="1400" b="1" i="1" dirty="0">
                <a:latin typeface="Times New Roman" panose="02020603050405020304" pitchFamily="18" charset="0"/>
                <a:cs typeface="Times New Roman" panose="02020603050405020304" pitchFamily="18" charset="0"/>
              </a:rPr>
              <a:t>b</a:t>
            </a:r>
            <a:r>
              <a:rPr lang="en-US" sz="1400" b="1" dirty="0"/>
              <a:t> held constant</a:t>
            </a:r>
          </a:p>
        </p:txBody>
      </p:sp>
      <p:sp>
        <p:nvSpPr>
          <p:cNvPr id="225" name="TextBox 224">
            <a:extLst>
              <a:ext uri="{FF2B5EF4-FFF2-40B4-BE49-F238E27FC236}">
                <a16:creationId xmlns:a16="http://schemas.microsoft.com/office/drawing/2014/main" id="{07C1DF90-D6CB-B815-CA58-C07F774F1728}"/>
              </a:ext>
            </a:extLst>
          </p:cNvPr>
          <p:cNvSpPr txBox="1"/>
          <p:nvPr/>
        </p:nvSpPr>
        <p:spPr>
          <a:xfrm>
            <a:off x="16222622" y="6982412"/>
            <a:ext cx="1628775" cy="307777"/>
          </a:xfrm>
          <a:prstGeom prst="rect">
            <a:avLst/>
          </a:prstGeom>
          <a:noFill/>
        </p:spPr>
        <p:txBody>
          <a:bodyPr wrap="square">
            <a:spAutoFit/>
          </a:bodyPr>
          <a:lstStyle/>
          <a:p>
            <a:pPr algn="r"/>
            <a:r>
              <a:rPr lang="en-US" sz="1400" b="1" dirty="0"/>
              <a:t>Estimate </a:t>
            </a:r>
            <a:r>
              <a:rPr lang="en-US" sz="1400" b="1" i="1" dirty="0">
                <a:latin typeface="Times New Roman" panose="02020603050405020304" pitchFamily="18" charset="0"/>
                <a:cs typeface="Times New Roman" panose="02020603050405020304" pitchFamily="18" charset="0"/>
              </a:rPr>
              <a:t>P</a:t>
            </a:r>
            <a:r>
              <a:rPr lang="en-US" sz="1400" b="1" dirty="0"/>
              <a:t>, </a:t>
            </a:r>
            <a:r>
              <a:rPr lang="en-US" sz="1400" b="1" i="1" dirty="0">
                <a:latin typeface="Times New Roman" panose="02020603050405020304" pitchFamily="18" charset="0"/>
                <a:cs typeface="Times New Roman" panose="02020603050405020304" pitchFamily="18" charset="0"/>
              </a:rPr>
              <a:t>b</a:t>
            </a:r>
            <a:r>
              <a:rPr lang="en-US" sz="1400" b="1" dirty="0"/>
              <a:t>, </a:t>
            </a:r>
            <a:r>
              <a:rPr lang="en-US" sz="1400" b="1" i="1" dirty="0">
                <a:latin typeface="Times New Roman" panose="02020603050405020304" pitchFamily="18" charset="0"/>
                <a:cs typeface="Times New Roman" panose="02020603050405020304" pitchFamily="18" charset="0"/>
              </a:rPr>
              <a:t>w</a:t>
            </a:r>
          </a:p>
        </p:txBody>
      </p:sp>
      <p:graphicFrame>
        <p:nvGraphicFramePr>
          <p:cNvPr id="226" name="Chart 225">
            <a:extLst>
              <a:ext uri="{FF2B5EF4-FFF2-40B4-BE49-F238E27FC236}">
                <a16:creationId xmlns:a16="http://schemas.microsoft.com/office/drawing/2014/main" id="{FB34E2D0-DDE9-B458-C825-B7E9000A8B98}"/>
              </a:ext>
            </a:extLst>
          </p:cNvPr>
          <p:cNvGraphicFramePr>
            <a:graphicFrameLocks/>
          </p:cNvGraphicFramePr>
          <p:nvPr>
            <p:extLst>
              <p:ext uri="{D42A27DB-BD31-4B8C-83A1-F6EECF244321}">
                <p14:modId xmlns:p14="http://schemas.microsoft.com/office/powerpoint/2010/main" val="2065111910"/>
              </p:ext>
            </p:extLst>
          </p:nvPr>
        </p:nvGraphicFramePr>
        <p:xfrm>
          <a:off x="17851397" y="6722176"/>
          <a:ext cx="4572000" cy="2743200"/>
        </p:xfrm>
        <a:graphic>
          <a:graphicData uri="http://schemas.openxmlformats.org/drawingml/2006/chart">
            <c:chart xmlns:c="http://schemas.openxmlformats.org/drawingml/2006/chart" xmlns:r="http://schemas.openxmlformats.org/officeDocument/2006/relationships" r:id="rId48"/>
          </a:graphicData>
        </a:graphic>
      </p:graphicFrame>
      <p:grpSp>
        <p:nvGrpSpPr>
          <p:cNvPr id="227" name="Group 226">
            <a:extLst>
              <a:ext uri="{FF2B5EF4-FFF2-40B4-BE49-F238E27FC236}">
                <a16:creationId xmlns:a16="http://schemas.microsoft.com/office/drawing/2014/main" id="{A82F0F18-D3A1-F108-3B3F-58A1CB53FFAD}"/>
              </a:ext>
            </a:extLst>
          </p:cNvPr>
          <p:cNvGrpSpPr/>
          <p:nvPr/>
        </p:nvGrpSpPr>
        <p:grpSpPr>
          <a:xfrm>
            <a:off x="17733143" y="9302863"/>
            <a:ext cx="4690254" cy="307777"/>
            <a:chOff x="2860895" y="3857508"/>
            <a:chExt cx="4690254" cy="307777"/>
          </a:xfrm>
        </p:grpSpPr>
        <p:sp>
          <p:nvSpPr>
            <p:cNvPr id="228" name="TextBox 227">
              <a:extLst>
                <a:ext uri="{FF2B5EF4-FFF2-40B4-BE49-F238E27FC236}">
                  <a16:creationId xmlns:a16="http://schemas.microsoft.com/office/drawing/2014/main" id="{3F3D21F3-9BBC-45EB-A25B-A45CCA747BCE}"/>
                </a:ext>
              </a:extLst>
            </p:cNvPr>
            <p:cNvSpPr txBox="1"/>
            <p:nvPr/>
          </p:nvSpPr>
          <p:spPr>
            <a:xfrm>
              <a:off x="2860895" y="3857508"/>
              <a:ext cx="442750" cy="307777"/>
            </a:xfrm>
            <a:prstGeom prst="rect">
              <a:avLst/>
            </a:prstGeom>
            <a:noFill/>
          </p:spPr>
          <p:txBody>
            <a:bodyPr wrap="none" rtlCol="0">
              <a:spAutoFit/>
            </a:bodyPr>
            <a:lstStyle/>
            <a:p>
              <a:r>
                <a:rPr lang="en-US" sz="1400" dirty="0"/>
                <a:t>-12</a:t>
              </a:r>
            </a:p>
          </p:txBody>
        </p:sp>
        <p:sp>
          <p:nvSpPr>
            <p:cNvPr id="229" name="TextBox 228">
              <a:extLst>
                <a:ext uri="{FF2B5EF4-FFF2-40B4-BE49-F238E27FC236}">
                  <a16:creationId xmlns:a16="http://schemas.microsoft.com/office/drawing/2014/main" id="{0AC541A3-4442-BBEA-E560-E9EA3B1228B9}"/>
                </a:ext>
              </a:extLst>
            </p:cNvPr>
            <p:cNvSpPr txBox="1"/>
            <p:nvPr/>
          </p:nvSpPr>
          <p:spPr>
            <a:xfrm>
              <a:off x="3479286" y="3857508"/>
              <a:ext cx="442750" cy="307777"/>
            </a:xfrm>
            <a:prstGeom prst="rect">
              <a:avLst/>
            </a:prstGeom>
            <a:noFill/>
          </p:spPr>
          <p:txBody>
            <a:bodyPr wrap="none" rtlCol="0">
              <a:spAutoFit/>
            </a:bodyPr>
            <a:lstStyle/>
            <a:p>
              <a:r>
                <a:rPr lang="en-US" sz="1400" dirty="0"/>
                <a:t>-10</a:t>
              </a:r>
            </a:p>
          </p:txBody>
        </p:sp>
        <p:sp>
          <p:nvSpPr>
            <p:cNvPr id="230" name="TextBox 229">
              <a:extLst>
                <a:ext uri="{FF2B5EF4-FFF2-40B4-BE49-F238E27FC236}">
                  <a16:creationId xmlns:a16="http://schemas.microsoft.com/office/drawing/2014/main" id="{8F47F174-1242-DC4A-3A7F-FEFAB67F701F}"/>
                </a:ext>
              </a:extLst>
            </p:cNvPr>
            <p:cNvSpPr txBox="1"/>
            <p:nvPr/>
          </p:nvSpPr>
          <p:spPr>
            <a:xfrm>
              <a:off x="4142938" y="3857508"/>
              <a:ext cx="343364" cy="307777"/>
            </a:xfrm>
            <a:prstGeom prst="rect">
              <a:avLst/>
            </a:prstGeom>
            <a:noFill/>
          </p:spPr>
          <p:txBody>
            <a:bodyPr wrap="none" rtlCol="0">
              <a:spAutoFit/>
            </a:bodyPr>
            <a:lstStyle/>
            <a:p>
              <a:r>
                <a:rPr lang="en-US" sz="1400" dirty="0"/>
                <a:t>-8</a:t>
              </a:r>
            </a:p>
          </p:txBody>
        </p:sp>
        <p:sp>
          <p:nvSpPr>
            <p:cNvPr id="231" name="TextBox 230">
              <a:extLst>
                <a:ext uri="{FF2B5EF4-FFF2-40B4-BE49-F238E27FC236}">
                  <a16:creationId xmlns:a16="http://schemas.microsoft.com/office/drawing/2014/main" id="{0DAF7589-53DD-21AA-A4A3-6179677F1354}"/>
                </a:ext>
              </a:extLst>
            </p:cNvPr>
            <p:cNvSpPr txBox="1"/>
            <p:nvPr/>
          </p:nvSpPr>
          <p:spPr>
            <a:xfrm>
              <a:off x="4752474" y="3857508"/>
              <a:ext cx="343364" cy="307777"/>
            </a:xfrm>
            <a:prstGeom prst="rect">
              <a:avLst/>
            </a:prstGeom>
            <a:noFill/>
          </p:spPr>
          <p:txBody>
            <a:bodyPr wrap="none" rtlCol="0">
              <a:spAutoFit/>
            </a:bodyPr>
            <a:lstStyle/>
            <a:p>
              <a:r>
                <a:rPr lang="en-US" sz="1400" dirty="0"/>
                <a:t>-6</a:t>
              </a:r>
            </a:p>
          </p:txBody>
        </p:sp>
        <p:sp>
          <p:nvSpPr>
            <p:cNvPr id="232" name="TextBox 231">
              <a:extLst>
                <a:ext uri="{FF2B5EF4-FFF2-40B4-BE49-F238E27FC236}">
                  <a16:creationId xmlns:a16="http://schemas.microsoft.com/office/drawing/2014/main" id="{59A072E7-C2E9-D5BC-8953-EB39A62D453C}"/>
                </a:ext>
              </a:extLst>
            </p:cNvPr>
            <p:cNvSpPr txBox="1"/>
            <p:nvPr/>
          </p:nvSpPr>
          <p:spPr>
            <a:xfrm>
              <a:off x="5371062" y="3857508"/>
              <a:ext cx="343364" cy="307777"/>
            </a:xfrm>
            <a:prstGeom prst="rect">
              <a:avLst/>
            </a:prstGeom>
            <a:noFill/>
          </p:spPr>
          <p:txBody>
            <a:bodyPr wrap="none" rtlCol="0">
              <a:spAutoFit/>
            </a:bodyPr>
            <a:lstStyle/>
            <a:p>
              <a:r>
                <a:rPr lang="en-US" sz="1400" dirty="0"/>
                <a:t>-4</a:t>
              </a:r>
            </a:p>
          </p:txBody>
        </p:sp>
        <p:sp>
          <p:nvSpPr>
            <p:cNvPr id="233" name="TextBox 232">
              <a:extLst>
                <a:ext uri="{FF2B5EF4-FFF2-40B4-BE49-F238E27FC236}">
                  <a16:creationId xmlns:a16="http://schemas.microsoft.com/office/drawing/2014/main" id="{096CF7F9-11CB-26F4-5D7A-6D580D129CD4}"/>
                </a:ext>
              </a:extLst>
            </p:cNvPr>
            <p:cNvSpPr txBox="1"/>
            <p:nvPr/>
          </p:nvSpPr>
          <p:spPr>
            <a:xfrm>
              <a:off x="5998706" y="3857508"/>
              <a:ext cx="343364" cy="307777"/>
            </a:xfrm>
            <a:prstGeom prst="rect">
              <a:avLst/>
            </a:prstGeom>
            <a:noFill/>
          </p:spPr>
          <p:txBody>
            <a:bodyPr wrap="none" rtlCol="0">
              <a:spAutoFit/>
            </a:bodyPr>
            <a:lstStyle/>
            <a:p>
              <a:r>
                <a:rPr lang="en-US" sz="1400" dirty="0"/>
                <a:t>-2</a:t>
              </a:r>
            </a:p>
          </p:txBody>
        </p:sp>
        <p:sp>
          <p:nvSpPr>
            <p:cNvPr id="234" name="TextBox 233">
              <a:extLst>
                <a:ext uri="{FF2B5EF4-FFF2-40B4-BE49-F238E27FC236}">
                  <a16:creationId xmlns:a16="http://schemas.microsoft.com/office/drawing/2014/main" id="{3BDB6BC6-785C-47F6-9C82-A6892417DFC5}"/>
                </a:ext>
              </a:extLst>
            </p:cNvPr>
            <p:cNvSpPr txBox="1"/>
            <p:nvPr/>
          </p:nvSpPr>
          <p:spPr>
            <a:xfrm>
              <a:off x="6653506" y="3857508"/>
              <a:ext cx="284052" cy="307777"/>
            </a:xfrm>
            <a:prstGeom prst="rect">
              <a:avLst/>
            </a:prstGeom>
            <a:noFill/>
          </p:spPr>
          <p:txBody>
            <a:bodyPr wrap="none" rtlCol="0">
              <a:spAutoFit/>
            </a:bodyPr>
            <a:lstStyle/>
            <a:p>
              <a:r>
                <a:rPr lang="en-US" sz="1400" dirty="0"/>
                <a:t>0</a:t>
              </a:r>
            </a:p>
          </p:txBody>
        </p:sp>
        <p:sp>
          <p:nvSpPr>
            <p:cNvPr id="235" name="TextBox 234">
              <a:extLst>
                <a:ext uri="{FF2B5EF4-FFF2-40B4-BE49-F238E27FC236}">
                  <a16:creationId xmlns:a16="http://schemas.microsoft.com/office/drawing/2014/main" id="{C1B245D0-519D-EC04-3C05-3495659A060E}"/>
                </a:ext>
              </a:extLst>
            </p:cNvPr>
            <p:cNvSpPr txBox="1"/>
            <p:nvPr/>
          </p:nvSpPr>
          <p:spPr>
            <a:xfrm>
              <a:off x="7267097" y="3857508"/>
              <a:ext cx="284052" cy="307777"/>
            </a:xfrm>
            <a:prstGeom prst="rect">
              <a:avLst/>
            </a:prstGeom>
            <a:noFill/>
          </p:spPr>
          <p:txBody>
            <a:bodyPr wrap="none" rtlCol="0">
              <a:spAutoFit/>
            </a:bodyPr>
            <a:lstStyle/>
            <a:p>
              <a:r>
                <a:rPr lang="en-US" sz="1400" dirty="0"/>
                <a:t>2</a:t>
              </a:r>
            </a:p>
          </p:txBody>
        </p:sp>
      </p:grpSp>
      <p:pic>
        <p:nvPicPr>
          <p:cNvPr id="236" name="Picture 235" descr="A black and white image of a person holding a sign&#10;&#10;AI-generated content may be incorrect.">
            <a:extLst>
              <a:ext uri="{FF2B5EF4-FFF2-40B4-BE49-F238E27FC236}">
                <a16:creationId xmlns:a16="http://schemas.microsoft.com/office/drawing/2014/main" id="{FCE2486B-4EF9-ED4D-13C9-F781BD7C9C31}"/>
              </a:ext>
            </a:extLst>
          </p:cNvPr>
          <p:cNvPicPr>
            <a:picLocks noChangeAspect="1"/>
          </p:cNvPicPr>
          <p:nvPr/>
        </p:nvPicPr>
        <p:blipFill>
          <a:blip r:embed="rId49" cstate="email">
            <a:extLst>
              <a:ext uri="{28A0092B-C50C-407E-A947-70E740481C1C}">
                <a14:useLocalDpi xmlns:a14="http://schemas.microsoft.com/office/drawing/2010/main" val="0"/>
              </a:ext>
            </a:extLst>
          </a:blip>
          <a:srcRect r="62917" b="61797"/>
          <a:stretch/>
        </p:blipFill>
        <p:spPr>
          <a:xfrm>
            <a:off x="17851397" y="13177723"/>
            <a:ext cx="3390847" cy="2071179"/>
          </a:xfrm>
          <a:prstGeom prst="rect">
            <a:avLst/>
          </a:prstGeom>
        </p:spPr>
      </p:pic>
      <p:pic>
        <p:nvPicPr>
          <p:cNvPr id="237" name="Picture 236" descr="A person holding a sign&#10;&#10;AI-generated content may be incorrect.">
            <a:extLst>
              <a:ext uri="{FF2B5EF4-FFF2-40B4-BE49-F238E27FC236}">
                <a16:creationId xmlns:a16="http://schemas.microsoft.com/office/drawing/2014/main" id="{26C879E9-5DBE-8112-CFB5-8B0019064FBD}"/>
              </a:ext>
            </a:extLst>
          </p:cNvPr>
          <p:cNvPicPr>
            <a:picLocks noChangeAspect="1"/>
          </p:cNvPicPr>
          <p:nvPr/>
        </p:nvPicPr>
        <p:blipFill>
          <a:blip r:embed="rId50" cstate="email">
            <a:extLst>
              <a:ext uri="{28A0092B-C50C-407E-A947-70E740481C1C}">
                <a14:useLocalDpi xmlns:a14="http://schemas.microsoft.com/office/drawing/2010/main" val="0"/>
              </a:ext>
            </a:extLst>
          </a:blip>
          <a:srcRect r="65183" b="63404"/>
          <a:stretch/>
        </p:blipFill>
        <p:spPr>
          <a:xfrm>
            <a:off x="24877898" y="13195228"/>
            <a:ext cx="3183619" cy="1984032"/>
          </a:xfrm>
          <a:prstGeom prst="rect">
            <a:avLst/>
          </a:prstGeom>
        </p:spPr>
      </p:pic>
      <p:sp>
        <p:nvSpPr>
          <p:cNvPr id="238" name="TextBox 237">
            <a:extLst>
              <a:ext uri="{FF2B5EF4-FFF2-40B4-BE49-F238E27FC236}">
                <a16:creationId xmlns:a16="http://schemas.microsoft.com/office/drawing/2014/main" id="{7FA32975-FE91-19A1-49FB-2DF8217FEE1F}"/>
              </a:ext>
            </a:extLst>
          </p:cNvPr>
          <p:cNvSpPr txBox="1"/>
          <p:nvPr/>
        </p:nvSpPr>
        <p:spPr>
          <a:xfrm>
            <a:off x="18060420" y="13693768"/>
            <a:ext cx="930063" cy="307777"/>
          </a:xfrm>
          <a:prstGeom prst="rect">
            <a:avLst/>
          </a:prstGeom>
          <a:solidFill>
            <a:schemeClr val="bg1"/>
          </a:solidFill>
          <a:ln>
            <a:noFill/>
          </a:ln>
        </p:spPr>
        <p:txBody>
          <a:bodyPr wrap="none" rtlCol="0">
            <a:spAutoFit/>
          </a:bodyPr>
          <a:lstStyle/>
          <a:p>
            <a:r>
              <a:rPr lang="en-US" sz="1400" b="1" dirty="0"/>
              <a:t>Weight 1</a:t>
            </a:r>
          </a:p>
        </p:txBody>
      </p:sp>
      <p:sp>
        <p:nvSpPr>
          <p:cNvPr id="239" name="TextBox 238">
            <a:extLst>
              <a:ext uri="{FF2B5EF4-FFF2-40B4-BE49-F238E27FC236}">
                <a16:creationId xmlns:a16="http://schemas.microsoft.com/office/drawing/2014/main" id="{1F6D043C-2FE4-16EC-1A0E-D05141F04D85}"/>
              </a:ext>
            </a:extLst>
          </p:cNvPr>
          <p:cNvSpPr txBox="1"/>
          <p:nvPr/>
        </p:nvSpPr>
        <p:spPr>
          <a:xfrm>
            <a:off x="19839951" y="13693768"/>
            <a:ext cx="930063" cy="307777"/>
          </a:xfrm>
          <a:prstGeom prst="rect">
            <a:avLst/>
          </a:prstGeom>
          <a:solidFill>
            <a:schemeClr val="bg1"/>
          </a:solidFill>
        </p:spPr>
        <p:txBody>
          <a:bodyPr wrap="none" rtlCol="0">
            <a:spAutoFit/>
          </a:bodyPr>
          <a:lstStyle/>
          <a:p>
            <a:r>
              <a:rPr lang="en-US" sz="1400" b="1" dirty="0"/>
              <a:t>Weight 2</a:t>
            </a:r>
          </a:p>
        </p:txBody>
      </p:sp>
      <p:sp>
        <p:nvSpPr>
          <p:cNvPr id="240" name="TextBox 239">
            <a:extLst>
              <a:ext uri="{FF2B5EF4-FFF2-40B4-BE49-F238E27FC236}">
                <a16:creationId xmlns:a16="http://schemas.microsoft.com/office/drawing/2014/main" id="{8B18A8DD-F45A-8061-7A43-66C9DB7027D3}"/>
              </a:ext>
            </a:extLst>
          </p:cNvPr>
          <p:cNvSpPr txBox="1"/>
          <p:nvPr/>
        </p:nvSpPr>
        <p:spPr>
          <a:xfrm>
            <a:off x="18743636" y="14116170"/>
            <a:ext cx="930063" cy="307777"/>
          </a:xfrm>
          <a:prstGeom prst="rect">
            <a:avLst/>
          </a:prstGeom>
          <a:solidFill>
            <a:schemeClr val="bg1"/>
          </a:solidFill>
        </p:spPr>
        <p:txBody>
          <a:bodyPr wrap="none" rtlCol="0">
            <a:spAutoFit/>
          </a:bodyPr>
          <a:lstStyle/>
          <a:p>
            <a:r>
              <a:rPr lang="en-US" sz="1400" b="1" dirty="0"/>
              <a:t>Weight 3</a:t>
            </a:r>
          </a:p>
        </p:txBody>
      </p:sp>
      <p:sp>
        <p:nvSpPr>
          <p:cNvPr id="241" name="TextBox 240">
            <a:extLst>
              <a:ext uri="{FF2B5EF4-FFF2-40B4-BE49-F238E27FC236}">
                <a16:creationId xmlns:a16="http://schemas.microsoft.com/office/drawing/2014/main" id="{1C3B219A-D8B8-1302-F434-6D6BB2D714A1}"/>
              </a:ext>
            </a:extLst>
          </p:cNvPr>
          <p:cNvSpPr txBox="1"/>
          <p:nvPr/>
        </p:nvSpPr>
        <p:spPr>
          <a:xfrm>
            <a:off x="19335141" y="14407339"/>
            <a:ext cx="930063" cy="307777"/>
          </a:xfrm>
          <a:prstGeom prst="rect">
            <a:avLst/>
          </a:prstGeom>
          <a:solidFill>
            <a:schemeClr val="bg1"/>
          </a:solidFill>
        </p:spPr>
        <p:txBody>
          <a:bodyPr wrap="none" rtlCol="0">
            <a:spAutoFit/>
          </a:bodyPr>
          <a:lstStyle/>
          <a:p>
            <a:r>
              <a:rPr lang="en-US" sz="1400" b="1" dirty="0"/>
              <a:t>Weight 4</a:t>
            </a:r>
          </a:p>
        </p:txBody>
      </p:sp>
      <p:sp>
        <p:nvSpPr>
          <p:cNvPr id="243" name="TextBox 242">
            <a:extLst>
              <a:ext uri="{FF2B5EF4-FFF2-40B4-BE49-F238E27FC236}">
                <a16:creationId xmlns:a16="http://schemas.microsoft.com/office/drawing/2014/main" id="{8666C6FB-C5FB-19C9-E982-3E95A907EF21}"/>
              </a:ext>
            </a:extLst>
          </p:cNvPr>
          <p:cNvSpPr txBox="1"/>
          <p:nvPr/>
        </p:nvSpPr>
        <p:spPr>
          <a:xfrm>
            <a:off x="25243897" y="13904452"/>
            <a:ext cx="930063" cy="307777"/>
          </a:xfrm>
          <a:prstGeom prst="rect">
            <a:avLst/>
          </a:prstGeom>
          <a:solidFill>
            <a:schemeClr val="bg1"/>
          </a:solidFill>
        </p:spPr>
        <p:txBody>
          <a:bodyPr wrap="none" rtlCol="0">
            <a:spAutoFit/>
          </a:bodyPr>
          <a:lstStyle/>
          <a:p>
            <a:r>
              <a:rPr lang="en-US" sz="1400" b="1" dirty="0"/>
              <a:t>Weight 1</a:t>
            </a:r>
          </a:p>
        </p:txBody>
      </p:sp>
      <p:sp>
        <p:nvSpPr>
          <p:cNvPr id="244" name="TextBox 243">
            <a:extLst>
              <a:ext uri="{FF2B5EF4-FFF2-40B4-BE49-F238E27FC236}">
                <a16:creationId xmlns:a16="http://schemas.microsoft.com/office/drawing/2014/main" id="{41FE6698-7354-0A18-9321-5022C211AB0A}"/>
              </a:ext>
            </a:extLst>
          </p:cNvPr>
          <p:cNvSpPr txBox="1"/>
          <p:nvPr/>
        </p:nvSpPr>
        <p:spPr>
          <a:xfrm>
            <a:off x="26323804" y="14452267"/>
            <a:ext cx="930063" cy="307777"/>
          </a:xfrm>
          <a:prstGeom prst="rect">
            <a:avLst/>
          </a:prstGeom>
          <a:solidFill>
            <a:schemeClr val="bg1"/>
          </a:solidFill>
        </p:spPr>
        <p:txBody>
          <a:bodyPr wrap="none" rtlCol="0">
            <a:spAutoFit/>
          </a:bodyPr>
          <a:lstStyle/>
          <a:p>
            <a:r>
              <a:rPr lang="en-US" sz="1400" b="1" dirty="0"/>
              <a:t>Weight 2</a:t>
            </a:r>
          </a:p>
        </p:txBody>
      </p:sp>
      <p:sp>
        <p:nvSpPr>
          <p:cNvPr id="245" name="TextBox 244">
            <a:extLst>
              <a:ext uri="{FF2B5EF4-FFF2-40B4-BE49-F238E27FC236}">
                <a16:creationId xmlns:a16="http://schemas.microsoft.com/office/drawing/2014/main" id="{4A039BA2-4B47-46A3-53AF-FACC5564EA93}"/>
              </a:ext>
            </a:extLst>
          </p:cNvPr>
          <p:cNvSpPr txBox="1"/>
          <p:nvPr/>
        </p:nvSpPr>
        <p:spPr>
          <a:xfrm>
            <a:off x="26469707" y="13508384"/>
            <a:ext cx="930063" cy="307777"/>
          </a:xfrm>
          <a:prstGeom prst="rect">
            <a:avLst/>
          </a:prstGeom>
          <a:solidFill>
            <a:schemeClr val="bg1"/>
          </a:solidFill>
        </p:spPr>
        <p:txBody>
          <a:bodyPr wrap="none" rtlCol="0">
            <a:spAutoFit/>
          </a:bodyPr>
          <a:lstStyle/>
          <a:p>
            <a:r>
              <a:rPr lang="en-US" sz="1400" b="1" dirty="0"/>
              <a:t>Weight 3</a:t>
            </a:r>
          </a:p>
        </p:txBody>
      </p:sp>
      <p:sp>
        <p:nvSpPr>
          <p:cNvPr id="246" name="TextBox 245">
            <a:extLst>
              <a:ext uri="{FF2B5EF4-FFF2-40B4-BE49-F238E27FC236}">
                <a16:creationId xmlns:a16="http://schemas.microsoft.com/office/drawing/2014/main" id="{7B0DC3CC-8437-7663-C561-8E4AD25B60B9}"/>
              </a:ext>
            </a:extLst>
          </p:cNvPr>
          <p:cNvSpPr txBox="1"/>
          <p:nvPr/>
        </p:nvSpPr>
        <p:spPr>
          <a:xfrm>
            <a:off x="26154782" y="14021058"/>
            <a:ext cx="930063" cy="307777"/>
          </a:xfrm>
          <a:prstGeom prst="rect">
            <a:avLst/>
          </a:prstGeom>
          <a:solidFill>
            <a:schemeClr val="bg1"/>
          </a:solidFill>
        </p:spPr>
        <p:txBody>
          <a:bodyPr wrap="none" rtlCol="0">
            <a:spAutoFit/>
          </a:bodyPr>
          <a:lstStyle/>
          <a:p>
            <a:r>
              <a:rPr lang="en-US" sz="1400" b="1" dirty="0"/>
              <a:t>Weight 4</a:t>
            </a:r>
          </a:p>
        </p:txBody>
      </p:sp>
      <p:sp>
        <p:nvSpPr>
          <p:cNvPr id="251" name="Rectangle 250">
            <a:extLst>
              <a:ext uri="{FF2B5EF4-FFF2-40B4-BE49-F238E27FC236}">
                <a16:creationId xmlns:a16="http://schemas.microsoft.com/office/drawing/2014/main" id="{576568A5-1B21-60EE-BA74-0B6982C7F939}"/>
              </a:ext>
            </a:extLst>
          </p:cNvPr>
          <p:cNvSpPr/>
          <p:nvPr/>
        </p:nvSpPr>
        <p:spPr>
          <a:xfrm>
            <a:off x="31301887" y="13048427"/>
            <a:ext cx="659835" cy="414670"/>
          </a:xfrm>
          <a:prstGeom prst="rect">
            <a:avLst/>
          </a:prstGeom>
          <a:solidFill>
            <a:srgbClr val="337C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5366FEE0-7D23-B4A8-3387-68D8393B3061}"/>
              </a:ext>
            </a:extLst>
          </p:cNvPr>
          <p:cNvSpPr/>
          <p:nvPr/>
        </p:nvSpPr>
        <p:spPr>
          <a:xfrm>
            <a:off x="31284629" y="13693768"/>
            <a:ext cx="659835" cy="414670"/>
          </a:xfrm>
          <a:prstGeom prst="rect">
            <a:avLst/>
          </a:prstGeom>
          <a:solidFill>
            <a:srgbClr val="C239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Chart 33">
            <a:extLst>
              <a:ext uri="{FF2B5EF4-FFF2-40B4-BE49-F238E27FC236}">
                <a16:creationId xmlns:a16="http://schemas.microsoft.com/office/drawing/2014/main" id="{BE592CB0-EB3B-CB26-A129-D28366D29030}"/>
              </a:ext>
            </a:extLst>
          </p:cNvPr>
          <p:cNvGraphicFramePr>
            <a:graphicFrameLocks/>
          </p:cNvGraphicFramePr>
          <p:nvPr>
            <p:extLst>
              <p:ext uri="{D42A27DB-BD31-4B8C-83A1-F6EECF244321}">
                <p14:modId xmlns:p14="http://schemas.microsoft.com/office/powerpoint/2010/main" val="2758913661"/>
              </p:ext>
            </p:extLst>
          </p:nvPr>
        </p:nvGraphicFramePr>
        <p:xfrm>
          <a:off x="15993682" y="20871607"/>
          <a:ext cx="6737537" cy="4042522"/>
        </p:xfrm>
        <a:graphic>
          <a:graphicData uri="http://schemas.openxmlformats.org/drawingml/2006/chart">
            <c:chart xmlns:c="http://schemas.openxmlformats.org/drawingml/2006/chart" xmlns:r="http://schemas.openxmlformats.org/officeDocument/2006/relationships" r:id="rId51"/>
          </a:graphicData>
        </a:graphic>
      </p:graphicFrame>
      <p:pic>
        <p:nvPicPr>
          <p:cNvPr id="54" name="Picture 53">
            <a:extLst>
              <a:ext uri="{FF2B5EF4-FFF2-40B4-BE49-F238E27FC236}">
                <a16:creationId xmlns:a16="http://schemas.microsoft.com/office/drawing/2014/main" id="{495ACA8E-F26B-7CEF-B178-C4A58598D073}"/>
              </a:ext>
            </a:extLst>
          </p:cNvPr>
          <p:cNvPicPr>
            <a:picLocks noChangeAspect="1"/>
          </p:cNvPicPr>
          <p:nvPr/>
        </p:nvPicPr>
        <p:blipFill>
          <a:blip r:embed="rId52"/>
          <a:srcRect l="9684" t="29612" r="35447" b="58900"/>
          <a:stretch>
            <a:fillRect/>
          </a:stretch>
        </p:blipFill>
        <p:spPr>
          <a:xfrm>
            <a:off x="16203620" y="24832587"/>
            <a:ext cx="6387684" cy="992064"/>
          </a:xfrm>
          <a:prstGeom prst="rect">
            <a:avLst/>
          </a:prstGeom>
        </p:spPr>
      </p:pic>
      <p:pic>
        <p:nvPicPr>
          <p:cNvPr id="61" name="Picture 60">
            <a:extLst>
              <a:ext uri="{FF2B5EF4-FFF2-40B4-BE49-F238E27FC236}">
                <a16:creationId xmlns:a16="http://schemas.microsoft.com/office/drawing/2014/main" id="{16B22C1A-EA9D-EC23-74CD-C54DFEBA45F6}"/>
              </a:ext>
            </a:extLst>
          </p:cNvPr>
          <p:cNvPicPr>
            <a:picLocks noChangeAspect="1"/>
          </p:cNvPicPr>
          <p:nvPr/>
        </p:nvPicPr>
        <p:blipFill>
          <a:blip r:embed="rId52"/>
          <a:srcRect l="9674" t="49820" r="35456" b="38692"/>
          <a:stretch>
            <a:fillRect/>
          </a:stretch>
        </p:blipFill>
        <p:spPr>
          <a:xfrm>
            <a:off x="23472502" y="24832587"/>
            <a:ext cx="6387684" cy="992064"/>
          </a:xfrm>
          <a:prstGeom prst="rect">
            <a:avLst/>
          </a:prstGeom>
        </p:spPr>
      </p:pic>
      <p:sp>
        <p:nvSpPr>
          <p:cNvPr id="63" name="TextBox 62">
            <a:extLst>
              <a:ext uri="{FF2B5EF4-FFF2-40B4-BE49-F238E27FC236}">
                <a16:creationId xmlns:a16="http://schemas.microsoft.com/office/drawing/2014/main" id="{E90486AA-E61C-939F-02A2-9C35848F428F}"/>
              </a:ext>
            </a:extLst>
          </p:cNvPr>
          <p:cNvSpPr txBox="1"/>
          <p:nvPr/>
        </p:nvSpPr>
        <p:spPr>
          <a:xfrm>
            <a:off x="15316839" y="24812569"/>
            <a:ext cx="930063" cy="307777"/>
          </a:xfrm>
          <a:prstGeom prst="rect">
            <a:avLst/>
          </a:prstGeom>
          <a:noFill/>
        </p:spPr>
        <p:txBody>
          <a:bodyPr wrap="none" rtlCol="0">
            <a:spAutoFit/>
          </a:bodyPr>
          <a:lstStyle/>
          <a:p>
            <a:r>
              <a:rPr lang="en-US" sz="1400" b="1" dirty="0"/>
              <a:t>Weight 1</a:t>
            </a:r>
          </a:p>
        </p:txBody>
      </p:sp>
      <p:sp>
        <p:nvSpPr>
          <p:cNvPr id="65" name="TextBox 64">
            <a:extLst>
              <a:ext uri="{FF2B5EF4-FFF2-40B4-BE49-F238E27FC236}">
                <a16:creationId xmlns:a16="http://schemas.microsoft.com/office/drawing/2014/main" id="{5D660165-3615-AD1A-936A-E031C55F6A49}"/>
              </a:ext>
            </a:extLst>
          </p:cNvPr>
          <p:cNvSpPr txBox="1"/>
          <p:nvPr/>
        </p:nvSpPr>
        <p:spPr>
          <a:xfrm>
            <a:off x="15316839" y="25060561"/>
            <a:ext cx="930063" cy="307777"/>
          </a:xfrm>
          <a:prstGeom prst="rect">
            <a:avLst/>
          </a:prstGeom>
          <a:noFill/>
        </p:spPr>
        <p:txBody>
          <a:bodyPr wrap="none" rtlCol="0">
            <a:spAutoFit/>
          </a:bodyPr>
          <a:lstStyle/>
          <a:p>
            <a:r>
              <a:rPr lang="en-US" sz="1400" b="1" dirty="0"/>
              <a:t>Weight 2</a:t>
            </a:r>
          </a:p>
        </p:txBody>
      </p:sp>
      <p:sp>
        <p:nvSpPr>
          <p:cNvPr id="66" name="TextBox 65">
            <a:extLst>
              <a:ext uri="{FF2B5EF4-FFF2-40B4-BE49-F238E27FC236}">
                <a16:creationId xmlns:a16="http://schemas.microsoft.com/office/drawing/2014/main" id="{739CEB59-0D6E-FA48-9317-E1DE32CEFDB9}"/>
              </a:ext>
            </a:extLst>
          </p:cNvPr>
          <p:cNvSpPr txBox="1"/>
          <p:nvPr/>
        </p:nvSpPr>
        <p:spPr>
          <a:xfrm>
            <a:off x="15316839" y="25308553"/>
            <a:ext cx="930063" cy="307777"/>
          </a:xfrm>
          <a:prstGeom prst="rect">
            <a:avLst/>
          </a:prstGeom>
          <a:noFill/>
        </p:spPr>
        <p:txBody>
          <a:bodyPr wrap="none" rtlCol="0">
            <a:spAutoFit/>
          </a:bodyPr>
          <a:lstStyle/>
          <a:p>
            <a:r>
              <a:rPr lang="en-US" sz="1400" b="1" dirty="0"/>
              <a:t>Weight 3</a:t>
            </a:r>
          </a:p>
        </p:txBody>
      </p:sp>
      <p:sp>
        <p:nvSpPr>
          <p:cNvPr id="67" name="TextBox 66">
            <a:extLst>
              <a:ext uri="{FF2B5EF4-FFF2-40B4-BE49-F238E27FC236}">
                <a16:creationId xmlns:a16="http://schemas.microsoft.com/office/drawing/2014/main" id="{940B751F-656E-EE7D-D768-836A2F65EC87}"/>
              </a:ext>
            </a:extLst>
          </p:cNvPr>
          <p:cNvSpPr txBox="1"/>
          <p:nvPr/>
        </p:nvSpPr>
        <p:spPr>
          <a:xfrm>
            <a:off x="15316839" y="25556546"/>
            <a:ext cx="930063" cy="307777"/>
          </a:xfrm>
          <a:prstGeom prst="rect">
            <a:avLst/>
          </a:prstGeom>
          <a:noFill/>
        </p:spPr>
        <p:txBody>
          <a:bodyPr wrap="none" rtlCol="0">
            <a:spAutoFit/>
          </a:bodyPr>
          <a:lstStyle/>
          <a:p>
            <a:r>
              <a:rPr lang="en-US" sz="1400" b="1" dirty="0"/>
              <a:t>Weight 4</a:t>
            </a:r>
          </a:p>
        </p:txBody>
      </p:sp>
      <p:sp>
        <p:nvSpPr>
          <p:cNvPr id="68" name="TextBox 67">
            <a:extLst>
              <a:ext uri="{FF2B5EF4-FFF2-40B4-BE49-F238E27FC236}">
                <a16:creationId xmlns:a16="http://schemas.microsoft.com/office/drawing/2014/main" id="{E29963C7-9263-3B4E-681F-FB6427D8D3C6}"/>
              </a:ext>
            </a:extLst>
          </p:cNvPr>
          <p:cNvSpPr txBox="1"/>
          <p:nvPr/>
        </p:nvSpPr>
        <p:spPr>
          <a:xfrm>
            <a:off x="22593386" y="24814841"/>
            <a:ext cx="930063" cy="307777"/>
          </a:xfrm>
          <a:prstGeom prst="rect">
            <a:avLst/>
          </a:prstGeom>
          <a:noFill/>
        </p:spPr>
        <p:txBody>
          <a:bodyPr wrap="none" rtlCol="0">
            <a:spAutoFit/>
          </a:bodyPr>
          <a:lstStyle/>
          <a:p>
            <a:r>
              <a:rPr lang="en-US" sz="1400" b="1" dirty="0"/>
              <a:t>Weight 1</a:t>
            </a:r>
          </a:p>
        </p:txBody>
      </p:sp>
      <p:sp>
        <p:nvSpPr>
          <p:cNvPr id="74" name="TextBox 73">
            <a:extLst>
              <a:ext uri="{FF2B5EF4-FFF2-40B4-BE49-F238E27FC236}">
                <a16:creationId xmlns:a16="http://schemas.microsoft.com/office/drawing/2014/main" id="{980A08EE-1344-F0B3-06AD-A2FBCB83FABD}"/>
              </a:ext>
            </a:extLst>
          </p:cNvPr>
          <p:cNvSpPr txBox="1"/>
          <p:nvPr/>
        </p:nvSpPr>
        <p:spPr>
          <a:xfrm>
            <a:off x="22593386" y="25062833"/>
            <a:ext cx="930063" cy="307777"/>
          </a:xfrm>
          <a:prstGeom prst="rect">
            <a:avLst/>
          </a:prstGeom>
          <a:noFill/>
        </p:spPr>
        <p:txBody>
          <a:bodyPr wrap="none" rtlCol="0">
            <a:spAutoFit/>
          </a:bodyPr>
          <a:lstStyle/>
          <a:p>
            <a:r>
              <a:rPr lang="en-US" sz="1400" b="1" dirty="0"/>
              <a:t>Weight 2</a:t>
            </a:r>
          </a:p>
        </p:txBody>
      </p:sp>
      <p:sp>
        <p:nvSpPr>
          <p:cNvPr id="76" name="TextBox 75">
            <a:extLst>
              <a:ext uri="{FF2B5EF4-FFF2-40B4-BE49-F238E27FC236}">
                <a16:creationId xmlns:a16="http://schemas.microsoft.com/office/drawing/2014/main" id="{B886C3FB-EA3D-79F5-A5F7-9F09201A4BE0}"/>
              </a:ext>
            </a:extLst>
          </p:cNvPr>
          <p:cNvSpPr txBox="1"/>
          <p:nvPr/>
        </p:nvSpPr>
        <p:spPr>
          <a:xfrm>
            <a:off x="22593386" y="25310825"/>
            <a:ext cx="930063" cy="307777"/>
          </a:xfrm>
          <a:prstGeom prst="rect">
            <a:avLst/>
          </a:prstGeom>
          <a:noFill/>
        </p:spPr>
        <p:txBody>
          <a:bodyPr wrap="none" rtlCol="0">
            <a:spAutoFit/>
          </a:bodyPr>
          <a:lstStyle/>
          <a:p>
            <a:r>
              <a:rPr lang="en-US" sz="1400" b="1" dirty="0"/>
              <a:t>Weight 3</a:t>
            </a:r>
          </a:p>
        </p:txBody>
      </p:sp>
      <p:sp>
        <p:nvSpPr>
          <p:cNvPr id="79" name="TextBox 78">
            <a:extLst>
              <a:ext uri="{FF2B5EF4-FFF2-40B4-BE49-F238E27FC236}">
                <a16:creationId xmlns:a16="http://schemas.microsoft.com/office/drawing/2014/main" id="{6E832229-70D7-58A1-55D3-226A2DB25927}"/>
              </a:ext>
            </a:extLst>
          </p:cNvPr>
          <p:cNvSpPr txBox="1"/>
          <p:nvPr/>
        </p:nvSpPr>
        <p:spPr>
          <a:xfrm>
            <a:off x="22593386" y="25558818"/>
            <a:ext cx="930063" cy="307777"/>
          </a:xfrm>
          <a:prstGeom prst="rect">
            <a:avLst/>
          </a:prstGeom>
          <a:noFill/>
        </p:spPr>
        <p:txBody>
          <a:bodyPr wrap="none" rtlCol="0">
            <a:spAutoFit/>
          </a:bodyPr>
          <a:lstStyle/>
          <a:p>
            <a:r>
              <a:rPr lang="en-US" sz="1400" b="1" dirty="0"/>
              <a:t>Weight 4</a:t>
            </a:r>
          </a:p>
        </p:txBody>
      </p:sp>
      <p:sp>
        <p:nvSpPr>
          <p:cNvPr id="80" name="TextBox 79">
            <a:extLst>
              <a:ext uri="{FF2B5EF4-FFF2-40B4-BE49-F238E27FC236}">
                <a16:creationId xmlns:a16="http://schemas.microsoft.com/office/drawing/2014/main" id="{418D2A5C-8149-2D01-A152-664EFEAADBBB}"/>
              </a:ext>
            </a:extLst>
          </p:cNvPr>
          <p:cNvSpPr txBox="1"/>
          <p:nvPr/>
        </p:nvSpPr>
        <p:spPr>
          <a:xfrm>
            <a:off x="15797505" y="21874244"/>
            <a:ext cx="381836" cy="295017"/>
          </a:xfrm>
          <a:prstGeom prst="rect">
            <a:avLst/>
          </a:prstGeom>
          <a:noFill/>
        </p:spPr>
        <p:txBody>
          <a:bodyPr wrap="none" rtlCol="0">
            <a:spAutoFit/>
          </a:bodyPr>
          <a:lstStyle/>
          <a:p>
            <a:r>
              <a:rPr lang="en-US" dirty="0"/>
              <a:t> -1</a:t>
            </a:r>
          </a:p>
        </p:txBody>
      </p:sp>
      <p:sp>
        <p:nvSpPr>
          <p:cNvPr id="87" name="TextBox 86">
            <a:extLst>
              <a:ext uri="{FF2B5EF4-FFF2-40B4-BE49-F238E27FC236}">
                <a16:creationId xmlns:a16="http://schemas.microsoft.com/office/drawing/2014/main" id="{DE90A302-3B04-6C11-03EB-38F454709B28}"/>
              </a:ext>
            </a:extLst>
          </p:cNvPr>
          <p:cNvSpPr txBox="1"/>
          <p:nvPr/>
        </p:nvSpPr>
        <p:spPr>
          <a:xfrm>
            <a:off x="15797505" y="22104659"/>
            <a:ext cx="381836" cy="295017"/>
          </a:xfrm>
          <a:prstGeom prst="rect">
            <a:avLst/>
          </a:prstGeom>
          <a:noFill/>
        </p:spPr>
        <p:txBody>
          <a:bodyPr wrap="none" rtlCol="0">
            <a:spAutoFit/>
          </a:bodyPr>
          <a:lstStyle/>
          <a:p>
            <a:r>
              <a:rPr lang="en-US" dirty="0"/>
              <a:t> -2</a:t>
            </a:r>
          </a:p>
        </p:txBody>
      </p:sp>
      <p:sp>
        <p:nvSpPr>
          <p:cNvPr id="88" name="TextBox 87">
            <a:extLst>
              <a:ext uri="{FF2B5EF4-FFF2-40B4-BE49-F238E27FC236}">
                <a16:creationId xmlns:a16="http://schemas.microsoft.com/office/drawing/2014/main" id="{88A615E1-FFBF-4087-DFC2-A736B78E730C}"/>
              </a:ext>
            </a:extLst>
          </p:cNvPr>
          <p:cNvSpPr txBox="1"/>
          <p:nvPr/>
        </p:nvSpPr>
        <p:spPr>
          <a:xfrm>
            <a:off x="15797505" y="22335074"/>
            <a:ext cx="381836" cy="295017"/>
          </a:xfrm>
          <a:prstGeom prst="rect">
            <a:avLst/>
          </a:prstGeom>
          <a:noFill/>
        </p:spPr>
        <p:txBody>
          <a:bodyPr wrap="none" rtlCol="0">
            <a:spAutoFit/>
          </a:bodyPr>
          <a:lstStyle/>
          <a:p>
            <a:r>
              <a:rPr lang="en-US" dirty="0"/>
              <a:t> -3</a:t>
            </a:r>
          </a:p>
        </p:txBody>
      </p:sp>
      <p:sp>
        <p:nvSpPr>
          <p:cNvPr id="90" name="TextBox 89">
            <a:extLst>
              <a:ext uri="{FF2B5EF4-FFF2-40B4-BE49-F238E27FC236}">
                <a16:creationId xmlns:a16="http://schemas.microsoft.com/office/drawing/2014/main" id="{ADDD370E-8113-E2F6-9371-37FD67C02474}"/>
              </a:ext>
            </a:extLst>
          </p:cNvPr>
          <p:cNvSpPr txBox="1"/>
          <p:nvPr/>
        </p:nvSpPr>
        <p:spPr>
          <a:xfrm>
            <a:off x="15797505" y="22565491"/>
            <a:ext cx="381836" cy="295017"/>
          </a:xfrm>
          <a:prstGeom prst="rect">
            <a:avLst/>
          </a:prstGeom>
          <a:noFill/>
        </p:spPr>
        <p:txBody>
          <a:bodyPr wrap="none" rtlCol="0">
            <a:spAutoFit/>
          </a:bodyPr>
          <a:lstStyle/>
          <a:p>
            <a:r>
              <a:rPr lang="en-US" dirty="0"/>
              <a:t> -4</a:t>
            </a:r>
          </a:p>
        </p:txBody>
      </p:sp>
      <p:sp>
        <p:nvSpPr>
          <p:cNvPr id="91" name="TextBox 90">
            <a:extLst>
              <a:ext uri="{FF2B5EF4-FFF2-40B4-BE49-F238E27FC236}">
                <a16:creationId xmlns:a16="http://schemas.microsoft.com/office/drawing/2014/main" id="{9B3B9B44-5928-7D7A-F532-1891F4491EBA}"/>
              </a:ext>
            </a:extLst>
          </p:cNvPr>
          <p:cNvSpPr txBox="1"/>
          <p:nvPr/>
        </p:nvSpPr>
        <p:spPr>
          <a:xfrm>
            <a:off x="15797505" y="22790294"/>
            <a:ext cx="381836" cy="295017"/>
          </a:xfrm>
          <a:prstGeom prst="rect">
            <a:avLst/>
          </a:prstGeom>
          <a:noFill/>
        </p:spPr>
        <p:txBody>
          <a:bodyPr wrap="none" rtlCol="0">
            <a:spAutoFit/>
          </a:bodyPr>
          <a:lstStyle/>
          <a:p>
            <a:r>
              <a:rPr lang="en-US" dirty="0"/>
              <a:t> -5</a:t>
            </a:r>
          </a:p>
        </p:txBody>
      </p:sp>
      <p:sp>
        <p:nvSpPr>
          <p:cNvPr id="92" name="TextBox 91">
            <a:extLst>
              <a:ext uri="{FF2B5EF4-FFF2-40B4-BE49-F238E27FC236}">
                <a16:creationId xmlns:a16="http://schemas.microsoft.com/office/drawing/2014/main" id="{D5E0DEAF-B471-B71A-4787-AA4E8211424B}"/>
              </a:ext>
            </a:extLst>
          </p:cNvPr>
          <p:cNvSpPr txBox="1"/>
          <p:nvPr/>
        </p:nvSpPr>
        <p:spPr>
          <a:xfrm>
            <a:off x="15797505" y="23026319"/>
            <a:ext cx="381836" cy="295017"/>
          </a:xfrm>
          <a:prstGeom prst="rect">
            <a:avLst/>
          </a:prstGeom>
          <a:noFill/>
        </p:spPr>
        <p:txBody>
          <a:bodyPr wrap="none" rtlCol="0">
            <a:spAutoFit/>
          </a:bodyPr>
          <a:lstStyle/>
          <a:p>
            <a:r>
              <a:rPr lang="en-US" dirty="0"/>
              <a:t> -6</a:t>
            </a:r>
          </a:p>
        </p:txBody>
      </p:sp>
      <p:sp>
        <p:nvSpPr>
          <p:cNvPr id="93" name="TextBox 92">
            <a:extLst>
              <a:ext uri="{FF2B5EF4-FFF2-40B4-BE49-F238E27FC236}">
                <a16:creationId xmlns:a16="http://schemas.microsoft.com/office/drawing/2014/main" id="{C8510065-9D94-E458-5229-204A4BF15C11}"/>
              </a:ext>
            </a:extLst>
          </p:cNvPr>
          <p:cNvSpPr txBox="1"/>
          <p:nvPr/>
        </p:nvSpPr>
        <p:spPr>
          <a:xfrm>
            <a:off x="15797505" y="23245514"/>
            <a:ext cx="381836" cy="295017"/>
          </a:xfrm>
          <a:prstGeom prst="rect">
            <a:avLst/>
          </a:prstGeom>
          <a:noFill/>
        </p:spPr>
        <p:txBody>
          <a:bodyPr wrap="none" rtlCol="0">
            <a:spAutoFit/>
          </a:bodyPr>
          <a:lstStyle/>
          <a:p>
            <a:r>
              <a:rPr lang="en-US" dirty="0"/>
              <a:t> -7</a:t>
            </a:r>
          </a:p>
        </p:txBody>
      </p:sp>
      <p:sp>
        <p:nvSpPr>
          <p:cNvPr id="94" name="TextBox 93">
            <a:extLst>
              <a:ext uri="{FF2B5EF4-FFF2-40B4-BE49-F238E27FC236}">
                <a16:creationId xmlns:a16="http://schemas.microsoft.com/office/drawing/2014/main" id="{3BFA7C92-810E-7967-E5EB-D32AE47DB29E}"/>
              </a:ext>
            </a:extLst>
          </p:cNvPr>
          <p:cNvSpPr txBox="1"/>
          <p:nvPr/>
        </p:nvSpPr>
        <p:spPr>
          <a:xfrm>
            <a:off x="15797505" y="23470320"/>
            <a:ext cx="381836" cy="295017"/>
          </a:xfrm>
          <a:prstGeom prst="rect">
            <a:avLst/>
          </a:prstGeom>
          <a:noFill/>
        </p:spPr>
        <p:txBody>
          <a:bodyPr wrap="none" rtlCol="0">
            <a:spAutoFit/>
          </a:bodyPr>
          <a:lstStyle/>
          <a:p>
            <a:r>
              <a:rPr lang="en-US" dirty="0"/>
              <a:t> -8</a:t>
            </a:r>
          </a:p>
        </p:txBody>
      </p:sp>
      <p:sp>
        <p:nvSpPr>
          <p:cNvPr id="95" name="TextBox 94">
            <a:extLst>
              <a:ext uri="{FF2B5EF4-FFF2-40B4-BE49-F238E27FC236}">
                <a16:creationId xmlns:a16="http://schemas.microsoft.com/office/drawing/2014/main" id="{32763000-19C3-0B11-E861-EDBC91EA5935}"/>
              </a:ext>
            </a:extLst>
          </p:cNvPr>
          <p:cNvSpPr txBox="1"/>
          <p:nvPr/>
        </p:nvSpPr>
        <p:spPr>
          <a:xfrm>
            <a:off x="15797505" y="23706348"/>
            <a:ext cx="381836" cy="295017"/>
          </a:xfrm>
          <a:prstGeom prst="rect">
            <a:avLst/>
          </a:prstGeom>
          <a:noFill/>
        </p:spPr>
        <p:txBody>
          <a:bodyPr wrap="none" rtlCol="0">
            <a:spAutoFit/>
          </a:bodyPr>
          <a:lstStyle/>
          <a:p>
            <a:r>
              <a:rPr lang="en-US" dirty="0"/>
              <a:t> -9</a:t>
            </a:r>
          </a:p>
        </p:txBody>
      </p:sp>
      <p:sp>
        <p:nvSpPr>
          <p:cNvPr id="96" name="TextBox 95">
            <a:extLst>
              <a:ext uri="{FF2B5EF4-FFF2-40B4-BE49-F238E27FC236}">
                <a16:creationId xmlns:a16="http://schemas.microsoft.com/office/drawing/2014/main" id="{C16F9E1B-871F-4DE0-E315-C6B867C30233}"/>
              </a:ext>
            </a:extLst>
          </p:cNvPr>
          <p:cNvSpPr txBox="1"/>
          <p:nvPr/>
        </p:nvSpPr>
        <p:spPr>
          <a:xfrm>
            <a:off x="15749415" y="24161153"/>
            <a:ext cx="429926" cy="295017"/>
          </a:xfrm>
          <a:prstGeom prst="rect">
            <a:avLst/>
          </a:prstGeom>
          <a:noFill/>
        </p:spPr>
        <p:txBody>
          <a:bodyPr wrap="none" rtlCol="0">
            <a:spAutoFit/>
          </a:bodyPr>
          <a:lstStyle/>
          <a:p>
            <a:r>
              <a:rPr lang="en-US" dirty="0"/>
              <a:t>-10</a:t>
            </a:r>
          </a:p>
        </p:txBody>
      </p:sp>
      <p:sp>
        <p:nvSpPr>
          <p:cNvPr id="97" name="TextBox 96">
            <a:extLst>
              <a:ext uri="{FF2B5EF4-FFF2-40B4-BE49-F238E27FC236}">
                <a16:creationId xmlns:a16="http://schemas.microsoft.com/office/drawing/2014/main" id="{6B4AE90D-26D0-5758-1B7F-CE97670D3923}"/>
              </a:ext>
            </a:extLst>
          </p:cNvPr>
          <p:cNvSpPr txBox="1"/>
          <p:nvPr/>
        </p:nvSpPr>
        <p:spPr>
          <a:xfrm>
            <a:off x="15749415" y="23931559"/>
            <a:ext cx="429926" cy="295017"/>
          </a:xfrm>
          <a:prstGeom prst="rect">
            <a:avLst/>
          </a:prstGeom>
          <a:noFill/>
        </p:spPr>
        <p:txBody>
          <a:bodyPr wrap="none" rtlCol="0">
            <a:spAutoFit/>
          </a:bodyPr>
          <a:lstStyle/>
          <a:p>
            <a:r>
              <a:rPr lang="en-US" dirty="0"/>
              <a:t>-11</a:t>
            </a:r>
          </a:p>
        </p:txBody>
      </p:sp>
      <p:sp>
        <p:nvSpPr>
          <p:cNvPr id="98" name="TextBox 97">
            <a:extLst>
              <a:ext uri="{FF2B5EF4-FFF2-40B4-BE49-F238E27FC236}">
                <a16:creationId xmlns:a16="http://schemas.microsoft.com/office/drawing/2014/main" id="{75DF8741-A212-4E3F-2104-9D80DB95D8E9}"/>
              </a:ext>
            </a:extLst>
          </p:cNvPr>
          <p:cNvSpPr txBox="1"/>
          <p:nvPr/>
        </p:nvSpPr>
        <p:spPr>
          <a:xfrm>
            <a:off x="15749415" y="24393882"/>
            <a:ext cx="429926" cy="295017"/>
          </a:xfrm>
          <a:prstGeom prst="rect">
            <a:avLst/>
          </a:prstGeom>
          <a:noFill/>
        </p:spPr>
        <p:txBody>
          <a:bodyPr wrap="none" rtlCol="0">
            <a:spAutoFit/>
          </a:bodyPr>
          <a:lstStyle/>
          <a:p>
            <a:r>
              <a:rPr lang="en-US" dirty="0"/>
              <a:t>-12</a:t>
            </a:r>
          </a:p>
        </p:txBody>
      </p:sp>
      <p:sp>
        <p:nvSpPr>
          <p:cNvPr id="99" name="TextBox 98">
            <a:extLst>
              <a:ext uri="{FF2B5EF4-FFF2-40B4-BE49-F238E27FC236}">
                <a16:creationId xmlns:a16="http://schemas.microsoft.com/office/drawing/2014/main" id="{964D98E8-A780-5BDC-307C-04B73D3881E4}"/>
              </a:ext>
            </a:extLst>
          </p:cNvPr>
          <p:cNvSpPr txBox="1"/>
          <p:nvPr/>
        </p:nvSpPr>
        <p:spPr>
          <a:xfrm>
            <a:off x="15749415" y="24622397"/>
            <a:ext cx="429926" cy="295017"/>
          </a:xfrm>
          <a:prstGeom prst="rect">
            <a:avLst/>
          </a:prstGeom>
          <a:noFill/>
        </p:spPr>
        <p:txBody>
          <a:bodyPr wrap="none" rtlCol="0">
            <a:spAutoFit/>
          </a:bodyPr>
          <a:lstStyle/>
          <a:p>
            <a:r>
              <a:rPr lang="en-US" dirty="0"/>
              <a:t>-13</a:t>
            </a:r>
          </a:p>
        </p:txBody>
      </p:sp>
      <p:sp>
        <p:nvSpPr>
          <p:cNvPr id="101" name="TextBox 100">
            <a:extLst>
              <a:ext uri="{FF2B5EF4-FFF2-40B4-BE49-F238E27FC236}">
                <a16:creationId xmlns:a16="http://schemas.microsoft.com/office/drawing/2014/main" id="{1E9DCBE0-BE4F-F5E3-0799-3BA42A3D683D}"/>
              </a:ext>
            </a:extLst>
          </p:cNvPr>
          <p:cNvSpPr txBox="1"/>
          <p:nvPr/>
        </p:nvSpPr>
        <p:spPr>
          <a:xfrm>
            <a:off x="15807123" y="21643214"/>
            <a:ext cx="372218" cy="295017"/>
          </a:xfrm>
          <a:prstGeom prst="rect">
            <a:avLst/>
          </a:prstGeom>
          <a:noFill/>
        </p:spPr>
        <p:txBody>
          <a:bodyPr wrap="none" rtlCol="0">
            <a:spAutoFit/>
          </a:bodyPr>
          <a:lstStyle/>
          <a:p>
            <a:r>
              <a:rPr lang="en-US" dirty="0"/>
              <a:t>  1</a:t>
            </a:r>
          </a:p>
        </p:txBody>
      </p:sp>
      <p:sp>
        <p:nvSpPr>
          <p:cNvPr id="102" name="TextBox 101">
            <a:extLst>
              <a:ext uri="{FF2B5EF4-FFF2-40B4-BE49-F238E27FC236}">
                <a16:creationId xmlns:a16="http://schemas.microsoft.com/office/drawing/2014/main" id="{DB8B2092-1E8D-F974-F31B-DF1B821778F4}"/>
              </a:ext>
            </a:extLst>
          </p:cNvPr>
          <p:cNvSpPr txBox="1"/>
          <p:nvPr/>
        </p:nvSpPr>
        <p:spPr>
          <a:xfrm>
            <a:off x="15805521" y="21416016"/>
            <a:ext cx="373820" cy="295017"/>
          </a:xfrm>
          <a:prstGeom prst="rect">
            <a:avLst/>
          </a:prstGeom>
          <a:noFill/>
        </p:spPr>
        <p:txBody>
          <a:bodyPr wrap="none" rtlCol="0">
            <a:spAutoFit/>
          </a:bodyPr>
          <a:lstStyle/>
          <a:p>
            <a:r>
              <a:rPr lang="en-US" dirty="0"/>
              <a:t>10</a:t>
            </a:r>
          </a:p>
        </p:txBody>
      </p:sp>
      <p:sp>
        <p:nvSpPr>
          <p:cNvPr id="103" name="TextBox 102">
            <a:extLst>
              <a:ext uri="{FF2B5EF4-FFF2-40B4-BE49-F238E27FC236}">
                <a16:creationId xmlns:a16="http://schemas.microsoft.com/office/drawing/2014/main" id="{B926123A-948E-7002-B2CB-775FDC1F0EFD}"/>
              </a:ext>
            </a:extLst>
          </p:cNvPr>
          <p:cNvSpPr txBox="1"/>
          <p:nvPr/>
        </p:nvSpPr>
        <p:spPr>
          <a:xfrm>
            <a:off x="15710943" y="21175729"/>
            <a:ext cx="468398" cy="295017"/>
          </a:xfrm>
          <a:prstGeom prst="rect">
            <a:avLst/>
          </a:prstGeom>
          <a:noFill/>
        </p:spPr>
        <p:txBody>
          <a:bodyPr wrap="none" rtlCol="0">
            <a:spAutoFit/>
          </a:bodyPr>
          <a:lstStyle/>
          <a:p>
            <a:r>
              <a:rPr lang="en-US" dirty="0"/>
              <a:t>100</a:t>
            </a:r>
          </a:p>
        </p:txBody>
      </p:sp>
      <p:sp>
        <p:nvSpPr>
          <p:cNvPr id="104" name="Rectangle 103">
            <a:extLst>
              <a:ext uri="{FF2B5EF4-FFF2-40B4-BE49-F238E27FC236}">
                <a16:creationId xmlns:a16="http://schemas.microsoft.com/office/drawing/2014/main" id="{4510E93A-7414-9617-65DA-6767A409AD10}"/>
              </a:ext>
            </a:extLst>
          </p:cNvPr>
          <p:cNvSpPr/>
          <p:nvPr/>
        </p:nvSpPr>
        <p:spPr>
          <a:xfrm>
            <a:off x="23274422" y="21298037"/>
            <a:ext cx="307777" cy="32920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TextBox 130">
            <a:extLst>
              <a:ext uri="{FF2B5EF4-FFF2-40B4-BE49-F238E27FC236}">
                <a16:creationId xmlns:a16="http://schemas.microsoft.com/office/drawing/2014/main" id="{29FF1A33-50BD-BB86-9E32-BE94CA058DC8}"/>
              </a:ext>
            </a:extLst>
          </p:cNvPr>
          <p:cNvSpPr txBox="1"/>
          <p:nvPr/>
        </p:nvSpPr>
        <p:spPr>
          <a:xfrm>
            <a:off x="22967417" y="21888415"/>
            <a:ext cx="381836" cy="295017"/>
          </a:xfrm>
          <a:prstGeom prst="rect">
            <a:avLst/>
          </a:prstGeom>
          <a:noFill/>
        </p:spPr>
        <p:txBody>
          <a:bodyPr wrap="none" rtlCol="0">
            <a:spAutoFit/>
          </a:bodyPr>
          <a:lstStyle/>
          <a:p>
            <a:r>
              <a:rPr lang="en-US" dirty="0"/>
              <a:t> -1</a:t>
            </a:r>
          </a:p>
        </p:txBody>
      </p:sp>
      <p:sp>
        <p:nvSpPr>
          <p:cNvPr id="133" name="TextBox 132">
            <a:extLst>
              <a:ext uri="{FF2B5EF4-FFF2-40B4-BE49-F238E27FC236}">
                <a16:creationId xmlns:a16="http://schemas.microsoft.com/office/drawing/2014/main" id="{DDB46087-0A02-DEB4-693E-0A5B9BB24FBC}"/>
              </a:ext>
            </a:extLst>
          </p:cNvPr>
          <p:cNvSpPr txBox="1"/>
          <p:nvPr/>
        </p:nvSpPr>
        <p:spPr>
          <a:xfrm>
            <a:off x="22967417" y="22118830"/>
            <a:ext cx="381836" cy="295017"/>
          </a:xfrm>
          <a:prstGeom prst="rect">
            <a:avLst/>
          </a:prstGeom>
          <a:noFill/>
        </p:spPr>
        <p:txBody>
          <a:bodyPr wrap="none" rtlCol="0">
            <a:spAutoFit/>
          </a:bodyPr>
          <a:lstStyle/>
          <a:p>
            <a:r>
              <a:rPr lang="en-US" dirty="0"/>
              <a:t> -2</a:t>
            </a:r>
          </a:p>
        </p:txBody>
      </p:sp>
      <p:sp>
        <p:nvSpPr>
          <p:cNvPr id="134" name="TextBox 133">
            <a:extLst>
              <a:ext uri="{FF2B5EF4-FFF2-40B4-BE49-F238E27FC236}">
                <a16:creationId xmlns:a16="http://schemas.microsoft.com/office/drawing/2014/main" id="{3B1F84AC-0FEE-0226-4945-3034D32C9C1D}"/>
              </a:ext>
            </a:extLst>
          </p:cNvPr>
          <p:cNvSpPr txBox="1"/>
          <p:nvPr/>
        </p:nvSpPr>
        <p:spPr>
          <a:xfrm>
            <a:off x="22967417" y="22349245"/>
            <a:ext cx="381836" cy="295017"/>
          </a:xfrm>
          <a:prstGeom prst="rect">
            <a:avLst/>
          </a:prstGeom>
          <a:noFill/>
        </p:spPr>
        <p:txBody>
          <a:bodyPr wrap="none" rtlCol="0">
            <a:spAutoFit/>
          </a:bodyPr>
          <a:lstStyle/>
          <a:p>
            <a:r>
              <a:rPr lang="en-US" dirty="0"/>
              <a:t> -3</a:t>
            </a:r>
          </a:p>
        </p:txBody>
      </p:sp>
      <p:sp>
        <p:nvSpPr>
          <p:cNvPr id="136" name="TextBox 135">
            <a:extLst>
              <a:ext uri="{FF2B5EF4-FFF2-40B4-BE49-F238E27FC236}">
                <a16:creationId xmlns:a16="http://schemas.microsoft.com/office/drawing/2014/main" id="{4F518E96-D7AD-F49B-4C42-3275603513B9}"/>
              </a:ext>
            </a:extLst>
          </p:cNvPr>
          <p:cNvSpPr txBox="1"/>
          <p:nvPr/>
        </p:nvSpPr>
        <p:spPr>
          <a:xfrm>
            <a:off x="22967417" y="22579662"/>
            <a:ext cx="381836" cy="295017"/>
          </a:xfrm>
          <a:prstGeom prst="rect">
            <a:avLst/>
          </a:prstGeom>
          <a:noFill/>
        </p:spPr>
        <p:txBody>
          <a:bodyPr wrap="none" rtlCol="0">
            <a:spAutoFit/>
          </a:bodyPr>
          <a:lstStyle/>
          <a:p>
            <a:r>
              <a:rPr lang="en-US" dirty="0"/>
              <a:t> -4</a:t>
            </a:r>
          </a:p>
        </p:txBody>
      </p:sp>
      <p:sp>
        <p:nvSpPr>
          <p:cNvPr id="137" name="TextBox 136">
            <a:extLst>
              <a:ext uri="{FF2B5EF4-FFF2-40B4-BE49-F238E27FC236}">
                <a16:creationId xmlns:a16="http://schemas.microsoft.com/office/drawing/2014/main" id="{267737A8-C0A8-EF09-C010-E02381FFE3E1}"/>
              </a:ext>
            </a:extLst>
          </p:cNvPr>
          <p:cNvSpPr txBox="1"/>
          <p:nvPr/>
        </p:nvSpPr>
        <p:spPr>
          <a:xfrm>
            <a:off x="22967417" y="22804465"/>
            <a:ext cx="381836" cy="295017"/>
          </a:xfrm>
          <a:prstGeom prst="rect">
            <a:avLst/>
          </a:prstGeom>
          <a:noFill/>
        </p:spPr>
        <p:txBody>
          <a:bodyPr wrap="none" rtlCol="0">
            <a:spAutoFit/>
          </a:bodyPr>
          <a:lstStyle/>
          <a:p>
            <a:r>
              <a:rPr lang="en-US" dirty="0"/>
              <a:t> -5</a:t>
            </a:r>
          </a:p>
        </p:txBody>
      </p:sp>
      <p:sp>
        <p:nvSpPr>
          <p:cNvPr id="138" name="TextBox 137">
            <a:extLst>
              <a:ext uri="{FF2B5EF4-FFF2-40B4-BE49-F238E27FC236}">
                <a16:creationId xmlns:a16="http://schemas.microsoft.com/office/drawing/2014/main" id="{76672284-7842-40B2-CFA2-F9E1AEBDE360}"/>
              </a:ext>
            </a:extLst>
          </p:cNvPr>
          <p:cNvSpPr txBox="1"/>
          <p:nvPr/>
        </p:nvSpPr>
        <p:spPr>
          <a:xfrm>
            <a:off x="22967417" y="23040490"/>
            <a:ext cx="381836" cy="295017"/>
          </a:xfrm>
          <a:prstGeom prst="rect">
            <a:avLst/>
          </a:prstGeom>
          <a:noFill/>
        </p:spPr>
        <p:txBody>
          <a:bodyPr wrap="none" rtlCol="0">
            <a:spAutoFit/>
          </a:bodyPr>
          <a:lstStyle/>
          <a:p>
            <a:r>
              <a:rPr lang="en-US" dirty="0"/>
              <a:t> -6</a:t>
            </a:r>
          </a:p>
        </p:txBody>
      </p:sp>
      <p:sp>
        <p:nvSpPr>
          <p:cNvPr id="139" name="TextBox 138">
            <a:extLst>
              <a:ext uri="{FF2B5EF4-FFF2-40B4-BE49-F238E27FC236}">
                <a16:creationId xmlns:a16="http://schemas.microsoft.com/office/drawing/2014/main" id="{9D795A51-8B9F-C0B6-9023-E5FD0C306429}"/>
              </a:ext>
            </a:extLst>
          </p:cNvPr>
          <p:cNvSpPr txBox="1"/>
          <p:nvPr/>
        </p:nvSpPr>
        <p:spPr>
          <a:xfrm>
            <a:off x="22967417" y="23259685"/>
            <a:ext cx="381836" cy="295017"/>
          </a:xfrm>
          <a:prstGeom prst="rect">
            <a:avLst/>
          </a:prstGeom>
          <a:noFill/>
        </p:spPr>
        <p:txBody>
          <a:bodyPr wrap="none" rtlCol="0">
            <a:spAutoFit/>
          </a:bodyPr>
          <a:lstStyle/>
          <a:p>
            <a:r>
              <a:rPr lang="en-US" dirty="0"/>
              <a:t> -7</a:t>
            </a:r>
          </a:p>
        </p:txBody>
      </p:sp>
      <p:sp>
        <p:nvSpPr>
          <p:cNvPr id="140" name="TextBox 139">
            <a:extLst>
              <a:ext uri="{FF2B5EF4-FFF2-40B4-BE49-F238E27FC236}">
                <a16:creationId xmlns:a16="http://schemas.microsoft.com/office/drawing/2014/main" id="{43C1C77B-C7BB-84E6-8D00-22A5793F4038}"/>
              </a:ext>
            </a:extLst>
          </p:cNvPr>
          <p:cNvSpPr txBox="1"/>
          <p:nvPr/>
        </p:nvSpPr>
        <p:spPr>
          <a:xfrm>
            <a:off x="22967417" y="23484491"/>
            <a:ext cx="381836" cy="295017"/>
          </a:xfrm>
          <a:prstGeom prst="rect">
            <a:avLst/>
          </a:prstGeom>
          <a:noFill/>
        </p:spPr>
        <p:txBody>
          <a:bodyPr wrap="none" rtlCol="0">
            <a:spAutoFit/>
          </a:bodyPr>
          <a:lstStyle/>
          <a:p>
            <a:r>
              <a:rPr lang="en-US" dirty="0"/>
              <a:t> -8</a:t>
            </a:r>
          </a:p>
        </p:txBody>
      </p:sp>
      <p:sp>
        <p:nvSpPr>
          <p:cNvPr id="141" name="TextBox 140">
            <a:extLst>
              <a:ext uri="{FF2B5EF4-FFF2-40B4-BE49-F238E27FC236}">
                <a16:creationId xmlns:a16="http://schemas.microsoft.com/office/drawing/2014/main" id="{D7968CCD-D0CA-6003-C253-773FE52977A5}"/>
              </a:ext>
            </a:extLst>
          </p:cNvPr>
          <p:cNvSpPr txBox="1"/>
          <p:nvPr/>
        </p:nvSpPr>
        <p:spPr>
          <a:xfrm>
            <a:off x="22967417" y="23720519"/>
            <a:ext cx="381836" cy="295017"/>
          </a:xfrm>
          <a:prstGeom prst="rect">
            <a:avLst/>
          </a:prstGeom>
          <a:noFill/>
        </p:spPr>
        <p:txBody>
          <a:bodyPr wrap="none" rtlCol="0">
            <a:spAutoFit/>
          </a:bodyPr>
          <a:lstStyle/>
          <a:p>
            <a:r>
              <a:rPr lang="en-US" dirty="0"/>
              <a:t> -9</a:t>
            </a:r>
          </a:p>
        </p:txBody>
      </p:sp>
      <p:sp>
        <p:nvSpPr>
          <p:cNvPr id="143" name="TextBox 142">
            <a:extLst>
              <a:ext uri="{FF2B5EF4-FFF2-40B4-BE49-F238E27FC236}">
                <a16:creationId xmlns:a16="http://schemas.microsoft.com/office/drawing/2014/main" id="{42493253-72D5-EC69-9444-52FD55DFD554}"/>
              </a:ext>
            </a:extLst>
          </p:cNvPr>
          <p:cNvSpPr txBox="1"/>
          <p:nvPr/>
        </p:nvSpPr>
        <p:spPr>
          <a:xfrm>
            <a:off x="22919327" y="24175324"/>
            <a:ext cx="429926" cy="295017"/>
          </a:xfrm>
          <a:prstGeom prst="rect">
            <a:avLst/>
          </a:prstGeom>
          <a:noFill/>
        </p:spPr>
        <p:txBody>
          <a:bodyPr wrap="none" rtlCol="0">
            <a:spAutoFit/>
          </a:bodyPr>
          <a:lstStyle/>
          <a:p>
            <a:r>
              <a:rPr lang="en-US" dirty="0"/>
              <a:t>-10</a:t>
            </a:r>
          </a:p>
        </p:txBody>
      </p:sp>
      <p:sp>
        <p:nvSpPr>
          <p:cNvPr id="144" name="TextBox 143">
            <a:extLst>
              <a:ext uri="{FF2B5EF4-FFF2-40B4-BE49-F238E27FC236}">
                <a16:creationId xmlns:a16="http://schemas.microsoft.com/office/drawing/2014/main" id="{49E84ACA-81F8-D6E7-A00A-533440F14A7C}"/>
              </a:ext>
            </a:extLst>
          </p:cNvPr>
          <p:cNvSpPr txBox="1"/>
          <p:nvPr/>
        </p:nvSpPr>
        <p:spPr>
          <a:xfrm>
            <a:off x="22919327" y="23945730"/>
            <a:ext cx="429926" cy="295017"/>
          </a:xfrm>
          <a:prstGeom prst="rect">
            <a:avLst/>
          </a:prstGeom>
          <a:noFill/>
        </p:spPr>
        <p:txBody>
          <a:bodyPr wrap="none" rtlCol="0">
            <a:spAutoFit/>
          </a:bodyPr>
          <a:lstStyle/>
          <a:p>
            <a:r>
              <a:rPr lang="en-US" dirty="0"/>
              <a:t>-11</a:t>
            </a:r>
          </a:p>
        </p:txBody>
      </p:sp>
      <p:sp>
        <p:nvSpPr>
          <p:cNvPr id="145" name="TextBox 144">
            <a:extLst>
              <a:ext uri="{FF2B5EF4-FFF2-40B4-BE49-F238E27FC236}">
                <a16:creationId xmlns:a16="http://schemas.microsoft.com/office/drawing/2014/main" id="{04957225-FE39-3338-5C8B-F337BDE273A2}"/>
              </a:ext>
            </a:extLst>
          </p:cNvPr>
          <p:cNvSpPr txBox="1"/>
          <p:nvPr/>
        </p:nvSpPr>
        <p:spPr>
          <a:xfrm>
            <a:off x="22919327" y="24408053"/>
            <a:ext cx="429926" cy="295017"/>
          </a:xfrm>
          <a:prstGeom prst="rect">
            <a:avLst/>
          </a:prstGeom>
          <a:noFill/>
        </p:spPr>
        <p:txBody>
          <a:bodyPr wrap="none" rtlCol="0">
            <a:spAutoFit/>
          </a:bodyPr>
          <a:lstStyle/>
          <a:p>
            <a:r>
              <a:rPr lang="en-US" dirty="0"/>
              <a:t>-12</a:t>
            </a:r>
          </a:p>
        </p:txBody>
      </p:sp>
      <p:sp>
        <p:nvSpPr>
          <p:cNvPr id="146" name="TextBox 145">
            <a:extLst>
              <a:ext uri="{FF2B5EF4-FFF2-40B4-BE49-F238E27FC236}">
                <a16:creationId xmlns:a16="http://schemas.microsoft.com/office/drawing/2014/main" id="{D035DC04-9236-178A-8782-349BBA0F6E6C}"/>
              </a:ext>
            </a:extLst>
          </p:cNvPr>
          <p:cNvSpPr txBox="1"/>
          <p:nvPr/>
        </p:nvSpPr>
        <p:spPr>
          <a:xfrm>
            <a:off x="22919327" y="24636568"/>
            <a:ext cx="429926" cy="295017"/>
          </a:xfrm>
          <a:prstGeom prst="rect">
            <a:avLst/>
          </a:prstGeom>
          <a:noFill/>
        </p:spPr>
        <p:txBody>
          <a:bodyPr wrap="none" rtlCol="0">
            <a:spAutoFit/>
          </a:bodyPr>
          <a:lstStyle/>
          <a:p>
            <a:r>
              <a:rPr lang="en-US" dirty="0"/>
              <a:t>-13</a:t>
            </a:r>
          </a:p>
        </p:txBody>
      </p:sp>
      <p:sp>
        <p:nvSpPr>
          <p:cNvPr id="147" name="TextBox 146">
            <a:extLst>
              <a:ext uri="{FF2B5EF4-FFF2-40B4-BE49-F238E27FC236}">
                <a16:creationId xmlns:a16="http://schemas.microsoft.com/office/drawing/2014/main" id="{0976107A-FC7E-DEAE-9A6C-2121759AF6E7}"/>
              </a:ext>
            </a:extLst>
          </p:cNvPr>
          <p:cNvSpPr txBox="1"/>
          <p:nvPr/>
        </p:nvSpPr>
        <p:spPr>
          <a:xfrm>
            <a:off x="22977035" y="21657385"/>
            <a:ext cx="372218" cy="295017"/>
          </a:xfrm>
          <a:prstGeom prst="rect">
            <a:avLst/>
          </a:prstGeom>
          <a:noFill/>
        </p:spPr>
        <p:txBody>
          <a:bodyPr wrap="none" rtlCol="0">
            <a:spAutoFit/>
          </a:bodyPr>
          <a:lstStyle/>
          <a:p>
            <a:r>
              <a:rPr lang="en-US" dirty="0"/>
              <a:t>  1</a:t>
            </a:r>
          </a:p>
        </p:txBody>
      </p:sp>
      <p:sp>
        <p:nvSpPr>
          <p:cNvPr id="148" name="TextBox 147">
            <a:extLst>
              <a:ext uri="{FF2B5EF4-FFF2-40B4-BE49-F238E27FC236}">
                <a16:creationId xmlns:a16="http://schemas.microsoft.com/office/drawing/2014/main" id="{96353D56-766D-0F8B-4198-F16A9CABECEF}"/>
              </a:ext>
            </a:extLst>
          </p:cNvPr>
          <p:cNvSpPr txBox="1"/>
          <p:nvPr/>
        </p:nvSpPr>
        <p:spPr>
          <a:xfrm>
            <a:off x="22975433" y="21430187"/>
            <a:ext cx="373820" cy="295017"/>
          </a:xfrm>
          <a:prstGeom prst="rect">
            <a:avLst/>
          </a:prstGeom>
          <a:noFill/>
        </p:spPr>
        <p:txBody>
          <a:bodyPr wrap="none" rtlCol="0">
            <a:spAutoFit/>
          </a:bodyPr>
          <a:lstStyle/>
          <a:p>
            <a:r>
              <a:rPr lang="en-US" dirty="0"/>
              <a:t>10</a:t>
            </a:r>
          </a:p>
        </p:txBody>
      </p:sp>
      <p:sp>
        <p:nvSpPr>
          <p:cNvPr id="149" name="TextBox 148">
            <a:extLst>
              <a:ext uri="{FF2B5EF4-FFF2-40B4-BE49-F238E27FC236}">
                <a16:creationId xmlns:a16="http://schemas.microsoft.com/office/drawing/2014/main" id="{1AB6EB12-96C4-D637-0D90-F900ACD991DA}"/>
              </a:ext>
            </a:extLst>
          </p:cNvPr>
          <p:cNvSpPr txBox="1"/>
          <p:nvPr/>
        </p:nvSpPr>
        <p:spPr>
          <a:xfrm>
            <a:off x="22880855" y="21189900"/>
            <a:ext cx="468398" cy="295017"/>
          </a:xfrm>
          <a:prstGeom prst="rect">
            <a:avLst/>
          </a:prstGeom>
          <a:noFill/>
        </p:spPr>
        <p:txBody>
          <a:bodyPr wrap="none" rtlCol="0">
            <a:spAutoFit/>
          </a:bodyPr>
          <a:lstStyle/>
          <a:p>
            <a:r>
              <a:rPr lang="en-US" dirty="0"/>
              <a:t>100</a:t>
            </a:r>
          </a:p>
        </p:txBody>
      </p:sp>
      <p:graphicFrame>
        <p:nvGraphicFramePr>
          <p:cNvPr id="35" name="Chart 34">
            <a:extLst>
              <a:ext uri="{FF2B5EF4-FFF2-40B4-BE49-F238E27FC236}">
                <a16:creationId xmlns:a16="http://schemas.microsoft.com/office/drawing/2014/main" id="{42B92368-B961-6DDB-73F1-DBFCAA79FD27}"/>
              </a:ext>
            </a:extLst>
          </p:cNvPr>
          <p:cNvGraphicFramePr>
            <a:graphicFrameLocks/>
          </p:cNvGraphicFramePr>
          <p:nvPr>
            <p:extLst>
              <p:ext uri="{D42A27DB-BD31-4B8C-83A1-F6EECF244321}">
                <p14:modId xmlns:p14="http://schemas.microsoft.com/office/powerpoint/2010/main" val="1838311404"/>
              </p:ext>
            </p:extLst>
          </p:nvPr>
        </p:nvGraphicFramePr>
        <p:xfrm>
          <a:off x="23283422" y="20871607"/>
          <a:ext cx="6737537" cy="4042522"/>
        </p:xfrm>
        <a:graphic>
          <a:graphicData uri="http://schemas.openxmlformats.org/drawingml/2006/chart">
            <c:chart xmlns:c="http://schemas.openxmlformats.org/drawingml/2006/chart" xmlns:r="http://schemas.openxmlformats.org/officeDocument/2006/relationships" r:id="rId53"/>
          </a:graphicData>
        </a:graphic>
      </p:graphicFrame>
      <p:sp>
        <p:nvSpPr>
          <p:cNvPr id="150" name="TextBox 149">
            <a:extLst>
              <a:ext uri="{FF2B5EF4-FFF2-40B4-BE49-F238E27FC236}">
                <a16:creationId xmlns:a16="http://schemas.microsoft.com/office/drawing/2014/main" id="{37B25FF3-B454-411B-B39E-FBFE4FACCA99}"/>
              </a:ext>
            </a:extLst>
          </p:cNvPr>
          <p:cNvSpPr txBox="1"/>
          <p:nvPr/>
        </p:nvSpPr>
        <p:spPr>
          <a:xfrm>
            <a:off x="16465580" y="20770117"/>
            <a:ext cx="5873724" cy="584775"/>
          </a:xfrm>
          <a:prstGeom prst="rect">
            <a:avLst/>
          </a:prstGeom>
          <a:noFill/>
        </p:spPr>
        <p:txBody>
          <a:bodyPr wrap="none" rtlCol="0">
            <a:spAutoFit/>
          </a:bodyPr>
          <a:lstStyle/>
          <a:p>
            <a:pPr algn="ctr"/>
            <a:r>
              <a:rPr lang="en-US" sz="1600" b="1" dirty="0">
                <a:solidFill>
                  <a:schemeClr val="tx1"/>
                </a:solidFill>
              </a:rPr>
              <a:t>Log</a:t>
            </a:r>
            <a:r>
              <a:rPr lang="en-US" sz="1600" b="1" baseline="-25000" dirty="0">
                <a:solidFill>
                  <a:schemeClr val="tx1"/>
                </a:solidFill>
              </a:rPr>
              <a:t>10</a:t>
            </a:r>
            <a:r>
              <a:rPr lang="en-US" sz="1600" b="1" dirty="0">
                <a:solidFill>
                  <a:schemeClr val="tx1"/>
                </a:solidFill>
              </a:rPr>
              <a:t> LSE of Weight Permutations for Network Ranked 1</a:t>
            </a:r>
            <a:r>
              <a:rPr lang="en-US" sz="1600" b="1" baseline="30000" dirty="0">
                <a:solidFill>
                  <a:schemeClr val="tx1"/>
                </a:solidFill>
              </a:rPr>
              <a:t>st</a:t>
            </a:r>
            <a:r>
              <a:rPr lang="en-US" sz="1600" b="1" dirty="0">
                <a:solidFill>
                  <a:schemeClr val="tx1"/>
                </a:solidFill>
              </a:rPr>
              <a:t> </a:t>
            </a:r>
          </a:p>
          <a:p>
            <a:pPr algn="ctr"/>
            <a:r>
              <a:rPr lang="en-US" sz="1600" b="1" i="1" dirty="0">
                <a:solidFill>
                  <a:schemeClr val="tx1"/>
                </a:solidFill>
                <a:latin typeface="Times New Roman" panose="02020603050405020304" pitchFamily="18" charset="0"/>
                <a:cs typeface="Times New Roman" panose="02020603050405020304" pitchFamily="18" charset="0"/>
              </a:rPr>
              <a:t>w</a:t>
            </a:r>
            <a:r>
              <a:rPr lang="en-US" sz="1600" b="1" dirty="0">
                <a:solidFill>
                  <a:schemeClr val="tx1"/>
                </a:solidFill>
              </a:rPr>
              <a:t> estimated only (dark); </a:t>
            </a:r>
            <a:r>
              <a:rPr lang="en-US" sz="1600" b="1" i="1" dirty="0">
                <a:solidFill>
                  <a:schemeClr val="tx1"/>
                </a:solidFill>
                <a:latin typeface="Times New Roman" panose="02020603050405020304" pitchFamily="18" charset="0"/>
                <a:cs typeface="Times New Roman" panose="02020603050405020304" pitchFamily="18" charset="0"/>
              </a:rPr>
              <a:t>P</a:t>
            </a:r>
            <a:r>
              <a:rPr lang="en-US" sz="1600" b="1" dirty="0">
                <a:solidFill>
                  <a:schemeClr val="tx1"/>
                </a:solidFill>
              </a:rPr>
              <a:t>, </a:t>
            </a:r>
            <a:r>
              <a:rPr lang="en-US" sz="1600" b="1" i="1" dirty="0">
                <a:solidFill>
                  <a:schemeClr val="tx1"/>
                </a:solidFill>
                <a:latin typeface="Times New Roman" panose="02020603050405020304" pitchFamily="18" charset="0"/>
                <a:cs typeface="Times New Roman" panose="02020603050405020304" pitchFamily="18" charset="0"/>
              </a:rPr>
              <a:t>b</a:t>
            </a:r>
            <a:r>
              <a:rPr lang="en-US" sz="1600" b="1" dirty="0">
                <a:solidFill>
                  <a:schemeClr val="tx1"/>
                </a:solidFill>
              </a:rPr>
              <a:t>, &amp; </a:t>
            </a:r>
            <a:r>
              <a:rPr lang="en-US" sz="1600" b="1" i="1" dirty="0">
                <a:solidFill>
                  <a:schemeClr val="tx1"/>
                </a:solidFill>
                <a:latin typeface="Times New Roman" panose="02020603050405020304" pitchFamily="18" charset="0"/>
                <a:cs typeface="Times New Roman" panose="02020603050405020304" pitchFamily="18" charset="0"/>
              </a:rPr>
              <a:t>w</a:t>
            </a:r>
            <a:r>
              <a:rPr lang="en-US" sz="1600" b="1" dirty="0">
                <a:solidFill>
                  <a:schemeClr val="tx1"/>
                </a:solidFill>
              </a:rPr>
              <a:t> all estimated (light)</a:t>
            </a:r>
          </a:p>
        </p:txBody>
      </p:sp>
      <p:sp>
        <p:nvSpPr>
          <p:cNvPr id="151" name="TextBox 150">
            <a:extLst>
              <a:ext uri="{FF2B5EF4-FFF2-40B4-BE49-F238E27FC236}">
                <a16:creationId xmlns:a16="http://schemas.microsoft.com/office/drawing/2014/main" id="{26223F3C-FB63-A84E-FB55-0D16B0165B12}"/>
              </a:ext>
            </a:extLst>
          </p:cNvPr>
          <p:cNvSpPr txBox="1"/>
          <p:nvPr/>
        </p:nvSpPr>
        <p:spPr>
          <a:xfrm>
            <a:off x="23655275" y="20770117"/>
            <a:ext cx="5881739" cy="584775"/>
          </a:xfrm>
          <a:prstGeom prst="rect">
            <a:avLst/>
          </a:prstGeom>
          <a:noFill/>
        </p:spPr>
        <p:txBody>
          <a:bodyPr wrap="none" rtlCol="0">
            <a:spAutoFit/>
          </a:bodyPr>
          <a:lstStyle/>
          <a:p>
            <a:pPr algn="ctr"/>
            <a:r>
              <a:rPr lang="en-US" sz="1600" b="1" dirty="0">
                <a:solidFill>
                  <a:schemeClr val="tx1"/>
                </a:solidFill>
              </a:rPr>
              <a:t>Log</a:t>
            </a:r>
            <a:r>
              <a:rPr lang="en-US" sz="1600" b="1" baseline="-25000" dirty="0">
                <a:solidFill>
                  <a:schemeClr val="tx1"/>
                </a:solidFill>
              </a:rPr>
              <a:t>10</a:t>
            </a:r>
            <a:r>
              <a:rPr lang="en-US" sz="1600" b="1" dirty="0">
                <a:solidFill>
                  <a:schemeClr val="tx1"/>
                </a:solidFill>
              </a:rPr>
              <a:t> LSE of Weight Permutations for Network Ranked 7</a:t>
            </a:r>
            <a:r>
              <a:rPr lang="en-US" sz="1600" b="1" baseline="30000" dirty="0">
                <a:solidFill>
                  <a:schemeClr val="tx1"/>
                </a:solidFill>
              </a:rPr>
              <a:t>th</a:t>
            </a:r>
            <a:r>
              <a:rPr lang="en-US" sz="1600" b="1" dirty="0">
                <a:solidFill>
                  <a:schemeClr val="tx1"/>
                </a:solidFill>
              </a:rPr>
              <a:t> </a:t>
            </a:r>
          </a:p>
          <a:p>
            <a:pPr algn="ctr"/>
            <a:r>
              <a:rPr lang="en-US" sz="1600" b="1" i="1" dirty="0">
                <a:solidFill>
                  <a:schemeClr val="tx1"/>
                </a:solidFill>
                <a:latin typeface="Times New Roman" panose="02020603050405020304" pitchFamily="18" charset="0"/>
                <a:cs typeface="Times New Roman" panose="02020603050405020304" pitchFamily="18" charset="0"/>
              </a:rPr>
              <a:t>w</a:t>
            </a:r>
            <a:r>
              <a:rPr lang="en-US" sz="1600" b="1" dirty="0">
                <a:solidFill>
                  <a:schemeClr val="tx1"/>
                </a:solidFill>
              </a:rPr>
              <a:t> estimated only (dark); </a:t>
            </a:r>
            <a:r>
              <a:rPr lang="en-US" sz="1600" b="1" i="1" dirty="0">
                <a:solidFill>
                  <a:schemeClr val="tx1"/>
                </a:solidFill>
                <a:latin typeface="Times New Roman" panose="02020603050405020304" pitchFamily="18" charset="0"/>
                <a:cs typeface="Times New Roman" panose="02020603050405020304" pitchFamily="18" charset="0"/>
              </a:rPr>
              <a:t>P</a:t>
            </a:r>
            <a:r>
              <a:rPr lang="en-US" sz="1600" b="1" dirty="0">
                <a:solidFill>
                  <a:schemeClr val="tx1"/>
                </a:solidFill>
              </a:rPr>
              <a:t>, </a:t>
            </a:r>
            <a:r>
              <a:rPr lang="en-US" sz="1600" b="1" i="1" dirty="0">
                <a:solidFill>
                  <a:schemeClr val="tx1"/>
                </a:solidFill>
                <a:latin typeface="Times New Roman" panose="02020603050405020304" pitchFamily="18" charset="0"/>
                <a:cs typeface="Times New Roman" panose="02020603050405020304" pitchFamily="18" charset="0"/>
              </a:rPr>
              <a:t>b</a:t>
            </a:r>
            <a:r>
              <a:rPr lang="en-US" sz="1600" b="1" dirty="0">
                <a:solidFill>
                  <a:schemeClr val="tx1"/>
                </a:solidFill>
              </a:rPr>
              <a:t>, &amp; </a:t>
            </a:r>
            <a:r>
              <a:rPr lang="en-US" sz="1600" b="1" i="1" dirty="0">
                <a:solidFill>
                  <a:schemeClr val="tx1"/>
                </a:solidFill>
                <a:latin typeface="Times New Roman" panose="02020603050405020304" pitchFamily="18" charset="0"/>
                <a:cs typeface="Times New Roman" panose="02020603050405020304" pitchFamily="18" charset="0"/>
              </a:rPr>
              <a:t>w</a:t>
            </a:r>
            <a:r>
              <a:rPr lang="en-US" sz="1600" b="1" dirty="0">
                <a:solidFill>
                  <a:schemeClr val="tx1"/>
                </a:solidFill>
              </a:rPr>
              <a:t> all estimated (light)</a:t>
            </a:r>
          </a:p>
        </p:txBody>
      </p:sp>
      <p:graphicFrame>
        <p:nvGraphicFramePr>
          <p:cNvPr id="152" name="Table 151">
            <a:extLst>
              <a:ext uri="{FF2B5EF4-FFF2-40B4-BE49-F238E27FC236}">
                <a16:creationId xmlns:a16="http://schemas.microsoft.com/office/drawing/2014/main" id="{29F23C2D-F992-828A-FCC0-3422C4EE31F3}"/>
              </a:ext>
            </a:extLst>
          </p:cNvPr>
          <p:cNvGraphicFramePr>
            <a:graphicFrameLocks noGrp="1"/>
          </p:cNvGraphicFramePr>
          <p:nvPr>
            <p:extLst>
              <p:ext uri="{D42A27DB-BD31-4B8C-83A1-F6EECF244321}">
                <p14:modId xmlns:p14="http://schemas.microsoft.com/office/powerpoint/2010/main" val="259265428"/>
              </p:ext>
            </p:extLst>
          </p:nvPr>
        </p:nvGraphicFramePr>
        <p:xfrm>
          <a:off x="16598004" y="17966414"/>
          <a:ext cx="5539587" cy="2550160"/>
        </p:xfrm>
        <a:graphic>
          <a:graphicData uri="http://schemas.openxmlformats.org/drawingml/2006/table">
            <a:tbl>
              <a:tblPr firstRow="1" bandRow="1">
                <a:tableStyleId>{5940675A-B579-460E-94D1-54222C63F5DA}</a:tableStyleId>
              </a:tblPr>
              <a:tblGrid>
                <a:gridCol w="1036551">
                  <a:extLst>
                    <a:ext uri="{9D8B030D-6E8A-4147-A177-3AD203B41FA5}">
                      <a16:colId xmlns:a16="http://schemas.microsoft.com/office/drawing/2014/main" val="2348388866"/>
                    </a:ext>
                  </a:extLst>
                </a:gridCol>
                <a:gridCol w="1101628">
                  <a:extLst>
                    <a:ext uri="{9D8B030D-6E8A-4147-A177-3AD203B41FA5}">
                      <a16:colId xmlns:a16="http://schemas.microsoft.com/office/drawing/2014/main" val="2964128758"/>
                    </a:ext>
                  </a:extLst>
                </a:gridCol>
                <a:gridCol w="1676400">
                  <a:extLst>
                    <a:ext uri="{9D8B030D-6E8A-4147-A177-3AD203B41FA5}">
                      <a16:colId xmlns:a16="http://schemas.microsoft.com/office/drawing/2014/main" val="3792741971"/>
                    </a:ext>
                  </a:extLst>
                </a:gridCol>
                <a:gridCol w="1725008">
                  <a:extLst>
                    <a:ext uri="{9D8B030D-6E8A-4147-A177-3AD203B41FA5}">
                      <a16:colId xmlns:a16="http://schemas.microsoft.com/office/drawing/2014/main" val="3182888620"/>
                    </a:ext>
                  </a:extLst>
                </a:gridCol>
              </a:tblGrid>
              <a:tr h="370840">
                <a:tc>
                  <a:txBody>
                    <a:bodyPr/>
                    <a:lstStyle/>
                    <a:p>
                      <a:endParaRPr lang="en-US" sz="1600" b="1" dirty="0"/>
                    </a:p>
                    <a:p>
                      <a:r>
                        <a:rPr lang="en-US" sz="1600" b="1" baseline="30000" dirty="0"/>
                        <a:t>#</a:t>
                      </a:r>
                      <a:r>
                        <a:rPr lang="en-US" sz="1600" b="1" dirty="0"/>
                        <a:t>Worst</a:t>
                      </a:r>
                    </a:p>
                  </a:txBody>
                  <a:tcPr/>
                </a:tc>
                <a:tc>
                  <a:txBody>
                    <a:bodyPr/>
                    <a:lstStyle/>
                    <a:p>
                      <a:r>
                        <a:rPr lang="en-US" sz="1600" b="1" dirty="0"/>
                        <a:t>Actual Weights</a:t>
                      </a:r>
                    </a:p>
                  </a:txBody>
                  <a:tcPr/>
                </a:tc>
                <a:tc>
                  <a:txBody>
                    <a:bodyPr/>
                    <a:lstStyle/>
                    <a:p>
                      <a:r>
                        <a:rPr lang="en-US" sz="1600" b="1" dirty="0"/>
                        <a:t>Weight estimates with </a:t>
                      </a:r>
                    </a:p>
                    <a:p>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held constant</a:t>
                      </a:r>
                    </a:p>
                  </a:txBody>
                  <a:tcPr/>
                </a:tc>
                <a:tc>
                  <a:txBody>
                    <a:bodyPr/>
                    <a:lstStyle/>
                    <a:p>
                      <a:r>
                        <a:rPr lang="en-US" sz="1600" b="1" dirty="0"/>
                        <a:t>Weight estimates when </a:t>
                      </a:r>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also estimated</a:t>
                      </a:r>
                    </a:p>
                  </a:txBody>
                  <a:tcPr/>
                </a:tc>
                <a:extLst>
                  <a:ext uri="{0D108BD9-81ED-4DB2-BD59-A6C34878D82A}">
                    <a16:rowId xmlns:a16="http://schemas.microsoft.com/office/drawing/2014/main" val="3435138147"/>
                  </a:ext>
                </a:extLst>
              </a:tr>
              <a:tr h="370840">
                <a:tc>
                  <a:txBody>
                    <a:bodyPr/>
                    <a:lstStyle/>
                    <a:p>
                      <a:r>
                        <a:rPr lang="en-US" sz="1600" b="1" dirty="0"/>
                        <a:t>Weight 1</a:t>
                      </a:r>
                    </a:p>
                  </a:txBody>
                  <a:tcPr/>
                </a:tc>
                <a:tc>
                  <a:txBody>
                    <a:bodyPr/>
                    <a:lstStyle/>
                    <a:p>
                      <a:r>
                        <a:rPr lang="en-US" sz="1600" b="1" dirty="0"/>
                        <a:t>      1</a:t>
                      </a:r>
                    </a:p>
                  </a:txBody>
                  <a:tcPr/>
                </a:tc>
                <a:tc>
                  <a:txBody>
                    <a:bodyPr/>
                    <a:lstStyle/>
                    <a:p>
                      <a:r>
                        <a:rPr lang="en-US" sz="1600" b="1" dirty="0"/>
                        <a:t>         1.0000</a:t>
                      </a:r>
                    </a:p>
                  </a:txBody>
                  <a:tcPr/>
                </a:tc>
                <a:tc>
                  <a:txBody>
                    <a:bodyPr/>
                    <a:lstStyle/>
                    <a:p>
                      <a:r>
                        <a:rPr lang="en-US" sz="1600" b="1" dirty="0"/>
                        <a:t>         0.4924</a:t>
                      </a:r>
                    </a:p>
                  </a:txBody>
                  <a:tcPr/>
                </a:tc>
                <a:extLst>
                  <a:ext uri="{0D108BD9-81ED-4DB2-BD59-A6C34878D82A}">
                    <a16:rowId xmlns:a16="http://schemas.microsoft.com/office/drawing/2014/main" val="3841675654"/>
                  </a:ext>
                </a:extLst>
              </a:tr>
              <a:tr h="370840">
                <a:tc>
                  <a:txBody>
                    <a:bodyPr/>
                    <a:lstStyle/>
                    <a:p>
                      <a:r>
                        <a:rPr lang="en-US" sz="1600" b="1" dirty="0"/>
                        <a:t>Weight 2</a:t>
                      </a:r>
                    </a:p>
                  </a:txBody>
                  <a:tcPr/>
                </a:tc>
                <a:tc>
                  <a:txBody>
                    <a:bodyPr/>
                    <a:lstStyle/>
                    <a:p>
                      <a:r>
                        <a:rPr lang="en-US" sz="1600" b="1" dirty="0"/>
                        <a:t>     -1</a:t>
                      </a:r>
                    </a:p>
                  </a:txBody>
                  <a:tcPr/>
                </a:tc>
                <a:tc>
                  <a:txBody>
                    <a:bodyPr/>
                    <a:lstStyle/>
                    <a:p>
                      <a:r>
                        <a:rPr lang="en-US" sz="1600" b="1" dirty="0"/>
                        <a:t>        -1.0000</a:t>
                      </a:r>
                    </a:p>
                  </a:txBody>
                  <a:tcPr/>
                </a:tc>
                <a:tc>
                  <a:txBody>
                    <a:bodyPr/>
                    <a:lstStyle/>
                    <a:p>
                      <a:r>
                        <a:rPr lang="en-US" sz="1600" b="1" dirty="0"/>
                        <a:t>        -0.7337</a:t>
                      </a:r>
                    </a:p>
                  </a:txBody>
                  <a:tcPr/>
                </a:tc>
                <a:extLst>
                  <a:ext uri="{0D108BD9-81ED-4DB2-BD59-A6C34878D82A}">
                    <a16:rowId xmlns:a16="http://schemas.microsoft.com/office/drawing/2014/main" val="1220385822"/>
                  </a:ext>
                </a:extLst>
              </a:tr>
              <a:tr h="370840">
                <a:tc>
                  <a:txBody>
                    <a:bodyPr/>
                    <a:lstStyle/>
                    <a:p>
                      <a:r>
                        <a:rPr lang="en-US" sz="1600" b="1" dirty="0"/>
                        <a:t>Weight 3</a:t>
                      </a:r>
                    </a:p>
                  </a:txBody>
                  <a:tcPr/>
                </a:tc>
                <a:tc>
                  <a:txBody>
                    <a:bodyPr/>
                    <a:lstStyle/>
                    <a:p>
                      <a:r>
                        <a:rPr lang="en-US" sz="1600" b="1" dirty="0"/>
                        <a:t>     -2</a:t>
                      </a:r>
                    </a:p>
                  </a:txBody>
                  <a:tcPr/>
                </a:tc>
                <a:tc>
                  <a:txBody>
                    <a:bodyPr/>
                    <a:lstStyle/>
                    <a:p>
                      <a:r>
                        <a:rPr lang="en-US" sz="1600" b="1" dirty="0"/>
                        <a:t>        -1.9999</a:t>
                      </a:r>
                    </a:p>
                  </a:txBody>
                  <a:tcPr/>
                </a:tc>
                <a:tc>
                  <a:txBody>
                    <a:bodyPr/>
                    <a:lstStyle/>
                    <a:p>
                      <a:r>
                        <a:rPr lang="en-US" sz="1600" b="1" dirty="0"/>
                        <a:t>        -2.8069</a:t>
                      </a:r>
                    </a:p>
                  </a:txBody>
                  <a:tcPr/>
                </a:tc>
                <a:extLst>
                  <a:ext uri="{0D108BD9-81ED-4DB2-BD59-A6C34878D82A}">
                    <a16:rowId xmlns:a16="http://schemas.microsoft.com/office/drawing/2014/main" val="3492808468"/>
                  </a:ext>
                </a:extLst>
              </a:tr>
              <a:tr h="370840">
                <a:tc>
                  <a:txBody>
                    <a:bodyPr/>
                    <a:lstStyle/>
                    <a:p>
                      <a:r>
                        <a:rPr lang="en-US" sz="1600" b="1" dirty="0"/>
                        <a:t>Weight 4</a:t>
                      </a:r>
                    </a:p>
                  </a:txBody>
                  <a:tcPr/>
                </a:tc>
                <a:tc>
                  <a:txBody>
                    <a:bodyPr/>
                    <a:lstStyle/>
                    <a:p>
                      <a:r>
                        <a:rPr lang="en-US" sz="1600" b="1" dirty="0"/>
                        <a:t>      2</a:t>
                      </a:r>
                    </a:p>
                  </a:txBody>
                  <a:tcPr/>
                </a:tc>
                <a:tc>
                  <a:txBody>
                    <a:bodyPr/>
                    <a:lstStyle/>
                    <a:p>
                      <a:r>
                        <a:rPr lang="en-US" sz="1600" b="1" dirty="0"/>
                        <a:t>         1.9997</a:t>
                      </a:r>
                    </a:p>
                  </a:txBody>
                  <a:tcPr/>
                </a:tc>
                <a:tc>
                  <a:txBody>
                    <a:bodyPr/>
                    <a:lstStyle/>
                    <a:p>
                      <a:r>
                        <a:rPr lang="en-US" sz="1600" b="1" dirty="0"/>
                        <a:t>         0.1271</a:t>
                      </a:r>
                    </a:p>
                  </a:txBody>
                  <a:tcPr/>
                </a:tc>
                <a:extLst>
                  <a:ext uri="{0D108BD9-81ED-4DB2-BD59-A6C34878D82A}">
                    <a16:rowId xmlns:a16="http://schemas.microsoft.com/office/drawing/2014/main" val="3167986225"/>
                  </a:ext>
                </a:extLst>
              </a:tr>
            </a:tbl>
          </a:graphicData>
        </a:graphic>
      </p:graphicFrame>
      <p:graphicFrame>
        <p:nvGraphicFramePr>
          <p:cNvPr id="159" name="Table 158">
            <a:extLst>
              <a:ext uri="{FF2B5EF4-FFF2-40B4-BE49-F238E27FC236}">
                <a16:creationId xmlns:a16="http://schemas.microsoft.com/office/drawing/2014/main" id="{AA0C8BE6-DE65-CDD4-D703-EBD27260B43F}"/>
              </a:ext>
            </a:extLst>
          </p:cNvPr>
          <p:cNvGraphicFramePr>
            <a:graphicFrameLocks noGrp="1"/>
          </p:cNvGraphicFramePr>
          <p:nvPr>
            <p:extLst>
              <p:ext uri="{D42A27DB-BD31-4B8C-83A1-F6EECF244321}">
                <p14:modId xmlns:p14="http://schemas.microsoft.com/office/powerpoint/2010/main" val="1147909357"/>
              </p:ext>
            </p:extLst>
          </p:nvPr>
        </p:nvGraphicFramePr>
        <p:xfrm>
          <a:off x="23772105" y="17966414"/>
          <a:ext cx="5539587" cy="2550160"/>
        </p:xfrm>
        <a:graphic>
          <a:graphicData uri="http://schemas.openxmlformats.org/drawingml/2006/table">
            <a:tbl>
              <a:tblPr firstRow="1" bandRow="1">
                <a:tableStyleId>{5940675A-B579-460E-94D1-54222C63F5DA}</a:tableStyleId>
              </a:tblPr>
              <a:tblGrid>
                <a:gridCol w="1050199">
                  <a:extLst>
                    <a:ext uri="{9D8B030D-6E8A-4147-A177-3AD203B41FA5}">
                      <a16:colId xmlns:a16="http://schemas.microsoft.com/office/drawing/2014/main" val="2348388866"/>
                    </a:ext>
                  </a:extLst>
                </a:gridCol>
                <a:gridCol w="1087980">
                  <a:extLst>
                    <a:ext uri="{9D8B030D-6E8A-4147-A177-3AD203B41FA5}">
                      <a16:colId xmlns:a16="http://schemas.microsoft.com/office/drawing/2014/main" val="2964128758"/>
                    </a:ext>
                  </a:extLst>
                </a:gridCol>
                <a:gridCol w="1676400">
                  <a:extLst>
                    <a:ext uri="{9D8B030D-6E8A-4147-A177-3AD203B41FA5}">
                      <a16:colId xmlns:a16="http://schemas.microsoft.com/office/drawing/2014/main" val="3792741971"/>
                    </a:ext>
                  </a:extLst>
                </a:gridCol>
                <a:gridCol w="1725008">
                  <a:extLst>
                    <a:ext uri="{9D8B030D-6E8A-4147-A177-3AD203B41FA5}">
                      <a16:colId xmlns:a16="http://schemas.microsoft.com/office/drawing/2014/main" val="3182888620"/>
                    </a:ext>
                  </a:extLst>
                </a:gridCol>
              </a:tblGrid>
              <a:tr h="370840">
                <a:tc>
                  <a:txBody>
                    <a:bodyPr/>
                    <a:lstStyle/>
                    <a:p>
                      <a:endParaRPr lang="en-US" sz="1600" b="1" dirty="0"/>
                    </a:p>
                    <a:p>
                      <a:r>
                        <a:rPr lang="en-US" sz="1600" b="1" baseline="30000" dirty="0"/>
                        <a:t>##</a:t>
                      </a:r>
                      <a:r>
                        <a:rPr lang="en-US" sz="1600" b="1" dirty="0"/>
                        <a:t>Worst</a:t>
                      </a:r>
                    </a:p>
                  </a:txBody>
                  <a:tcPr/>
                </a:tc>
                <a:tc>
                  <a:txBody>
                    <a:bodyPr/>
                    <a:lstStyle/>
                    <a:p>
                      <a:r>
                        <a:rPr lang="en-US" sz="1600" b="1" dirty="0"/>
                        <a:t>Actual Weights</a:t>
                      </a:r>
                    </a:p>
                  </a:txBody>
                  <a:tcPr/>
                </a:tc>
                <a:tc>
                  <a:txBody>
                    <a:bodyPr/>
                    <a:lstStyle/>
                    <a:p>
                      <a:r>
                        <a:rPr lang="en-US" sz="1600" b="1" dirty="0"/>
                        <a:t>Weight estimates with </a:t>
                      </a:r>
                    </a:p>
                    <a:p>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held constant</a:t>
                      </a:r>
                    </a:p>
                  </a:txBody>
                  <a:tcPr/>
                </a:tc>
                <a:tc>
                  <a:txBody>
                    <a:bodyPr/>
                    <a:lstStyle/>
                    <a:p>
                      <a:r>
                        <a:rPr lang="en-US" sz="1600" b="1" dirty="0"/>
                        <a:t>Weight estimates when </a:t>
                      </a:r>
                      <a:r>
                        <a:rPr lang="en-US" sz="1600" b="1" i="1" dirty="0">
                          <a:latin typeface="Times New Roman" panose="02020603050405020304" pitchFamily="18" charset="0"/>
                          <a:cs typeface="Times New Roman" panose="02020603050405020304" pitchFamily="18" charset="0"/>
                        </a:rPr>
                        <a:t>P</a:t>
                      </a:r>
                      <a:r>
                        <a:rPr lang="en-US" sz="1600" b="1" dirty="0"/>
                        <a:t> and </a:t>
                      </a:r>
                      <a:r>
                        <a:rPr lang="en-US" sz="1600" b="1" i="1" dirty="0">
                          <a:latin typeface="Times New Roman" panose="02020603050405020304" pitchFamily="18" charset="0"/>
                          <a:cs typeface="Times New Roman" panose="02020603050405020304" pitchFamily="18" charset="0"/>
                        </a:rPr>
                        <a:t>b</a:t>
                      </a:r>
                      <a:r>
                        <a:rPr lang="en-US" sz="1600" b="1" dirty="0"/>
                        <a:t> also estimated</a:t>
                      </a:r>
                    </a:p>
                  </a:txBody>
                  <a:tcPr/>
                </a:tc>
                <a:extLst>
                  <a:ext uri="{0D108BD9-81ED-4DB2-BD59-A6C34878D82A}">
                    <a16:rowId xmlns:a16="http://schemas.microsoft.com/office/drawing/2014/main" val="3435138147"/>
                  </a:ext>
                </a:extLst>
              </a:tr>
              <a:tr h="370840">
                <a:tc>
                  <a:txBody>
                    <a:bodyPr/>
                    <a:lstStyle/>
                    <a:p>
                      <a:r>
                        <a:rPr lang="en-US" sz="1600" b="1" dirty="0"/>
                        <a:t>Weight 1</a:t>
                      </a:r>
                    </a:p>
                  </a:txBody>
                  <a:tcPr/>
                </a:tc>
                <a:tc>
                  <a:txBody>
                    <a:bodyPr/>
                    <a:lstStyle/>
                    <a:p>
                      <a:r>
                        <a:rPr lang="en-US" sz="1600" b="1" dirty="0"/>
                        <a:t>      1</a:t>
                      </a:r>
                    </a:p>
                  </a:txBody>
                  <a:tcPr/>
                </a:tc>
                <a:tc>
                  <a:txBody>
                    <a:bodyPr/>
                    <a:lstStyle/>
                    <a:p>
                      <a:r>
                        <a:rPr lang="en-US" sz="1600" b="1" dirty="0"/>
                        <a:t>         1.0000</a:t>
                      </a:r>
                    </a:p>
                  </a:txBody>
                  <a:tcPr/>
                </a:tc>
                <a:tc>
                  <a:txBody>
                    <a:bodyPr/>
                    <a:lstStyle/>
                    <a:p>
                      <a:r>
                        <a:rPr lang="en-US" sz="1600" b="1" dirty="0"/>
                        <a:t>        0.6198</a:t>
                      </a:r>
                    </a:p>
                  </a:txBody>
                  <a:tcPr/>
                </a:tc>
                <a:extLst>
                  <a:ext uri="{0D108BD9-81ED-4DB2-BD59-A6C34878D82A}">
                    <a16:rowId xmlns:a16="http://schemas.microsoft.com/office/drawing/2014/main" val="3841675654"/>
                  </a:ext>
                </a:extLst>
              </a:tr>
              <a:tr h="370840">
                <a:tc>
                  <a:txBody>
                    <a:bodyPr/>
                    <a:lstStyle/>
                    <a:p>
                      <a:r>
                        <a:rPr lang="en-US" sz="1600" b="1" dirty="0"/>
                        <a:t>Weight 2</a:t>
                      </a:r>
                    </a:p>
                  </a:txBody>
                  <a:tcPr/>
                </a:tc>
                <a:tc>
                  <a:txBody>
                    <a:bodyPr/>
                    <a:lstStyle/>
                    <a:p>
                      <a:r>
                        <a:rPr lang="en-US" sz="1600" b="1" dirty="0"/>
                        <a:t>      2</a:t>
                      </a:r>
                    </a:p>
                  </a:txBody>
                  <a:tcPr/>
                </a:tc>
                <a:tc>
                  <a:txBody>
                    <a:bodyPr/>
                    <a:lstStyle/>
                    <a:p>
                      <a:r>
                        <a:rPr lang="en-US" sz="1600" b="1" dirty="0"/>
                        <a:t>         1.9993</a:t>
                      </a:r>
                    </a:p>
                  </a:txBody>
                  <a:tcPr/>
                </a:tc>
                <a:tc>
                  <a:txBody>
                    <a:bodyPr/>
                    <a:lstStyle/>
                    <a:p>
                      <a:r>
                        <a:rPr lang="en-US" sz="1600" b="1" dirty="0"/>
                        <a:t>        1.5623</a:t>
                      </a:r>
                    </a:p>
                  </a:txBody>
                  <a:tcPr/>
                </a:tc>
                <a:extLst>
                  <a:ext uri="{0D108BD9-81ED-4DB2-BD59-A6C34878D82A}">
                    <a16:rowId xmlns:a16="http://schemas.microsoft.com/office/drawing/2014/main" val="1220385822"/>
                  </a:ext>
                </a:extLst>
              </a:tr>
              <a:tr h="370840">
                <a:tc>
                  <a:txBody>
                    <a:bodyPr/>
                    <a:lstStyle/>
                    <a:p>
                      <a:r>
                        <a:rPr lang="en-US" sz="1600" b="1" dirty="0"/>
                        <a:t>Weight 3</a:t>
                      </a:r>
                    </a:p>
                  </a:txBody>
                  <a:tcPr/>
                </a:tc>
                <a:tc>
                  <a:txBody>
                    <a:bodyPr/>
                    <a:lstStyle/>
                    <a:p>
                      <a:r>
                        <a:rPr lang="en-US" sz="1600" b="1" dirty="0"/>
                        <a:t>     -2</a:t>
                      </a:r>
                    </a:p>
                  </a:txBody>
                  <a:tcPr/>
                </a:tc>
                <a:tc>
                  <a:txBody>
                    <a:bodyPr/>
                    <a:lstStyle/>
                    <a:p>
                      <a:r>
                        <a:rPr lang="en-US" sz="1600" b="1" dirty="0"/>
                        <a:t>        -1.9996</a:t>
                      </a:r>
                    </a:p>
                  </a:txBody>
                  <a:tcPr/>
                </a:tc>
                <a:tc>
                  <a:txBody>
                    <a:bodyPr/>
                    <a:lstStyle/>
                    <a:p>
                      <a:r>
                        <a:rPr lang="en-US" sz="1600" b="1" dirty="0"/>
                        <a:t>       -1.5411</a:t>
                      </a:r>
                    </a:p>
                  </a:txBody>
                  <a:tcPr/>
                </a:tc>
                <a:extLst>
                  <a:ext uri="{0D108BD9-81ED-4DB2-BD59-A6C34878D82A}">
                    <a16:rowId xmlns:a16="http://schemas.microsoft.com/office/drawing/2014/main" val="3492808468"/>
                  </a:ext>
                </a:extLst>
              </a:tr>
              <a:tr h="370840">
                <a:tc>
                  <a:txBody>
                    <a:bodyPr/>
                    <a:lstStyle/>
                    <a:p>
                      <a:r>
                        <a:rPr lang="en-US" sz="1600" b="1" dirty="0"/>
                        <a:t>Weight 4</a:t>
                      </a:r>
                    </a:p>
                  </a:txBody>
                  <a:tcPr/>
                </a:tc>
                <a:tc>
                  <a:txBody>
                    <a:bodyPr/>
                    <a:lstStyle/>
                    <a:p>
                      <a:r>
                        <a:rPr lang="en-US" sz="1600" b="1" dirty="0"/>
                        <a:t>     -1</a:t>
                      </a:r>
                    </a:p>
                  </a:txBody>
                  <a:tcPr/>
                </a:tc>
                <a:tc>
                  <a:txBody>
                    <a:bodyPr/>
                    <a:lstStyle/>
                    <a:p>
                      <a:r>
                        <a:rPr lang="en-US" sz="1600" b="1" dirty="0"/>
                        <a:t>        -1.0000</a:t>
                      </a:r>
                    </a:p>
                  </a:txBody>
                  <a:tcPr/>
                </a:tc>
                <a:tc>
                  <a:txBody>
                    <a:bodyPr/>
                    <a:lstStyle/>
                    <a:p>
                      <a:r>
                        <a:rPr lang="en-US" sz="1600" b="1" dirty="0"/>
                        <a:t>       -0.7627</a:t>
                      </a:r>
                    </a:p>
                  </a:txBody>
                  <a:tcPr/>
                </a:tc>
                <a:extLst>
                  <a:ext uri="{0D108BD9-81ED-4DB2-BD59-A6C34878D82A}">
                    <a16:rowId xmlns:a16="http://schemas.microsoft.com/office/drawing/2014/main" val="3167986225"/>
                  </a:ext>
                </a:extLst>
              </a:tr>
            </a:tbl>
          </a:graphicData>
        </a:graphic>
      </p:graphicFrame>
      <p:sp>
        <p:nvSpPr>
          <p:cNvPr id="183" name="TextBox 182">
            <a:extLst>
              <a:ext uri="{FF2B5EF4-FFF2-40B4-BE49-F238E27FC236}">
                <a16:creationId xmlns:a16="http://schemas.microsoft.com/office/drawing/2014/main" id="{75FA6210-34C2-7E13-26B1-1DC78A81A8FB}"/>
              </a:ext>
            </a:extLst>
          </p:cNvPr>
          <p:cNvSpPr txBox="1"/>
          <p:nvPr/>
        </p:nvSpPr>
        <p:spPr>
          <a:xfrm>
            <a:off x="16127372" y="21947775"/>
            <a:ext cx="284052" cy="400110"/>
          </a:xfrm>
          <a:prstGeom prst="rect">
            <a:avLst/>
          </a:prstGeom>
          <a:noFill/>
        </p:spPr>
        <p:txBody>
          <a:bodyPr wrap="none" rtlCol="0">
            <a:spAutoFit/>
          </a:bodyPr>
          <a:lstStyle/>
          <a:p>
            <a:r>
              <a:rPr lang="en-US" sz="2000" dirty="0"/>
              <a:t>*</a:t>
            </a:r>
          </a:p>
        </p:txBody>
      </p:sp>
      <p:sp>
        <p:nvSpPr>
          <p:cNvPr id="184" name="TextBox 183">
            <a:extLst>
              <a:ext uri="{FF2B5EF4-FFF2-40B4-BE49-F238E27FC236}">
                <a16:creationId xmlns:a16="http://schemas.microsoft.com/office/drawing/2014/main" id="{E1CCEC67-0ADF-962E-695A-BF29BDA71641}"/>
              </a:ext>
            </a:extLst>
          </p:cNvPr>
          <p:cNvSpPr txBox="1"/>
          <p:nvPr/>
        </p:nvSpPr>
        <p:spPr>
          <a:xfrm>
            <a:off x="23349253" y="21752347"/>
            <a:ext cx="383438" cy="400110"/>
          </a:xfrm>
          <a:prstGeom prst="rect">
            <a:avLst/>
          </a:prstGeom>
          <a:noFill/>
        </p:spPr>
        <p:txBody>
          <a:bodyPr wrap="none" rtlCol="0">
            <a:spAutoFit/>
          </a:bodyPr>
          <a:lstStyle/>
          <a:p>
            <a:r>
              <a:rPr lang="en-US" sz="2000" dirty="0"/>
              <a:t>**</a:t>
            </a:r>
          </a:p>
        </p:txBody>
      </p:sp>
      <p:sp>
        <p:nvSpPr>
          <p:cNvPr id="185" name="TextBox 184">
            <a:extLst>
              <a:ext uri="{FF2B5EF4-FFF2-40B4-BE49-F238E27FC236}">
                <a16:creationId xmlns:a16="http://schemas.microsoft.com/office/drawing/2014/main" id="{35AF62E4-59CF-3C7B-93AA-3AE64FD46553}"/>
              </a:ext>
            </a:extLst>
          </p:cNvPr>
          <p:cNvSpPr txBox="1"/>
          <p:nvPr/>
        </p:nvSpPr>
        <p:spPr>
          <a:xfrm>
            <a:off x="22324764" y="21333303"/>
            <a:ext cx="279244" cy="295017"/>
          </a:xfrm>
          <a:prstGeom prst="rect">
            <a:avLst/>
          </a:prstGeom>
          <a:noFill/>
        </p:spPr>
        <p:txBody>
          <a:bodyPr wrap="none" rtlCol="0">
            <a:spAutoFit/>
          </a:bodyPr>
          <a:lstStyle/>
          <a:p>
            <a:r>
              <a:rPr lang="en-US" dirty="0"/>
              <a:t>#</a:t>
            </a:r>
          </a:p>
        </p:txBody>
      </p:sp>
      <p:sp>
        <p:nvSpPr>
          <p:cNvPr id="186" name="TextBox 185">
            <a:extLst>
              <a:ext uri="{FF2B5EF4-FFF2-40B4-BE49-F238E27FC236}">
                <a16:creationId xmlns:a16="http://schemas.microsoft.com/office/drawing/2014/main" id="{5F267E44-85F3-BFA6-37A2-1D3E8BC2390C}"/>
              </a:ext>
            </a:extLst>
          </p:cNvPr>
          <p:cNvSpPr txBox="1"/>
          <p:nvPr/>
        </p:nvSpPr>
        <p:spPr>
          <a:xfrm>
            <a:off x="29570241" y="21535006"/>
            <a:ext cx="373820" cy="295017"/>
          </a:xfrm>
          <a:prstGeom prst="rect">
            <a:avLst/>
          </a:prstGeom>
          <a:noFill/>
        </p:spPr>
        <p:txBody>
          <a:bodyPr wrap="none" rtlCol="0">
            <a:spAutoFit/>
          </a:bodyPr>
          <a:lstStyle/>
          <a:p>
            <a:r>
              <a:rPr lang="en-US" dirty="0"/>
              <a:t>##</a:t>
            </a:r>
          </a:p>
        </p:txBody>
      </p:sp>
      <p:sp>
        <p:nvSpPr>
          <p:cNvPr id="187" name="TextBox 186">
            <a:extLst>
              <a:ext uri="{FF2B5EF4-FFF2-40B4-BE49-F238E27FC236}">
                <a16:creationId xmlns:a16="http://schemas.microsoft.com/office/drawing/2014/main" id="{19C62753-7E39-C95D-77C2-C33E81D701BE}"/>
              </a:ext>
            </a:extLst>
          </p:cNvPr>
          <p:cNvSpPr txBox="1"/>
          <p:nvPr/>
        </p:nvSpPr>
        <p:spPr>
          <a:xfrm>
            <a:off x="17104208" y="12679095"/>
            <a:ext cx="300082" cy="369332"/>
          </a:xfrm>
          <a:prstGeom prst="rect">
            <a:avLst/>
          </a:prstGeom>
          <a:noFill/>
        </p:spPr>
        <p:txBody>
          <a:bodyPr wrap="none" rtlCol="0">
            <a:spAutoFit/>
          </a:bodyPr>
          <a:lstStyle/>
          <a:p>
            <a:r>
              <a:rPr lang="en-US" sz="18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90" name="TextBox 189">
            <a:extLst>
              <a:ext uri="{FF2B5EF4-FFF2-40B4-BE49-F238E27FC236}">
                <a16:creationId xmlns:a16="http://schemas.microsoft.com/office/drawing/2014/main" id="{B460A7C0-CD0B-59AA-AA1C-ACBA96D92654}"/>
              </a:ext>
            </a:extLst>
          </p:cNvPr>
          <p:cNvSpPr txBox="1"/>
          <p:nvPr/>
        </p:nvSpPr>
        <p:spPr>
          <a:xfrm>
            <a:off x="23989662" y="12679095"/>
            <a:ext cx="415498" cy="369332"/>
          </a:xfrm>
          <a:prstGeom prst="rect">
            <a:avLst/>
          </a:prstGeom>
          <a:noFill/>
        </p:spPr>
        <p:txBody>
          <a:bodyPr wrap="none" rtlCol="0">
            <a:spAutoFit/>
          </a:bodyPr>
          <a:lstStyle/>
          <a:p>
            <a:r>
              <a:rPr lang="en-US" sz="18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91" name="TextBox 190">
            <a:extLst>
              <a:ext uri="{FF2B5EF4-FFF2-40B4-BE49-F238E27FC236}">
                <a16:creationId xmlns:a16="http://schemas.microsoft.com/office/drawing/2014/main" id="{45190AA4-9E30-3F70-058A-018D644B479C}"/>
              </a:ext>
            </a:extLst>
          </p:cNvPr>
          <p:cNvSpPr txBox="1"/>
          <p:nvPr/>
        </p:nvSpPr>
        <p:spPr>
          <a:xfrm>
            <a:off x="16380569" y="21785913"/>
            <a:ext cx="300082" cy="369332"/>
          </a:xfrm>
          <a:prstGeom prst="rect">
            <a:avLst/>
          </a:prstGeom>
          <a:noFill/>
        </p:spPr>
        <p:txBody>
          <a:bodyPr wrap="none" rtlCol="0">
            <a:spAutoFit/>
          </a:bodyPr>
          <a:lstStyle/>
          <a:p>
            <a:r>
              <a:rPr lang="en-US" sz="18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192" name="TextBox 191">
            <a:extLst>
              <a:ext uri="{FF2B5EF4-FFF2-40B4-BE49-F238E27FC236}">
                <a16:creationId xmlns:a16="http://schemas.microsoft.com/office/drawing/2014/main" id="{57446A03-AF4F-6F2B-C9B9-5EA78661BDE3}"/>
              </a:ext>
            </a:extLst>
          </p:cNvPr>
          <p:cNvSpPr txBox="1"/>
          <p:nvPr/>
        </p:nvSpPr>
        <p:spPr>
          <a:xfrm>
            <a:off x="24682849" y="21341755"/>
            <a:ext cx="415498" cy="369332"/>
          </a:xfrm>
          <a:prstGeom prst="rect">
            <a:avLst/>
          </a:prstGeom>
          <a:noFill/>
        </p:spPr>
        <p:txBody>
          <a:bodyPr wrap="none" rtlCol="0">
            <a:spAutoFit/>
          </a:bodyPr>
          <a:lstStyle/>
          <a:p>
            <a:r>
              <a:rPr lang="en-US" sz="18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6200899"/>
      </p:ext>
    </p:extLst>
  </p:cSld>
  <p:clrMapOvr>
    <a:masterClrMapping/>
  </p:clrMapOvr>
  <p:transition spd="slow">
    <p:cut/>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70f1269-45c1-4463-99ba-5dc4e57c7df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DB5B7ED115EF04980BBFAFC51672553" ma:contentTypeVersion="9" ma:contentTypeDescription="Create a new document." ma:contentTypeScope="" ma:versionID="43a679fe5cbd3b1dc01cea5b3bb6a16a">
  <xsd:schema xmlns:xsd="http://www.w3.org/2001/XMLSchema" xmlns:xs="http://www.w3.org/2001/XMLSchema" xmlns:p="http://schemas.microsoft.com/office/2006/metadata/properties" xmlns:ns3="070f1269-45c1-4463-99ba-5dc4e57c7dff" xmlns:ns4="7bf50b4b-6300-445a-aea1-306a2291592c" targetNamespace="http://schemas.microsoft.com/office/2006/metadata/properties" ma:root="true" ma:fieldsID="b0963d0390b393dc53bf13ff5a8315f4" ns3:_="" ns4:_="">
    <xsd:import namespace="070f1269-45c1-4463-99ba-5dc4e57c7dff"/>
    <xsd:import namespace="7bf50b4b-6300-445a-aea1-306a2291592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0f1269-45c1-4463-99ba-5dc4e57c7d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bf50b4b-6300-445a-aea1-306a2291592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829B5F7-37D9-4900-8E22-180F32838EE0}">
  <ds:schemaRefs>
    <ds:schemaRef ds:uri="070f1269-45c1-4463-99ba-5dc4e57c7dff"/>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purl.org/dc/elements/1.1/"/>
    <ds:schemaRef ds:uri="http://schemas.microsoft.com/office/2006/metadata/properties"/>
    <ds:schemaRef ds:uri="7bf50b4b-6300-445a-aea1-306a2291592c"/>
    <ds:schemaRef ds:uri="http://purl.org/dc/dcmitype/"/>
    <ds:schemaRef ds:uri="http://purl.org/dc/terms/"/>
  </ds:schemaRefs>
</ds:datastoreItem>
</file>

<file path=customXml/itemProps2.xml><?xml version="1.0" encoding="utf-8"?>
<ds:datastoreItem xmlns:ds="http://schemas.openxmlformats.org/officeDocument/2006/customXml" ds:itemID="{3CAE26F8-2532-4476-B7A2-8694C7733C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0f1269-45c1-4463-99ba-5dc4e57c7dff"/>
    <ds:schemaRef ds:uri="7bf50b4b-6300-445a-aea1-306a229159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279A08-9DEC-424B-A25F-C1670C2EBD7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Chun_URS_2025_edits</Template>
  <TotalTime>5295</TotalTime>
  <Words>2543</Words>
  <Application>Microsoft Office PowerPoint</Application>
  <PresentationFormat>Custom</PresentationFormat>
  <Paragraphs>360</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MS PGothic</vt:lpstr>
      <vt:lpstr>Arial</vt:lpstr>
      <vt:lpstr>Calibri</vt:lpstr>
      <vt:lpstr>Times New Roman</vt:lpstr>
      <vt:lpstr>Office Theme</vt:lpstr>
      <vt:lpstr>Equation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Chun, Nikki</dc:creator>
  <cp:lastModifiedBy>Dahlquist, Kam</cp:lastModifiedBy>
  <cp:revision>50</cp:revision>
  <cp:lastPrinted>2025-07-11T20:09:36Z</cp:lastPrinted>
  <dcterms:created xsi:type="dcterms:W3CDTF">2025-04-07T23:20:47Z</dcterms:created>
  <dcterms:modified xsi:type="dcterms:W3CDTF">2025-07-11T22:03:50Z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0x0101008DB5B7ED115EF04980BBFAFC51672553</vt:lpwstr>
  </property>
</Properties>
</file>