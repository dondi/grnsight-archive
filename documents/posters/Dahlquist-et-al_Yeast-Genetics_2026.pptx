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43891200" cy="32918400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693F"/>
    <a:srgbClr val="7099CA"/>
    <a:srgbClr val="4B7FBD"/>
    <a:srgbClr val="305684"/>
    <a:srgbClr val="C33B3B"/>
    <a:srgbClr val="E1E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AFFA0F-1E04-4A8A-9273-D587D5D4E392}">
  <a:tblStyle styleId="{B6AFFA0F-1E04-4A8A-9273-D587D5D4E3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9DAB2FBC-741B-4774-8CB7-E9F43E21F9E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310" autoAdjust="0"/>
  </p:normalViewPr>
  <p:slideViewPr>
    <p:cSldViewPr snapToGrid="0" snapToObjects="1">
      <p:cViewPr varScale="1">
        <p:scale>
          <a:sx n="22" d="100"/>
          <a:sy n="22" d="100"/>
        </p:scale>
        <p:origin x="2472" y="132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Desktop/Research/Fall%202025/permutation%20summary%20files/Trial%208%20Permutation_no-constants_Summar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Desktop/Research/Spring%202026/Automating%20Perms/Files/Trial%2019/Trial_19_output_perm_summar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lmu0-my.sharepoint.com/personal/nchun2_lion_lmu_edu/Documents/Desktop/Research/Fall%202025/permutation%20summary%20files/Trial%2010%20Permutations_no-constants_summar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85199695396667"/>
          <c:y val="4.3718070083477417E-2"/>
          <c:w val="0.82377897258765664"/>
          <c:h val="0.8443905835595646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numRef>
              <c:f>'Compare No Const with PB Const'!$A$2:$A$25</c:f>
              <c:numCache>
                <c:formatCode>General</c:formatCode>
                <c:ptCount val="24"/>
                <c:pt idx="0">
                  <c:v>8.0500000000000007</c:v>
                </c:pt>
                <c:pt idx="1">
                  <c:v>8.0299999999999994</c:v>
                </c:pt>
                <c:pt idx="2" formatCode="0.00">
                  <c:v>8.0399999999999991</c:v>
                </c:pt>
                <c:pt idx="3" formatCode="0.00">
                  <c:v>8.16</c:v>
                </c:pt>
                <c:pt idx="4">
                  <c:v>8.2100000000000009</c:v>
                </c:pt>
                <c:pt idx="5">
                  <c:v>8.01</c:v>
                </c:pt>
                <c:pt idx="6">
                  <c:v>8.07</c:v>
                </c:pt>
                <c:pt idx="7" formatCode="0.00">
                  <c:v>8.02</c:v>
                </c:pt>
                <c:pt idx="8">
                  <c:v>8.19</c:v>
                </c:pt>
                <c:pt idx="9" formatCode="0.00">
                  <c:v>8.06</c:v>
                </c:pt>
                <c:pt idx="10" formatCode="0.00">
                  <c:v>8.1</c:v>
                </c:pt>
                <c:pt idx="11" formatCode="0.00">
                  <c:v>8.08</c:v>
                </c:pt>
                <c:pt idx="12">
                  <c:v>8.17</c:v>
                </c:pt>
                <c:pt idx="13">
                  <c:v>8.23</c:v>
                </c:pt>
                <c:pt idx="14" formatCode="0.00">
                  <c:v>8.14</c:v>
                </c:pt>
                <c:pt idx="15" formatCode="0.00">
                  <c:v>8.1199999999999992</c:v>
                </c:pt>
                <c:pt idx="16" formatCode="0.00">
                  <c:v>8.18</c:v>
                </c:pt>
                <c:pt idx="17">
                  <c:v>8.1300000000000008</c:v>
                </c:pt>
                <c:pt idx="18" formatCode="0.00">
                  <c:v>8</c:v>
                </c:pt>
                <c:pt idx="19" formatCode="0.00">
                  <c:v>8.2200000000000006</c:v>
                </c:pt>
                <c:pt idx="20" formatCode="0.00">
                  <c:v>8.1999999999999993</c:v>
                </c:pt>
                <c:pt idx="21">
                  <c:v>8.11</c:v>
                </c:pt>
                <c:pt idx="22">
                  <c:v>8.09</c:v>
                </c:pt>
                <c:pt idx="23">
                  <c:v>8.15</c:v>
                </c:pt>
              </c:numCache>
            </c:numRef>
          </c:cat>
          <c:val>
            <c:numRef>
              <c:f>'Compare No Const with PB Const'!$B$2:$B$25</c:f>
              <c:numCache>
                <c:formatCode>General</c:formatCode>
                <c:ptCount val="24"/>
                <c:pt idx="0">
                  <c:v>1.5696951777588024E-10</c:v>
                </c:pt>
                <c:pt idx="1">
                  <c:v>5.2308606604132552E-10</c:v>
                </c:pt>
                <c:pt idx="2">
                  <c:v>8.0393342108209244E-11</c:v>
                </c:pt>
                <c:pt idx="3">
                  <c:v>1.1250257867234512E-7</c:v>
                </c:pt>
                <c:pt idx="4">
                  <c:v>4.3357871613307814E-12</c:v>
                </c:pt>
                <c:pt idx="5">
                  <c:v>1.1874474802387587E-9</c:v>
                </c:pt>
                <c:pt idx="6">
                  <c:v>8.0596355951704047E-13</c:v>
                </c:pt>
                <c:pt idx="7">
                  <c:v>1.5796560847120545E-12</c:v>
                </c:pt>
                <c:pt idx="8">
                  <c:v>1.2553290261423606E-10</c:v>
                </c:pt>
                <c:pt idx="9">
                  <c:v>1.5779133853749478E-9</c:v>
                </c:pt>
                <c:pt idx="10">
                  <c:v>2.8582972675233979E-10</c:v>
                </c:pt>
                <c:pt idx="11">
                  <c:v>1.012008971344051E-11</c:v>
                </c:pt>
                <c:pt idx="12">
                  <c:v>3.0307454098484551E-11</c:v>
                </c:pt>
                <c:pt idx="13">
                  <c:v>6.1329098005317547E-7</c:v>
                </c:pt>
                <c:pt idx="14">
                  <c:v>5.0178753864547177E-11</c:v>
                </c:pt>
                <c:pt idx="15">
                  <c:v>4.651193945381306E-11</c:v>
                </c:pt>
                <c:pt idx="16">
                  <c:v>4.4799834412673878E-11</c:v>
                </c:pt>
                <c:pt idx="17">
                  <c:v>3.724467369690357E-10</c:v>
                </c:pt>
                <c:pt idx="18">
                  <c:v>3.9195619734684774E-11</c:v>
                </c:pt>
                <c:pt idx="19">
                  <c:v>1.1301488435747694E-10</c:v>
                </c:pt>
                <c:pt idx="20">
                  <c:v>6.7306590467006212E-11</c:v>
                </c:pt>
                <c:pt idx="21">
                  <c:v>7.6460084361251636E-10</c:v>
                </c:pt>
                <c:pt idx="22">
                  <c:v>7.0465769664118056E-11</c:v>
                </c:pt>
                <c:pt idx="23">
                  <c:v>2.9397488755554232E-9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83-4B42-A660-86FFE36CC723}"/>
            </c:ext>
          </c:extLst>
        </c:ser>
        <c:ser>
          <c:idx val="1"/>
          <c:order val="1"/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numRef>
              <c:f>'Compare No Const with PB Const'!$A$2:$A$25</c:f>
              <c:numCache>
                <c:formatCode>General</c:formatCode>
                <c:ptCount val="24"/>
                <c:pt idx="0">
                  <c:v>8.0500000000000007</c:v>
                </c:pt>
                <c:pt idx="1">
                  <c:v>8.0299999999999994</c:v>
                </c:pt>
                <c:pt idx="2" formatCode="0.00">
                  <c:v>8.0399999999999991</c:v>
                </c:pt>
                <c:pt idx="3" formatCode="0.00">
                  <c:v>8.16</c:v>
                </c:pt>
                <c:pt idx="4">
                  <c:v>8.2100000000000009</c:v>
                </c:pt>
                <c:pt idx="5">
                  <c:v>8.01</c:v>
                </c:pt>
                <c:pt idx="6">
                  <c:v>8.07</c:v>
                </c:pt>
                <c:pt idx="7" formatCode="0.00">
                  <c:v>8.02</c:v>
                </c:pt>
                <c:pt idx="8">
                  <c:v>8.19</c:v>
                </c:pt>
                <c:pt idx="9" formatCode="0.00">
                  <c:v>8.06</c:v>
                </c:pt>
                <c:pt idx="10" formatCode="0.00">
                  <c:v>8.1</c:v>
                </c:pt>
                <c:pt idx="11" formatCode="0.00">
                  <c:v>8.08</c:v>
                </c:pt>
                <c:pt idx="12">
                  <c:v>8.17</c:v>
                </c:pt>
                <c:pt idx="13">
                  <c:v>8.23</c:v>
                </c:pt>
                <c:pt idx="14" formatCode="0.00">
                  <c:v>8.14</c:v>
                </c:pt>
                <c:pt idx="15" formatCode="0.00">
                  <c:v>8.1199999999999992</c:v>
                </c:pt>
                <c:pt idx="16" formatCode="0.00">
                  <c:v>8.18</c:v>
                </c:pt>
                <c:pt idx="17">
                  <c:v>8.1300000000000008</c:v>
                </c:pt>
                <c:pt idx="18" formatCode="0.00">
                  <c:v>8</c:v>
                </c:pt>
                <c:pt idx="19" formatCode="0.00">
                  <c:v>8.2200000000000006</c:v>
                </c:pt>
                <c:pt idx="20" formatCode="0.00">
                  <c:v>8.1999999999999993</c:v>
                </c:pt>
                <c:pt idx="21">
                  <c:v>8.11</c:v>
                </c:pt>
                <c:pt idx="22">
                  <c:v>8.09</c:v>
                </c:pt>
                <c:pt idx="23">
                  <c:v>8.15</c:v>
                </c:pt>
              </c:numCache>
            </c:numRef>
          </c:cat>
          <c:val>
            <c:numRef>
              <c:f>'Compare No Const with PB Const'!$C$2:$C$25</c:f>
              <c:numCache>
                <c:formatCode>General</c:formatCode>
                <c:ptCount val="24"/>
                <c:pt idx="0">
                  <c:v>5.4154243172054854E-2</c:v>
                </c:pt>
                <c:pt idx="1">
                  <c:v>6.0862391056363874E-2</c:v>
                </c:pt>
                <c:pt idx="2">
                  <c:v>6.3703607033352247E-2</c:v>
                </c:pt>
                <c:pt idx="3">
                  <c:v>6.8514938119940277E-2</c:v>
                </c:pt>
                <c:pt idx="4">
                  <c:v>7.3570491299070548E-2</c:v>
                </c:pt>
                <c:pt idx="5">
                  <c:v>8.3557220422325051E-2</c:v>
                </c:pt>
                <c:pt idx="6">
                  <c:v>0.12463458598619642</c:v>
                </c:pt>
                <c:pt idx="7">
                  <c:v>0.17238004932911505</c:v>
                </c:pt>
                <c:pt idx="8">
                  <c:v>0.22579166495981087</c:v>
                </c:pt>
                <c:pt idx="9">
                  <c:v>0.27286498652861313</c:v>
                </c:pt>
                <c:pt idx="10">
                  <c:v>0.36227442272078858</c:v>
                </c:pt>
                <c:pt idx="11">
                  <c:v>0.53628400644574326</c:v>
                </c:pt>
                <c:pt idx="12">
                  <c:v>0.54083169304672596</c:v>
                </c:pt>
                <c:pt idx="13">
                  <c:v>0.6030306303351427</c:v>
                </c:pt>
                <c:pt idx="14">
                  <c:v>0.74922399674353879</c:v>
                </c:pt>
                <c:pt idx="15">
                  <c:v>0.7632158533220309</c:v>
                </c:pt>
                <c:pt idx="16">
                  <c:v>1.0601366671880055</c:v>
                </c:pt>
                <c:pt idx="17">
                  <c:v>1.6333560392801805</c:v>
                </c:pt>
                <c:pt idx="18">
                  <c:v>2.2486088556715709</c:v>
                </c:pt>
                <c:pt idx="19">
                  <c:v>2.9872169045337373</c:v>
                </c:pt>
                <c:pt idx="20">
                  <c:v>3.0742001074788972</c:v>
                </c:pt>
                <c:pt idx="21">
                  <c:v>5.2719812412395459</c:v>
                </c:pt>
                <c:pt idx="22">
                  <c:v>5.7217892391712057</c:v>
                </c:pt>
                <c:pt idx="23">
                  <c:v>13.113536832324884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83-4B42-A660-86FFE36CC7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7631344"/>
        <c:axId val="947630384"/>
      </c:barChart>
      <c:lineChart>
        <c:grouping val="standard"/>
        <c:varyColors val="0"/>
        <c:ser>
          <c:idx val="2"/>
          <c:order val="2"/>
          <c:tx>
            <c:v>avg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'Compare No Const with PB Const'!$D$2:$D$25</c:f>
              <c:numCache>
                <c:formatCode>General</c:formatCode>
                <c:ptCount val="24"/>
                <c:pt idx="0">
                  <c:v>9.6704113232843099E-11</c:v>
                </c:pt>
                <c:pt idx="1">
                  <c:v>9.6704113232843099E-11</c:v>
                </c:pt>
                <c:pt idx="2">
                  <c:v>9.6704113232843099E-11</c:v>
                </c:pt>
                <c:pt idx="3">
                  <c:v>9.6704113232843099E-11</c:v>
                </c:pt>
                <c:pt idx="4">
                  <c:v>9.6704113232843099E-11</c:v>
                </c:pt>
                <c:pt idx="5">
                  <c:v>9.6704113232843099E-11</c:v>
                </c:pt>
                <c:pt idx="6">
                  <c:v>9.6704113232843099E-11</c:v>
                </c:pt>
                <c:pt idx="7">
                  <c:v>9.6704113232843099E-11</c:v>
                </c:pt>
                <c:pt idx="8">
                  <c:v>9.6704113232843099E-11</c:v>
                </c:pt>
                <c:pt idx="9">
                  <c:v>9.6704113232843099E-11</c:v>
                </c:pt>
                <c:pt idx="10">
                  <c:v>9.6704113232843099E-11</c:v>
                </c:pt>
                <c:pt idx="11">
                  <c:v>9.6704113232843099E-11</c:v>
                </c:pt>
                <c:pt idx="12">
                  <c:v>9.6704113232843099E-11</c:v>
                </c:pt>
                <c:pt idx="13">
                  <c:v>9.6704113232843099E-11</c:v>
                </c:pt>
                <c:pt idx="14">
                  <c:v>9.6704113232843099E-11</c:v>
                </c:pt>
                <c:pt idx="15">
                  <c:v>9.6704113232843099E-11</c:v>
                </c:pt>
                <c:pt idx="16">
                  <c:v>9.6704113232843099E-11</c:v>
                </c:pt>
                <c:pt idx="17">
                  <c:v>9.6704113232843099E-11</c:v>
                </c:pt>
                <c:pt idx="18">
                  <c:v>9.6704113232843099E-11</c:v>
                </c:pt>
                <c:pt idx="19">
                  <c:v>9.6704113232843099E-11</c:v>
                </c:pt>
                <c:pt idx="20">
                  <c:v>9.6704113232843099E-11</c:v>
                </c:pt>
                <c:pt idx="21">
                  <c:v>9.6704113232843099E-11</c:v>
                </c:pt>
                <c:pt idx="22">
                  <c:v>9.6704113232843099E-11</c:v>
                </c:pt>
                <c:pt idx="23">
                  <c:v>9.6704113232843099E-11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83-4B42-A660-86FFE36CC723}"/>
            </c:ext>
          </c:extLst>
        </c:ser>
        <c:ser>
          <c:idx val="3"/>
          <c:order val="3"/>
          <c:tx>
            <c:v>mean</c:v>
          </c:tx>
          <c:spPr>
            <a:ln w="28575" cap="rnd">
              <a:solidFill>
                <a:schemeClr val="dk1">
                  <a:tint val="985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'Compare No Const with PB Const'!$E$2:$E$25</c:f>
              <c:numCache>
                <c:formatCode>General</c:formatCode>
                <c:ptCount val="24"/>
                <c:pt idx="0">
                  <c:v>0.53855784974623466</c:v>
                </c:pt>
                <c:pt idx="1">
                  <c:v>0.53855784974623466</c:v>
                </c:pt>
                <c:pt idx="2">
                  <c:v>0.53855784974623466</c:v>
                </c:pt>
                <c:pt idx="3">
                  <c:v>0.53855784974623466</c:v>
                </c:pt>
                <c:pt idx="4">
                  <c:v>0.53855784974623466</c:v>
                </c:pt>
                <c:pt idx="5">
                  <c:v>0.53855784974623466</c:v>
                </c:pt>
                <c:pt idx="6">
                  <c:v>0.53855784974623466</c:v>
                </c:pt>
                <c:pt idx="7">
                  <c:v>0.53855784974623466</c:v>
                </c:pt>
                <c:pt idx="8">
                  <c:v>0.53855784974623466</c:v>
                </c:pt>
                <c:pt idx="9">
                  <c:v>0.53855784974623466</c:v>
                </c:pt>
                <c:pt idx="10">
                  <c:v>0.53855784974623466</c:v>
                </c:pt>
                <c:pt idx="11">
                  <c:v>0.53855784974623466</c:v>
                </c:pt>
                <c:pt idx="12">
                  <c:v>0.53855784974623466</c:v>
                </c:pt>
                <c:pt idx="13">
                  <c:v>0.53855784974623466</c:v>
                </c:pt>
                <c:pt idx="14">
                  <c:v>0.53855784974623466</c:v>
                </c:pt>
                <c:pt idx="15">
                  <c:v>0.53855784974623466</c:v>
                </c:pt>
                <c:pt idx="16">
                  <c:v>0.53855784974623466</c:v>
                </c:pt>
                <c:pt idx="17">
                  <c:v>0.53855784974623466</c:v>
                </c:pt>
                <c:pt idx="18">
                  <c:v>0.53855784974623466</c:v>
                </c:pt>
                <c:pt idx="19">
                  <c:v>0.53855784974623466</c:v>
                </c:pt>
                <c:pt idx="20">
                  <c:v>0.53855784974623466</c:v>
                </c:pt>
                <c:pt idx="21">
                  <c:v>0.53855784974623466</c:v>
                </c:pt>
                <c:pt idx="22">
                  <c:v>0.53855784974623466</c:v>
                </c:pt>
                <c:pt idx="23">
                  <c:v>0.53855784974623466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A83-4B42-A660-86FFE36CC7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47631344"/>
        <c:axId val="947630384"/>
      </c:lineChart>
      <c:catAx>
        <c:axId val="94763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7630384"/>
        <c:crossesAt val="1.0000000000000007E-13"/>
        <c:auto val="1"/>
        <c:lblAlgn val="ctr"/>
        <c:lblOffset val="100"/>
        <c:noMultiLvlLbl val="0"/>
      </c:catAx>
      <c:valAx>
        <c:axId val="947630384"/>
        <c:scaling>
          <c:logBase val="10"/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7631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197944006999125"/>
          <c:y val="3.4461951982191284E-2"/>
          <c:w val="0.82802055993000878"/>
          <c:h val="0.810935859580052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cat>
            <c:numRef>
              <c:f>Summary!$N$2:$N$25</c:f>
              <c:numCache>
                <c:formatCode>General</c:formatCode>
                <c:ptCount val="24"/>
                <c:pt idx="0" formatCode="0.00">
                  <c:v>19.2</c:v>
                </c:pt>
                <c:pt idx="1">
                  <c:v>19.14</c:v>
                </c:pt>
                <c:pt idx="2">
                  <c:v>19.04</c:v>
                </c:pt>
                <c:pt idx="3">
                  <c:v>19.22</c:v>
                </c:pt>
                <c:pt idx="4">
                  <c:v>19.190000000000001</c:v>
                </c:pt>
                <c:pt idx="5" formatCode="0.00">
                  <c:v>19.100000000000001</c:v>
                </c:pt>
                <c:pt idx="6">
                  <c:v>19.21</c:v>
                </c:pt>
                <c:pt idx="7">
                  <c:v>19.149999999999999</c:v>
                </c:pt>
                <c:pt idx="8">
                  <c:v>19.16</c:v>
                </c:pt>
                <c:pt idx="9">
                  <c:v>19.239999999999998</c:v>
                </c:pt>
                <c:pt idx="10">
                  <c:v>19.02</c:v>
                </c:pt>
                <c:pt idx="11">
                  <c:v>19.23</c:v>
                </c:pt>
                <c:pt idx="12">
                  <c:v>19.059999999999999</c:v>
                </c:pt>
                <c:pt idx="13">
                  <c:v>19.12</c:v>
                </c:pt>
                <c:pt idx="14">
                  <c:v>19.13</c:v>
                </c:pt>
                <c:pt idx="15">
                  <c:v>19.09</c:v>
                </c:pt>
                <c:pt idx="16">
                  <c:v>19.010000000000002</c:v>
                </c:pt>
                <c:pt idx="17">
                  <c:v>19.05</c:v>
                </c:pt>
                <c:pt idx="18">
                  <c:v>19.03</c:v>
                </c:pt>
                <c:pt idx="19">
                  <c:v>19.11</c:v>
                </c:pt>
                <c:pt idx="20">
                  <c:v>19.07</c:v>
                </c:pt>
                <c:pt idx="21">
                  <c:v>19.079999999999998</c:v>
                </c:pt>
                <c:pt idx="22">
                  <c:v>19.18</c:v>
                </c:pt>
                <c:pt idx="23">
                  <c:v>19.170000000000002</c:v>
                </c:pt>
              </c:numCache>
            </c:numRef>
          </c:cat>
          <c:val>
            <c:numRef>
              <c:f>Summary!$P$2:$P$25</c:f>
              <c:numCache>
                <c:formatCode>General</c:formatCode>
                <c:ptCount val="24"/>
                <c:pt idx="0">
                  <c:v>2.3332018733578362E-7</c:v>
                </c:pt>
                <c:pt idx="1">
                  <c:v>1.4199345186229222E-6</c:v>
                </c:pt>
                <c:pt idx="2">
                  <c:v>1.0312979041528754E-10</c:v>
                </c:pt>
                <c:pt idx="3">
                  <c:v>1.4199757995948576E-6</c:v>
                </c:pt>
                <c:pt idx="4">
                  <c:v>2.0477010436286962E-10</c:v>
                </c:pt>
                <c:pt idx="5">
                  <c:v>2.0477021575589668E-10</c:v>
                </c:pt>
                <c:pt idx="6">
                  <c:v>1.0312977635369039E-10</c:v>
                </c:pt>
                <c:pt idx="7">
                  <c:v>4.7249992214528933E-10</c:v>
                </c:pt>
                <c:pt idx="8">
                  <c:v>2.3331988787638911E-7</c:v>
                </c:pt>
                <c:pt idx="9">
                  <c:v>6.4617952305259628E-10</c:v>
                </c:pt>
                <c:pt idx="10">
                  <c:v>2.5180775969235166E-10</c:v>
                </c:pt>
                <c:pt idx="11">
                  <c:v>2.5180763563260601E-10</c:v>
                </c:pt>
                <c:pt idx="12">
                  <c:v>4.72499948167661E-10</c:v>
                </c:pt>
                <c:pt idx="13">
                  <c:v>2.6519440572611286E-10</c:v>
                </c:pt>
                <c:pt idx="14">
                  <c:v>2.6519442271199434E-10</c:v>
                </c:pt>
                <c:pt idx="15">
                  <c:v>2.0881440918891168E-12</c:v>
                </c:pt>
                <c:pt idx="16">
                  <c:v>2.0881437090631762E-12</c:v>
                </c:pt>
                <c:pt idx="17">
                  <c:v>2.0881437090631762E-12</c:v>
                </c:pt>
                <c:pt idx="18">
                  <c:v>2.5539783829298557E-12</c:v>
                </c:pt>
                <c:pt idx="19">
                  <c:v>2.5539762344854189E-12</c:v>
                </c:pt>
                <c:pt idx="20">
                  <c:v>2.6319783255222926E-8</c:v>
                </c:pt>
                <c:pt idx="21">
                  <c:v>6.4617947087495634E-10</c:v>
                </c:pt>
                <c:pt idx="22">
                  <c:v>2.6319800010841316E-8</c:v>
                </c:pt>
                <c:pt idx="23">
                  <c:v>4.0626556311774439E-8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3D-4EC8-956C-C4EAC8C44D6B}"/>
            </c:ext>
          </c:extLst>
        </c:ser>
        <c:ser>
          <c:idx val="1"/>
          <c:order val="1"/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Ref>
              <c:f>Summary!$N$2:$N$25</c:f>
              <c:numCache>
                <c:formatCode>General</c:formatCode>
                <c:ptCount val="24"/>
                <c:pt idx="0" formatCode="0.00">
                  <c:v>19.2</c:v>
                </c:pt>
                <c:pt idx="1">
                  <c:v>19.14</c:v>
                </c:pt>
                <c:pt idx="2">
                  <c:v>19.04</c:v>
                </c:pt>
                <c:pt idx="3">
                  <c:v>19.22</c:v>
                </c:pt>
                <c:pt idx="4">
                  <c:v>19.190000000000001</c:v>
                </c:pt>
                <c:pt idx="5" formatCode="0.00">
                  <c:v>19.100000000000001</c:v>
                </c:pt>
                <c:pt idx="6">
                  <c:v>19.21</c:v>
                </c:pt>
                <c:pt idx="7">
                  <c:v>19.149999999999999</c:v>
                </c:pt>
                <c:pt idx="8">
                  <c:v>19.16</c:v>
                </c:pt>
                <c:pt idx="9">
                  <c:v>19.239999999999998</c:v>
                </c:pt>
                <c:pt idx="10">
                  <c:v>19.02</c:v>
                </c:pt>
                <c:pt idx="11">
                  <c:v>19.23</c:v>
                </c:pt>
                <c:pt idx="12">
                  <c:v>19.059999999999999</c:v>
                </c:pt>
                <c:pt idx="13">
                  <c:v>19.12</c:v>
                </c:pt>
                <c:pt idx="14">
                  <c:v>19.13</c:v>
                </c:pt>
                <c:pt idx="15">
                  <c:v>19.09</c:v>
                </c:pt>
                <c:pt idx="16">
                  <c:v>19.010000000000002</c:v>
                </c:pt>
                <c:pt idx="17">
                  <c:v>19.05</c:v>
                </c:pt>
                <c:pt idx="18">
                  <c:v>19.03</c:v>
                </c:pt>
                <c:pt idx="19">
                  <c:v>19.11</c:v>
                </c:pt>
                <c:pt idx="20">
                  <c:v>19.07</c:v>
                </c:pt>
                <c:pt idx="21">
                  <c:v>19.079999999999998</c:v>
                </c:pt>
                <c:pt idx="22">
                  <c:v>19.18</c:v>
                </c:pt>
                <c:pt idx="23">
                  <c:v>19.170000000000002</c:v>
                </c:pt>
              </c:numCache>
            </c:numRef>
          </c:cat>
          <c:val>
            <c:numRef>
              <c:f>Summary!$O$2:$O$25</c:f>
              <c:numCache>
                <c:formatCode>General</c:formatCode>
                <c:ptCount val="24"/>
                <c:pt idx="0">
                  <c:v>5.1527152796674733E-2</c:v>
                </c:pt>
                <c:pt idx="1">
                  <c:v>0.15400575172517667</c:v>
                </c:pt>
                <c:pt idx="2">
                  <c:v>0.17345373290931654</c:v>
                </c:pt>
                <c:pt idx="3">
                  <c:v>0.18769071637266901</c:v>
                </c:pt>
                <c:pt idx="4">
                  <c:v>0.23182367907598339</c:v>
                </c:pt>
                <c:pt idx="5">
                  <c:v>0.29665338239151751</c:v>
                </c:pt>
                <c:pt idx="6">
                  <c:v>0.33920256626643935</c:v>
                </c:pt>
                <c:pt idx="7">
                  <c:v>0.34260860307780583</c:v>
                </c:pt>
                <c:pt idx="8">
                  <c:v>0.34870634675575252</c:v>
                </c:pt>
                <c:pt idx="9">
                  <c:v>0.62062569880872542</c:v>
                </c:pt>
                <c:pt idx="10">
                  <c:v>0.82711497453429728</c:v>
                </c:pt>
                <c:pt idx="11">
                  <c:v>0.83138010914364335</c:v>
                </c:pt>
                <c:pt idx="12">
                  <c:v>0.9199480086205134</c:v>
                </c:pt>
                <c:pt idx="13">
                  <c:v>1.0344397810141184</c:v>
                </c:pt>
                <c:pt idx="14">
                  <c:v>1.0394427441154028</c:v>
                </c:pt>
                <c:pt idx="15">
                  <c:v>1.6943949993127694</c:v>
                </c:pt>
                <c:pt idx="16">
                  <c:v>1.9470856808913606</c:v>
                </c:pt>
                <c:pt idx="17">
                  <c:v>1.9470856808913606</c:v>
                </c:pt>
                <c:pt idx="18">
                  <c:v>2.5811204248726205</c:v>
                </c:pt>
                <c:pt idx="19">
                  <c:v>2.7223037365615141</c:v>
                </c:pt>
                <c:pt idx="20">
                  <c:v>3.0329403694450945</c:v>
                </c:pt>
                <c:pt idx="21">
                  <c:v>3.9638656453899062</c:v>
                </c:pt>
                <c:pt idx="22">
                  <c:v>4.3882642742190328</c:v>
                </c:pt>
                <c:pt idx="23">
                  <c:v>4.4820954895710683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3D-4EC8-956C-C4EAC8C44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62175359"/>
        <c:axId val="562176799"/>
      </c:barChart>
      <c:lineChart>
        <c:grouping val="standard"/>
        <c:varyColors val="0"/>
        <c:ser>
          <c:idx val="2"/>
          <c:order val="2"/>
          <c:tx>
            <c:strRef>
              <c:f>Summary!$Q$2:$Q$25</c:f>
              <c:strCache>
                <c:ptCount val="24"/>
                <c:pt idx="0">
                  <c:v>0.875664059</c:v>
                </c:pt>
                <c:pt idx="1">
                  <c:v>0.875664059</c:v>
                </c:pt>
                <c:pt idx="2">
                  <c:v>0.875664059</c:v>
                </c:pt>
                <c:pt idx="3">
                  <c:v>0.875664059</c:v>
                </c:pt>
                <c:pt idx="4">
                  <c:v>0.875664059</c:v>
                </c:pt>
                <c:pt idx="5">
                  <c:v>0.875664059</c:v>
                </c:pt>
                <c:pt idx="6">
                  <c:v>0.875664059</c:v>
                </c:pt>
                <c:pt idx="7">
                  <c:v>0.875664059</c:v>
                </c:pt>
                <c:pt idx="8">
                  <c:v>0.875664059</c:v>
                </c:pt>
                <c:pt idx="9">
                  <c:v>0.875664059</c:v>
                </c:pt>
                <c:pt idx="10">
                  <c:v>0.875664059</c:v>
                </c:pt>
                <c:pt idx="11">
                  <c:v>0.875664059</c:v>
                </c:pt>
                <c:pt idx="12">
                  <c:v>0.875664059</c:v>
                </c:pt>
                <c:pt idx="13">
                  <c:v>0.875664059</c:v>
                </c:pt>
                <c:pt idx="14">
                  <c:v>0.875664059</c:v>
                </c:pt>
                <c:pt idx="15">
                  <c:v>0.875664059</c:v>
                </c:pt>
                <c:pt idx="16">
                  <c:v>0.875664059</c:v>
                </c:pt>
                <c:pt idx="17">
                  <c:v>0.875664059</c:v>
                </c:pt>
                <c:pt idx="18">
                  <c:v>0.875664059</c:v>
                </c:pt>
                <c:pt idx="19">
                  <c:v>0.875664059</c:v>
                </c:pt>
                <c:pt idx="20">
                  <c:v>0.875664059</c:v>
                </c:pt>
                <c:pt idx="21">
                  <c:v>0.875664059</c:v>
                </c:pt>
                <c:pt idx="22">
                  <c:v>0.875664059</c:v>
                </c:pt>
                <c:pt idx="23">
                  <c:v>0.875664059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743D-4EC8-956C-C4EAC8C44D6B}"/>
            </c:ext>
          </c:extLst>
        </c:ser>
        <c:ser>
          <c:idx val="3"/>
          <c:order val="3"/>
          <c:tx>
            <c:strRef>
              <c:f>Summary!$R$2:$R$25</c:f>
              <c:strCache>
                <c:ptCount val="24"/>
                <c:pt idx="0">
                  <c:v>2.65194E-10</c:v>
                </c:pt>
                <c:pt idx="1">
                  <c:v>2.65194E-10</c:v>
                </c:pt>
                <c:pt idx="2">
                  <c:v>2.65194E-10</c:v>
                </c:pt>
                <c:pt idx="3">
                  <c:v>2.65194E-10</c:v>
                </c:pt>
                <c:pt idx="4">
                  <c:v>2.65194E-10</c:v>
                </c:pt>
                <c:pt idx="5">
                  <c:v>2.65194E-10</c:v>
                </c:pt>
                <c:pt idx="6">
                  <c:v>2.65194E-10</c:v>
                </c:pt>
                <c:pt idx="7">
                  <c:v>2.65194E-10</c:v>
                </c:pt>
                <c:pt idx="8">
                  <c:v>2.65194E-10</c:v>
                </c:pt>
                <c:pt idx="9">
                  <c:v>2.65194E-10</c:v>
                </c:pt>
                <c:pt idx="10">
                  <c:v>2.65194E-10</c:v>
                </c:pt>
                <c:pt idx="11">
                  <c:v>2.65194E-10</c:v>
                </c:pt>
                <c:pt idx="12">
                  <c:v>2.65194E-10</c:v>
                </c:pt>
                <c:pt idx="13">
                  <c:v>2.65194E-10</c:v>
                </c:pt>
                <c:pt idx="14">
                  <c:v>2.65194E-10</c:v>
                </c:pt>
                <c:pt idx="15">
                  <c:v>2.65194E-10</c:v>
                </c:pt>
                <c:pt idx="16">
                  <c:v>2.65194E-10</c:v>
                </c:pt>
                <c:pt idx="17">
                  <c:v>2.65194E-10</c:v>
                </c:pt>
                <c:pt idx="18">
                  <c:v>2.65194E-10</c:v>
                </c:pt>
                <c:pt idx="19">
                  <c:v>2.65194E-10</c:v>
                </c:pt>
                <c:pt idx="20">
                  <c:v>2.65194E-10</c:v>
                </c:pt>
                <c:pt idx="21">
                  <c:v>2.65194E-10</c:v>
                </c:pt>
                <c:pt idx="22">
                  <c:v>2.65194E-10</c:v>
                </c:pt>
                <c:pt idx="23">
                  <c:v>2.65194E-10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Lit>
              <c:formatCode>General</c:formatCode>
              <c:ptCount val="1"/>
              <c:pt idx="0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743D-4EC8-956C-C4EAC8C44D6B}"/>
            </c:ext>
          </c:extLst>
        </c:ser>
        <c:ser>
          <c:idx val="4"/>
          <c:order val="4"/>
          <c:tx>
            <c:v>average_1</c:v>
          </c:tx>
          <c:spPr>
            <a:ln w="28575" cap="rnd">
              <a:solidFill>
                <a:schemeClr val="tx1">
                  <a:lumMod val="95000"/>
                  <a:lumOff val="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Summary!$Q$2:$Q$25</c:f>
              <c:numCache>
                <c:formatCode>General</c:formatCode>
                <c:ptCount val="24"/>
                <c:pt idx="0">
                  <c:v>0.87566405888207832</c:v>
                </c:pt>
                <c:pt idx="1">
                  <c:v>0.87566405888207832</c:v>
                </c:pt>
                <c:pt idx="2">
                  <c:v>0.87566405888207832</c:v>
                </c:pt>
                <c:pt idx="3">
                  <c:v>0.87566405888207832</c:v>
                </c:pt>
                <c:pt idx="4">
                  <c:v>0.87566405888207832</c:v>
                </c:pt>
                <c:pt idx="5">
                  <c:v>0.87566405888207832</c:v>
                </c:pt>
                <c:pt idx="6">
                  <c:v>0.87566405888207832</c:v>
                </c:pt>
                <c:pt idx="7">
                  <c:v>0.87566405888207832</c:v>
                </c:pt>
                <c:pt idx="8">
                  <c:v>0.87566405888207832</c:v>
                </c:pt>
                <c:pt idx="9">
                  <c:v>0.87566405888207832</c:v>
                </c:pt>
                <c:pt idx="10">
                  <c:v>0.87566405888207832</c:v>
                </c:pt>
                <c:pt idx="11">
                  <c:v>0.87566405888207832</c:v>
                </c:pt>
                <c:pt idx="12">
                  <c:v>0.87566405888207832</c:v>
                </c:pt>
                <c:pt idx="13">
                  <c:v>0.87566405888207832</c:v>
                </c:pt>
                <c:pt idx="14">
                  <c:v>0.87566405888207832</c:v>
                </c:pt>
                <c:pt idx="15">
                  <c:v>0.87566405888207832</c:v>
                </c:pt>
                <c:pt idx="16">
                  <c:v>0.87566405888207832</c:v>
                </c:pt>
                <c:pt idx="17">
                  <c:v>0.87566405888207832</c:v>
                </c:pt>
                <c:pt idx="18">
                  <c:v>0.87566405888207832</c:v>
                </c:pt>
                <c:pt idx="19">
                  <c:v>0.87566405888207832</c:v>
                </c:pt>
                <c:pt idx="20">
                  <c:v>0.87566405888207832</c:v>
                </c:pt>
                <c:pt idx="21">
                  <c:v>0.87566405888207832</c:v>
                </c:pt>
                <c:pt idx="22">
                  <c:v>0.87566405888207832</c:v>
                </c:pt>
                <c:pt idx="23">
                  <c:v>0.87566405888207832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43D-4EC8-956C-C4EAC8C44D6B}"/>
            </c:ext>
          </c:extLst>
        </c:ser>
        <c:ser>
          <c:idx val="5"/>
          <c:order val="5"/>
          <c:tx>
            <c:v>average_2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Summary!$R$2:$R$25</c:f>
              <c:numCache>
                <c:formatCode>General</c:formatCode>
                <c:ptCount val="24"/>
                <c:pt idx="0">
                  <c:v>2.6519441421905363E-10</c:v>
                </c:pt>
                <c:pt idx="1">
                  <c:v>2.6519441421905363E-10</c:v>
                </c:pt>
                <c:pt idx="2">
                  <c:v>2.6519441421905363E-10</c:v>
                </c:pt>
                <c:pt idx="3">
                  <c:v>2.6519441421905363E-10</c:v>
                </c:pt>
                <c:pt idx="4">
                  <c:v>2.6519441421905363E-10</c:v>
                </c:pt>
                <c:pt idx="5">
                  <c:v>2.6519441421905363E-10</c:v>
                </c:pt>
                <c:pt idx="6">
                  <c:v>2.6519441421905363E-10</c:v>
                </c:pt>
                <c:pt idx="7">
                  <c:v>2.6519441421905363E-10</c:v>
                </c:pt>
                <c:pt idx="8">
                  <c:v>2.6519441421905363E-10</c:v>
                </c:pt>
                <c:pt idx="9">
                  <c:v>2.6519441421905363E-10</c:v>
                </c:pt>
                <c:pt idx="10">
                  <c:v>2.6519441421905363E-10</c:v>
                </c:pt>
                <c:pt idx="11">
                  <c:v>2.6519441421905363E-10</c:v>
                </c:pt>
                <c:pt idx="12">
                  <c:v>2.6519441421905363E-10</c:v>
                </c:pt>
                <c:pt idx="13">
                  <c:v>2.6519441421905363E-10</c:v>
                </c:pt>
                <c:pt idx="14">
                  <c:v>2.6519441421905363E-10</c:v>
                </c:pt>
                <c:pt idx="15">
                  <c:v>2.6519441421905363E-10</c:v>
                </c:pt>
                <c:pt idx="16">
                  <c:v>2.6519441421905363E-10</c:v>
                </c:pt>
                <c:pt idx="17">
                  <c:v>2.6519441421905363E-10</c:v>
                </c:pt>
                <c:pt idx="18">
                  <c:v>2.6519441421905363E-10</c:v>
                </c:pt>
                <c:pt idx="19">
                  <c:v>2.6519441421905363E-10</c:v>
                </c:pt>
                <c:pt idx="20">
                  <c:v>2.6519441421905363E-10</c:v>
                </c:pt>
                <c:pt idx="21">
                  <c:v>2.6519441421905363E-10</c:v>
                </c:pt>
                <c:pt idx="22">
                  <c:v>2.6519441421905363E-10</c:v>
                </c:pt>
                <c:pt idx="23">
                  <c:v>2.6519441421905363E-10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43D-4EC8-956C-C4EAC8C44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175359"/>
        <c:axId val="562176799"/>
      </c:lineChart>
      <c:catAx>
        <c:axId val="562175359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562176799"/>
        <c:crossesAt val="1.0000000000000007E-13"/>
        <c:auto val="1"/>
        <c:lblAlgn val="ctr"/>
        <c:lblOffset val="100"/>
        <c:noMultiLvlLbl val="0"/>
      </c:catAx>
      <c:valAx>
        <c:axId val="562176799"/>
        <c:scaling>
          <c:logBase val="10"/>
          <c:orientation val="minMax"/>
          <c:max val="100"/>
          <c:min val="1.0000000000000007E-1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217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431561679790026"/>
          <c:y val="3.906514343367231E-2"/>
          <c:w val="0.82209689413823273"/>
          <c:h val="0.8385790242830273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numRef>
              <c:f>'compare no const with Pb const'!$A$2:$A$25</c:f>
              <c:numCache>
                <c:formatCode>0.00</c:formatCode>
                <c:ptCount val="24"/>
                <c:pt idx="0">
                  <c:v>10.09</c:v>
                </c:pt>
                <c:pt idx="1">
                  <c:v>10</c:v>
                </c:pt>
                <c:pt idx="2">
                  <c:v>10.210000000000001</c:v>
                </c:pt>
                <c:pt idx="3">
                  <c:v>10.039999999999999</c:v>
                </c:pt>
                <c:pt idx="4">
                  <c:v>10.16</c:v>
                </c:pt>
                <c:pt idx="5">
                  <c:v>10.23</c:v>
                </c:pt>
                <c:pt idx="6">
                  <c:v>10.06</c:v>
                </c:pt>
                <c:pt idx="7">
                  <c:v>10.220000000000001</c:v>
                </c:pt>
                <c:pt idx="8">
                  <c:v>10.07</c:v>
                </c:pt>
                <c:pt idx="9">
                  <c:v>10.199999999999999</c:v>
                </c:pt>
                <c:pt idx="10">
                  <c:v>10.050000000000001</c:v>
                </c:pt>
                <c:pt idx="11">
                  <c:v>10.1</c:v>
                </c:pt>
                <c:pt idx="12">
                  <c:v>10.029999999999999</c:v>
                </c:pt>
                <c:pt idx="13">
                  <c:v>10.15</c:v>
                </c:pt>
                <c:pt idx="14">
                  <c:v>10.01</c:v>
                </c:pt>
                <c:pt idx="15">
                  <c:v>10.18</c:v>
                </c:pt>
                <c:pt idx="16">
                  <c:v>10.08</c:v>
                </c:pt>
                <c:pt idx="17">
                  <c:v>10.14</c:v>
                </c:pt>
                <c:pt idx="18">
                  <c:v>10.130000000000001</c:v>
                </c:pt>
                <c:pt idx="19">
                  <c:v>10.19</c:v>
                </c:pt>
                <c:pt idx="20">
                  <c:v>10.02</c:v>
                </c:pt>
                <c:pt idx="21">
                  <c:v>10.11</c:v>
                </c:pt>
                <c:pt idx="22">
                  <c:v>10.17</c:v>
                </c:pt>
                <c:pt idx="23">
                  <c:v>10.119999999999999</c:v>
                </c:pt>
              </c:numCache>
            </c:numRef>
          </c:cat>
          <c:val>
            <c:numRef>
              <c:f>'compare no const with Pb const'!$B$2:$B$25</c:f>
              <c:numCache>
                <c:formatCode>General</c:formatCode>
                <c:ptCount val="24"/>
                <c:pt idx="0">
                  <c:v>1.6926652361025009E-12</c:v>
                </c:pt>
                <c:pt idx="1">
                  <c:v>1.6926656966503639E-12</c:v>
                </c:pt>
                <c:pt idx="2">
                  <c:v>4.3454341402825142E-10</c:v>
                </c:pt>
                <c:pt idx="3">
                  <c:v>4.3454244253849839E-10</c:v>
                </c:pt>
                <c:pt idx="4">
                  <c:v>1.1736282873632674E-11</c:v>
                </c:pt>
                <c:pt idx="5">
                  <c:v>1.9709669568599738E-11</c:v>
                </c:pt>
                <c:pt idx="6">
                  <c:v>1.970969399339831E-11</c:v>
                </c:pt>
                <c:pt idx="7">
                  <c:v>1.3345818747174865E-9</c:v>
                </c:pt>
                <c:pt idx="8">
                  <c:v>1.3345794402029193E-9</c:v>
                </c:pt>
                <c:pt idx="9">
                  <c:v>9.5642692766258606E-10</c:v>
                </c:pt>
                <c:pt idx="10">
                  <c:v>9.5642100693777928E-10</c:v>
                </c:pt>
                <c:pt idx="11">
                  <c:v>2.6712897918787831E-10</c:v>
                </c:pt>
                <c:pt idx="12">
                  <c:v>2.6712892699645868E-10</c:v>
                </c:pt>
                <c:pt idx="13">
                  <c:v>1.1736281714087789E-11</c:v>
                </c:pt>
                <c:pt idx="14">
                  <c:v>8.4660321724038567E-8</c:v>
                </c:pt>
                <c:pt idx="15">
                  <c:v>1.1736282873632674E-11</c:v>
                </c:pt>
                <c:pt idx="16">
                  <c:v>8.4660276288965343E-8</c:v>
                </c:pt>
                <c:pt idx="17">
                  <c:v>1.4201814238030833E-11</c:v>
                </c:pt>
                <c:pt idx="18">
                  <c:v>2.8576323419504846E-10</c:v>
                </c:pt>
                <c:pt idx="19">
                  <c:v>1.4201804135251729E-11</c:v>
                </c:pt>
                <c:pt idx="20">
                  <c:v>3.7583228418221325E-11</c:v>
                </c:pt>
                <c:pt idx="21">
                  <c:v>3.7583241286728069E-11</c:v>
                </c:pt>
                <c:pt idx="22">
                  <c:v>4.3489576505541156E-10</c:v>
                </c:pt>
                <c:pt idx="23">
                  <c:v>4.3489576767431899E-10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E1-486F-8359-DDB6E115CC0D}"/>
            </c:ext>
          </c:extLst>
        </c:ser>
        <c:ser>
          <c:idx val="1"/>
          <c:order val="1"/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numRef>
              <c:f>'compare no const with Pb const'!$A$2:$A$25</c:f>
              <c:numCache>
                <c:formatCode>0.00</c:formatCode>
                <c:ptCount val="24"/>
                <c:pt idx="0">
                  <c:v>10.09</c:v>
                </c:pt>
                <c:pt idx="1">
                  <c:v>10</c:v>
                </c:pt>
                <c:pt idx="2">
                  <c:v>10.210000000000001</c:v>
                </c:pt>
                <c:pt idx="3">
                  <c:v>10.039999999999999</c:v>
                </c:pt>
                <c:pt idx="4">
                  <c:v>10.16</c:v>
                </c:pt>
                <c:pt idx="5">
                  <c:v>10.23</c:v>
                </c:pt>
                <c:pt idx="6">
                  <c:v>10.06</c:v>
                </c:pt>
                <c:pt idx="7">
                  <c:v>10.220000000000001</c:v>
                </c:pt>
                <c:pt idx="8">
                  <c:v>10.07</c:v>
                </c:pt>
                <c:pt idx="9">
                  <c:v>10.199999999999999</c:v>
                </c:pt>
                <c:pt idx="10">
                  <c:v>10.050000000000001</c:v>
                </c:pt>
                <c:pt idx="11">
                  <c:v>10.1</c:v>
                </c:pt>
                <c:pt idx="12">
                  <c:v>10.029999999999999</c:v>
                </c:pt>
                <c:pt idx="13">
                  <c:v>10.15</c:v>
                </c:pt>
                <c:pt idx="14">
                  <c:v>10.01</c:v>
                </c:pt>
                <c:pt idx="15">
                  <c:v>10.18</c:v>
                </c:pt>
                <c:pt idx="16">
                  <c:v>10.08</c:v>
                </c:pt>
                <c:pt idx="17">
                  <c:v>10.14</c:v>
                </c:pt>
                <c:pt idx="18">
                  <c:v>10.130000000000001</c:v>
                </c:pt>
                <c:pt idx="19">
                  <c:v>10.19</c:v>
                </c:pt>
                <c:pt idx="20">
                  <c:v>10.02</c:v>
                </c:pt>
                <c:pt idx="21">
                  <c:v>10.11</c:v>
                </c:pt>
                <c:pt idx="22">
                  <c:v>10.17</c:v>
                </c:pt>
                <c:pt idx="23">
                  <c:v>10.119999999999999</c:v>
                </c:pt>
              </c:numCache>
            </c:numRef>
          </c:cat>
          <c:val>
            <c:numRef>
              <c:f>'compare no const with Pb const'!$C$2:$C$25</c:f>
              <c:numCache>
                <c:formatCode>General</c:formatCode>
                <c:ptCount val="24"/>
                <c:pt idx="0">
                  <c:v>2.0562170417729023E-2</c:v>
                </c:pt>
                <c:pt idx="1">
                  <c:v>2.0856817647377221E-2</c:v>
                </c:pt>
                <c:pt idx="2">
                  <c:v>3.2929287994076462E-2</c:v>
                </c:pt>
                <c:pt idx="3">
                  <c:v>3.3081978482554945E-2</c:v>
                </c:pt>
                <c:pt idx="4">
                  <c:v>9.5049947115816019E-2</c:v>
                </c:pt>
                <c:pt idx="5">
                  <c:v>0.15602869518460913</c:v>
                </c:pt>
                <c:pt idx="6">
                  <c:v>0.1839709298575761</c:v>
                </c:pt>
                <c:pt idx="7">
                  <c:v>0.18567770376878062</c:v>
                </c:pt>
                <c:pt idx="8">
                  <c:v>0.34767526589679754</c:v>
                </c:pt>
                <c:pt idx="9">
                  <c:v>1.3650192121558928</c:v>
                </c:pt>
                <c:pt idx="10">
                  <c:v>1.3674552760421317</c:v>
                </c:pt>
                <c:pt idx="11">
                  <c:v>2.1173050660466846</c:v>
                </c:pt>
                <c:pt idx="12">
                  <c:v>2.1252586018534085</c:v>
                </c:pt>
                <c:pt idx="13">
                  <c:v>4.4636454982343245</c:v>
                </c:pt>
                <c:pt idx="14">
                  <c:v>4.4872615070033159</c:v>
                </c:pt>
                <c:pt idx="15">
                  <c:v>4.4960916134772786</c:v>
                </c:pt>
                <c:pt idx="16">
                  <c:v>4.5193042373148611</c:v>
                </c:pt>
                <c:pt idx="17">
                  <c:v>5.0433080027479935</c:v>
                </c:pt>
                <c:pt idx="18">
                  <c:v>5.7879640939116266</c:v>
                </c:pt>
                <c:pt idx="19">
                  <c:v>6.3538134435684022</c:v>
                </c:pt>
                <c:pt idx="20">
                  <c:v>8.8192464336463949</c:v>
                </c:pt>
                <c:pt idx="21">
                  <c:v>13.745057674265974</c:v>
                </c:pt>
                <c:pt idx="22">
                  <c:v>25.278412316001731</c:v>
                </c:pt>
                <c:pt idx="23">
                  <c:v>25.497318462280052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E1-486F-8359-DDB6E115C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60584656"/>
        <c:axId val="560585616"/>
      </c:barChart>
      <c:lineChart>
        <c:grouping val="standard"/>
        <c:varyColors val="0"/>
        <c:ser>
          <c:idx val="2"/>
          <c:order val="2"/>
          <c:tx>
            <c:v>avg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'compare no const with Pb const'!$Q$2:$Q$25</c:f>
              <c:numCache>
                <c:formatCode>General</c:formatCode>
                <c:ptCount val="24"/>
                <c:pt idx="0">
                  <c:v>2.6712895309216849E-10</c:v>
                </c:pt>
                <c:pt idx="1">
                  <c:v>2.6712895309216849E-10</c:v>
                </c:pt>
                <c:pt idx="2">
                  <c:v>2.6712895309216849E-10</c:v>
                </c:pt>
                <c:pt idx="3">
                  <c:v>2.6712895309216849E-10</c:v>
                </c:pt>
                <c:pt idx="4">
                  <c:v>2.6712895309216849E-10</c:v>
                </c:pt>
                <c:pt idx="5">
                  <c:v>2.6712895309216849E-10</c:v>
                </c:pt>
                <c:pt idx="6">
                  <c:v>2.6712895309216849E-10</c:v>
                </c:pt>
                <c:pt idx="7">
                  <c:v>2.6712895309216849E-10</c:v>
                </c:pt>
                <c:pt idx="8">
                  <c:v>2.6712895309216849E-10</c:v>
                </c:pt>
                <c:pt idx="9">
                  <c:v>2.6712895309216849E-10</c:v>
                </c:pt>
                <c:pt idx="10">
                  <c:v>2.6712895309216849E-10</c:v>
                </c:pt>
                <c:pt idx="11">
                  <c:v>2.6712895309216849E-10</c:v>
                </c:pt>
                <c:pt idx="12">
                  <c:v>2.6712895309216849E-10</c:v>
                </c:pt>
                <c:pt idx="13">
                  <c:v>2.6712895309216849E-10</c:v>
                </c:pt>
                <c:pt idx="14">
                  <c:v>2.6712895309216849E-10</c:v>
                </c:pt>
                <c:pt idx="15">
                  <c:v>2.6712895309216849E-10</c:v>
                </c:pt>
                <c:pt idx="16">
                  <c:v>2.6712895309216849E-10</c:v>
                </c:pt>
                <c:pt idx="17">
                  <c:v>2.6712895309216849E-10</c:v>
                </c:pt>
                <c:pt idx="18">
                  <c:v>2.6712895309216849E-10</c:v>
                </c:pt>
                <c:pt idx="19">
                  <c:v>2.6712895309216849E-10</c:v>
                </c:pt>
                <c:pt idx="20">
                  <c:v>2.6712895309216849E-10</c:v>
                </c:pt>
                <c:pt idx="21">
                  <c:v>2.6712895309216849E-10</c:v>
                </c:pt>
                <c:pt idx="22">
                  <c:v>2.6712895309216849E-10</c:v>
                </c:pt>
                <c:pt idx="23">
                  <c:v>2.6712895309216849E-10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E1-486F-8359-DDB6E115CC0D}"/>
            </c:ext>
          </c:extLst>
        </c:ser>
        <c:ser>
          <c:idx val="3"/>
          <c:order val="3"/>
          <c:tx>
            <c:v>mean</c:v>
          </c:tx>
          <c:spPr>
            <a:ln w="28575" cap="rnd">
              <a:solidFill>
                <a:schemeClr val="dk1">
                  <a:tint val="985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'compare no const with Pb const'!$R$2:$R$25</c:f>
              <c:numCache>
                <c:formatCode>General</c:formatCode>
                <c:ptCount val="24"/>
                <c:pt idx="0">
                  <c:v>2.1212818339500465</c:v>
                </c:pt>
                <c:pt idx="1">
                  <c:v>2.1212818339500465</c:v>
                </c:pt>
                <c:pt idx="2">
                  <c:v>2.1212818339500465</c:v>
                </c:pt>
                <c:pt idx="3">
                  <c:v>2.1212818339500465</c:v>
                </c:pt>
                <c:pt idx="4">
                  <c:v>2.1212818339500465</c:v>
                </c:pt>
                <c:pt idx="5">
                  <c:v>2.1212818339500465</c:v>
                </c:pt>
                <c:pt idx="6">
                  <c:v>2.1212818339500465</c:v>
                </c:pt>
                <c:pt idx="7">
                  <c:v>2.1212818339500465</c:v>
                </c:pt>
                <c:pt idx="8">
                  <c:v>2.1212818339500465</c:v>
                </c:pt>
                <c:pt idx="9">
                  <c:v>2.1212818339500465</c:v>
                </c:pt>
                <c:pt idx="10">
                  <c:v>2.1212818339500465</c:v>
                </c:pt>
                <c:pt idx="11">
                  <c:v>2.1212818339500465</c:v>
                </c:pt>
                <c:pt idx="12">
                  <c:v>2.1212818339500465</c:v>
                </c:pt>
                <c:pt idx="13">
                  <c:v>2.1212818339500465</c:v>
                </c:pt>
                <c:pt idx="14">
                  <c:v>2.1212818339500465</c:v>
                </c:pt>
                <c:pt idx="15">
                  <c:v>2.1212818339500465</c:v>
                </c:pt>
                <c:pt idx="16">
                  <c:v>2.1212818339500465</c:v>
                </c:pt>
                <c:pt idx="17">
                  <c:v>2.1212818339500465</c:v>
                </c:pt>
                <c:pt idx="18">
                  <c:v>2.1212818339500465</c:v>
                </c:pt>
                <c:pt idx="19">
                  <c:v>2.1212818339500465</c:v>
                </c:pt>
                <c:pt idx="20">
                  <c:v>2.1212818339500465</c:v>
                </c:pt>
                <c:pt idx="21">
                  <c:v>2.1212818339500465</c:v>
                </c:pt>
                <c:pt idx="22">
                  <c:v>2.1212818339500465</c:v>
                </c:pt>
                <c:pt idx="23">
                  <c:v>2.1212818339500465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3E1-486F-8359-DDB6E115C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0584656"/>
        <c:axId val="560585616"/>
      </c:lineChart>
      <c:catAx>
        <c:axId val="560584656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560585616"/>
        <c:crossesAt val="1.0000000000000007E-13"/>
        <c:auto val="1"/>
        <c:lblAlgn val="ctr"/>
        <c:lblOffset val="100"/>
        <c:noMultiLvlLbl val="0"/>
      </c:catAx>
      <c:valAx>
        <c:axId val="560585616"/>
        <c:scaling>
          <c:logBase val="10"/>
          <c:orientation val="minMax"/>
          <c:max val="100"/>
          <c:min val="1.0000000000000007E-1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0584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2" y="0"/>
            <a:ext cx="3037839" cy="464820"/>
          </a:xfrm>
          <a:prstGeom prst="rect">
            <a:avLst/>
          </a:prstGeom>
          <a:noFill/>
          <a:ln>
            <a:noFill/>
          </a:ln>
        </p:spPr>
        <p:txBody>
          <a:bodyPr lIns="93148" tIns="93148" rIns="93148" bIns="93148" anchor="t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48854" marR="0" indent="-330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97709" marR="0" indent="-66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346563" marR="0" indent="-992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795418" marR="0" indent="-2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244273" marR="0" indent="-35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693127" marR="0" indent="-69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7141984" marR="0" indent="-10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590836" marR="0" indent="-5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39" cy="464820"/>
          </a:xfrm>
          <a:prstGeom prst="rect">
            <a:avLst/>
          </a:prstGeom>
          <a:noFill/>
          <a:ln>
            <a:noFill/>
          </a:ln>
        </p:spPr>
        <p:txBody>
          <a:bodyPr lIns="93148" tIns="93148" rIns="93148" bIns="93148" anchor="t" anchorCtr="0"/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48854" marR="0" indent="-330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97709" marR="0" indent="-66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346563" marR="0" indent="-992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795418" marR="0" indent="-2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244273" marR="0" indent="-35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693127" marR="0" indent="-69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7141984" marR="0" indent="-10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590836" marR="0" indent="-5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701042" y="4415790"/>
            <a:ext cx="5608319" cy="4183380"/>
          </a:xfrm>
          <a:prstGeom prst="rect">
            <a:avLst/>
          </a:prstGeom>
          <a:noFill/>
          <a:ln>
            <a:noFill/>
          </a:ln>
        </p:spPr>
        <p:txBody>
          <a:bodyPr lIns="93148" tIns="93148" rIns="93148" bIns="93148" anchor="t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2" y="8829967"/>
            <a:ext cx="3037839" cy="464820"/>
          </a:xfrm>
          <a:prstGeom prst="rect">
            <a:avLst/>
          </a:prstGeom>
          <a:noFill/>
          <a:ln>
            <a:noFill/>
          </a:ln>
        </p:spPr>
        <p:txBody>
          <a:bodyPr lIns="93148" tIns="93148" rIns="93148" bIns="93148" anchor="b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48854" marR="0" indent="-330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97709" marR="0" indent="-66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346563" marR="0" indent="-992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795418" marR="0" indent="-2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244273" marR="0" indent="-35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693127" marR="0" indent="-690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7141984" marR="0" indent="-10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590836" marR="0" indent="-57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39" cy="464820"/>
          </a:xfrm>
          <a:prstGeom prst="rect">
            <a:avLst/>
          </a:prstGeom>
          <a:noFill/>
          <a:ln>
            <a:noFill/>
          </a:ln>
        </p:spPr>
        <p:txBody>
          <a:bodyPr lIns="93148" tIns="93148" rIns="93148" bIns="93148" anchor="b" anchorCtr="0">
            <a:noAutofit/>
          </a:bodyPr>
          <a:lstStyle/>
          <a:p>
            <a:pPr>
              <a:buClr>
                <a:srgbClr val="000000"/>
              </a:buClr>
            </a:pPr>
            <a:endParaRPr lang="en-US"/>
          </a:p>
          <a:p>
            <a:pPr lvl="1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2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3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4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5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6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7">
              <a:buClr>
                <a:srgbClr val="000000"/>
              </a:buClr>
              <a:buFont typeface="Arial"/>
              <a:buNone/>
            </a:pPr>
            <a:endParaRPr lang="en-US"/>
          </a:p>
          <a:p>
            <a:pPr lvl="8">
              <a:buClr>
                <a:srgbClr val="000000"/>
              </a:buClr>
              <a:buFont typeface="Arial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8426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701042" y="4415790"/>
            <a:ext cx="5608319" cy="4183380"/>
          </a:xfrm>
          <a:prstGeom prst="rect">
            <a:avLst/>
          </a:prstGeom>
          <a:noFill/>
          <a:ln>
            <a:noFill/>
          </a:ln>
        </p:spPr>
        <p:txBody>
          <a:bodyPr lIns="93148" tIns="46561" rIns="93148" bIns="46561" anchor="t" anchorCtr="0">
            <a:noAutofit/>
          </a:bodyPr>
          <a:lstStyle/>
          <a:p>
            <a:pPr marL="0" indent="0">
              <a:buClr>
                <a:schemeClr val="dk1"/>
              </a:buClr>
              <a:buSzPct val="100000"/>
              <a:buFont typeface="Calibri"/>
              <a:buNone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39" cy="464820"/>
          </a:xfrm>
          <a:prstGeom prst="rect">
            <a:avLst/>
          </a:prstGeom>
          <a:noFill/>
          <a:ln>
            <a:noFill/>
          </a:ln>
        </p:spPr>
        <p:txBody>
          <a:bodyPr lIns="93148" tIns="46561" rIns="93148" bIns="46561" anchor="b" anchorCtr="0">
            <a:noAutofit/>
          </a:bodyPr>
          <a:lstStyle/>
          <a:p>
            <a:pPr algn="r">
              <a:buClr>
                <a:srgbClr val="000000"/>
              </a:buCl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413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3291839" y="10226042"/>
            <a:ext cx="37307518" cy="7056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6583678" y="18653759"/>
            <a:ext cx="30723838" cy="84124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336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1pPr>
            <a:lvl2pPr marL="2403546" marR="0" indent="-3245" algn="ctr" rtl="0">
              <a:lnSpc>
                <a:spcPct val="100000"/>
              </a:lnSpc>
              <a:spcBef>
                <a:spcPts val="294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2pPr>
            <a:lvl3pPr marL="4807092" marR="0" indent="-6491" algn="ctr" rtl="0">
              <a:lnSpc>
                <a:spcPct val="100000"/>
              </a:lnSpc>
              <a:spcBef>
                <a:spcPts val="252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3pPr>
            <a:lvl4pPr marL="7210638" marR="0" indent="-9738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4pPr>
            <a:lvl5pPr marL="9614184" marR="0" indent="-283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5pPr>
            <a:lvl6pPr marL="12017731" marR="0" indent="-3530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6pPr>
            <a:lvl7pPr marL="14421276" marR="0" indent="-6776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7pPr>
            <a:lvl8pPr marL="16824824" marR="0" indent="-10024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8pPr>
            <a:lvl9pPr marL="19228368" marR="0" indent="-567" algn="ctr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2194558" y="1318262"/>
            <a:ext cx="39502080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2194558" y="7680963"/>
            <a:ext cx="19385280" cy="2172462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22311359" y="7680963"/>
            <a:ext cx="19385280" cy="2172462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2194558" y="1318262"/>
            <a:ext cx="39502080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2194558" y="7368542"/>
            <a:ext cx="19392903" cy="30708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2403546" indent="-3245" rtl="0">
              <a:spcBef>
                <a:spcPts val="0"/>
              </a:spcBef>
              <a:buFont typeface="Calibri"/>
              <a:buNone/>
              <a:defRPr/>
            </a:lvl2pPr>
            <a:lvl3pPr marL="4807092" indent="-6491" rtl="0">
              <a:spcBef>
                <a:spcPts val="0"/>
              </a:spcBef>
              <a:buFont typeface="Calibri"/>
              <a:buNone/>
              <a:defRPr/>
            </a:lvl3pPr>
            <a:lvl4pPr marL="7210638" indent="-9738" rtl="0">
              <a:spcBef>
                <a:spcPts val="0"/>
              </a:spcBef>
              <a:buFont typeface="Calibri"/>
              <a:buNone/>
              <a:defRPr/>
            </a:lvl4pPr>
            <a:lvl5pPr marL="9614184" indent="-283" rtl="0">
              <a:spcBef>
                <a:spcPts val="0"/>
              </a:spcBef>
              <a:buFont typeface="Calibri"/>
              <a:buNone/>
              <a:defRPr/>
            </a:lvl5pPr>
            <a:lvl6pPr marL="12017731" indent="-3530" rtl="0">
              <a:spcBef>
                <a:spcPts val="0"/>
              </a:spcBef>
              <a:buFont typeface="Calibri"/>
              <a:buNone/>
              <a:defRPr/>
            </a:lvl6pPr>
            <a:lvl7pPr marL="14421276" indent="-6776" rtl="0">
              <a:spcBef>
                <a:spcPts val="0"/>
              </a:spcBef>
              <a:buFont typeface="Calibri"/>
              <a:buNone/>
              <a:defRPr/>
            </a:lvl7pPr>
            <a:lvl8pPr marL="16824824" indent="-10024" rtl="0">
              <a:spcBef>
                <a:spcPts val="0"/>
              </a:spcBef>
              <a:buFont typeface="Calibri"/>
              <a:buNone/>
              <a:defRPr/>
            </a:lvl8pPr>
            <a:lvl9pPr marL="19228368" indent="-567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2"/>
          </p:nvPr>
        </p:nvSpPr>
        <p:spPr>
          <a:xfrm>
            <a:off x="2194558" y="10439400"/>
            <a:ext cx="19392903" cy="189661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3"/>
          </p:nvPr>
        </p:nvSpPr>
        <p:spPr>
          <a:xfrm>
            <a:off x="22296123" y="7368542"/>
            <a:ext cx="19400519" cy="307085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2403546" indent="-3245" rtl="0">
              <a:spcBef>
                <a:spcPts val="0"/>
              </a:spcBef>
              <a:buFont typeface="Calibri"/>
              <a:buNone/>
              <a:defRPr/>
            </a:lvl2pPr>
            <a:lvl3pPr marL="4807092" indent="-6491" rtl="0">
              <a:spcBef>
                <a:spcPts val="0"/>
              </a:spcBef>
              <a:buFont typeface="Calibri"/>
              <a:buNone/>
              <a:defRPr/>
            </a:lvl3pPr>
            <a:lvl4pPr marL="7210638" indent="-9738" rtl="0">
              <a:spcBef>
                <a:spcPts val="0"/>
              </a:spcBef>
              <a:buFont typeface="Calibri"/>
              <a:buNone/>
              <a:defRPr/>
            </a:lvl4pPr>
            <a:lvl5pPr marL="9614184" indent="-283" rtl="0">
              <a:spcBef>
                <a:spcPts val="0"/>
              </a:spcBef>
              <a:buFont typeface="Calibri"/>
              <a:buNone/>
              <a:defRPr/>
            </a:lvl5pPr>
            <a:lvl6pPr marL="12017731" indent="-3530" rtl="0">
              <a:spcBef>
                <a:spcPts val="0"/>
              </a:spcBef>
              <a:buFont typeface="Calibri"/>
              <a:buNone/>
              <a:defRPr/>
            </a:lvl6pPr>
            <a:lvl7pPr marL="14421276" indent="-6776" rtl="0">
              <a:spcBef>
                <a:spcPts val="0"/>
              </a:spcBef>
              <a:buFont typeface="Calibri"/>
              <a:buNone/>
              <a:defRPr/>
            </a:lvl7pPr>
            <a:lvl8pPr marL="16824824" indent="-10024" rtl="0">
              <a:spcBef>
                <a:spcPts val="0"/>
              </a:spcBef>
              <a:buFont typeface="Calibri"/>
              <a:buNone/>
              <a:defRPr/>
            </a:lvl8pPr>
            <a:lvl9pPr marL="19228368" indent="-567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4"/>
          </p:nvPr>
        </p:nvSpPr>
        <p:spPr>
          <a:xfrm>
            <a:off x="22296123" y="10439400"/>
            <a:ext cx="19400519" cy="189661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2194558" y="1318262"/>
            <a:ext cx="39502080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2194564" y="1310640"/>
            <a:ext cx="14439903" cy="55778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17160240" y="1310641"/>
            <a:ext cx="24536398" cy="2809494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2"/>
          </p:nvPr>
        </p:nvSpPr>
        <p:spPr>
          <a:xfrm>
            <a:off x="2194564" y="6888482"/>
            <a:ext cx="14439903" cy="2251710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2403546" indent="-3245" rtl="0">
              <a:spcBef>
                <a:spcPts val="0"/>
              </a:spcBef>
              <a:buFont typeface="Calibri"/>
              <a:buNone/>
              <a:defRPr/>
            </a:lvl2pPr>
            <a:lvl3pPr marL="4807092" indent="-6491" rtl="0">
              <a:spcBef>
                <a:spcPts val="0"/>
              </a:spcBef>
              <a:buFont typeface="Calibri"/>
              <a:buNone/>
              <a:defRPr/>
            </a:lvl3pPr>
            <a:lvl4pPr marL="7210638" indent="-9738" rtl="0">
              <a:spcBef>
                <a:spcPts val="0"/>
              </a:spcBef>
              <a:buFont typeface="Calibri"/>
              <a:buNone/>
              <a:defRPr/>
            </a:lvl4pPr>
            <a:lvl5pPr marL="9614184" indent="-283" rtl="0">
              <a:spcBef>
                <a:spcPts val="0"/>
              </a:spcBef>
              <a:buFont typeface="Calibri"/>
              <a:buNone/>
              <a:defRPr/>
            </a:lvl5pPr>
            <a:lvl6pPr marL="12017731" indent="-3530" rtl="0">
              <a:spcBef>
                <a:spcPts val="0"/>
              </a:spcBef>
              <a:buFont typeface="Calibri"/>
              <a:buNone/>
              <a:defRPr/>
            </a:lvl6pPr>
            <a:lvl7pPr marL="14421276" indent="-6776" rtl="0">
              <a:spcBef>
                <a:spcPts val="0"/>
              </a:spcBef>
              <a:buFont typeface="Calibri"/>
              <a:buNone/>
              <a:defRPr/>
            </a:lvl7pPr>
            <a:lvl8pPr marL="16824824" indent="-10024" rtl="0">
              <a:spcBef>
                <a:spcPts val="0"/>
              </a:spcBef>
              <a:buFont typeface="Calibri"/>
              <a:buNone/>
              <a:defRPr/>
            </a:lvl8pPr>
            <a:lvl9pPr marL="19228368" indent="-567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8602982" y="23042881"/>
            <a:ext cx="26334720" cy="27203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pic" idx="2"/>
          </p:nvPr>
        </p:nvSpPr>
        <p:spPr>
          <a:xfrm>
            <a:off x="8602982" y="2941317"/>
            <a:ext cx="2633472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8602982" y="25763223"/>
            <a:ext cx="26334720" cy="386333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2403546" indent="-3245" rtl="0">
              <a:spcBef>
                <a:spcPts val="0"/>
              </a:spcBef>
              <a:buFont typeface="Calibri"/>
              <a:buNone/>
              <a:defRPr/>
            </a:lvl2pPr>
            <a:lvl3pPr marL="4807092" indent="-6491" rtl="0">
              <a:spcBef>
                <a:spcPts val="0"/>
              </a:spcBef>
              <a:buFont typeface="Calibri"/>
              <a:buNone/>
              <a:defRPr/>
            </a:lvl3pPr>
            <a:lvl4pPr marL="7210638" indent="-9738" rtl="0">
              <a:spcBef>
                <a:spcPts val="0"/>
              </a:spcBef>
              <a:buFont typeface="Calibri"/>
              <a:buNone/>
              <a:defRPr/>
            </a:lvl4pPr>
            <a:lvl5pPr marL="9614184" indent="-283" rtl="0">
              <a:spcBef>
                <a:spcPts val="0"/>
              </a:spcBef>
              <a:buFont typeface="Calibri"/>
              <a:buNone/>
              <a:defRPr/>
            </a:lvl5pPr>
            <a:lvl6pPr marL="12017731" indent="-3530" rtl="0">
              <a:spcBef>
                <a:spcPts val="0"/>
              </a:spcBef>
              <a:buFont typeface="Calibri"/>
              <a:buNone/>
              <a:defRPr/>
            </a:lvl6pPr>
            <a:lvl7pPr marL="14421276" indent="-6776" rtl="0">
              <a:spcBef>
                <a:spcPts val="0"/>
              </a:spcBef>
              <a:buFont typeface="Calibri"/>
              <a:buNone/>
              <a:defRPr/>
            </a:lvl7pPr>
            <a:lvl8pPr marL="16824824" indent="-10024" rtl="0">
              <a:spcBef>
                <a:spcPts val="0"/>
              </a:spcBef>
              <a:buFont typeface="Calibri"/>
              <a:buNone/>
              <a:defRPr/>
            </a:lvl8pPr>
            <a:lvl9pPr marL="19228368" indent="-567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2194558" y="1318262"/>
            <a:ext cx="39502080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 rot="5400000">
            <a:off x="11083289" y="-1207766"/>
            <a:ext cx="21724621" cy="395020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1802659" indent="-558058" algn="l" rtl="0">
              <a:spcBef>
                <a:spcPts val="3360"/>
              </a:spcBef>
              <a:buClr>
                <a:schemeClr val="dk1"/>
              </a:buClr>
              <a:buFont typeface="Arial"/>
              <a:buChar char="•"/>
              <a:defRPr/>
            </a:lvl1pPr>
            <a:lvl2pPr marL="3905762" indent="-400561" algn="l" rtl="0">
              <a:spcBef>
                <a:spcPts val="2940"/>
              </a:spcBef>
              <a:buClr>
                <a:schemeClr val="dk1"/>
              </a:buClr>
              <a:buFont typeface="Arial"/>
              <a:buChar char="–"/>
              <a:defRPr/>
            </a:lvl2pPr>
            <a:lvl3pPr marL="6008865" indent="-230365" algn="l" rtl="0">
              <a:spcBef>
                <a:spcPts val="2520"/>
              </a:spcBef>
              <a:buClr>
                <a:schemeClr val="dk1"/>
              </a:buClr>
              <a:buFont typeface="Arial"/>
              <a:buChar char="•"/>
              <a:defRPr/>
            </a:lvl3pPr>
            <a:lvl4pPr marL="8412411" indent="-373311" algn="l" rtl="0">
              <a:spcBef>
                <a:spcPts val="210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0815958" indent="-363857" algn="l" rtl="0">
              <a:spcBef>
                <a:spcPts val="210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13219505" indent="-367104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15623049" indent="-370349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18026596" indent="-373595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20430142" indent="-364142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 rot="5400000">
            <a:off x="22715220" y="10424165"/>
            <a:ext cx="28087320" cy="98755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 rot="5400000">
            <a:off x="2598420" y="914403"/>
            <a:ext cx="28087320" cy="288950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1802659" indent="-558058" algn="l" rtl="0">
              <a:spcBef>
                <a:spcPts val="3360"/>
              </a:spcBef>
              <a:buClr>
                <a:schemeClr val="dk1"/>
              </a:buClr>
              <a:buFont typeface="Arial"/>
              <a:buChar char="•"/>
              <a:defRPr/>
            </a:lvl1pPr>
            <a:lvl2pPr marL="3905762" indent="-400561" algn="l" rtl="0">
              <a:spcBef>
                <a:spcPts val="2940"/>
              </a:spcBef>
              <a:buClr>
                <a:schemeClr val="dk1"/>
              </a:buClr>
              <a:buFont typeface="Arial"/>
              <a:buChar char="–"/>
              <a:defRPr/>
            </a:lvl2pPr>
            <a:lvl3pPr marL="6008865" indent="-230365" algn="l" rtl="0">
              <a:spcBef>
                <a:spcPts val="2520"/>
              </a:spcBef>
              <a:buClr>
                <a:schemeClr val="dk1"/>
              </a:buClr>
              <a:buFont typeface="Arial"/>
              <a:buChar char="•"/>
              <a:defRPr/>
            </a:lvl3pPr>
            <a:lvl4pPr marL="8412411" indent="-373311" algn="l" rtl="0">
              <a:spcBef>
                <a:spcPts val="2100"/>
              </a:spcBef>
              <a:buClr>
                <a:schemeClr val="dk1"/>
              </a:buClr>
              <a:buFont typeface="Arial"/>
              <a:buChar char="–"/>
              <a:defRPr/>
            </a:lvl4pPr>
            <a:lvl5pPr marL="10815958" indent="-363857" algn="l" rtl="0">
              <a:spcBef>
                <a:spcPts val="2100"/>
              </a:spcBef>
              <a:buClr>
                <a:schemeClr val="dk1"/>
              </a:buClr>
              <a:buFont typeface="Arial"/>
              <a:buChar char="»"/>
              <a:defRPr/>
            </a:lvl5pPr>
            <a:lvl6pPr marL="13219505" indent="-367104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6pPr>
            <a:lvl7pPr marL="15623049" indent="-370349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7pPr>
            <a:lvl8pPr marL="18026596" indent="-373595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8pPr>
            <a:lvl9pPr marL="20430142" indent="-364142" algn="l" rtl="0">
              <a:spcBef>
                <a:spcPts val="2100"/>
              </a:spcBef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title"/>
          </p:nvPr>
        </p:nvSpPr>
        <p:spPr>
          <a:xfrm>
            <a:off x="2194558" y="1318262"/>
            <a:ext cx="39502080" cy="5486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2194558" y="7680963"/>
            <a:ext cx="39502080" cy="2172462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1802659" marR="0" indent="-558058" algn="l" rtl="0">
              <a:lnSpc>
                <a:spcPct val="100000"/>
              </a:lnSpc>
              <a:spcBef>
                <a:spcPts val="336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/>
            </a:lvl1pPr>
            <a:lvl2pPr marL="3905762" marR="0" indent="-400561" algn="l" rtl="0">
              <a:lnSpc>
                <a:spcPct val="100000"/>
              </a:lnSpc>
              <a:spcBef>
                <a:spcPts val="29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2pPr>
            <a:lvl3pPr marL="6008865" marR="0" indent="-230365" algn="l" rtl="0">
              <a:lnSpc>
                <a:spcPct val="100000"/>
              </a:lnSpc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/>
            </a:lvl3pPr>
            <a:lvl4pPr marL="8412411" marR="0" indent="-373311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–"/>
              <a:defRPr/>
            </a:lvl4pPr>
            <a:lvl5pPr marL="10815958" marR="0" indent="-363857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»"/>
              <a:defRPr/>
            </a:lvl5pPr>
            <a:lvl6pPr marL="13219505" marR="0" indent="-367104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/>
            </a:lvl6pPr>
            <a:lvl7pPr marL="15623049" marR="0" indent="-370349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/>
            </a:lvl7pPr>
            <a:lvl8pPr marL="18026596" marR="0" indent="-373595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/>
            </a:lvl8pPr>
            <a:lvl9pPr marL="20430142" marR="0" indent="-364142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dt" idx="10"/>
          </p:nvPr>
        </p:nvSpPr>
        <p:spPr>
          <a:xfrm>
            <a:off x="2194558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ftr" idx="11"/>
          </p:nvPr>
        </p:nvSpPr>
        <p:spPr>
          <a:xfrm>
            <a:off x="14996159" y="30510484"/>
            <a:ext cx="138988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2403546" marR="0" indent="-32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4807092" marR="0" indent="-649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7210638" marR="0" indent="-97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9614184" marR="0" indent="-2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12017731" marR="0" indent="-35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14421276" marR="0" indent="-67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16824824" marR="0" indent="-1002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19228368" marR="0" indent="-56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31455359" y="30510484"/>
            <a:ext cx="1024127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  <a:rtl val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jpg"/><Relationship Id="rId21" Type="http://schemas.openxmlformats.org/officeDocument/2006/relationships/image" Target="../media/image8.svg"/><Relationship Id="rId42" Type="http://schemas.openxmlformats.org/officeDocument/2006/relationships/image" Target="../media/image29.png"/><Relationship Id="rId47" Type="http://schemas.openxmlformats.org/officeDocument/2006/relationships/image" Target="../media/image34.png"/><Relationship Id="rId63" Type="http://schemas.openxmlformats.org/officeDocument/2006/relationships/image" Target="../media/image50.png"/><Relationship Id="rId68" Type="http://schemas.openxmlformats.org/officeDocument/2006/relationships/image" Target="../media/image55.png"/><Relationship Id="rId84" Type="http://schemas.openxmlformats.org/officeDocument/2006/relationships/image" Target="../media/image71.png"/><Relationship Id="rId89" Type="http://schemas.openxmlformats.org/officeDocument/2006/relationships/chart" Target="../charts/chart1.xml"/><Relationship Id="rId16" Type="http://schemas.openxmlformats.org/officeDocument/2006/relationships/image" Target="../media/image3.jpg"/><Relationship Id="rId11" Type="http://schemas.openxmlformats.org/officeDocument/2006/relationships/hyperlink" Target="https://doi.org/10.1021/es015705v" TargetMode="External"/><Relationship Id="rId32" Type="http://schemas.openxmlformats.org/officeDocument/2006/relationships/image" Target="../media/image19.png"/><Relationship Id="rId37" Type="http://schemas.openxmlformats.org/officeDocument/2006/relationships/image" Target="../media/image24.png"/><Relationship Id="rId53" Type="http://schemas.openxmlformats.org/officeDocument/2006/relationships/image" Target="../media/image40.png"/><Relationship Id="rId58" Type="http://schemas.openxmlformats.org/officeDocument/2006/relationships/image" Target="../media/image45.png"/><Relationship Id="rId74" Type="http://schemas.openxmlformats.org/officeDocument/2006/relationships/image" Target="../media/image61.png"/><Relationship Id="rId79" Type="http://schemas.openxmlformats.org/officeDocument/2006/relationships/image" Target="../media/image66.png"/><Relationship Id="rId5" Type="http://schemas.openxmlformats.org/officeDocument/2006/relationships/hyperlink" Target="https://doi.org/10.1186/1471-2164-13-239" TargetMode="External"/><Relationship Id="rId90" Type="http://schemas.openxmlformats.org/officeDocument/2006/relationships/image" Target="../media/image76.emf"/><Relationship Id="rId22" Type="http://schemas.openxmlformats.org/officeDocument/2006/relationships/image" Target="../media/image9.png"/><Relationship Id="rId27" Type="http://schemas.openxmlformats.org/officeDocument/2006/relationships/image" Target="../media/image14.png"/><Relationship Id="rId43" Type="http://schemas.openxmlformats.org/officeDocument/2006/relationships/image" Target="../media/image30.png"/><Relationship Id="rId48" Type="http://schemas.openxmlformats.org/officeDocument/2006/relationships/image" Target="../media/image35.png"/><Relationship Id="rId64" Type="http://schemas.openxmlformats.org/officeDocument/2006/relationships/image" Target="../media/image51.png"/><Relationship Id="rId69" Type="http://schemas.openxmlformats.org/officeDocument/2006/relationships/image" Target="../media/image56.png"/><Relationship Id="rId8" Type="http://schemas.openxmlformats.org/officeDocument/2006/relationships/hyperlink" Target="https://doi.org/10.1007/s11538-015-0092-6" TargetMode="External"/><Relationship Id="rId51" Type="http://schemas.openxmlformats.org/officeDocument/2006/relationships/image" Target="../media/image38.png"/><Relationship Id="rId72" Type="http://schemas.openxmlformats.org/officeDocument/2006/relationships/image" Target="../media/image59.png"/><Relationship Id="rId80" Type="http://schemas.openxmlformats.org/officeDocument/2006/relationships/image" Target="../media/image67.png"/><Relationship Id="rId85" Type="http://schemas.openxmlformats.org/officeDocument/2006/relationships/image" Target="../media/image72.png"/><Relationship Id="rId93" Type="http://schemas.openxmlformats.org/officeDocument/2006/relationships/chart" Target="../charts/chart3.xml"/><Relationship Id="rId3" Type="http://schemas.openxmlformats.org/officeDocument/2006/relationships/oleObject" Target="../embeddings/oleObject1.bin"/><Relationship Id="rId12" Type="http://schemas.openxmlformats.org/officeDocument/2006/relationships/hyperlink" Target="https://doi.org/10.1093/nar/gkac1041" TargetMode="External"/><Relationship Id="rId17" Type="http://schemas.openxmlformats.org/officeDocument/2006/relationships/image" Target="../media/image4.jpg"/><Relationship Id="rId25" Type="http://schemas.openxmlformats.org/officeDocument/2006/relationships/image" Target="../media/image12.emf"/><Relationship Id="rId33" Type="http://schemas.openxmlformats.org/officeDocument/2006/relationships/image" Target="../media/image20.png"/><Relationship Id="rId38" Type="http://schemas.openxmlformats.org/officeDocument/2006/relationships/image" Target="../media/image25.png"/><Relationship Id="rId46" Type="http://schemas.openxmlformats.org/officeDocument/2006/relationships/image" Target="../media/image33.png"/><Relationship Id="rId59" Type="http://schemas.openxmlformats.org/officeDocument/2006/relationships/image" Target="../media/image46.png"/><Relationship Id="rId67" Type="http://schemas.openxmlformats.org/officeDocument/2006/relationships/image" Target="../media/image54.png"/><Relationship Id="rId20" Type="http://schemas.openxmlformats.org/officeDocument/2006/relationships/image" Target="../media/image7.svg"/><Relationship Id="rId41" Type="http://schemas.openxmlformats.org/officeDocument/2006/relationships/image" Target="../media/image28.emf"/><Relationship Id="rId54" Type="http://schemas.openxmlformats.org/officeDocument/2006/relationships/image" Target="../media/image41.png"/><Relationship Id="rId62" Type="http://schemas.openxmlformats.org/officeDocument/2006/relationships/image" Target="../media/image49.png"/><Relationship Id="rId70" Type="http://schemas.openxmlformats.org/officeDocument/2006/relationships/image" Target="../media/image57.png"/><Relationship Id="rId75" Type="http://schemas.openxmlformats.org/officeDocument/2006/relationships/image" Target="../media/image62.png"/><Relationship Id="rId83" Type="http://schemas.openxmlformats.org/officeDocument/2006/relationships/image" Target="../media/image70.png"/><Relationship Id="rId88" Type="http://schemas.openxmlformats.org/officeDocument/2006/relationships/image" Target="../media/image75.png"/><Relationship Id="rId91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11/j.1462-2920.2012.02887.x" TargetMode="Externa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36" Type="http://schemas.openxmlformats.org/officeDocument/2006/relationships/image" Target="../media/image23.png"/><Relationship Id="rId49" Type="http://schemas.openxmlformats.org/officeDocument/2006/relationships/image" Target="../media/image36.png"/><Relationship Id="rId57" Type="http://schemas.openxmlformats.org/officeDocument/2006/relationships/image" Target="../media/image44.png"/><Relationship Id="rId10" Type="http://schemas.openxmlformats.org/officeDocument/2006/relationships/hyperlink" Target="https://doi.org/10.1093/genetics/iyae185" TargetMode="External"/><Relationship Id="rId31" Type="http://schemas.openxmlformats.org/officeDocument/2006/relationships/image" Target="../media/image18.png"/><Relationship Id="rId44" Type="http://schemas.openxmlformats.org/officeDocument/2006/relationships/image" Target="../media/image31.png"/><Relationship Id="rId52" Type="http://schemas.openxmlformats.org/officeDocument/2006/relationships/image" Target="../media/image39.png"/><Relationship Id="rId60" Type="http://schemas.openxmlformats.org/officeDocument/2006/relationships/image" Target="../media/image47.png"/><Relationship Id="rId65" Type="http://schemas.openxmlformats.org/officeDocument/2006/relationships/image" Target="../media/image52.png"/><Relationship Id="rId73" Type="http://schemas.openxmlformats.org/officeDocument/2006/relationships/image" Target="../media/image60.png"/><Relationship Id="rId78" Type="http://schemas.openxmlformats.org/officeDocument/2006/relationships/image" Target="../media/image65.png"/><Relationship Id="rId81" Type="http://schemas.openxmlformats.org/officeDocument/2006/relationships/image" Target="../media/image68.png"/><Relationship Id="rId86" Type="http://schemas.openxmlformats.org/officeDocument/2006/relationships/image" Target="../media/image73.png"/><Relationship Id="rId94" Type="http://schemas.openxmlformats.org/officeDocument/2006/relationships/image" Target="../media/image78.emf"/><Relationship Id="rId4" Type="http://schemas.openxmlformats.org/officeDocument/2006/relationships/image" Target="../media/image1.wmf"/><Relationship Id="rId9" Type="http://schemas.openxmlformats.org/officeDocument/2006/relationships/hyperlink" Target="https://doi.org/10.7717/peerj-cs.85" TargetMode="External"/><Relationship Id="rId13" Type="http://schemas.openxmlformats.org/officeDocument/2006/relationships/hyperlink" Target="https://doi.org/10.1093/genetics/iyae049" TargetMode="External"/><Relationship Id="rId18" Type="http://schemas.openxmlformats.org/officeDocument/2006/relationships/image" Target="../media/image5.jpg"/><Relationship Id="rId39" Type="http://schemas.openxmlformats.org/officeDocument/2006/relationships/image" Target="../media/image26.jpeg"/><Relationship Id="rId34" Type="http://schemas.openxmlformats.org/officeDocument/2006/relationships/image" Target="../media/image21.png"/><Relationship Id="rId50" Type="http://schemas.openxmlformats.org/officeDocument/2006/relationships/image" Target="../media/image37.png"/><Relationship Id="rId55" Type="http://schemas.openxmlformats.org/officeDocument/2006/relationships/image" Target="../media/image42.png"/><Relationship Id="rId76" Type="http://schemas.openxmlformats.org/officeDocument/2006/relationships/image" Target="../media/image63.png"/><Relationship Id="rId7" Type="http://schemas.openxmlformats.org/officeDocument/2006/relationships/hyperlink" Target="https://www.ncbi.nlm.nih.gov/geo/query/acc.cgi?acc=GSE83656" TargetMode="External"/><Relationship Id="rId71" Type="http://schemas.openxmlformats.org/officeDocument/2006/relationships/image" Target="../media/image58.png"/><Relationship Id="rId92" Type="http://schemas.openxmlformats.org/officeDocument/2006/relationships/image" Target="../media/image77.emf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6.png"/><Relationship Id="rId24" Type="http://schemas.openxmlformats.org/officeDocument/2006/relationships/image" Target="../media/image11.png"/><Relationship Id="rId40" Type="http://schemas.openxmlformats.org/officeDocument/2006/relationships/image" Target="../media/image27.jpeg"/><Relationship Id="rId45" Type="http://schemas.openxmlformats.org/officeDocument/2006/relationships/image" Target="../media/image32.png"/><Relationship Id="rId66" Type="http://schemas.openxmlformats.org/officeDocument/2006/relationships/image" Target="../media/image53.png"/><Relationship Id="rId87" Type="http://schemas.openxmlformats.org/officeDocument/2006/relationships/image" Target="../media/image74.png"/><Relationship Id="rId61" Type="http://schemas.openxmlformats.org/officeDocument/2006/relationships/image" Target="../media/image48.png"/><Relationship Id="rId82" Type="http://schemas.openxmlformats.org/officeDocument/2006/relationships/image" Target="../media/image69.png"/><Relationship Id="rId19" Type="http://schemas.openxmlformats.org/officeDocument/2006/relationships/image" Target="../media/image6.svg"/><Relationship Id="rId14" Type="http://schemas.openxmlformats.org/officeDocument/2006/relationships/hyperlink" Target="https://doi.org/10.1152/physiolgenomics.00236.2006" TargetMode="External"/><Relationship Id="rId30" Type="http://schemas.openxmlformats.org/officeDocument/2006/relationships/image" Target="../media/image17.png"/><Relationship Id="rId35" Type="http://schemas.openxmlformats.org/officeDocument/2006/relationships/image" Target="../media/image22.png"/><Relationship Id="rId56" Type="http://schemas.openxmlformats.org/officeDocument/2006/relationships/image" Target="../media/image43.png"/><Relationship Id="rId77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1E9E8"/>
            </a:gs>
            <a:gs pos="75000">
              <a:srgbClr val="16693F"/>
            </a:gs>
          </a:gsLst>
          <a:lin ang="16200000" scaled="0"/>
          <a:tileRect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/>
          <p:cNvSpPr/>
          <p:nvPr/>
        </p:nvSpPr>
        <p:spPr>
          <a:xfrm>
            <a:off x="555440" y="6139803"/>
            <a:ext cx="10236960" cy="2608280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166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/>
          <p:cNvSpPr/>
          <p:nvPr/>
        </p:nvSpPr>
        <p:spPr>
          <a:xfrm>
            <a:off x="11430677" y="6139803"/>
            <a:ext cx="21061267" cy="2622096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166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ounded Rectangle 87"/>
          <p:cNvSpPr/>
          <p:nvPr/>
        </p:nvSpPr>
        <p:spPr>
          <a:xfrm>
            <a:off x="33076889" y="6139803"/>
            <a:ext cx="10236960" cy="2608280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166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itle 1"/>
          <p:cNvSpPr txBox="1">
            <a:spLocks/>
          </p:cNvSpPr>
          <p:nvPr/>
        </p:nvSpPr>
        <p:spPr>
          <a:xfrm>
            <a:off x="1559120" y="12137904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 lnSpcReduction="10000"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r>
              <a:rPr lang="en-US" sz="2800" b="1" dirty="0" err="1">
                <a:solidFill>
                  <a:srgbClr val="16693F"/>
                </a:solidFill>
              </a:rPr>
              <a:t>GRNmap</a:t>
            </a:r>
            <a:r>
              <a:rPr lang="en-US" sz="2800" b="1" dirty="0">
                <a:solidFill>
                  <a:srgbClr val="16693F"/>
                </a:solidFill>
              </a:rPr>
              <a:t>: Gene Regulatory Network modeling and parameter estimation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82037" y="13770561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/>
          </a:p>
        </p:txBody>
      </p:sp>
      <p:graphicFrame>
        <p:nvGraphicFramePr>
          <p:cNvPr id="148" name="Object 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261831"/>
              </p:ext>
            </p:extLst>
          </p:nvPr>
        </p:nvGraphicFramePr>
        <p:xfrm>
          <a:off x="1400396" y="13063157"/>
          <a:ext cx="4800600" cy="1188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70200" imgH="711200" progId="Equation.3">
                  <p:embed/>
                </p:oleObj>
              </mc:Choice>
              <mc:Fallback>
                <p:oleObj name="Equation" r:id="rId3" imgW="28702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396" y="13063157"/>
                        <a:ext cx="4800600" cy="1188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Text Box 4"/>
          <p:cNvSpPr txBox="1">
            <a:spLocks noChangeArrowheads="1"/>
          </p:cNvSpPr>
          <p:nvPr/>
        </p:nvSpPr>
        <p:spPr bwMode="auto">
          <a:xfrm>
            <a:off x="1414671" y="6215793"/>
            <a:ext cx="8518499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en-US" sz="2800" dirty="0" err="1">
                <a:solidFill>
                  <a:srgbClr val="16693F"/>
                </a:solidFill>
              </a:rPr>
              <a:t>GRNmap</a:t>
            </a:r>
            <a:r>
              <a:rPr lang="en-US" altLang="en-US" sz="2800" dirty="0">
                <a:solidFill>
                  <a:srgbClr val="16693F"/>
                </a:solidFill>
              </a:rPr>
              <a:t> and </a:t>
            </a:r>
            <a:r>
              <a:rPr lang="en-US" altLang="en-US" sz="2800" dirty="0" err="1">
                <a:solidFill>
                  <a:srgbClr val="16693F"/>
                </a:solidFill>
              </a:rPr>
              <a:t>GRNsight</a:t>
            </a:r>
            <a:r>
              <a:rPr lang="en-US" altLang="en-US" sz="2800" dirty="0">
                <a:solidFill>
                  <a:srgbClr val="16693F"/>
                </a:solidFill>
              </a:rPr>
              <a:t> are part of an integrated workflow to model and visualize GRNs in yeast</a:t>
            </a:r>
            <a:endParaRPr lang="en-US" altLang="en-US" sz="2800" i="1" dirty="0">
              <a:solidFill>
                <a:srgbClr val="16693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965055" y="31316312"/>
            <a:ext cx="2451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16693F"/>
                </a:solidFill>
              </a:rPr>
              <a:t>Acknowledgments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7366968" y="26678924"/>
            <a:ext cx="1647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6693F"/>
                </a:solidFill>
              </a:rPr>
              <a:t>References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869676" y="24459986"/>
            <a:ext cx="2642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6693F"/>
                </a:solidFill>
              </a:rPr>
              <a:t>Conclusions</a:t>
            </a:r>
          </a:p>
        </p:txBody>
      </p:sp>
      <p:sp>
        <p:nvSpPr>
          <p:cNvPr id="177" name="Title 1"/>
          <p:cNvSpPr txBox="1">
            <a:spLocks/>
          </p:cNvSpPr>
          <p:nvPr/>
        </p:nvSpPr>
        <p:spPr>
          <a:xfrm>
            <a:off x="12850788" y="6453417"/>
            <a:ext cx="18229077" cy="11695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r>
              <a:rPr lang="en-US" sz="3500" b="1" dirty="0" err="1">
                <a:solidFill>
                  <a:srgbClr val="16693F"/>
                </a:solidFill>
              </a:rPr>
              <a:t>GRNsight</a:t>
            </a:r>
            <a:r>
              <a:rPr lang="en-US" sz="3500" b="1" dirty="0">
                <a:solidFill>
                  <a:srgbClr val="16693F"/>
                </a:solidFill>
              </a:rPr>
              <a:t> automatically lays out the network graph, coloring the edges based on weight values, and the nodes based on experimental or simulated expression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70035" y="6215793"/>
            <a:ext cx="9241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16693F"/>
                </a:solidFill>
              </a:rPr>
              <a:t>For the 3-gene, 4-edge “toy” networks, weight estimation precision is dependent on weight values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75055" y="31616161"/>
            <a:ext cx="69262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We would like to thank the previous developers on the </a:t>
            </a:r>
            <a:r>
              <a:rPr lang="en-US" sz="1100" b="1" dirty="0" err="1"/>
              <a:t>GRNmap</a:t>
            </a:r>
            <a:r>
              <a:rPr lang="en-US" sz="1100" b="1" dirty="0"/>
              <a:t> and </a:t>
            </a:r>
            <a:r>
              <a:rPr lang="en-US" sz="1100" b="1" dirty="0" err="1"/>
              <a:t>GRNsight</a:t>
            </a:r>
            <a:r>
              <a:rPr lang="en-US" sz="1100" b="1" dirty="0"/>
              <a:t> projects. This work was partially funded by an LMU Rains Research Assistantship (N.C.C.) and an HHMI Driving Change, Seaver STEM Research Learning Community Fellowship (C.T.Z.).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57900" y="26994267"/>
            <a:ext cx="9956151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 err="1"/>
              <a:t>Apweiler</a:t>
            </a:r>
            <a:r>
              <a:rPr lang="en-US" sz="1100" dirty="0"/>
              <a:t>, E., </a:t>
            </a:r>
            <a:r>
              <a:rPr lang="en-US" sz="1100" dirty="0" err="1"/>
              <a:t>Sameith</a:t>
            </a:r>
            <a:r>
              <a:rPr lang="en-US" sz="1100" dirty="0"/>
              <a:t>, K., Margaritis, T., </a:t>
            </a:r>
            <a:r>
              <a:rPr lang="en-US" sz="1100" dirty="0" err="1"/>
              <a:t>Brabers</a:t>
            </a:r>
            <a:r>
              <a:rPr lang="en-US" sz="1100" dirty="0"/>
              <a:t>, N., van de Pasch, L., Bakker, L. V., ... &amp; </a:t>
            </a:r>
            <a:r>
              <a:rPr lang="en-US" sz="1100" dirty="0" err="1"/>
              <a:t>Kemmeren</a:t>
            </a:r>
            <a:r>
              <a:rPr lang="en-US" sz="1100" dirty="0"/>
              <a:t>, P. (2012). Yeast glucose pathways converge on the transcriptional regulation of trehalose biosynthesis. </a:t>
            </a:r>
            <a:r>
              <a:rPr lang="en-US" sz="1100" i="1" dirty="0"/>
              <a:t>BMC genomics</a:t>
            </a:r>
            <a:r>
              <a:rPr lang="en-US" sz="1100" dirty="0"/>
              <a:t>, </a:t>
            </a:r>
            <a:r>
              <a:rPr lang="en-US" sz="1100" i="1" dirty="0"/>
              <a:t>13</a:t>
            </a:r>
            <a:r>
              <a:rPr lang="en-US" sz="1100" dirty="0"/>
              <a:t>(1), 1-14. </a:t>
            </a:r>
          </a:p>
          <a:p>
            <a:pPr marL="112713" indent="-112713"/>
            <a:r>
              <a:rPr lang="en-US" sz="1100" dirty="0">
                <a:solidFill>
                  <a:srgbClr val="16693F"/>
                </a:solidFill>
              </a:rPr>
              <a:t>	</a:t>
            </a:r>
            <a:r>
              <a:rPr lang="en-US" sz="1100" dirty="0">
                <a:solidFill>
                  <a:srgbClr val="16693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https://doi.org/10.1186/1471-2164-13-239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Barreto, L., </a:t>
            </a:r>
            <a:r>
              <a:rPr lang="en-US" sz="1100" dirty="0" err="1"/>
              <a:t>Canadell</a:t>
            </a:r>
            <a:r>
              <a:rPr lang="en-US" sz="1100" dirty="0"/>
              <a:t>, D., Valverde‐</a:t>
            </a:r>
            <a:r>
              <a:rPr lang="en-US" sz="1100" dirty="0" err="1"/>
              <a:t>Saubí</a:t>
            </a:r>
            <a:r>
              <a:rPr lang="en-US" sz="1100" dirty="0"/>
              <a:t>, D., Casamayor, A., &amp; </a:t>
            </a:r>
            <a:r>
              <a:rPr lang="en-US" sz="1100" dirty="0" err="1"/>
              <a:t>Ariño</a:t>
            </a:r>
            <a:r>
              <a:rPr lang="en-US" sz="1100" dirty="0"/>
              <a:t>, J. (2012). The short‐term response of yeast to potassium starvation. </a:t>
            </a:r>
            <a:r>
              <a:rPr lang="en-US" sz="1100" i="1" dirty="0"/>
              <a:t>Environmental microbiology</a:t>
            </a:r>
            <a:r>
              <a:rPr lang="en-US" sz="1100" dirty="0"/>
              <a:t>, </a:t>
            </a:r>
            <a:r>
              <a:rPr lang="en-US" sz="1100" i="1" dirty="0"/>
              <a:t>14</a:t>
            </a:r>
            <a:r>
              <a:rPr lang="en-US" sz="1100" dirty="0"/>
              <a:t>(11), 3026-3042. </a:t>
            </a:r>
            <a:r>
              <a:rPr lang="en-US" sz="1100" dirty="0">
                <a:solidFill>
                  <a:srgbClr val="16693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https://doi.org/10.1111/j.1462-2920.2012.02887.x</a:t>
            </a:r>
            <a:endParaRPr lang="en-US" sz="1100" dirty="0">
              <a:solidFill>
                <a:srgbClr val="16693F"/>
              </a:solidFill>
            </a:endParaRP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Dahlquist, K., Abdulla, H., Arnell, A., Baker, J., Carson, R., Citti, W., De Las Casas, S., Ellis, L., Entzminger, K., Entzminger, S., Fitzpatrick, B. G., Flores, S., Harmon, N., Hennessy, K., Herman, A., Hong, M., King, H., Kubeck, L., </a:t>
            </a:r>
            <a:r>
              <a:rPr lang="en-US" sz="1100" dirty="0" err="1"/>
              <a:t>LaAnyane</a:t>
            </a:r>
            <a:r>
              <a:rPr lang="en-US" sz="1100" dirty="0"/>
              <a:t>, O., … Zapata, B. (2018, January 22). NCBI. GEO Accession Display GSE83656. </a:t>
            </a:r>
            <a:r>
              <a:rPr lang="en-US" sz="1100" dirty="0">
                <a:solidFill>
                  <a:srgbClr val="16693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https://www.ncbi.nlm.nih.gov/geo/query/acc.cgi?acc=GSE83656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Dahlquist, K.D., Fitzpatrick, B.G., Camacho, E.T., Entzminger, S.D., &amp; </a:t>
            </a:r>
            <a:r>
              <a:rPr lang="en-US" sz="1100" dirty="0" err="1"/>
              <a:t>Wanner</a:t>
            </a:r>
            <a:r>
              <a:rPr lang="en-US" sz="1100" dirty="0"/>
              <a:t>, N.C. (2015) Parameter Estimation for Gene Regulatory Networks from Microarray Data: Cold Shock Response in Saccharomyces cerevisiae. </a:t>
            </a:r>
            <a:r>
              <a:rPr lang="en-US" sz="1100" i="1" dirty="0"/>
              <a:t>Bulletin of Mathematical Biology</a:t>
            </a:r>
            <a:r>
              <a:rPr lang="en-US" sz="1100" dirty="0"/>
              <a:t>, </a:t>
            </a:r>
            <a:r>
              <a:rPr lang="en-US" sz="1100" i="1" dirty="0"/>
              <a:t>77</a:t>
            </a:r>
            <a:r>
              <a:rPr lang="en-US" sz="1100" dirty="0"/>
              <a:t>(8), 1457-1492. </a:t>
            </a:r>
            <a:r>
              <a:rPr lang="en-US" sz="1100" dirty="0">
                <a:solidFill>
                  <a:srgbClr val="16693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https://doi.org/10.1007/s11538-015-0092-6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Dahlquist, K.D., Dionisio, J.D.N., Fitzpatrick, B.G., Anguiano, N.A., Varshneya, A., Southwick, B.J., &amp; Samdarshi, M. (2016) </a:t>
            </a:r>
            <a:r>
              <a:rPr lang="en-US" sz="1100" dirty="0" err="1"/>
              <a:t>GRNsight</a:t>
            </a:r>
            <a:r>
              <a:rPr lang="en-US" sz="1100" dirty="0"/>
              <a:t>: a web application and service for visualizing models of small- to medium-scale gene regulatory networks. </a:t>
            </a:r>
            <a:r>
              <a:rPr lang="en-US" sz="1100" i="1" dirty="0" err="1"/>
              <a:t>PeerJ</a:t>
            </a:r>
            <a:r>
              <a:rPr lang="en-US" sz="1100" i="1" dirty="0"/>
              <a:t> Computer Science 2</a:t>
            </a:r>
            <a:r>
              <a:rPr lang="en-US" sz="1100" dirty="0"/>
              <a:t>:e85</a:t>
            </a:r>
            <a:r>
              <a:rPr lang="en-US" sz="1100" i="1" dirty="0"/>
              <a:t>.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16693F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https://doi.org/10.7717/peerj-cs.85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lvl="0" indent="-112713">
              <a:buFont typeface="Arial" panose="020B0604020202020204" pitchFamily="34" charset="0"/>
              <a:buChar char="•"/>
            </a:pPr>
            <a:r>
              <a:rPr lang="en-US" sz="1100" dirty="0"/>
              <a:t>Engel, S. R., Aleksander, S., Nash, R. S., Wong, E. D., Weng, S., Miyasato, S. R., ... &amp; Cherry, J. M. (2025). Saccharomyces Genome Database: advances in genome annotation, expanded biochemical pathways, and other key enhancements. Genetics, </a:t>
            </a:r>
            <a:r>
              <a:rPr lang="en-US" sz="1100" i="1" dirty="0"/>
              <a:t>229</a:t>
            </a:r>
            <a:r>
              <a:rPr lang="en-US" sz="1100" dirty="0"/>
              <a:t>(3), iyae185. </a:t>
            </a:r>
            <a:r>
              <a:rPr lang="en-US" sz="1100" dirty="0">
                <a:solidFill>
                  <a:srgbClr val="16693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https://doi.org/10.1093/genetics/iyae185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lvl="0" indent="-112713">
              <a:buFont typeface="Arial" panose="020B0604020202020204" pitchFamily="34" charset="0"/>
              <a:buChar char="•"/>
            </a:pPr>
            <a:r>
              <a:rPr lang="en-US" sz="1100" dirty="0"/>
              <a:t>Freeman, S. (2002) Biological Science. Upper Saddle River, New Jersey: Prentice Hall.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Kitagawa, E., Takahashi, J., Momose, Y., &amp; Iwahashi, H. (2002). Effects of the pesticide thiuram: genome-wide screening of indicator genes by yeast DNA microarray. </a:t>
            </a:r>
            <a:r>
              <a:rPr lang="en-US" sz="1100" i="1" dirty="0"/>
              <a:t>Environmental science &amp; technology</a:t>
            </a:r>
            <a:r>
              <a:rPr lang="en-US" sz="1100" dirty="0"/>
              <a:t>, </a:t>
            </a:r>
            <a:r>
              <a:rPr lang="en-US" sz="1100" i="1" dirty="0"/>
              <a:t>36</a:t>
            </a:r>
            <a:r>
              <a:rPr lang="en-US" sz="1100" dirty="0"/>
              <a:t>(18), 3908-3915. </a:t>
            </a:r>
            <a:r>
              <a:rPr lang="en-US" sz="1100" dirty="0">
                <a:solidFill>
                  <a:srgbClr val="16693F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https://doi.org/10.1021/es015705v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Teixeira, M. C., Viana, R., Palma, M., Oliveira, J., </a:t>
            </a:r>
            <a:r>
              <a:rPr lang="en-US" sz="1100" dirty="0" err="1"/>
              <a:t>Galocha</a:t>
            </a:r>
            <a:r>
              <a:rPr lang="en-US" sz="1100" dirty="0"/>
              <a:t>, M., Mota, M. N., ... &amp; Monteiro, P. T. (2023). YEASTRACT+: a portal for the exploitation of global transcription regulation and metabolic model data in yeast biotechnology and pathogenesis. Nucleic acids research, </a:t>
            </a:r>
            <a:r>
              <a:rPr lang="en-US" sz="1100" i="1" dirty="0"/>
              <a:t>51</a:t>
            </a:r>
            <a:r>
              <a:rPr lang="en-US" sz="1100" dirty="0"/>
              <a:t>(D1), D785-D791. </a:t>
            </a:r>
            <a:r>
              <a:rPr lang="en-US" sz="1100" dirty="0">
                <a:solidFill>
                  <a:srgbClr val="16693F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https://doi.org/10.1093/nar/gkac1041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The Alliance of Genome Resources Consortium. (2024) Updates to the Alliance of Genome Resources central infrastructure. </a:t>
            </a:r>
            <a:r>
              <a:rPr lang="en-US" sz="1100" i="1" dirty="0"/>
              <a:t>Genetics</a:t>
            </a:r>
            <a:r>
              <a:rPr lang="en-US" sz="1100" dirty="0"/>
              <a:t>, </a:t>
            </a:r>
            <a:r>
              <a:rPr lang="en-US" sz="1100" i="1" dirty="0"/>
              <a:t>227</a:t>
            </a:r>
            <a:r>
              <a:rPr lang="en-US" sz="1100" dirty="0"/>
              <a:t>(1), iyae049. </a:t>
            </a:r>
            <a:r>
              <a:rPr lang="en-US" sz="1100" dirty="0">
                <a:solidFill>
                  <a:srgbClr val="16693F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https://doi.org/10.1093/genetics/iyae049</a:t>
            </a:r>
            <a:r>
              <a:rPr lang="en-US" sz="1100" dirty="0">
                <a:solidFill>
                  <a:srgbClr val="16693F"/>
                </a:solidFill>
              </a:rPr>
              <a:t>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100" dirty="0"/>
              <a:t>Thorsen, M., </a:t>
            </a:r>
            <a:r>
              <a:rPr lang="en-US" sz="1100" dirty="0" err="1"/>
              <a:t>Lagniel</a:t>
            </a:r>
            <a:r>
              <a:rPr lang="en-US" sz="1100" dirty="0"/>
              <a:t>, G., Kristiansson, E., Junot, C., </a:t>
            </a:r>
            <a:r>
              <a:rPr lang="en-US" sz="1100" dirty="0" err="1"/>
              <a:t>Nerman</a:t>
            </a:r>
            <a:r>
              <a:rPr lang="en-US" sz="1100" dirty="0"/>
              <a:t>, O., Labarre, J., &amp; Tamás, M. J. (2007). Quantitative transcriptome, proteome, and sulfur metabolite profiling of the Saccharomyces cerevisiae response to </a:t>
            </a:r>
            <a:r>
              <a:rPr lang="en-US" sz="1100" dirty="0" err="1"/>
              <a:t>arsenite</a:t>
            </a:r>
            <a:r>
              <a:rPr lang="en-US" sz="1100" dirty="0"/>
              <a:t>. </a:t>
            </a:r>
            <a:r>
              <a:rPr lang="en-US" sz="1100" i="1" dirty="0"/>
              <a:t>Physiological genomics</a:t>
            </a:r>
            <a:r>
              <a:rPr lang="en-US" sz="1100" dirty="0"/>
              <a:t>, </a:t>
            </a:r>
            <a:r>
              <a:rPr lang="en-US" sz="1100" i="1" dirty="0"/>
              <a:t>30</a:t>
            </a:r>
            <a:r>
              <a:rPr lang="en-US" sz="1100" dirty="0"/>
              <a:t>(1), 35-43. </a:t>
            </a:r>
            <a:r>
              <a:rPr lang="en-US" sz="1100" dirty="0">
                <a:solidFill>
                  <a:srgbClr val="16693F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https://doi.org/10.1152/physiolgenomics.00236.2006 </a:t>
            </a:r>
            <a:endParaRPr lang="en-US" sz="1100" dirty="0">
              <a:solidFill>
                <a:srgbClr val="16693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257900" y="24921998"/>
            <a:ext cx="972087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3838" indent="-223838">
              <a:buFont typeface="Arial" panose="020B0604020202020204" pitchFamily="34" charset="0"/>
              <a:buChar char="•"/>
            </a:pPr>
            <a:r>
              <a:rPr lang="en-US" sz="2200" b="1" dirty="0" err="1"/>
              <a:t>GRNmap</a:t>
            </a:r>
            <a:r>
              <a:rPr lang="en-US" sz="2200" b="1" dirty="0"/>
              <a:t> and </a:t>
            </a:r>
            <a:r>
              <a:rPr lang="en-US" sz="2200" b="1" dirty="0" err="1"/>
              <a:t>GRNsight</a:t>
            </a:r>
            <a:r>
              <a:rPr lang="en-US" sz="2200" b="1" dirty="0"/>
              <a:t> are part of an integrated workflow to model and visualize GRNs in yeast.</a:t>
            </a:r>
          </a:p>
          <a:p>
            <a:pPr marL="223838" indent="-223838">
              <a:buFont typeface="Arial" panose="020B0604020202020204" pitchFamily="34" charset="0"/>
              <a:buChar char="•"/>
            </a:pPr>
            <a:r>
              <a:rPr lang="en-US" sz="2200" b="1" dirty="0"/>
              <a:t>Investigation of 3-gene, 4-edge “toy” networks showed that performance of the model estimation is influenced by a combination of network structure and edge weights.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5440" y="631663"/>
            <a:ext cx="42736498" cy="496809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1669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15"/>
          <a:srcRect b="8674"/>
          <a:stretch/>
        </p:blipFill>
        <p:spPr>
          <a:xfrm>
            <a:off x="38472382" y="2987776"/>
            <a:ext cx="4313721" cy="2331971"/>
          </a:xfrm>
          <a:prstGeom prst="rect">
            <a:avLst/>
          </a:prstGeom>
          <a:ln>
            <a:noFill/>
          </a:ln>
        </p:spPr>
      </p:pic>
      <p:grpSp>
        <p:nvGrpSpPr>
          <p:cNvPr id="19" name="Group 18"/>
          <p:cNvGrpSpPr/>
          <p:nvPr/>
        </p:nvGrpSpPr>
        <p:grpSpPr>
          <a:xfrm>
            <a:off x="17865549" y="7930253"/>
            <a:ext cx="13926837" cy="653684"/>
            <a:chOff x="17068110" y="7276093"/>
            <a:chExt cx="13926837" cy="653684"/>
          </a:xfrm>
        </p:grpSpPr>
        <p:pic>
          <p:nvPicPr>
            <p:cNvPr id="213" name="Picture 212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8" r="33299"/>
            <a:stretch/>
          </p:blipFill>
          <p:spPr>
            <a:xfrm>
              <a:off x="17068110" y="7276093"/>
              <a:ext cx="13421415" cy="653684"/>
            </a:xfrm>
            <a:prstGeom prst="rect">
              <a:avLst/>
            </a:prstGeom>
          </p:spPr>
        </p:pic>
        <p:pic>
          <p:nvPicPr>
            <p:cNvPr id="212" name="Picture 211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713" r="1563"/>
            <a:stretch/>
          </p:blipFill>
          <p:spPr>
            <a:xfrm>
              <a:off x="30216074" y="7276093"/>
              <a:ext cx="778873" cy="653684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5759" y="13563726"/>
            <a:ext cx="2908300" cy="4178300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11899210" y="7774268"/>
            <a:ext cx="6628123" cy="1308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Demo files are provided.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import and export Excel, SIF, or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GraphML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files.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construct a network from SGD regulation or PPI data stored in a backend database.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Users can select a force graph layout or grid layout.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Force graph parameter sliders: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 distance determines the minimum distance between nodes.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Nodes have a charge which repels or attracts other nodes.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Coloring can be based on user-uploaded expression data or from published expression datasets stored in a backend database.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Datasets available: 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da-DK" sz="1800" dirty="0">
                <a:latin typeface="Arial" panose="020B0604020202020204" pitchFamily="34" charset="0"/>
                <a:cs typeface="Arial" panose="020B0604020202020204" pitchFamily="34" charset="0"/>
              </a:rPr>
              <a:t>Apweiler et al. 2012, GSE33098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da-DK" sz="1800" dirty="0">
                <a:latin typeface="Arial" panose="020B0604020202020204" pitchFamily="34" charset="0"/>
                <a:cs typeface="Arial" panose="020B0604020202020204" pitchFamily="34" charset="0"/>
              </a:rPr>
              <a:t>Barreto et al. 2012, GSE24712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da-DK" sz="1800" dirty="0">
                <a:latin typeface="Arial" panose="020B0604020202020204" pitchFamily="34" charset="0"/>
                <a:cs typeface="Arial" panose="020B0604020202020204" pitchFamily="34" charset="0"/>
              </a:rPr>
              <a:t>Dahlquist et al. 2018, GSE83656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da-DK" sz="1800" dirty="0">
                <a:latin typeface="Arial" panose="020B0604020202020204" pitchFamily="34" charset="0"/>
                <a:cs typeface="Arial" panose="020B0604020202020204" pitchFamily="34" charset="0"/>
              </a:rPr>
              <a:t>Kitagawa et al. 2002, GSE9336 </a:t>
            </a:r>
          </a:p>
          <a:p>
            <a:pPr marL="1147763" lvl="2" indent="-233363">
              <a:buFont typeface="Arial" panose="020B0604020202020204" pitchFamily="34" charset="0"/>
              <a:buChar char="‒"/>
            </a:pPr>
            <a:r>
              <a:rPr lang="da-DK" sz="1800" dirty="0">
                <a:latin typeface="Arial" panose="020B0604020202020204" pitchFamily="34" charset="0"/>
                <a:cs typeface="Arial" panose="020B0604020202020204" pitchFamily="34" charset="0"/>
              </a:rPr>
              <a:t>Thorsen et al. 2007, GSE6068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Edge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Edge coloring can be toggled on and off.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Buttons enable the user to always/never see edge weights or see them upon mouseover.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Allows user to set normalization factor so that edge thicknesses for different graphs can be rendered on the same scale.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Changing the gray threshold deemphasizes weaker edges in the visualization.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Presenting gray edges as dashed lines further deemphasizes weak edges.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Multiple viewport sizes available.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Graph bounding box can be separated from viewport.</a:t>
            </a:r>
          </a:p>
          <a:p>
            <a:pPr marL="690563" lvl="1" indent="-233363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Zooming and scrolling available.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9287" y="14781671"/>
            <a:ext cx="2921000" cy="3073400"/>
          </a:xfrm>
          <a:prstGeom prst="rect">
            <a:avLst/>
          </a:prstGeom>
        </p:spPr>
      </p:pic>
      <p:sp>
        <p:nvSpPr>
          <p:cNvPr id="194" name="Google Shape;129;p1"/>
          <p:cNvSpPr txBox="1"/>
          <p:nvPr/>
        </p:nvSpPr>
        <p:spPr>
          <a:xfrm>
            <a:off x="18299248" y="8607319"/>
            <a:ext cx="32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33B3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 dirty="0">
              <a:solidFill>
                <a:srgbClr val="C3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141;p1"/>
          <p:cNvSpPr txBox="1"/>
          <p:nvPr/>
        </p:nvSpPr>
        <p:spPr>
          <a:xfrm>
            <a:off x="18299248" y="13551175"/>
            <a:ext cx="32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33B3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 dirty="0">
              <a:solidFill>
                <a:srgbClr val="C3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143;p1"/>
          <p:cNvSpPr txBox="1"/>
          <p:nvPr/>
        </p:nvSpPr>
        <p:spPr>
          <a:xfrm>
            <a:off x="28499939" y="14761197"/>
            <a:ext cx="462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33B3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C3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157;p1"/>
          <p:cNvSpPr txBox="1"/>
          <p:nvPr/>
        </p:nvSpPr>
        <p:spPr>
          <a:xfrm>
            <a:off x="25083170" y="14761197"/>
            <a:ext cx="32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C33B3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C3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142;p1"/>
          <p:cNvSpPr txBox="1"/>
          <p:nvPr/>
        </p:nvSpPr>
        <p:spPr>
          <a:xfrm>
            <a:off x="21658220" y="14761197"/>
            <a:ext cx="32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33B3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 dirty="0">
              <a:solidFill>
                <a:srgbClr val="C3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07823" y="14246342"/>
            <a:ext cx="1008376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change in mRNA expression of </a:t>
            </a:r>
          </a:p>
          <a:p>
            <a:pPr marL="227013" indent="-227013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each gene in the network is modeled as </a:t>
            </a:r>
          </a:p>
          <a:p>
            <a:pPr marL="227013" indent="-227013"/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	production – degradation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with a </a:t>
            </a:r>
          </a:p>
          <a:p>
            <a:pPr marL="227013" indent="-227013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sigmoidal production function where: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mRNA production rate for gene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mRNA degradation rate for gene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weight term, determining the magnitude of activation or repression </a:t>
            </a:r>
          </a:p>
          <a:p>
            <a:pPr marL="690563" lvl="1" indent="-233363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of regulatory transcription factor(s)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gene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the threshold of expression for each gene.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A7F38-73C1-1253-CD25-5D3D38C28408}"/>
              </a:ext>
            </a:extLst>
          </p:cNvPr>
          <p:cNvSpPr/>
          <p:nvPr/>
        </p:nvSpPr>
        <p:spPr>
          <a:xfrm>
            <a:off x="555440" y="690137"/>
            <a:ext cx="42716081" cy="48526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16693F"/>
                </a:solidFill>
                <a:latin typeface="Arial" panose="020B0604020202020204" pitchFamily="34" charset="0"/>
              </a:rPr>
              <a:t>Sensitivity analysis of </a:t>
            </a:r>
            <a:r>
              <a:rPr lang="en-US" sz="7200" b="1" dirty="0" err="1">
                <a:solidFill>
                  <a:srgbClr val="16693F"/>
                </a:solidFill>
                <a:latin typeface="Arial" panose="020B0604020202020204" pitchFamily="34" charset="0"/>
              </a:rPr>
              <a:t>GRNmap</a:t>
            </a:r>
            <a:r>
              <a:rPr lang="en-US" sz="7200" b="1" dirty="0">
                <a:solidFill>
                  <a:srgbClr val="16693F"/>
                </a:solidFill>
                <a:latin typeface="Arial" panose="020B0604020202020204" pitchFamily="34" charset="0"/>
              </a:rPr>
              <a:t> and new features for </a:t>
            </a:r>
            <a:r>
              <a:rPr lang="en-US" sz="7200" b="1" dirty="0" err="1">
                <a:solidFill>
                  <a:srgbClr val="16693F"/>
                </a:solidFill>
                <a:latin typeface="Arial" panose="020B0604020202020204" pitchFamily="34" charset="0"/>
              </a:rPr>
              <a:t>GRNsight</a:t>
            </a:r>
            <a:r>
              <a:rPr lang="en-US" sz="7200" b="1" dirty="0">
                <a:solidFill>
                  <a:srgbClr val="16693F"/>
                </a:solidFill>
                <a:latin typeface="Arial" panose="020B0604020202020204" pitchFamily="34" charset="0"/>
              </a:rPr>
              <a:t>: open source software for dynamical systems modeling and visualization of small-scale gene regulatory networks in yeast</a:t>
            </a:r>
            <a:endParaRPr lang="en-US" sz="2000" b="1" dirty="0">
              <a:latin typeface="Arial" panose="020B0604020202020204" pitchFamily="34" charset="0"/>
            </a:endParaRPr>
          </a:p>
          <a:p>
            <a:pPr algn="ctr"/>
            <a:r>
              <a:rPr lang="en-US" sz="3600" b="1" dirty="0">
                <a:latin typeface="Arial" panose="020B0604020202020204" pitchFamily="34" charset="0"/>
              </a:rPr>
              <a:t>Kam D. Dahlquist</a:t>
            </a:r>
            <a:r>
              <a:rPr lang="en-US" sz="3600" b="1" baseline="30000" dirty="0">
                <a:latin typeface="Arial" panose="020B0604020202020204" pitchFamily="34" charset="0"/>
              </a:rPr>
              <a:t>1</a:t>
            </a:r>
            <a:r>
              <a:rPr lang="en-US" sz="3600" b="1" dirty="0">
                <a:latin typeface="Arial" panose="020B0604020202020204" pitchFamily="34" charset="0"/>
              </a:rPr>
              <a:t>, Ben G. Fitzpatrick</a:t>
            </a:r>
            <a:r>
              <a:rPr lang="en-US" sz="3600" b="1" baseline="30000" dirty="0">
                <a:latin typeface="Arial" panose="020B0604020202020204" pitchFamily="34" charset="0"/>
              </a:rPr>
              <a:t>2</a:t>
            </a:r>
            <a:r>
              <a:rPr lang="en-US" sz="3600" b="1" dirty="0">
                <a:latin typeface="Arial" panose="020B0604020202020204" pitchFamily="34" charset="0"/>
              </a:rPr>
              <a:t>, John David N. Dionisio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Ngoc K. Tran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Nikki C. Chun</a:t>
            </a:r>
            <a:r>
              <a:rPr lang="en-US" sz="3600" b="1" baseline="30000" dirty="0">
                <a:latin typeface="Arial" panose="020B0604020202020204" pitchFamily="34" charset="0"/>
              </a:rPr>
              <a:t>1,2</a:t>
            </a:r>
            <a:r>
              <a:rPr lang="en-US" sz="3600" b="1" dirty="0">
                <a:latin typeface="Arial" panose="020B0604020202020204" pitchFamily="34" charset="0"/>
              </a:rPr>
              <a:t>, </a:t>
            </a:r>
          </a:p>
          <a:p>
            <a:pPr algn="ctr"/>
            <a:r>
              <a:rPr lang="en-US" sz="3600" b="1" dirty="0">
                <a:latin typeface="Arial" panose="020B0604020202020204" pitchFamily="34" charset="0"/>
              </a:rPr>
              <a:t>Cecilia J. Zaragoza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Amelie T. Dinh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Milka Y. Zekarias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Jia S. Garcia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Alex J. Miller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  <a:r>
              <a:rPr lang="en-US" sz="3600" b="1" dirty="0">
                <a:latin typeface="Arial" panose="020B0604020202020204" pitchFamily="34" charset="0"/>
              </a:rPr>
              <a:t>, Cindy L. Tong</a:t>
            </a:r>
            <a:r>
              <a:rPr lang="en-US" sz="3600" b="1" baseline="30000" dirty="0">
                <a:latin typeface="Arial" panose="020B0604020202020204" pitchFamily="34" charset="0"/>
              </a:rPr>
              <a:t>3</a:t>
            </a:r>
          </a:p>
          <a:p>
            <a:pPr algn="ctr"/>
            <a:endParaRPr lang="en-US" b="1" baseline="30000" dirty="0">
              <a:latin typeface="Arial" panose="020B0604020202020204" pitchFamily="34" charset="0"/>
            </a:endParaRPr>
          </a:p>
          <a:p>
            <a:pPr algn="ctr"/>
            <a:r>
              <a:rPr lang="en-US" sz="2800" b="1" dirty="0">
                <a:latin typeface="Arial" panose="020B0604020202020204" pitchFamily="34" charset="0"/>
              </a:rPr>
              <a:t>Departments of </a:t>
            </a:r>
            <a:r>
              <a:rPr lang="en-US" sz="2800" b="1" baseline="30000" dirty="0">
                <a:latin typeface="Arial" panose="020B0604020202020204" pitchFamily="34" charset="0"/>
              </a:rPr>
              <a:t>1</a:t>
            </a:r>
            <a:r>
              <a:rPr lang="en-US" sz="2800" b="1" dirty="0">
                <a:latin typeface="Arial" panose="020B0604020202020204" pitchFamily="34" charset="0"/>
              </a:rPr>
              <a:t>Biology, </a:t>
            </a:r>
            <a:r>
              <a:rPr lang="en-US" sz="2800" b="1" baseline="30000" dirty="0">
                <a:latin typeface="Arial" panose="020B0604020202020204" pitchFamily="34" charset="0"/>
              </a:rPr>
              <a:t>2</a:t>
            </a:r>
            <a:r>
              <a:rPr lang="en-US" sz="2800" b="1" dirty="0">
                <a:latin typeface="Arial" panose="020B0604020202020204" pitchFamily="34" charset="0"/>
              </a:rPr>
              <a:t>Mathematics, and </a:t>
            </a:r>
            <a:r>
              <a:rPr lang="en-US" sz="2800" b="1" baseline="30000" dirty="0">
                <a:latin typeface="Arial" panose="020B0604020202020204" pitchFamily="34" charset="0"/>
              </a:rPr>
              <a:t>3</a:t>
            </a:r>
            <a:r>
              <a:rPr lang="en-US" sz="2800" b="1" dirty="0">
                <a:latin typeface="Arial" panose="020B0604020202020204" pitchFamily="34" charset="0"/>
              </a:rPr>
              <a:t>Computer Science, Loyola Marymount University, 1 LMU Drive, Los Angeles, CA 90045 USA</a:t>
            </a:r>
          </a:p>
          <a:p>
            <a:pPr algn="ctr"/>
            <a:endParaRPr lang="en-US" sz="800" dirty="0">
              <a:latin typeface="Arial" panose="020B0604020202020204" pitchFamily="34" charset="0"/>
            </a:endParaRPr>
          </a:p>
          <a:p>
            <a:pPr algn="ctr"/>
            <a:endParaRPr lang="en-US" sz="800" dirty="0">
              <a:latin typeface="Arial" panose="020B0604020202020204" pitchFamily="34" charset="0"/>
            </a:endParaRPr>
          </a:p>
          <a:p>
            <a:pPr algn="ctr"/>
            <a:r>
              <a:rPr lang="en-US" sz="4000" b="1" dirty="0">
                <a:solidFill>
                  <a:srgbClr val="014D00"/>
                </a:solidFill>
                <a:latin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16693F"/>
                </a:solidFill>
                <a:latin typeface="Arial" panose="020B0604020202020204" pitchFamily="34" charset="0"/>
              </a:rPr>
              <a:t>https://kdahlquist.github.io/GRNmap/</a:t>
            </a:r>
            <a:r>
              <a:rPr lang="en-US" sz="4000" b="1" dirty="0">
                <a:latin typeface="Arial" panose="020B0604020202020204" pitchFamily="34" charset="0"/>
              </a:rPr>
              <a:t> and </a:t>
            </a:r>
            <a:r>
              <a:rPr lang="en-US" sz="4000" b="1" dirty="0">
                <a:solidFill>
                  <a:srgbClr val="16693F"/>
                </a:solidFill>
                <a:latin typeface="Arial" panose="020B0604020202020204" pitchFamily="34" charset="0"/>
              </a:rPr>
              <a:t>https://dondi.github.io/GRNsight/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6805FB8D-3B37-46FC-04FD-7BD112F70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35220" y="2919716"/>
            <a:ext cx="2427423" cy="2427423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2FCE9BB-FABE-96B9-EE81-7D7B0869F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744329" y="2919716"/>
            <a:ext cx="2419222" cy="2419222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BDA00EAC-7D00-3A6C-C270-21FCC2D39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44943" y="2919716"/>
            <a:ext cx="2426146" cy="2426146"/>
          </a:xfrm>
          <a:prstGeom prst="rect">
            <a:avLst/>
          </a:prstGeom>
        </p:spPr>
      </p:pic>
      <p:pic>
        <p:nvPicPr>
          <p:cNvPr id="141" name="Picture 140"/>
          <p:cNvPicPr>
            <a:picLocks noChangeAspect="1"/>
          </p:cNvPicPr>
          <p:nvPr/>
        </p:nvPicPr>
        <p:blipFill>
          <a:blip r:embed="rId2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38" y="2959432"/>
            <a:ext cx="2331971" cy="23319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B2C8F8-3AA9-9293-CEC3-75774DF291AE}"/>
              </a:ext>
            </a:extLst>
          </p:cNvPr>
          <p:cNvSpPr txBox="1"/>
          <p:nvPr/>
        </p:nvSpPr>
        <p:spPr>
          <a:xfrm>
            <a:off x="36361470" y="519363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GRNsight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CFEDA9-52AE-B1C0-841E-F81ED9B6CB90}"/>
              </a:ext>
            </a:extLst>
          </p:cNvPr>
          <p:cNvSpPr txBox="1"/>
          <p:nvPr/>
        </p:nvSpPr>
        <p:spPr>
          <a:xfrm>
            <a:off x="7084782" y="5193635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GRNmap</a:t>
            </a:r>
            <a:endParaRPr 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F089C-B374-6FD4-7984-5AE9C321A5BB}"/>
              </a:ext>
            </a:extLst>
          </p:cNvPr>
          <p:cNvSpPr txBox="1"/>
          <p:nvPr/>
        </p:nvSpPr>
        <p:spPr>
          <a:xfrm>
            <a:off x="4523174" y="519363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Poster</a:t>
            </a:r>
          </a:p>
        </p:txBody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C23A6D78-B88F-9BED-DFEE-5FAAAC1B6183}"/>
              </a:ext>
            </a:extLst>
          </p:cNvPr>
          <p:cNvGrpSpPr/>
          <p:nvPr/>
        </p:nvGrpSpPr>
        <p:grpSpPr>
          <a:xfrm>
            <a:off x="768550" y="7331220"/>
            <a:ext cx="9923035" cy="4525878"/>
            <a:chOff x="768550" y="7331220"/>
            <a:chExt cx="9923035" cy="4525878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8B11104-E7A1-F56B-CC64-B7D770C29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516"/>
            <a:stretch>
              <a:fillRect/>
            </a:stretch>
          </p:blipFill>
          <p:spPr>
            <a:xfrm>
              <a:off x="1340050" y="7331220"/>
              <a:ext cx="2729209" cy="1661553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7561FA9-75CB-468C-4C56-415082ECD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050"/>
            <a:stretch>
              <a:fillRect/>
            </a:stretch>
          </p:blipFill>
          <p:spPr>
            <a:xfrm>
              <a:off x="7566105" y="10243430"/>
              <a:ext cx="2767419" cy="1601485"/>
            </a:xfrm>
            <a:prstGeom prst="rect">
              <a:avLst/>
            </a:prstGeom>
          </p:spPr>
        </p:pic>
        <p:pic>
          <p:nvPicPr>
            <p:cNvPr id="54" name="Picture 2" descr="figure01a">
              <a:extLst>
                <a:ext uri="{FF2B5EF4-FFF2-40B4-BE49-F238E27FC236}">
                  <a16:creationId xmlns:a16="http://schemas.microsoft.com/office/drawing/2014/main" id="{45BCB66A-5075-DD09-A619-E929D753CC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7933" y="9022253"/>
              <a:ext cx="1483652" cy="1112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746BDFEB-DD2C-F51D-686A-630D57669D2F}"/>
                </a:ext>
              </a:extLst>
            </p:cNvPr>
            <p:cNvGrpSpPr/>
            <p:nvPr/>
          </p:nvGrpSpPr>
          <p:grpSpPr>
            <a:xfrm>
              <a:off x="783611" y="9219280"/>
              <a:ext cx="1222434" cy="718687"/>
              <a:chOff x="783611" y="9207433"/>
              <a:chExt cx="1222434" cy="718687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B87BA802-0147-99CD-23C2-B199AF9F6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85201" y="9207433"/>
                <a:ext cx="1220844" cy="311933"/>
              </a:xfrm>
              <a:prstGeom prst="rect">
                <a:avLst/>
              </a:prstGeom>
            </p:spPr>
          </p:pic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4822B114-A4A8-55AF-2EC1-ABC608F9235A}"/>
                  </a:ext>
                </a:extLst>
              </p:cNvPr>
              <p:cNvGrpSpPr/>
              <p:nvPr/>
            </p:nvGrpSpPr>
            <p:grpSpPr>
              <a:xfrm>
                <a:off x="783611" y="9649121"/>
                <a:ext cx="1222434" cy="276999"/>
                <a:chOff x="398464" y="3872588"/>
                <a:chExt cx="1474677" cy="334157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A54086EA-1DF7-FD6A-2342-08BDB14159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398464" y="3872588"/>
                  <a:ext cx="744054" cy="334157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224D761A-D18C-0094-B05F-99721C07C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42519" y="3872588"/>
                  <a:ext cx="730622" cy="3341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61814A1-2374-A261-1CEF-0E063735EA93}"/>
                </a:ext>
              </a:extLst>
            </p:cNvPr>
            <p:cNvGrpSpPr/>
            <p:nvPr/>
          </p:nvGrpSpPr>
          <p:grpSpPr>
            <a:xfrm>
              <a:off x="7508081" y="7460136"/>
              <a:ext cx="2464366" cy="1403720"/>
              <a:chOff x="5893733" y="831949"/>
              <a:chExt cx="2464366" cy="1403720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95DE6E4A-DEEB-43A1-1673-B90E7E35F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893733" y="831949"/>
                <a:ext cx="543195" cy="865088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C14A601-E82D-0E95-D666-6F4A075003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002833" y="936185"/>
                <a:ext cx="568754" cy="865088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09CDBA05-81BF-8EC6-FC66-714AB66E3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108122" y="1036395"/>
                <a:ext cx="483444" cy="869113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516C35C5-D17D-0575-B943-5A3369A0D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05904" y="1141159"/>
                <a:ext cx="1518774" cy="866940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7081AACF-62F8-56D6-0363-F05FBE0C76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349845" y="1252635"/>
                <a:ext cx="1666580" cy="865088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64649BA0-6C92-CFD7-152F-AC37E9DA8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592714" y="1368729"/>
                <a:ext cx="1765385" cy="866940"/>
              </a:xfrm>
              <a:prstGeom prst="rect">
                <a:avLst/>
              </a:prstGeom>
            </p:spPr>
          </p:pic>
        </p:grp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59342ECF-A8CA-B73C-3064-575D3666A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68550" y="10111159"/>
              <a:ext cx="1339998" cy="1745939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8A05284-0903-95D7-58BF-462EEBC32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066177" y="8446053"/>
              <a:ext cx="1215486" cy="1745938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B79E70A-C97A-82AD-A1D9-D947CE87C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192496" y="10116048"/>
              <a:ext cx="1021950" cy="1741050"/>
            </a:xfrm>
            <a:prstGeom prst="rect">
              <a:avLst/>
            </a:prstGeom>
          </p:spPr>
        </p:pic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4DD9BD44-2BB0-3018-777D-7A308AB4B1A5}"/>
                </a:ext>
              </a:extLst>
            </p:cNvPr>
            <p:cNvGrpSpPr/>
            <p:nvPr/>
          </p:nvGrpSpPr>
          <p:grpSpPr>
            <a:xfrm>
              <a:off x="3432349" y="8446053"/>
              <a:ext cx="4483143" cy="2265140"/>
              <a:chOff x="3434177" y="8446053"/>
              <a:chExt cx="4483143" cy="2265140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79FF7ED6-9C61-393B-E815-E9AE534BFA8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069595" y="8446053"/>
                <a:ext cx="847725" cy="51435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F2E3F0C6-56F2-8CEA-95CC-E67E9DB66034}"/>
                  </a:ext>
                </a:extLst>
              </p:cNvPr>
              <p:cNvCxnSpPr/>
              <p:nvPr/>
            </p:nvCxnSpPr>
            <p:spPr bwMode="auto">
              <a:xfrm flipH="1">
                <a:off x="7069595" y="10196843"/>
                <a:ext cx="847725" cy="51435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D6A38624-6402-D54D-9984-6776B99745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3434177" y="8446053"/>
                <a:ext cx="847725" cy="51435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5052E4A-D2EC-D213-08B8-519A63744238}"/>
                  </a:ext>
                </a:extLst>
              </p:cNvPr>
              <p:cNvCxnSpPr/>
              <p:nvPr/>
            </p:nvCxnSpPr>
            <p:spPr bwMode="auto">
              <a:xfrm flipH="1" flipV="1">
                <a:off x="3434177" y="10196843"/>
                <a:ext cx="847725" cy="51435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586452F-B999-85CD-7B3A-9823B4494466}"/>
                </a:ext>
              </a:extLst>
            </p:cNvPr>
            <p:cNvGrpSpPr/>
            <p:nvPr/>
          </p:nvGrpSpPr>
          <p:grpSpPr>
            <a:xfrm>
              <a:off x="4419013" y="10835571"/>
              <a:ext cx="2509815" cy="923619"/>
              <a:chOff x="534387" y="4504947"/>
              <a:chExt cx="2509815" cy="923619"/>
            </a:xfrm>
          </p:grpSpPr>
          <p:sp>
            <p:nvSpPr>
              <p:cNvPr id="40" name="Rounded Rectangle 1">
                <a:extLst>
                  <a:ext uri="{FF2B5EF4-FFF2-40B4-BE49-F238E27FC236}">
                    <a16:creationId xmlns:a16="http://schemas.microsoft.com/office/drawing/2014/main" id="{F562B803-8A0A-3983-905B-7A3B70F9E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387" y="4504947"/>
                <a:ext cx="2509815" cy="923619"/>
              </a:xfrm>
              <a:prstGeom prst="roundRect">
                <a:avLst>
                  <a:gd name="adj" fmla="val 16667"/>
                </a:avLst>
              </a:prstGeom>
              <a:solidFill>
                <a:srgbClr val="16693F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8" name="TextBox 5">
                <a:extLst>
                  <a:ext uri="{FF2B5EF4-FFF2-40B4-BE49-F238E27FC236}">
                    <a16:creationId xmlns:a16="http://schemas.microsoft.com/office/drawing/2014/main" id="{739194FF-A298-F1D3-6722-006A8CB8D0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563" y="4505091"/>
                <a:ext cx="2303463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b="1" dirty="0">
                    <a:solidFill>
                      <a:schemeClr val="bg1"/>
                    </a:solidFill>
                  </a:rPr>
                  <a:t>Visualization of  modeling results using </a:t>
                </a:r>
                <a:r>
                  <a:rPr lang="en-US" altLang="en-US" sz="1800" b="1" dirty="0" err="1">
                    <a:solidFill>
                      <a:schemeClr val="bg1"/>
                    </a:solidFill>
                  </a:rPr>
                  <a:t>GRNsight</a:t>
                </a:r>
                <a:endParaRPr lang="en-US" altLang="en-US" sz="18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A89844A-0571-CB52-5A32-D1A0F601D6C4}"/>
                </a:ext>
              </a:extLst>
            </p:cNvPr>
            <p:cNvGrpSpPr/>
            <p:nvPr/>
          </p:nvGrpSpPr>
          <p:grpSpPr>
            <a:xfrm>
              <a:off x="4280682" y="7436653"/>
              <a:ext cx="2786477" cy="934104"/>
              <a:chOff x="-6669271" y="19033115"/>
              <a:chExt cx="2786477" cy="934104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4791E97-6B5C-B1B4-25A3-B6A8133A1A9E}"/>
                  </a:ext>
                </a:extLst>
              </p:cNvPr>
              <p:cNvGrpSpPr/>
              <p:nvPr/>
            </p:nvGrpSpPr>
            <p:grpSpPr>
              <a:xfrm>
                <a:off x="-6669271" y="19033115"/>
                <a:ext cx="2786477" cy="934104"/>
                <a:chOff x="3063195" y="1371002"/>
                <a:chExt cx="2786477" cy="934104"/>
              </a:xfrm>
            </p:grpSpPr>
            <p:sp>
              <p:nvSpPr>
                <p:cNvPr id="7" name="Rounded Rectangle 1">
                  <a:extLst>
                    <a:ext uri="{FF2B5EF4-FFF2-40B4-BE49-F238E27FC236}">
                      <a16:creationId xmlns:a16="http://schemas.microsoft.com/office/drawing/2014/main" id="{D634379B-D5BD-3CA8-FD23-97954313AA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01526" y="1381487"/>
                  <a:ext cx="2509815" cy="9236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97B49"/>
                </a:solidFill>
                <a:ln>
                  <a:noFill/>
                </a:ln>
              </p:spPr>
              <p:txBody>
                <a:bodyPr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CA11EA92-FAEA-13CD-68E6-AA39DDB500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63195" y="1371002"/>
                  <a:ext cx="2786477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 b="1" dirty="0">
                      <a:solidFill>
                        <a:schemeClr val="bg1"/>
                      </a:solidFill>
                    </a:rPr>
                    <a:t>Export to Excel</a:t>
                  </a:r>
                </a:p>
              </p:txBody>
            </p:sp>
          </p:grpSp>
          <p:pic>
            <p:nvPicPr>
              <p:cNvPr id="211" name="Picture 210">
                <a:extLst>
                  <a:ext uri="{FF2B5EF4-FFF2-40B4-BE49-F238E27FC236}">
                    <a16:creationId xmlns:a16="http://schemas.microsoft.com/office/drawing/2014/main" id="{71D4DCB5-AEE8-A61B-C23E-859BEFAC72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115" t="25234" r="21151" b="25277"/>
              <a:stretch/>
            </p:blipFill>
            <p:spPr>
              <a:xfrm>
                <a:off x="-5592310" y="19366175"/>
                <a:ext cx="632554" cy="561663"/>
              </a:xfrm>
              <a:prstGeom prst="rect">
                <a:avLst/>
              </a:prstGeom>
            </p:spPr>
          </p:pic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A45A8247-E65A-2B27-F20A-B0DF0D84A95E}"/>
                </a:ext>
              </a:extLst>
            </p:cNvPr>
            <p:cNvGrpSpPr/>
            <p:nvPr/>
          </p:nvGrpSpPr>
          <p:grpSpPr>
            <a:xfrm>
              <a:off x="2134518" y="9116814"/>
              <a:ext cx="7078805" cy="923619"/>
              <a:chOff x="2106299" y="9118059"/>
              <a:chExt cx="7078805" cy="923619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C20B173-81E7-19CF-03A9-A37007FC48F6}"/>
                  </a:ext>
                </a:extLst>
              </p:cNvPr>
              <p:cNvGrpSpPr/>
              <p:nvPr/>
            </p:nvGrpSpPr>
            <p:grpSpPr>
              <a:xfrm>
                <a:off x="2106299" y="9118059"/>
                <a:ext cx="2509815" cy="923619"/>
                <a:chOff x="545024" y="2899435"/>
                <a:chExt cx="2509815" cy="923619"/>
              </a:xfrm>
            </p:grpSpPr>
            <p:sp>
              <p:nvSpPr>
                <p:cNvPr id="94" name="Rounded Rectangle 1">
                  <a:extLst>
                    <a:ext uri="{FF2B5EF4-FFF2-40B4-BE49-F238E27FC236}">
                      <a16:creationId xmlns:a16="http://schemas.microsoft.com/office/drawing/2014/main" id="{74A2AFD0-5893-8BA9-F300-DD0691A0E8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5024" y="2899435"/>
                  <a:ext cx="2509815" cy="9236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16693F"/>
                </a:solidFill>
                <a:ln>
                  <a:noFill/>
                </a:ln>
              </p:spPr>
              <p:txBody>
                <a:bodyPr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00" name="TextBox 5">
                  <a:extLst>
                    <a:ext uri="{FF2B5EF4-FFF2-40B4-BE49-F238E27FC236}">
                      <a16:creationId xmlns:a16="http://schemas.microsoft.com/office/drawing/2014/main" id="{D2D154E6-FDE5-6008-7FAB-5544847373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8200" y="2899579"/>
                  <a:ext cx="2303463" cy="923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 b="1" dirty="0">
                      <a:solidFill>
                        <a:schemeClr val="bg1"/>
                      </a:solidFill>
                    </a:rPr>
                    <a:t>Select network and expression data in </a:t>
                  </a:r>
                  <a:r>
                    <a:rPr lang="en-US" altLang="en-US" sz="1800" b="1" dirty="0" err="1">
                      <a:solidFill>
                        <a:schemeClr val="bg1"/>
                      </a:solidFill>
                    </a:rPr>
                    <a:t>GRNsight</a:t>
                  </a:r>
                  <a:endParaRPr lang="en-US" altLang="en-US" sz="18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B5E472F9-D418-F8EF-E513-EACE43F2FBAA}"/>
                  </a:ext>
                </a:extLst>
              </p:cNvPr>
              <p:cNvGrpSpPr/>
              <p:nvPr/>
            </p:nvGrpSpPr>
            <p:grpSpPr>
              <a:xfrm>
                <a:off x="6675289" y="9118059"/>
                <a:ext cx="2509815" cy="923619"/>
                <a:chOff x="-3674450" y="20387840"/>
                <a:chExt cx="2509815" cy="923619"/>
              </a:xfrm>
            </p:grpSpPr>
            <p:sp>
              <p:nvSpPr>
                <p:cNvPr id="17" name="Rounded Rectangle 1">
                  <a:extLst>
                    <a:ext uri="{FF2B5EF4-FFF2-40B4-BE49-F238E27FC236}">
                      <a16:creationId xmlns:a16="http://schemas.microsoft.com/office/drawing/2014/main" id="{38A8F785-4D5D-6641-ED0C-55EA64DEBC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674450" y="20387840"/>
                  <a:ext cx="2509815" cy="92361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378B57"/>
                </a:solidFill>
                <a:ln>
                  <a:noFill/>
                </a:ln>
              </p:spPr>
              <p:txBody>
                <a:bodyPr/>
                <a:lstStyle>
                  <a:lvl1pPr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6" name="TextBox 5">
                  <a:extLst>
                    <a:ext uri="{FF2B5EF4-FFF2-40B4-BE49-F238E27FC236}">
                      <a16:creationId xmlns:a16="http://schemas.microsoft.com/office/drawing/2014/main" id="{301EE7AA-AE5C-87A6-6AD0-45B1946CDB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3674450" y="20387984"/>
                  <a:ext cx="2509815" cy="923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800" b="1" dirty="0">
                      <a:solidFill>
                        <a:schemeClr val="bg1"/>
                      </a:solidFill>
                    </a:rPr>
                    <a:t>Dynamical systems modeling using </a:t>
                  </a:r>
                  <a:r>
                    <a:rPr lang="en-US" altLang="en-US" sz="1800" b="1" dirty="0" err="1">
                      <a:solidFill>
                        <a:schemeClr val="bg1"/>
                      </a:solidFill>
                    </a:rPr>
                    <a:t>GRNmap</a:t>
                  </a:r>
                  <a:endParaRPr lang="en-US" altLang="en-US" sz="18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14" name="Picture 213">
                  <a:extLst>
                    <a:ext uri="{FF2B5EF4-FFF2-40B4-BE49-F238E27FC236}">
                      <a16:creationId xmlns:a16="http://schemas.microsoft.com/office/drawing/2014/main" id="{70626505-A42A-766C-3099-A5812FBFDE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817855" y="20704091"/>
                  <a:ext cx="577385" cy="51134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28" name="Text Box 4">
            <a:extLst>
              <a:ext uri="{FF2B5EF4-FFF2-40B4-BE49-F238E27FC236}">
                <a16:creationId xmlns:a16="http://schemas.microsoft.com/office/drawing/2014/main" id="{A86198E1-B738-6653-03CE-4398CDF58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3442" y="23422135"/>
            <a:ext cx="8000956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altLang="en-US" sz="2800" dirty="0">
                <a:solidFill>
                  <a:srgbClr val="16693F"/>
                </a:solidFill>
              </a:rPr>
              <a:t>Three small candidate GRNs for regulating the cold shock response vary in sensitivity to small changes in input expression data</a:t>
            </a:r>
            <a:endParaRPr lang="en-US" altLang="en-US" sz="2800" i="1" dirty="0">
              <a:solidFill>
                <a:srgbClr val="16693F"/>
              </a:solidFill>
            </a:endParaRP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A0DAD48-4FB6-933D-C940-CECCE26E789F}"/>
              </a:ext>
            </a:extLst>
          </p:cNvPr>
          <p:cNvGrpSpPr/>
          <p:nvPr/>
        </p:nvGrpSpPr>
        <p:grpSpPr>
          <a:xfrm>
            <a:off x="6851739" y="13063091"/>
            <a:ext cx="3910402" cy="3229189"/>
            <a:chOff x="562799" y="15092521"/>
            <a:chExt cx="3910402" cy="3229189"/>
          </a:xfrm>
        </p:grpSpPr>
        <p:sp>
          <p:nvSpPr>
            <p:cNvPr id="6" name="TextBox 5"/>
            <p:cNvSpPr txBox="1"/>
            <p:nvPr/>
          </p:nvSpPr>
          <p:spPr>
            <a:xfrm>
              <a:off x="1972727" y="15906440"/>
              <a:ext cx="435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8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2576300" y="16482983"/>
              <a:ext cx="435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pic>
          <p:nvPicPr>
            <p:cNvPr id="232" name="Picture 2">
              <a:extLst>
                <a:ext uri="{FF2B5EF4-FFF2-40B4-BE49-F238E27FC236}">
                  <a16:creationId xmlns:a16="http://schemas.microsoft.com/office/drawing/2014/main" id="{3D848A58-627B-8F8F-2D99-04791D50DD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34" t="1322" r="13334" b="1174"/>
            <a:stretch>
              <a:fillRect/>
            </a:stretch>
          </p:blipFill>
          <p:spPr bwMode="auto">
            <a:xfrm>
              <a:off x="861278" y="15092521"/>
              <a:ext cx="2988437" cy="2961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188FD6DD-9B48-3D84-D34A-A1F6CC1221C5}"/>
                </a:ext>
              </a:extLst>
            </p:cNvPr>
            <p:cNvSpPr txBox="1"/>
            <p:nvPr/>
          </p:nvSpPr>
          <p:spPr>
            <a:xfrm>
              <a:off x="990116" y="16834677"/>
              <a:ext cx="560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1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endParaRPr 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A3529F07-6E1A-7C8C-6B0F-92AE01EAC31C}"/>
                </a:ext>
              </a:extLst>
            </p:cNvPr>
            <p:cNvSpPr/>
            <p:nvPr/>
          </p:nvSpPr>
          <p:spPr>
            <a:xfrm>
              <a:off x="1527787" y="15581228"/>
              <a:ext cx="344458" cy="23784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  <a:ln w="3175">
              <a:solidFill>
                <a:srgbClr val="7099C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1CBAAAA-D8D5-AD27-E897-93DF506FE69E}"/>
                </a:ext>
              </a:extLst>
            </p:cNvPr>
            <p:cNvSpPr txBox="1"/>
            <p:nvPr/>
          </p:nvSpPr>
          <p:spPr>
            <a:xfrm>
              <a:off x="1510638" y="15447331"/>
              <a:ext cx="435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en-US" sz="18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4A4CD50D-EF96-8FF4-ECF7-293F34667037}"/>
                </a:ext>
              </a:extLst>
            </p:cNvPr>
            <p:cNvSpPr txBox="1"/>
            <p:nvPr/>
          </p:nvSpPr>
          <p:spPr>
            <a:xfrm>
              <a:off x="2233381" y="15655136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DNA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2ED5BE13-CDC9-7724-AB40-75434036C1D5}"/>
                </a:ext>
              </a:extLst>
            </p:cNvPr>
            <p:cNvSpPr txBox="1"/>
            <p:nvPr/>
          </p:nvSpPr>
          <p:spPr>
            <a:xfrm>
              <a:off x="2206993" y="16145935"/>
              <a:ext cx="7344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mRNA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3EC9FDDF-E8F4-C520-17E7-4E1C7A99847A}"/>
                </a:ext>
              </a:extLst>
            </p:cNvPr>
            <p:cNvSpPr txBox="1"/>
            <p:nvPr/>
          </p:nvSpPr>
          <p:spPr>
            <a:xfrm>
              <a:off x="562799" y="15899805"/>
              <a:ext cx="13276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Transcription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1CF91F7-6370-2626-2341-A8A34A9F341F}"/>
                </a:ext>
              </a:extLst>
            </p:cNvPr>
            <p:cNvSpPr txBox="1"/>
            <p:nvPr/>
          </p:nvSpPr>
          <p:spPr>
            <a:xfrm>
              <a:off x="2709500" y="17398821"/>
              <a:ext cx="801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Protein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80B588D7-CB0D-35AB-22A8-C9B37F64AE95}"/>
                </a:ext>
              </a:extLst>
            </p:cNvPr>
            <p:cNvSpPr txBox="1"/>
            <p:nvPr/>
          </p:nvSpPr>
          <p:spPr>
            <a:xfrm>
              <a:off x="742336" y="17209460"/>
              <a:ext cx="11480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Translation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82155" y="17760563"/>
              <a:ext cx="13545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/>
                <a:t>Image adapted</a:t>
              </a:r>
            </a:p>
            <a:p>
              <a:r>
                <a:rPr lang="en-US" sz="800" b="1" dirty="0"/>
                <a:t>from Freeman (2002)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53319101-BF46-F207-9364-AC4D8744A22B}"/>
                </a:ext>
              </a:extLst>
            </p:cNvPr>
            <p:cNvSpPr txBox="1"/>
            <p:nvPr/>
          </p:nvSpPr>
          <p:spPr>
            <a:xfrm>
              <a:off x="2598970" y="16829455"/>
              <a:ext cx="18069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mRNA degradation</a:t>
              </a:r>
            </a:p>
          </p:txBody>
        </p: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84D91B13-468A-E8A6-5966-D14D6CC6FBE2}"/>
                </a:ext>
              </a:extLst>
            </p:cNvPr>
            <p:cNvCxnSpPr>
              <a:cxnSpLocks/>
            </p:cNvCxnSpPr>
            <p:nvPr/>
          </p:nvCxnSpPr>
          <p:spPr>
            <a:xfrm>
              <a:off x="2901225" y="17653337"/>
              <a:ext cx="414731" cy="40868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23E86555-BE3B-513C-EE24-E6C5EF4E3B94}"/>
                </a:ext>
              </a:extLst>
            </p:cNvPr>
            <p:cNvSpPr txBox="1"/>
            <p:nvPr/>
          </p:nvSpPr>
          <p:spPr>
            <a:xfrm>
              <a:off x="2598970" y="18013933"/>
              <a:ext cx="18742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Protein degradation</a:t>
              </a:r>
            </a:p>
          </p:txBody>
        </p: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73F51EE3-0242-78C7-6C05-2E55648D482B}"/>
                </a:ext>
              </a:extLst>
            </p:cNvPr>
            <p:cNvCxnSpPr>
              <a:cxnSpLocks/>
            </p:cNvCxnSpPr>
            <p:nvPr/>
          </p:nvCxnSpPr>
          <p:spPr>
            <a:xfrm>
              <a:off x="1870311" y="16838250"/>
              <a:ext cx="811410" cy="16858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CBC29433-E1B9-89E5-9FC6-8497CDFEB03D}"/>
                </a:ext>
              </a:extLst>
            </p:cNvPr>
            <p:cNvSpPr txBox="1"/>
            <p:nvPr/>
          </p:nvSpPr>
          <p:spPr>
            <a:xfrm>
              <a:off x="1920253" y="15849556"/>
              <a:ext cx="560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CDD50B7A-A90C-1473-36D2-907971F15891}"/>
                </a:ext>
              </a:extLst>
            </p:cNvPr>
            <p:cNvSpPr txBox="1"/>
            <p:nvPr/>
          </p:nvSpPr>
          <p:spPr>
            <a:xfrm>
              <a:off x="2317948" y="16613244"/>
              <a:ext cx="393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</p:grpSp>
      <p:pic>
        <p:nvPicPr>
          <p:cNvPr id="259" name="Picture 258">
            <a:extLst>
              <a:ext uri="{FF2B5EF4-FFF2-40B4-BE49-F238E27FC236}">
                <a16:creationId xmlns:a16="http://schemas.microsoft.com/office/drawing/2014/main" id="{17F8EB17-856A-A970-6EB9-6A583EA7455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435188" y="17140149"/>
            <a:ext cx="4341876" cy="976884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12B8A4D1-4B51-856C-7A26-696C74ADBFC8}"/>
              </a:ext>
            </a:extLst>
          </p:cNvPr>
          <p:cNvSpPr txBox="1"/>
          <p:nvPr/>
        </p:nvSpPr>
        <p:spPr>
          <a:xfrm>
            <a:off x="612659" y="17613335"/>
            <a:ext cx="988395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parameters are estimated</a:t>
            </a:r>
          </a:p>
          <a:p>
            <a:pPr marL="233363" indent="-233363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using a penalized least squares approach.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200" i="1" dirty="0">
                <a:latin typeface="Symbol" panose="05050102010706020507" pitchFamily="18" charset="2"/>
                <a:cs typeface="Arial" panose="020B0604020202020204" pitchFamily="34" charset="0"/>
              </a:rPr>
              <a:t>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determined empirically to find the best balance between minimizing both the penalty term (</a:t>
            </a:r>
            <a:r>
              <a:rPr lang="en-US" sz="2200" i="1" dirty="0">
                <a:latin typeface="Symbol" panose="05050102010706020507" pitchFamily="18" charset="2"/>
                <a:cs typeface="Arial" panose="020B0604020202020204" pitchFamily="34" charset="0"/>
              </a:rPr>
              <a:t>q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and the error term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all three parameters are estimated, the total number of parameters is twice the number of genes plus the number of edges.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the 15-gene, 28-edge network, there are 58 parameters being estimated, which are a lot given the amount of input data.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GRNmap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can also:</a:t>
            </a:r>
          </a:p>
          <a:p>
            <a:pPr marL="1138238" lvl="8" indent="-222250"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constant and only estimate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1138238" lvl="8" indent="-222250"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constant and estimate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or</a:t>
            </a:r>
          </a:p>
          <a:p>
            <a:pPr marL="1138238" lvl="8" indent="-222250"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constant and estimate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21670D15-C807-DCE0-7EB8-5467CF5BAC92}"/>
              </a:ext>
            </a:extLst>
          </p:cNvPr>
          <p:cNvSpPr txBox="1"/>
          <p:nvPr/>
        </p:nvSpPr>
        <p:spPr>
          <a:xfrm>
            <a:off x="616200" y="21583021"/>
            <a:ext cx="1017619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LSE:minLSE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ratio is computed from the least squares error (</a:t>
            </a: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) from the estimation and the minimum theoretical error given the variance in the experimental expression data.</a:t>
            </a:r>
          </a:p>
          <a:p>
            <a:pPr marL="690563" lvl="1" indent="-233363">
              <a:buFont typeface="Arial" panose="020B0604020202020204" pitchFamily="34" charset="0"/>
              <a:buChar char="‒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LSE:minLSE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ratio can then be used as a metric to compare model performance for different networks.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F3269-6032-DD07-73F0-20CC72A1111B}"/>
              </a:ext>
            </a:extLst>
          </p:cNvPr>
          <p:cNvSpPr txBox="1"/>
          <p:nvPr/>
        </p:nvSpPr>
        <p:spPr>
          <a:xfrm>
            <a:off x="11899210" y="20147690"/>
            <a:ext cx="2037149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6. Export</a:t>
            </a:r>
            <a:endParaRPr lang="en-US" sz="2400" dirty="0"/>
          </a:p>
          <a:p>
            <a:pPr marL="690245" lvl="1" indent="-233045">
              <a:buFont typeface="Arial,Sans-Serif"/>
              <a:buChar char="•"/>
            </a:pPr>
            <a:r>
              <a:rPr lang="en-US" sz="2200" dirty="0"/>
              <a:t>Network data export to SIF or </a:t>
            </a:r>
            <a:r>
              <a:rPr lang="en-US" sz="2200" dirty="0" err="1"/>
              <a:t>GraphML</a:t>
            </a:r>
            <a:r>
              <a:rPr lang="en-US" sz="2200" dirty="0"/>
              <a:t> or full data to </a:t>
            </a:r>
            <a:r>
              <a:rPr lang="en-US" sz="2200" dirty="0" err="1"/>
              <a:t>GRNmap</a:t>
            </a:r>
            <a:r>
              <a:rPr lang="en-US" sz="2200" dirty="0"/>
              <a:t>-compatible Excel workbook, with yeast mRNA degradation rates from </a:t>
            </a:r>
            <a:r>
              <a:rPr lang="en-US" sz="2200" dirty="0" err="1"/>
              <a:t>Neymotin</a:t>
            </a:r>
            <a:r>
              <a:rPr lang="en-US" sz="2200" dirty="0"/>
              <a:t> et al. (2014). </a:t>
            </a:r>
          </a:p>
          <a:p>
            <a:pPr marL="690245" lvl="1" indent="-233045">
              <a:buFont typeface="Arial,Sans-Serif"/>
              <a:buChar char="•"/>
            </a:pPr>
            <a:r>
              <a:rPr lang="en-US" sz="2200" dirty="0"/>
              <a:t>Image export to PNG, SVG, or PDF</a:t>
            </a:r>
            <a:r>
              <a:rPr lang="en-US" sz="2400" dirty="0"/>
              <a:t>.</a:t>
            </a:r>
            <a:endParaRPr lang="en-US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F342E6-CA20-5EFF-9A43-92FF44B8D585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8910262" y="18062514"/>
            <a:ext cx="2743200" cy="2209800"/>
          </a:xfrm>
          <a:prstGeom prst="rect">
            <a:avLst/>
          </a:prstGeom>
        </p:spPr>
      </p:pic>
      <p:sp>
        <p:nvSpPr>
          <p:cNvPr id="14" name="Google Shape;143;p1">
            <a:extLst>
              <a:ext uri="{FF2B5EF4-FFF2-40B4-BE49-F238E27FC236}">
                <a16:creationId xmlns:a16="http://schemas.microsoft.com/office/drawing/2014/main" id="{207C1614-E49F-126C-E2FA-3E7F1E54C054}"/>
              </a:ext>
            </a:extLst>
          </p:cNvPr>
          <p:cNvSpPr txBox="1"/>
          <p:nvPr/>
        </p:nvSpPr>
        <p:spPr>
          <a:xfrm>
            <a:off x="28499939" y="17996516"/>
            <a:ext cx="462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rgbClr val="C33B3B"/>
                </a:solidFill>
              </a:rPr>
              <a:t>6</a:t>
            </a:r>
            <a:endParaRPr sz="1400" b="0" i="0" u="none" strike="noStrike" cap="none" dirty="0">
              <a:solidFill>
                <a:srgbClr val="C3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F10254C6-1AB8-DE85-1F8C-24722A28A6A6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726369" y="8667063"/>
            <a:ext cx="10044041" cy="5966757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AA7F6639-06B2-B840-667D-5EDE29A6BB19}"/>
              </a:ext>
            </a:extLst>
          </p:cNvPr>
          <p:cNvGrpSpPr/>
          <p:nvPr/>
        </p:nvGrpSpPr>
        <p:grpSpPr>
          <a:xfrm>
            <a:off x="29816065" y="12731954"/>
            <a:ext cx="1786246" cy="1743523"/>
            <a:chOff x="29816065" y="12949669"/>
            <a:chExt cx="1786246" cy="1743523"/>
          </a:xfrm>
        </p:grpSpPr>
        <p:sp>
          <p:nvSpPr>
            <p:cNvPr id="182" name="Google Shape;117;p1"/>
            <p:cNvSpPr/>
            <p:nvPr/>
          </p:nvSpPr>
          <p:spPr>
            <a:xfrm>
              <a:off x="29838204" y="12958592"/>
              <a:ext cx="1764107" cy="1734600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18;p1"/>
            <p:cNvCxnSpPr>
              <a:cxnSpLocks/>
            </p:cNvCxnSpPr>
            <p:nvPr/>
          </p:nvCxnSpPr>
          <p:spPr>
            <a:xfrm>
              <a:off x="31144459" y="14550083"/>
              <a:ext cx="363067" cy="0"/>
            </a:xfrm>
            <a:prstGeom prst="straightConnector1">
              <a:avLst/>
            </a:prstGeom>
            <a:noFill/>
            <a:ln w="34925" cap="flat" cmpd="sng">
              <a:solidFill>
                <a:srgbClr val="807F8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4" name="Google Shape;119;p1"/>
            <p:cNvCxnSpPr>
              <a:cxnSpLocks/>
            </p:cNvCxnSpPr>
            <p:nvPr/>
          </p:nvCxnSpPr>
          <p:spPr>
            <a:xfrm>
              <a:off x="30811849" y="13876219"/>
              <a:ext cx="695677" cy="0"/>
            </a:xfrm>
            <a:prstGeom prst="straightConnector1">
              <a:avLst/>
            </a:prstGeom>
            <a:noFill/>
            <a:ln w="57150" cap="flat" cmpd="sng">
              <a:solidFill>
                <a:srgbClr val="C43D3C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grpSp>
          <p:nvGrpSpPr>
            <p:cNvPr id="185" name="Google Shape;120;p1"/>
            <p:cNvGrpSpPr/>
            <p:nvPr/>
          </p:nvGrpSpPr>
          <p:grpSpPr>
            <a:xfrm>
              <a:off x="30815022" y="14125786"/>
              <a:ext cx="668651" cy="174833"/>
              <a:chOff x="294155" y="3559219"/>
              <a:chExt cx="733500" cy="260400"/>
            </a:xfrm>
          </p:grpSpPr>
          <p:cxnSp>
            <p:nvCxnSpPr>
              <p:cNvPr id="192" name="Google Shape;121;p1"/>
              <p:cNvCxnSpPr/>
              <p:nvPr/>
            </p:nvCxnSpPr>
            <p:spPr>
              <a:xfrm>
                <a:off x="294155" y="3689468"/>
                <a:ext cx="733500" cy="0"/>
              </a:xfrm>
              <a:prstGeom prst="straightConnector1">
                <a:avLst/>
              </a:prstGeom>
              <a:noFill/>
              <a:ln w="57150" cap="flat" cmpd="sng">
                <a:solidFill>
                  <a:srgbClr val="337BB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3" name="Google Shape;122;p1"/>
              <p:cNvCxnSpPr/>
              <p:nvPr/>
            </p:nvCxnSpPr>
            <p:spPr>
              <a:xfrm>
                <a:off x="1015403" y="3559219"/>
                <a:ext cx="0" cy="260400"/>
              </a:xfrm>
              <a:prstGeom prst="straightConnector1">
                <a:avLst/>
              </a:prstGeom>
              <a:noFill/>
              <a:ln w="57150" cap="rnd" cmpd="sng">
                <a:solidFill>
                  <a:srgbClr val="337BB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86" name="Google Shape;123;p1"/>
            <p:cNvSpPr txBox="1"/>
            <p:nvPr/>
          </p:nvSpPr>
          <p:spPr>
            <a:xfrm>
              <a:off x="29816065" y="13696562"/>
              <a:ext cx="934622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24;p1"/>
            <p:cNvSpPr txBox="1"/>
            <p:nvPr/>
          </p:nvSpPr>
          <p:spPr>
            <a:xfrm>
              <a:off x="29819645" y="14033155"/>
              <a:ext cx="1162768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repression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25;p1"/>
            <p:cNvSpPr txBox="1"/>
            <p:nvPr/>
          </p:nvSpPr>
          <p:spPr>
            <a:xfrm>
              <a:off x="29816065" y="14376959"/>
              <a:ext cx="1359342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weak influence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27;p1"/>
            <p:cNvSpPr txBox="1"/>
            <p:nvPr/>
          </p:nvSpPr>
          <p:spPr>
            <a:xfrm>
              <a:off x="29826495" y="13355030"/>
              <a:ext cx="746983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gene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28;p1"/>
            <p:cNvSpPr txBox="1"/>
            <p:nvPr/>
          </p:nvSpPr>
          <p:spPr>
            <a:xfrm>
              <a:off x="29838201" y="12949669"/>
              <a:ext cx="1764107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FC2A80B-DDF8-67AF-D235-25AABE25E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0811849" y="13382046"/>
              <a:ext cx="655757" cy="26748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D1C81187-9ECF-9CD1-306E-2334555ECC7B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8643555" y="8645057"/>
            <a:ext cx="2946032" cy="492698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341C324C-C7A4-6539-01AC-A14E693D6BC7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1994390" y="14782592"/>
            <a:ext cx="2933333" cy="530793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D6EA8FE3-BD08-AD56-E108-BF1733673C4A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5439625" y="14782408"/>
            <a:ext cx="2920635" cy="5333333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6B5ED3A-CF32-3ED7-C3BE-0422218EA600}"/>
              </a:ext>
            </a:extLst>
          </p:cNvPr>
          <p:cNvGrpSpPr/>
          <p:nvPr/>
        </p:nvGrpSpPr>
        <p:grpSpPr>
          <a:xfrm>
            <a:off x="1475487" y="25053664"/>
            <a:ext cx="3543411" cy="2100916"/>
            <a:chOff x="1475487" y="25053664"/>
            <a:chExt cx="3543411" cy="210091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663CC9D-E7D1-6693-A629-798565657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475487" y="25053664"/>
              <a:ext cx="3543411" cy="2100916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CDB66BC-99AA-E0AD-0FAE-53D9CEDFBCFB}"/>
                </a:ext>
              </a:extLst>
            </p:cNvPr>
            <p:cNvSpPr txBox="1"/>
            <p:nvPr/>
          </p:nvSpPr>
          <p:spPr>
            <a:xfrm>
              <a:off x="3910480" y="2612217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409DA4E-1B8B-1817-FF1A-096E5603BB2C}"/>
                </a:ext>
              </a:extLst>
            </p:cNvPr>
            <p:cNvSpPr txBox="1"/>
            <p:nvPr/>
          </p:nvSpPr>
          <p:spPr>
            <a:xfrm>
              <a:off x="2149137" y="26116881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ABE3B69-3BCE-DF22-F8F8-CEA63CFAEFCD}"/>
                </a:ext>
              </a:extLst>
            </p:cNvPr>
            <p:cNvSpPr txBox="1"/>
            <p:nvPr/>
          </p:nvSpPr>
          <p:spPr>
            <a:xfrm>
              <a:off x="3277260" y="2600040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68C84EC-0870-A287-CA5C-5224336334F2}"/>
                </a:ext>
              </a:extLst>
            </p:cNvPr>
            <p:cNvSpPr txBox="1"/>
            <p:nvPr/>
          </p:nvSpPr>
          <p:spPr>
            <a:xfrm>
              <a:off x="4012349" y="25813116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C1715B4-4899-1BC0-ECBE-9D7F1C8841BE}"/>
                </a:ext>
              </a:extLst>
            </p:cNvPr>
            <p:cNvSpPr txBox="1"/>
            <p:nvPr/>
          </p:nvSpPr>
          <p:spPr>
            <a:xfrm>
              <a:off x="3422936" y="25402431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6CF2B29-9A35-3EB7-78B5-19B9D4138744}"/>
                </a:ext>
              </a:extLst>
            </p:cNvPr>
            <p:cNvSpPr txBox="1"/>
            <p:nvPr/>
          </p:nvSpPr>
          <p:spPr>
            <a:xfrm>
              <a:off x="3704897" y="25306400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37C12B2-0DAA-B16D-1828-96AD98A44AF4}"/>
                </a:ext>
              </a:extLst>
            </p:cNvPr>
            <p:cNvSpPr txBox="1"/>
            <p:nvPr/>
          </p:nvSpPr>
          <p:spPr>
            <a:xfrm>
              <a:off x="3147446" y="25601542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F4369DB-6F7D-66B9-CDA5-B69631A6EDE4}"/>
                </a:ext>
              </a:extLst>
            </p:cNvPr>
            <p:cNvSpPr txBox="1"/>
            <p:nvPr/>
          </p:nvSpPr>
          <p:spPr>
            <a:xfrm>
              <a:off x="4471267" y="25395391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606F88B-54E0-B225-4CA3-617EFDD7B5A9}"/>
                </a:ext>
              </a:extLst>
            </p:cNvPr>
            <p:cNvSpPr txBox="1"/>
            <p:nvPr/>
          </p:nvSpPr>
          <p:spPr>
            <a:xfrm>
              <a:off x="2453454" y="25421224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2F2CFC6-CCF4-7E2C-5360-501D70AE998A}"/>
                </a:ext>
              </a:extLst>
            </p:cNvPr>
            <p:cNvSpPr txBox="1"/>
            <p:nvPr/>
          </p:nvSpPr>
          <p:spPr>
            <a:xfrm>
              <a:off x="2239306" y="25412515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D60CF3E-C6A7-2A3E-5033-2A20BA5817D7}"/>
              </a:ext>
            </a:extLst>
          </p:cNvPr>
          <p:cNvGrpSpPr/>
          <p:nvPr/>
        </p:nvGrpSpPr>
        <p:grpSpPr>
          <a:xfrm>
            <a:off x="4962127" y="25053664"/>
            <a:ext cx="3543411" cy="2100916"/>
            <a:chOff x="4962127" y="25053664"/>
            <a:chExt cx="3543411" cy="210091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2AEE64C-9EAB-9F2B-45FD-C7852BAEC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4962127" y="25053664"/>
              <a:ext cx="3543411" cy="2100916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1035C00-7FCF-1B6C-5CA2-3504FA1E72E7}"/>
                </a:ext>
              </a:extLst>
            </p:cNvPr>
            <p:cNvSpPr txBox="1"/>
            <p:nvPr/>
          </p:nvSpPr>
          <p:spPr>
            <a:xfrm>
              <a:off x="7406991" y="26117816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849D273-3200-D332-3C72-C244D654A6F3}"/>
                </a:ext>
              </a:extLst>
            </p:cNvPr>
            <p:cNvSpPr txBox="1"/>
            <p:nvPr/>
          </p:nvSpPr>
          <p:spPr>
            <a:xfrm>
              <a:off x="5645648" y="26112519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1DC0338-E53A-AFF5-075F-BD7CB04711A4}"/>
                </a:ext>
              </a:extLst>
            </p:cNvPr>
            <p:cNvSpPr txBox="1"/>
            <p:nvPr/>
          </p:nvSpPr>
          <p:spPr>
            <a:xfrm>
              <a:off x="6773771" y="25996046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0336E43-9335-DA77-9789-98B3EDA34692}"/>
                </a:ext>
              </a:extLst>
            </p:cNvPr>
            <p:cNvSpPr txBox="1"/>
            <p:nvPr/>
          </p:nvSpPr>
          <p:spPr>
            <a:xfrm>
              <a:off x="7508860" y="25808754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C8DD10D-C4B7-EB53-9BB1-763B212613A8}"/>
                </a:ext>
              </a:extLst>
            </p:cNvPr>
            <p:cNvSpPr txBox="1"/>
            <p:nvPr/>
          </p:nvSpPr>
          <p:spPr>
            <a:xfrm>
              <a:off x="6919447" y="25398069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6332CF4-E0DA-2977-9242-051B456EBE2F}"/>
                </a:ext>
              </a:extLst>
            </p:cNvPr>
            <p:cNvSpPr txBox="1"/>
            <p:nvPr/>
          </p:nvSpPr>
          <p:spPr>
            <a:xfrm>
              <a:off x="7201408" y="2530203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46C3D27-52CE-4AF3-729A-3FD11F22D1B2}"/>
                </a:ext>
              </a:extLst>
            </p:cNvPr>
            <p:cNvSpPr txBox="1"/>
            <p:nvPr/>
          </p:nvSpPr>
          <p:spPr>
            <a:xfrm>
              <a:off x="6643957" y="25597180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FF90DA1-6A05-C341-C1A8-251E4864BF2B}"/>
                </a:ext>
              </a:extLst>
            </p:cNvPr>
            <p:cNvSpPr txBox="1"/>
            <p:nvPr/>
          </p:nvSpPr>
          <p:spPr>
            <a:xfrm>
              <a:off x="7967778" y="25391029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2B697C4-70B7-D8BB-9035-99BD7302A7C8}"/>
                </a:ext>
              </a:extLst>
            </p:cNvPr>
            <p:cNvSpPr txBox="1"/>
            <p:nvPr/>
          </p:nvSpPr>
          <p:spPr>
            <a:xfrm>
              <a:off x="5949965" y="25416862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6A5B8E-6091-A1F4-DD72-6C87E2D0570D}"/>
                </a:ext>
              </a:extLst>
            </p:cNvPr>
            <p:cNvSpPr txBox="1"/>
            <p:nvPr/>
          </p:nvSpPr>
          <p:spPr>
            <a:xfrm>
              <a:off x="5735817" y="25408153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985B660-A0BD-EA08-FFF5-E24C40F22FE1}"/>
              </a:ext>
            </a:extLst>
          </p:cNvPr>
          <p:cNvGrpSpPr/>
          <p:nvPr/>
        </p:nvGrpSpPr>
        <p:grpSpPr>
          <a:xfrm>
            <a:off x="1475487" y="27109419"/>
            <a:ext cx="3543411" cy="2100916"/>
            <a:chOff x="1475487" y="27109419"/>
            <a:chExt cx="3543411" cy="2100916"/>
          </a:xfrm>
        </p:grpSpPr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DD08B9E-96AA-0957-CBD0-72F9835CA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1475487" y="27109419"/>
              <a:ext cx="3543411" cy="2100916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F57C6AC-8D17-30BD-0BE4-95A21CCF09FC}"/>
                </a:ext>
              </a:extLst>
            </p:cNvPr>
            <p:cNvSpPr txBox="1"/>
            <p:nvPr/>
          </p:nvSpPr>
          <p:spPr>
            <a:xfrm>
              <a:off x="3638632" y="27866162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79CF542-AD2F-4955-EDC4-48340C6187C9}"/>
                </a:ext>
              </a:extLst>
            </p:cNvPr>
            <p:cNvSpPr txBox="1"/>
            <p:nvPr/>
          </p:nvSpPr>
          <p:spPr>
            <a:xfrm>
              <a:off x="2628635" y="2790137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340DFCF-FAF6-29A3-6EA1-206F635DC0E3}"/>
              </a:ext>
            </a:extLst>
          </p:cNvPr>
          <p:cNvGrpSpPr/>
          <p:nvPr/>
        </p:nvGrpSpPr>
        <p:grpSpPr>
          <a:xfrm>
            <a:off x="1475487" y="29218316"/>
            <a:ext cx="3543411" cy="2100916"/>
            <a:chOff x="1475487" y="29146124"/>
            <a:chExt cx="3543411" cy="2100916"/>
          </a:xfrm>
        </p:grpSpPr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0C83BD98-4020-B202-D7A5-F4A43B51B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475487" y="29146124"/>
              <a:ext cx="3543411" cy="2100916"/>
            </a:xfrm>
            <a:prstGeom prst="rect">
              <a:avLst/>
            </a:prstGeom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ACDACB0-F506-8807-A4E6-2F956BD2EC52}"/>
                </a:ext>
              </a:extLst>
            </p:cNvPr>
            <p:cNvSpPr txBox="1"/>
            <p:nvPr/>
          </p:nvSpPr>
          <p:spPr>
            <a:xfrm>
              <a:off x="3672797" y="29921674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26F35C1-4B4E-4A84-352A-0C637F6EA0B3}"/>
                </a:ext>
              </a:extLst>
            </p:cNvPr>
            <p:cNvSpPr txBox="1"/>
            <p:nvPr/>
          </p:nvSpPr>
          <p:spPr>
            <a:xfrm>
              <a:off x="2332270" y="2986011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D24FFF9-0226-3123-6C0E-9CB6582F55B0}"/>
                </a:ext>
              </a:extLst>
            </p:cNvPr>
            <p:cNvSpPr txBox="1"/>
            <p:nvPr/>
          </p:nvSpPr>
          <p:spPr>
            <a:xfrm>
              <a:off x="3025111" y="30445645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2340ACD-9987-4244-C866-F1FC357F0690}"/>
              </a:ext>
            </a:extLst>
          </p:cNvPr>
          <p:cNvGrpSpPr/>
          <p:nvPr/>
        </p:nvGrpSpPr>
        <p:grpSpPr>
          <a:xfrm>
            <a:off x="4962127" y="27109419"/>
            <a:ext cx="3543411" cy="2100916"/>
            <a:chOff x="4962127" y="27109419"/>
            <a:chExt cx="3543411" cy="2100916"/>
          </a:xfrm>
        </p:grpSpPr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8BF12EB8-5376-E1B3-FEB0-E93FE7BC3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4962127" y="27109419"/>
              <a:ext cx="3543411" cy="2100916"/>
            </a:xfrm>
            <a:prstGeom prst="rect">
              <a:avLst/>
            </a:prstGeom>
          </p:spPr>
        </p:pic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AF1B88C-C0E3-3C42-3281-FFDD31A7C33B}"/>
                </a:ext>
              </a:extLst>
            </p:cNvPr>
            <p:cNvSpPr txBox="1"/>
            <p:nvPr/>
          </p:nvSpPr>
          <p:spPr>
            <a:xfrm>
              <a:off x="7124782" y="27866162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DAE16F6-BB5B-859B-E580-A9D1BEDF7D28}"/>
                </a:ext>
              </a:extLst>
            </p:cNvPr>
            <p:cNvSpPr txBox="1"/>
            <p:nvPr/>
          </p:nvSpPr>
          <p:spPr>
            <a:xfrm>
              <a:off x="6114785" y="2790137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94B1CB2-C492-0A1F-FC09-4CF7F28D4E63}"/>
              </a:ext>
            </a:extLst>
          </p:cNvPr>
          <p:cNvGrpSpPr/>
          <p:nvPr/>
        </p:nvGrpSpPr>
        <p:grpSpPr>
          <a:xfrm>
            <a:off x="4962127" y="29218316"/>
            <a:ext cx="3543411" cy="2100916"/>
            <a:chOff x="4962127" y="29146124"/>
            <a:chExt cx="3543411" cy="2100916"/>
          </a:xfrm>
        </p:grpSpPr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1D7BDEC2-4AA5-BA21-7092-AD219DE4E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4962127" y="29146124"/>
              <a:ext cx="3543411" cy="2100916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79D3ABE-AFE6-7427-853F-529776C6E5BC}"/>
                </a:ext>
              </a:extLst>
            </p:cNvPr>
            <p:cNvSpPr txBox="1"/>
            <p:nvPr/>
          </p:nvSpPr>
          <p:spPr>
            <a:xfrm>
              <a:off x="7158947" y="29921674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0B707BB-909E-A399-FB44-551058ED69B0}"/>
                </a:ext>
              </a:extLst>
            </p:cNvPr>
            <p:cNvSpPr txBox="1"/>
            <p:nvPr/>
          </p:nvSpPr>
          <p:spPr>
            <a:xfrm>
              <a:off x="5818420" y="29860118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3CD15783-B6B1-6C21-8487-ADC4F4350F87}"/>
                </a:ext>
              </a:extLst>
            </p:cNvPr>
            <p:cNvSpPr txBox="1"/>
            <p:nvPr/>
          </p:nvSpPr>
          <p:spPr>
            <a:xfrm>
              <a:off x="6511261" y="30445645"/>
              <a:ext cx="3241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02A73F1-9C65-7BD7-589C-D4B3952546BC}"/>
              </a:ext>
            </a:extLst>
          </p:cNvPr>
          <p:cNvSpPr txBox="1"/>
          <p:nvPr/>
        </p:nvSpPr>
        <p:spPr>
          <a:xfrm>
            <a:off x="1551856" y="24773814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u="sng" dirty="0"/>
              <a:t>missing expression data values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8E1D13-9AC7-33E1-42B7-923E67B1BD13}"/>
              </a:ext>
            </a:extLst>
          </p:cNvPr>
          <p:cNvSpPr txBox="1"/>
          <p:nvPr/>
        </p:nvSpPr>
        <p:spPr>
          <a:xfrm>
            <a:off x="4878196" y="24773814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u="sng" dirty="0"/>
              <a:t>no missing expression data values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E5427E1-4B33-BD0E-37C1-9FB699FDFD67}"/>
              </a:ext>
            </a:extLst>
          </p:cNvPr>
          <p:cNvSpPr txBox="1"/>
          <p:nvPr/>
        </p:nvSpPr>
        <p:spPr>
          <a:xfrm>
            <a:off x="1042339" y="31169896"/>
            <a:ext cx="94542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Weight values that changed sign between estimations with missing input expression values and no missing values.</a:t>
            </a:r>
          </a:p>
          <a:p>
            <a:pPr marL="349250" indent="-1206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15-gene, 28-edge network is far more sensitive to the input expression data than the bottom two networks.</a:t>
            </a:r>
          </a:p>
          <a:p>
            <a:pPr marL="349250" indent="-1206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investigate, we performed a parameter sensitivity analysis on smaller 3-gene, 4-edge synthetic networks.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E61EB28-859A-AD40-C407-67E0D3ECBA6A}"/>
              </a:ext>
            </a:extLst>
          </p:cNvPr>
          <p:cNvSpPr txBox="1"/>
          <p:nvPr/>
        </p:nvSpPr>
        <p:spPr>
          <a:xfrm>
            <a:off x="897574" y="31045074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FC23BF-F3D5-99B1-7FD0-53414ED01ECC}"/>
              </a:ext>
            </a:extLst>
          </p:cNvPr>
          <p:cNvSpPr txBox="1"/>
          <p:nvPr/>
        </p:nvSpPr>
        <p:spPr>
          <a:xfrm>
            <a:off x="8257848" y="25215266"/>
            <a:ext cx="246785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YEASTRACT-derived networks modeled with Dahlquist et al. (2018) expression data and visualized with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GRNsight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all estimated.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expression data 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yeast subjected to 15, 30, and 60 minutes of cold shock at 13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“missing”: missing some expression values due to microarray data quality filters.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“no missing”: missing data values replaced with average value for that gene and timepoint. </a:t>
            </a:r>
          </a:p>
          <a:p>
            <a:pPr marL="114300" lvl="1" indent="-1143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Top stripe in each node is actual log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fold change expression data for each timepoint, bottom stripe is model-simulated data.</a:t>
            </a:r>
          </a:p>
          <a:p>
            <a:pPr marL="114300" lvl="1" indent="-1143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Edge thickness is normalized to a max weight of 5.212 (from top-left network).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CD55D8-9487-4F31-827F-C1795CC1DBE7}"/>
              </a:ext>
            </a:extLst>
          </p:cNvPr>
          <p:cNvSpPr txBox="1"/>
          <p:nvPr/>
        </p:nvSpPr>
        <p:spPr>
          <a:xfrm>
            <a:off x="589883" y="27767834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/>
              <a:t>16-genes</a:t>
            </a:r>
          </a:p>
          <a:p>
            <a:pPr algn="r"/>
            <a:r>
              <a:rPr lang="en-US" sz="1800" dirty="0"/>
              <a:t>36-edges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3CB6786-D699-4157-1069-6450FF86CFFB}"/>
              </a:ext>
            </a:extLst>
          </p:cNvPr>
          <p:cNvSpPr txBox="1"/>
          <p:nvPr/>
        </p:nvSpPr>
        <p:spPr>
          <a:xfrm>
            <a:off x="589883" y="2987673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/>
              <a:t>14-genes</a:t>
            </a:r>
          </a:p>
          <a:p>
            <a:pPr algn="r"/>
            <a:r>
              <a:rPr lang="en-US" sz="1800" dirty="0"/>
              <a:t>25-edges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6942D5-2FB7-33D7-710F-886AA42ED296}"/>
              </a:ext>
            </a:extLst>
          </p:cNvPr>
          <p:cNvSpPr txBox="1"/>
          <p:nvPr/>
        </p:nvSpPr>
        <p:spPr>
          <a:xfrm>
            <a:off x="589883" y="25712079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/>
              <a:t>15-genes</a:t>
            </a:r>
          </a:p>
          <a:p>
            <a:pPr algn="r"/>
            <a:r>
              <a:rPr lang="en-US" sz="1800" dirty="0"/>
              <a:t>28-edges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3C2DC65-1AE2-95B7-FD1A-52722CA341DC}"/>
              </a:ext>
            </a:extLst>
          </p:cNvPr>
          <p:cNvSpPr txBox="1"/>
          <p:nvPr/>
        </p:nvSpPr>
        <p:spPr>
          <a:xfrm>
            <a:off x="3357081" y="26558404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LSE:minLSE</a:t>
            </a:r>
            <a:r>
              <a:rPr lang="en-US" sz="1100" dirty="0"/>
              <a:t> = 1.408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2E7EE4F-961E-69CA-D14B-65ACFFF212A1}"/>
              </a:ext>
            </a:extLst>
          </p:cNvPr>
          <p:cNvSpPr txBox="1"/>
          <p:nvPr/>
        </p:nvSpPr>
        <p:spPr>
          <a:xfrm>
            <a:off x="6886892" y="26558404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LSE:minLSE</a:t>
            </a:r>
            <a:r>
              <a:rPr lang="en-US" sz="1100" dirty="0"/>
              <a:t> = 1.427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E7FCB06-B4FD-708E-4B54-20BF6CF3F9E9}"/>
              </a:ext>
            </a:extLst>
          </p:cNvPr>
          <p:cNvSpPr txBox="1"/>
          <p:nvPr/>
        </p:nvSpPr>
        <p:spPr>
          <a:xfrm>
            <a:off x="6886892" y="28976334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LSE:minLSE</a:t>
            </a:r>
            <a:r>
              <a:rPr lang="en-US" sz="1100" dirty="0"/>
              <a:t> = 1.397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4610522-757A-6678-EA9F-B48F266CA4E0}"/>
              </a:ext>
            </a:extLst>
          </p:cNvPr>
          <p:cNvSpPr txBox="1"/>
          <p:nvPr/>
        </p:nvSpPr>
        <p:spPr>
          <a:xfrm>
            <a:off x="3357081" y="28976334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LSE:minLSE</a:t>
            </a:r>
            <a:r>
              <a:rPr lang="en-US" sz="1100" dirty="0"/>
              <a:t> = 1.421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DEEF2B5-F55B-2E8F-BCE8-4738084F72ED}"/>
              </a:ext>
            </a:extLst>
          </p:cNvPr>
          <p:cNvSpPr txBox="1"/>
          <p:nvPr/>
        </p:nvSpPr>
        <p:spPr>
          <a:xfrm>
            <a:off x="3357081" y="30878913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LSE:minLSE</a:t>
            </a:r>
            <a:r>
              <a:rPr lang="en-US" sz="1100" dirty="0"/>
              <a:t> = 1.344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E718F7C-836E-F052-C7CA-9186D2B75E8B}"/>
              </a:ext>
            </a:extLst>
          </p:cNvPr>
          <p:cNvSpPr txBox="1"/>
          <p:nvPr/>
        </p:nvSpPr>
        <p:spPr>
          <a:xfrm>
            <a:off x="6886892" y="30878913"/>
            <a:ext cx="14975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LSE:minLSE</a:t>
            </a:r>
            <a:r>
              <a:rPr lang="en-US" sz="1100" dirty="0"/>
              <a:t> = 1.358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F95E982-2125-8661-A2A4-202A70B12293}"/>
              </a:ext>
            </a:extLst>
          </p:cNvPr>
          <p:cNvGrpSpPr/>
          <p:nvPr/>
        </p:nvGrpSpPr>
        <p:grpSpPr>
          <a:xfrm>
            <a:off x="11939264" y="23205668"/>
            <a:ext cx="15316767" cy="5098589"/>
            <a:chOff x="11584098" y="12101084"/>
            <a:chExt cx="15316767" cy="5098589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3DEADAC-4D0D-89AB-A24F-5352D2F6DDC0}"/>
                </a:ext>
              </a:extLst>
            </p:cNvPr>
            <p:cNvGrpSpPr/>
            <p:nvPr/>
          </p:nvGrpSpPr>
          <p:grpSpPr>
            <a:xfrm>
              <a:off x="11584098" y="13760295"/>
              <a:ext cx="15316767" cy="1565702"/>
              <a:chOff x="11584098" y="13760295"/>
              <a:chExt cx="15316767" cy="1565702"/>
            </a:xfrm>
          </p:grpSpPr>
          <p:pic>
            <p:nvPicPr>
              <p:cNvPr id="268" name="Picture 267" descr="A red arrow pointing to a white background&#10;&#10;AI-generated content may be incorrect.">
                <a:extLst>
                  <a:ext uri="{FF2B5EF4-FFF2-40B4-BE49-F238E27FC236}">
                    <a16:creationId xmlns:a16="http://schemas.microsoft.com/office/drawing/2014/main" id="{9BD9AF47-1F0C-4E8F-2B97-9E68F4126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1" r="66397" b="60831"/>
              <a:stretch>
                <a:fillRect/>
              </a:stretch>
            </p:blipFill>
            <p:spPr>
              <a:xfrm>
                <a:off x="20258500" y="13764083"/>
                <a:ext cx="2043175" cy="1463517"/>
              </a:xfrm>
              <a:prstGeom prst="rect">
                <a:avLst/>
              </a:prstGeom>
            </p:spPr>
          </p:pic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C6A3C6F9-4478-45CB-9B4D-FA3F8463F1E6}"/>
                  </a:ext>
                </a:extLst>
              </p:cNvPr>
              <p:cNvSpPr txBox="1"/>
              <p:nvPr/>
            </p:nvSpPr>
            <p:spPr>
              <a:xfrm>
                <a:off x="20815231" y="14260204"/>
                <a:ext cx="6055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12</a:t>
                </a:r>
              </a:p>
            </p:txBody>
          </p:sp>
          <p:pic>
            <p:nvPicPr>
              <p:cNvPr id="270" name="Picture 269" descr="A red arrow pointing to a white background&#10;&#10;AI-generated content may be incorrect.">
                <a:extLst>
                  <a:ext uri="{FF2B5EF4-FFF2-40B4-BE49-F238E27FC236}">
                    <a16:creationId xmlns:a16="http://schemas.microsoft.com/office/drawing/2014/main" id="{3F717D50-3ED0-82A7-43E9-535A805A8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58" r="66467" b="60831"/>
              <a:stretch>
                <a:fillRect/>
              </a:stretch>
            </p:blipFill>
            <p:spPr>
              <a:xfrm>
                <a:off x="11584098" y="13760295"/>
                <a:ext cx="2052809" cy="1463514"/>
              </a:xfrm>
              <a:prstGeom prst="rect">
                <a:avLst/>
              </a:prstGeom>
            </p:spPr>
          </p:pic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41DABB62-F0FB-4B8E-BDFB-C17A1F2BEF36}"/>
                  </a:ext>
                </a:extLst>
              </p:cNvPr>
              <p:cNvSpPr txBox="1"/>
              <p:nvPr/>
            </p:nvSpPr>
            <p:spPr>
              <a:xfrm>
                <a:off x="12400790" y="14260204"/>
                <a:ext cx="3069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8</a:t>
                </a:r>
              </a:p>
            </p:txBody>
          </p:sp>
          <p:sp>
            <p:nvSpPr>
              <p:cNvPr id="272" name="Google Shape;130;p1">
                <a:extLst>
                  <a:ext uri="{FF2B5EF4-FFF2-40B4-BE49-F238E27FC236}">
                    <a16:creationId xmlns:a16="http://schemas.microsoft.com/office/drawing/2014/main" id="{55DD1264-DD87-37B1-57B0-446E851499FE}"/>
                  </a:ext>
                </a:extLst>
              </p:cNvPr>
              <p:cNvSpPr txBox="1"/>
              <p:nvPr/>
            </p:nvSpPr>
            <p:spPr>
              <a:xfrm>
                <a:off x="21679726" y="14210250"/>
                <a:ext cx="363002" cy="307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32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  <a:sym typeface="Arial"/>
                </a:endParaRPr>
              </a:p>
            </p:txBody>
          </p:sp>
          <p:pic>
            <p:nvPicPr>
              <p:cNvPr id="273" name="Picture 272" descr="A blue and red arrows&#10;&#10;AI-generated content may be incorrect.">
                <a:extLst>
                  <a:ext uri="{FF2B5EF4-FFF2-40B4-BE49-F238E27FC236}">
                    <a16:creationId xmlns:a16="http://schemas.microsoft.com/office/drawing/2014/main" id="{EB6BC07A-0938-3370-DADC-FFBEE906D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6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93" t="1105" r="66332" b="60864"/>
              <a:stretch>
                <a:fillRect/>
              </a:stretch>
            </p:blipFill>
            <p:spPr>
              <a:xfrm>
                <a:off x="15955637" y="13795856"/>
                <a:ext cx="2052810" cy="1420961"/>
              </a:xfrm>
              <a:prstGeom prst="rect">
                <a:avLst/>
              </a:prstGeom>
            </p:spPr>
          </p:pic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AE5E7512-08C2-2148-9F39-87ABD1E7433C}"/>
                  </a:ext>
                </a:extLst>
              </p:cNvPr>
              <p:cNvSpPr txBox="1"/>
              <p:nvPr/>
            </p:nvSpPr>
            <p:spPr>
              <a:xfrm>
                <a:off x="16572237" y="14260204"/>
                <a:ext cx="4549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10</a:t>
                </a:r>
              </a:p>
            </p:txBody>
          </p:sp>
          <p:pic>
            <p:nvPicPr>
              <p:cNvPr id="275" name="Picture 274" descr="A red and blue line with a blue arrow&#10;&#10;AI-generated content may be incorrect.">
                <a:extLst>
                  <a:ext uri="{FF2B5EF4-FFF2-40B4-BE49-F238E27FC236}">
                    <a16:creationId xmlns:a16="http://schemas.microsoft.com/office/drawing/2014/main" id="{26D3F41B-071E-0AF4-EEE6-9226BE7C1F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7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9" t="1578" r="64364" b="65648"/>
              <a:stretch>
                <a:fillRect/>
              </a:stretch>
            </p:blipFill>
            <p:spPr>
              <a:xfrm>
                <a:off x="24700502" y="13817805"/>
                <a:ext cx="2200363" cy="1224570"/>
              </a:xfrm>
              <a:prstGeom prst="rect">
                <a:avLst/>
              </a:prstGeom>
            </p:spPr>
          </p:pic>
          <p:sp>
            <p:nvSpPr>
              <p:cNvPr id="276" name="TextBox 275">
                <a:extLst>
                  <a:ext uri="{FF2B5EF4-FFF2-40B4-BE49-F238E27FC236}">
                    <a16:creationId xmlns:a16="http://schemas.microsoft.com/office/drawing/2014/main" id="{BB68272E-B030-CB40-8FFF-10A784F1B669}"/>
                  </a:ext>
                </a:extLst>
              </p:cNvPr>
              <p:cNvSpPr txBox="1"/>
              <p:nvPr/>
            </p:nvSpPr>
            <p:spPr>
              <a:xfrm>
                <a:off x="25324505" y="14260204"/>
                <a:ext cx="5327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14</a:t>
                </a:r>
              </a:p>
            </p:txBody>
          </p:sp>
          <p:pic>
            <p:nvPicPr>
              <p:cNvPr id="277" name="Picture 276" descr="A red and blue lines on a white background&#10;&#10;AI-generated content may be incorrect.">
                <a:extLst>
                  <a:ext uri="{FF2B5EF4-FFF2-40B4-BE49-F238E27FC236}">
                    <a16:creationId xmlns:a16="http://schemas.microsoft.com/office/drawing/2014/main" id="{DEF8A805-74E3-D9DE-9109-9C826C6BF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3" t="1208" r="64170" b="66016"/>
              <a:stretch>
                <a:fillRect/>
              </a:stretch>
            </p:blipFill>
            <p:spPr>
              <a:xfrm>
                <a:off x="18050415" y="13797875"/>
                <a:ext cx="2200363" cy="1224640"/>
              </a:xfrm>
              <a:prstGeom prst="rect">
                <a:avLst/>
              </a:prstGeom>
            </p:spPr>
          </p:pic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DD7EA047-2455-2325-37B8-A9DCE7A73BC3}"/>
                  </a:ext>
                </a:extLst>
              </p:cNvPr>
              <p:cNvSpPr txBox="1"/>
              <p:nvPr/>
            </p:nvSpPr>
            <p:spPr>
              <a:xfrm>
                <a:off x="18715965" y="14260204"/>
                <a:ext cx="5641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11</a:t>
                </a:r>
              </a:p>
            </p:txBody>
          </p:sp>
          <p:pic>
            <p:nvPicPr>
              <p:cNvPr id="279" name="Picture 278">
                <a:extLst>
                  <a:ext uri="{FF2B5EF4-FFF2-40B4-BE49-F238E27FC236}">
                    <a16:creationId xmlns:a16="http://schemas.microsoft.com/office/drawing/2014/main" id="{4614204E-0E2C-EEE8-AD3F-BD76C043FD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68" t="1693" r="64564" b="65598"/>
              <a:stretch>
                <a:fillRect/>
              </a:stretch>
            </p:blipFill>
            <p:spPr>
              <a:xfrm>
                <a:off x="22452838" y="13805971"/>
                <a:ext cx="2165776" cy="1222118"/>
              </a:xfrm>
              <a:prstGeom prst="rect">
                <a:avLst/>
              </a:prstGeom>
            </p:spPr>
          </p:pic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D9B9A13E-870C-120D-EFE5-7AA04C0B8041}"/>
                  </a:ext>
                </a:extLst>
              </p:cNvPr>
              <p:cNvSpPr txBox="1"/>
              <p:nvPr/>
            </p:nvSpPr>
            <p:spPr>
              <a:xfrm>
                <a:off x="23056401" y="14260204"/>
                <a:ext cx="5618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13</a:t>
                </a:r>
              </a:p>
            </p:txBody>
          </p:sp>
          <p:pic>
            <p:nvPicPr>
              <p:cNvPr id="281" name="Picture 280" descr="A blue and red arrow pointing to a blue object&#10;&#10;AI-generated content may be incorrect.">
                <a:extLst>
                  <a:ext uri="{FF2B5EF4-FFF2-40B4-BE49-F238E27FC236}">
                    <a16:creationId xmlns:a16="http://schemas.microsoft.com/office/drawing/2014/main" id="{8C5799CE-E07D-04D2-CB38-CFDC945FE4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56" t="1490" r="64408" b="60159"/>
              <a:stretch>
                <a:fillRect/>
              </a:stretch>
            </p:blipFill>
            <p:spPr>
              <a:xfrm>
                <a:off x="13735058" y="13792604"/>
                <a:ext cx="2157489" cy="1432942"/>
              </a:xfrm>
              <a:prstGeom prst="rect">
                <a:avLst/>
              </a:prstGeom>
            </p:spPr>
          </p:pic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AC787BF5-91F9-0127-C40D-D22BD09C44B9}"/>
                  </a:ext>
                </a:extLst>
              </p:cNvPr>
              <p:cNvSpPr txBox="1"/>
              <p:nvPr/>
            </p:nvSpPr>
            <p:spPr>
              <a:xfrm>
                <a:off x="14390121" y="14260204"/>
                <a:ext cx="56688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9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494AC824-89CD-05DA-6F7B-F482D235B018}"/>
                  </a:ext>
                </a:extLst>
              </p:cNvPr>
              <p:cNvSpPr txBox="1"/>
              <p:nvPr/>
            </p:nvSpPr>
            <p:spPr>
              <a:xfrm>
                <a:off x="12208536" y="14864332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out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0C0C0F45-B769-9D19-02E3-004D0FAB8216}"/>
                  </a:ext>
                </a:extLst>
              </p:cNvPr>
              <p:cNvSpPr txBox="1"/>
              <p:nvPr/>
            </p:nvSpPr>
            <p:spPr>
              <a:xfrm>
                <a:off x="14222150" y="14864332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fan out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51B8BC40-DE7B-41C0-61F7-75396A0F96B8}"/>
                  </a:ext>
                </a:extLst>
              </p:cNvPr>
              <p:cNvSpPr txBox="1"/>
              <p:nvPr/>
            </p:nvSpPr>
            <p:spPr>
              <a:xfrm>
                <a:off x="16516436" y="14864332"/>
                <a:ext cx="13260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feedforward loop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06DB8A56-F5F9-199E-DC9F-A799A919DC16}"/>
                  </a:ext>
                </a:extLst>
              </p:cNvPr>
              <p:cNvSpPr txBox="1"/>
              <p:nvPr/>
            </p:nvSpPr>
            <p:spPr>
              <a:xfrm>
                <a:off x="18640522" y="14864332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out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5991775B-E7FB-D943-08B1-826FF221A5CE}"/>
                  </a:ext>
                </a:extLst>
              </p:cNvPr>
              <p:cNvSpPr txBox="1"/>
              <p:nvPr/>
            </p:nvSpPr>
            <p:spPr>
              <a:xfrm>
                <a:off x="20771726" y="14864332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out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6AE41544-A0EE-08DB-BB0C-FC5ABDAE80AB}"/>
                  </a:ext>
                </a:extLst>
              </p:cNvPr>
              <p:cNvSpPr txBox="1"/>
              <p:nvPr/>
            </p:nvSpPr>
            <p:spPr>
              <a:xfrm>
                <a:off x="22851985" y="14864332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fan out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0E96BE0-5EE4-07F0-EA94-CC8ACAB63A18}"/>
                  </a:ext>
                </a:extLst>
              </p:cNvPr>
              <p:cNvSpPr txBox="1"/>
              <p:nvPr/>
            </p:nvSpPr>
            <p:spPr>
              <a:xfrm>
                <a:off x="25374143" y="14864332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cascade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3D715E5-3B8A-CEB7-2C0E-CC9172C29E22}"/>
                </a:ext>
              </a:extLst>
            </p:cNvPr>
            <p:cNvGrpSpPr/>
            <p:nvPr/>
          </p:nvGrpSpPr>
          <p:grpSpPr>
            <a:xfrm>
              <a:off x="11605164" y="15536268"/>
              <a:ext cx="15227461" cy="1663405"/>
              <a:chOff x="11605164" y="15536268"/>
              <a:chExt cx="15227461" cy="1663405"/>
            </a:xfrm>
          </p:grpSpPr>
          <p:pic>
            <p:nvPicPr>
              <p:cNvPr id="221" name="Picture 220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E7B46B29-82B8-A502-89A0-7B65769BE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1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61" t="1345" r="66333" b="66220"/>
              <a:stretch>
                <a:fillRect/>
              </a:stretch>
            </p:blipFill>
            <p:spPr>
              <a:xfrm>
                <a:off x="22489952" y="15642917"/>
                <a:ext cx="2042174" cy="1211915"/>
              </a:xfrm>
              <a:prstGeom prst="rect">
                <a:avLst/>
              </a:prstGeom>
            </p:spPr>
          </p:pic>
          <p:pic>
            <p:nvPicPr>
              <p:cNvPr id="227" name="Picture 226">
                <a:extLst>
                  <a:ext uri="{FF2B5EF4-FFF2-40B4-BE49-F238E27FC236}">
                    <a16:creationId xmlns:a16="http://schemas.microsoft.com/office/drawing/2014/main" id="{4336E47B-F281-05EC-53C3-0EBD7DC202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60" t="1509" r="66746" b="61896"/>
              <a:stretch>
                <a:fillRect/>
              </a:stretch>
            </p:blipFill>
            <p:spPr>
              <a:xfrm>
                <a:off x="11605164" y="15548936"/>
                <a:ext cx="2009820" cy="1367298"/>
              </a:xfrm>
              <a:prstGeom prst="rect">
                <a:avLst/>
              </a:prstGeom>
            </p:spPr>
          </p:pic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FE1B3D99-76A3-4EFF-005A-0899B5270A37}"/>
                  </a:ext>
                </a:extLst>
              </p:cNvPr>
              <p:cNvSpPr txBox="1"/>
              <p:nvPr/>
            </p:nvSpPr>
            <p:spPr>
              <a:xfrm>
                <a:off x="23056401" y="15983093"/>
                <a:ext cx="507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20</a:t>
                </a: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E17C5EB4-4AB1-440F-E304-904FB21ABC26}"/>
                  </a:ext>
                </a:extLst>
              </p:cNvPr>
              <p:cNvSpPr txBox="1"/>
              <p:nvPr/>
            </p:nvSpPr>
            <p:spPr>
              <a:xfrm>
                <a:off x="12400790" y="15983093"/>
                <a:ext cx="4300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15</a:t>
                </a:r>
              </a:p>
            </p:txBody>
          </p:sp>
          <p:pic>
            <p:nvPicPr>
              <p:cNvPr id="242" name="Picture 241">
                <a:extLst>
                  <a:ext uri="{FF2B5EF4-FFF2-40B4-BE49-F238E27FC236}">
                    <a16:creationId xmlns:a16="http://schemas.microsoft.com/office/drawing/2014/main" id="{A05C294F-069A-8522-789F-B93CA3F6E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09" r="66459" b="60831"/>
              <a:stretch>
                <a:fillRect/>
              </a:stretch>
            </p:blipFill>
            <p:spPr>
              <a:xfrm>
                <a:off x="18047434" y="15536268"/>
                <a:ext cx="2050142" cy="1463518"/>
              </a:xfrm>
              <a:prstGeom prst="rect">
                <a:avLst/>
              </a:prstGeom>
            </p:spPr>
          </p:pic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961648A9-AD99-371D-2223-744D5A82F14E}"/>
                  </a:ext>
                </a:extLst>
              </p:cNvPr>
              <p:cNvSpPr txBox="1"/>
              <p:nvPr/>
            </p:nvSpPr>
            <p:spPr>
              <a:xfrm>
                <a:off x="18715964" y="15983093"/>
                <a:ext cx="56417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18</a:t>
                </a:r>
              </a:p>
            </p:txBody>
          </p:sp>
          <p:pic>
            <p:nvPicPr>
              <p:cNvPr id="244" name="Picture 243">
                <a:extLst>
                  <a:ext uri="{FF2B5EF4-FFF2-40B4-BE49-F238E27FC236}">
                    <a16:creationId xmlns:a16="http://schemas.microsoft.com/office/drawing/2014/main" id="{1EDA3FCD-A989-DAD2-86BA-1983E9A5C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2" t="1579" r="66533" b="65761"/>
              <a:stretch>
                <a:fillRect/>
              </a:stretch>
            </p:blipFill>
            <p:spPr>
              <a:xfrm>
                <a:off x="15931047" y="15575836"/>
                <a:ext cx="2052810" cy="1220278"/>
              </a:xfrm>
              <a:prstGeom prst="rect">
                <a:avLst/>
              </a:prstGeom>
            </p:spPr>
          </p:pic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A7546E1A-7921-3FC9-E1B1-917D3FD8B41B}"/>
                  </a:ext>
                </a:extLst>
              </p:cNvPr>
              <p:cNvSpPr txBox="1"/>
              <p:nvPr/>
            </p:nvSpPr>
            <p:spPr>
              <a:xfrm>
                <a:off x="16572237" y="15983093"/>
                <a:ext cx="5274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17</a:t>
                </a:r>
              </a:p>
            </p:txBody>
          </p:sp>
          <p:pic>
            <p:nvPicPr>
              <p:cNvPr id="247" name="Picture 246" descr="A red and blue arrows pointing to a blue arrow&#10;&#10;AI-generated content may be incorrect.">
                <a:extLst>
                  <a:ext uri="{FF2B5EF4-FFF2-40B4-BE49-F238E27FC236}">
                    <a16:creationId xmlns:a16="http://schemas.microsoft.com/office/drawing/2014/main" id="{288A4F2F-C4A1-6FB4-B8E5-E62625AC8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3" t="1601" r="64400" b="61775"/>
              <a:stretch>
                <a:fillRect/>
              </a:stretch>
            </p:blipFill>
            <p:spPr>
              <a:xfrm>
                <a:off x="13639963" y="15561466"/>
                <a:ext cx="2170790" cy="1368416"/>
              </a:xfrm>
              <a:prstGeom prst="rect">
                <a:avLst/>
              </a:prstGeom>
            </p:spPr>
          </p:pic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6C985AE-A867-6698-324C-F317C0A2906F}"/>
                  </a:ext>
                </a:extLst>
              </p:cNvPr>
              <p:cNvSpPr txBox="1"/>
              <p:nvPr/>
            </p:nvSpPr>
            <p:spPr>
              <a:xfrm>
                <a:off x="14390121" y="15983093"/>
                <a:ext cx="5507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16</a:t>
                </a:r>
              </a:p>
            </p:txBody>
          </p:sp>
          <p:pic>
            <p:nvPicPr>
              <p:cNvPr id="249" name="Picture 248" descr="A red and blue arrows pointing to a point&#10;&#10;AI-generated content may be incorrect.">
                <a:extLst>
                  <a:ext uri="{FF2B5EF4-FFF2-40B4-BE49-F238E27FC236}">
                    <a16:creationId xmlns:a16="http://schemas.microsoft.com/office/drawing/2014/main" id="{BFCD648D-08EC-4A75-B9E6-BA15699E21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6" cstate="email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72" t="1519" r="64803" b="66696"/>
              <a:stretch>
                <a:fillRect/>
              </a:stretch>
            </p:blipFill>
            <p:spPr>
              <a:xfrm>
                <a:off x="24675827" y="15657724"/>
                <a:ext cx="2156798" cy="1187630"/>
              </a:xfrm>
              <a:prstGeom prst="rect">
                <a:avLst/>
              </a:prstGeom>
            </p:spPr>
          </p:pic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BC562F12-5B02-4885-99A7-F7B298EF1D59}"/>
                  </a:ext>
                </a:extLst>
              </p:cNvPr>
              <p:cNvSpPr txBox="1"/>
              <p:nvPr/>
            </p:nvSpPr>
            <p:spPr>
              <a:xfrm>
                <a:off x="25324505" y="15983093"/>
                <a:ext cx="56388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21</a:t>
                </a:r>
              </a:p>
            </p:txBody>
          </p:sp>
          <p:pic>
            <p:nvPicPr>
              <p:cNvPr id="254" name="Picture 253" descr="A blue and red arrow pointing to a red line&#10;&#10;AI-generated content may be incorrect.">
                <a:extLst>
                  <a:ext uri="{FF2B5EF4-FFF2-40B4-BE49-F238E27FC236}">
                    <a16:creationId xmlns:a16="http://schemas.microsoft.com/office/drawing/2014/main" id="{1D1F31A6-752F-5A39-66FC-EF045A36F2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7" cstate="email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4804" b="57656"/>
              <a:stretch/>
            </p:blipFill>
            <p:spPr>
              <a:xfrm>
                <a:off x="20135541" y="15562370"/>
                <a:ext cx="2295330" cy="1637303"/>
              </a:xfrm>
              <a:prstGeom prst="rect">
                <a:avLst/>
              </a:prstGeom>
            </p:spPr>
          </p:pic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A0EFEF12-C64E-C2E8-944D-9C72FA5BEB18}"/>
                  </a:ext>
                </a:extLst>
              </p:cNvPr>
              <p:cNvSpPr txBox="1"/>
              <p:nvPr/>
            </p:nvSpPr>
            <p:spPr>
              <a:xfrm>
                <a:off x="20815232" y="15983093"/>
                <a:ext cx="4924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+mn-lt"/>
                  </a:rPr>
                  <a:t>19</a:t>
                </a:r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*</a:t>
                </a:r>
                <a:endParaRPr lang="en-US" sz="1600" b="1" dirty="0">
                  <a:latin typeface="+mn-lt"/>
                </a:endParaRP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690304A4-9BA2-DA9F-40DB-E637C17B455D}"/>
                  </a:ext>
                </a:extLst>
              </p:cNvPr>
              <p:cNvSpPr txBox="1"/>
              <p:nvPr/>
            </p:nvSpPr>
            <p:spPr>
              <a:xfrm>
                <a:off x="12208536" y="16707073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in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0C085427-E7D5-5D67-DF6A-5520FB757234}"/>
                  </a:ext>
                </a:extLst>
              </p:cNvPr>
              <p:cNvSpPr txBox="1"/>
              <p:nvPr/>
            </p:nvSpPr>
            <p:spPr>
              <a:xfrm>
                <a:off x="14222150" y="16707073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fan in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F4417FD4-9FE4-4F47-C0C8-312A7313779A}"/>
                  </a:ext>
                </a:extLst>
              </p:cNvPr>
              <p:cNvSpPr txBox="1"/>
              <p:nvPr/>
            </p:nvSpPr>
            <p:spPr>
              <a:xfrm>
                <a:off x="16516436" y="16707073"/>
                <a:ext cx="13260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feedforward loop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88410973-24EC-6A8E-C286-DB62BBBCDB0A}"/>
                  </a:ext>
                </a:extLst>
              </p:cNvPr>
              <p:cNvSpPr txBox="1"/>
              <p:nvPr/>
            </p:nvSpPr>
            <p:spPr>
              <a:xfrm>
                <a:off x="18640522" y="16707073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in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F0E680A6-A3E0-C306-7238-738ADE87C4E6}"/>
                  </a:ext>
                </a:extLst>
              </p:cNvPr>
              <p:cNvSpPr txBox="1"/>
              <p:nvPr/>
            </p:nvSpPr>
            <p:spPr>
              <a:xfrm>
                <a:off x="20771726" y="16707073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fan in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83C8B6D8-DEDB-4587-D6DC-032E5A73AD1D}"/>
                  </a:ext>
                </a:extLst>
              </p:cNvPr>
              <p:cNvSpPr txBox="1"/>
              <p:nvPr/>
            </p:nvSpPr>
            <p:spPr>
              <a:xfrm>
                <a:off x="23114336" y="16707073"/>
                <a:ext cx="8226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regulated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4D4A1408-C8F3-269A-6F1C-E9FB09007669}"/>
                  </a:ext>
                </a:extLst>
              </p:cNvPr>
              <p:cNvSpPr txBox="1"/>
              <p:nvPr/>
            </p:nvSpPr>
            <p:spPr>
              <a:xfrm>
                <a:off x="25172674" y="16707073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in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C25E214D-F8E8-9FC0-1F87-1D45F7E6FFD0}"/>
                </a:ext>
              </a:extLst>
            </p:cNvPr>
            <p:cNvGrpSpPr/>
            <p:nvPr/>
          </p:nvGrpSpPr>
          <p:grpSpPr>
            <a:xfrm>
              <a:off x="11590250" y="12101084"/>
              <a:ext cx="15188770" cy="1495270"/>
              <a:chOff x="11590250" y="12101084"/>
              <a:chExt cx="15188770" cy="1495270"/>
            </a:xfrm>
          </p:grpSpPr>
          <p:pic>
            <p:nvPicPr>
              <p:cNvPr id="163" name="Picture 162" descr="A blue and red line with a red line and a blue arrow&#10;&#10;AI-generated content may be incorrect.">
                <a:extLst>
                  <a:ext uri="{FF2B5EF4-FFF2-40B4-BE49-F238E27FC236}">
                    <a16:creationId xmlns:a16="http://schemas.microsoft.com/office/drawing/2014/main" id="{074B92CA-62C3-3BF8-1291-B5BEC3DC1C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8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0" t="1704" r="66737" b="65989"/>
              <a:stretch>
                <a:fillRect/>
              </a:stretch>
            </p:blipFill>
            <p:spPr>
              <a:xfrm>
                <a:off x="18112793" y="12169473"/>
                <a:ext cx="2031879" cy="120712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AEF61C87-5B2E-A893-936A-0A987169F8E2}"/>
                  </a:ext>
                </a:extLst>
              </p:cNvPr>
              <p:cNvSpPr txBox="1"/>
              <p:nvPr/>
            </p:nvSpPr>
            <p:spPr>
              <a:xfrm>
                <a:off x="18715965" y="12650715"/>
                <a:ext cx="3069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4</a:t>
                </a:r>
              </a:p>
            </p:txBody>
          </p:sp>
          <p:pic>
            <p:nvPicPr>
              <p:cNvPr id="165" name="Picture 164" descr="A red and blue spiral&#10;&#10;AI-generated content may be incorrect.">
                <a:extLst>
                  <a:ext uri="{FF2B5EF4-FFF2-40B4-BE49-F238E27FC236}">
                    <a16:creationId xmlns:a16="http://schemas.microsoft.com/office/drawing/2014/main" id="{237CDC36-C0DF-F31A-568A-12ADDC95FB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9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1" r="63614" b="60831"/>
              <a:stretch>
                <a:fillRect/>
              </a:stretch>
            </p:blipFill>
            <p:spPr>
              <a:xfrm>
                <a:off x="20229987" y="12101084"/>
                <a:ext cx="2210405" cy="1463515"/>
              </a:xfrm>
              <a:prstGeom prst="rect">
                <a:avLst/>
              </a:prstGeom>
            </p:spPr>
          </p:pic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336C56E6-1A72-DEB1-66C9-2967C4B0BB70}"/>
                  </a:ext>
                </a:extLst>
              </p:cNvPr>
              <p:cNvSpPr txBox="1"/>
              <p:nvPr/>
            </p:nvSpPr>
            <p:spPr>
              <a:xfrm>
                <a:off x="20815232" y="12650715"/>
                <a:ext cx="3069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5</a:t>
                </a:r>
              </a:p>
            </p:txBody>
          </p:sp>
          <p:pic>
            <p:nvPicPr>
              <p:cNvPr id="167" name="Picture 166" descr="A blue and red lines and a white background&#10;&#10;AI-generated content may be incorrect.">
                <a:extLst>
                  <a:ext uri="{FF2B5EF4-FFF2-40B4-BE49-F238E27FC236}">
                    <a16:creationId xmlns:a16="http://schemas.microsoft.com/office/drawing/2014/main" id="{03C00317-A430-06E4-5792-1586F32AB1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0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71" t="1296" r="66624" b="66348"/>
              <a:stretch>
                <a:fillRect/>
              </a:stretch>
            </p:blipFill>
            <p:spPr>
              <a:xfrm>
                <a:off x="24736846" y="12157139"/>
                <a:ext cx="2042174" cy="1208914"/>
              </a:xfrm>
              <a:prstGeom prst="rect">
                <a:avLst/>
              </a:prstGeom>
            </p:spPr>
          </p:pic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4728CFCC-3C8F-F333-7DFD-BC8B148D22AE}"/>
                  </a:ext>
                </a:extLst>
              </p:cNvPr>
              <p:cNvSpPr txBox="1"/>
              <p:nvPr/>
            </p:nvSpPr>
            <p:spPr>
              <a:xfrm>
                <a:off x="25324505" y="12650715"/>
                <a:ext cx="5327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7*</a:t>
                </a:r>
              </a:p>
            </p:txBody>
          </p:sp>
          <p:pic>
            <p:nvPicPr>
              <p:cNvPr id="169" name="Picture 168" descr="A red and blue triangle with text&#10;&#10;AI-generated content may be incorrect.">
                <a:extLst>
                  <a:ext uri="{FF2B5EF4-FFF2-40B4-BE49-F238E27FC236}">
                    <a16:creationId xmlns:a16="http://schemas.microsoft.com/office/drawing/2014/main" id="{62362310-A13E-268E-3942-9158249EF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1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39" t="1450" r="66709" b="65841"/>
              <a:stretch>
                <a:fillRect/>
              </a:stretch>
            </p:blipFill>
            <p:spPr>
              <a:xfrm>
                <a:off x="13788051" y="12168912"/>
                <a:ext cx="2032480" cy="1222118"/>
              </a:xfrm>
              <a:prstGeom prst="rect">
                <a:avLst/>
              </a:prstGeom>
            </p:spPr>
          </p:pic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62D555F9-C614-AA49-A2BC-423DC485FF43}"/>
                  </a:ext>
                </a:extLst>
              </p:cNvPr>
              <p:cNvSpPr txBox="1"/>
              <p:nvPr/>
            </p:nvSpPr>
            <p:spPr>
              <a:xfrm>
                <a:off x="14390121" y="12650715"/>
                <a:ext cx="3069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2</a:t>
                </a:r>
              </a:p>
            </p:txBody>
          </p:sp>
          <p:pic>
            <p:nvPicPr>
              <p:cNvPr id="171" name="Picture 170" descr="A blue and red line&#10;&#10;AI-generated content may be incorrect.">
                <a:extLst>
                  <a:ext uri="{FF2B5EF4-FFF2-40B4-BE49-F238E27FC236}">
                    <a16:creationId xmlns:a16="http://schemas.microsoft.com/office/drawing/2014/main" id="{6C8B403E-1741-90FC-2725-32131DB9C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8" t="1493" r="66545" b="65798"/>
              <a:stretch>
                <a:fillRect/>
              </a:stretch>
            </p:blipFill>
            <p:spPr>
              <a:xfrm>
                <a:off x="11590250" y="12171465"/>
                <a:ext cx="2035320" cy="1222118"/>
              </a:xfrm>
              <a:prstGeom prst="rect">
                <a:avLst/>
              </a:prstGeom>
            </p:spPr>
          </p:pic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C9D5756C-7588-31BE-5098-568C81FF80A4}"/>
                  </a:ext>
                </a:extLst>
              </p:cNvPr>
              <p:cNvSpPr txBox="1"/>
              <p:nvPr/>
            </p:nvSpPr>
            <p:spPr>
              <a:xfrm>
                <a:off x="12400790" y="12650715"/>
                <a:ext cx="4300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1*</a:t>
                </a:r>
              </a:p>
            </p:txBody>
          </p:sp>
          <p:pic>
            <p:nvPicPr>
              <p:cNvPr id="173" name="Picture 172" descr="A red and white line with a black text&#10;&#10;AI-generated content may be incorrect.">
                <a:extLst>
                  <a:ext uri="{FF2B5EF4-FFF2-40B4-BE49-F238E27FC236}">
                    <a16:creationId xmlns:a16="http://schemas.microsoft.com/office/drawing/2014/main" id="{5F81045A-999B-77C5-55A7-E7559DE57E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0" t="1115" r="64359" b="65964"/>
              <a:stretch>
                <a:fillRect/>
              </a:stretch>
            </p:blipFill>
            <p:spPr>
              <a:xfrm>
                <a:off x="22459482" y="12163256"/>
                <a:ext cx="2176053" cy="1230050"/>
              </a:xfrm>
              <a:prstGeom prst="rect">
                <a:avLst/>
              </a:prstGeom>
            </p:spPr>
          </p:pic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548E5256-9ACA-FA31-7527-B2253686F2FC}"/>
                  </a:ext>
                </a:extLst>
              </p:cNvPr>
              <p:cNvSpPr txBox="1"/>
              <p:nvPr/>
            </p:nvSpPr>
            <p:spPr>
              <a:xfrm>
                <a:off x="23056401" y="12650715"/>
                <a:ext cx="5073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6</a:t>
                </a:r>
              </a:p>
            </p:txBody>
          </p:sp>
          <p:pic>
            <p:nvPicPr>
              <p:cNvPr id="189" name="Picture 188" descr="A blue and red graph&#10;&#10;AI-generated content may be incorrect.">
                <a:extLst>
                  <a:ext uri="{FF2B5EF4-FFF2-40B4-BE49-F238E27FC236}">
                    <a16:creationId xmlns:a16="http://schemas.microsoft.com/office/drawing/2014/main" id="{C00FFE0F-3358-E927-5B0B-FDC893AE27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9" t="1490" r="64293" b="60480"/>
              <a:stretch>
                <a:fillRect/>
              </a:stretch>
            </p:blipFill>
            <p:spPr>
              <a:xfrm>
                <a:off x="15962697" y="12172374"/>
                <a:ext cx="2163357" cy="1420962"/>
              </a:xfrm>
              <a:prstGeom prst="rect">
                <a:avLst/>
              </a:prstGeom>
            </p:spPr>
          </p:pic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70D9257C-F2DF-62F3-D8C7-A4137DC62196}"/>
                  </a:ext>
                </a:extLst>
              </p:cNvPr>
              <p:cNvSpPr txBox="1"/>
              <p:nvPr/>
            </p:nvSpPr>
            <p:spPr>
              <a:xfrm>
                <a:off x="16572237" y="12650715"/>
                <a:ext cx="5115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+mn-lt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3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DA24D5E-026A-1F3C-3C05-7DEC1B40BF01}"/>
                  </a:ext>
                </a:extLst>
              </p:cNvPr>
              <p:cNvSpPr txBox="1"/>
              <p:nvPr/>
            </p:nvSpPr>
            <p:spPr>
              <a:xfrm>
                <a:off x="14541767" y="13134689"/>
                <a:ext cx="856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regulating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522DBB79-E222-F952-6E06-953E48118D61}"/>
                  </a:ext>
                </a:extLst>
              </p:cNvPr>
              <p:cNvSpPr txBox="1"/>
              <p:nvPr/>
            </p:nvSpPr>
            <p:spPr>
              <a:xfrm>
                <a:off x="16686033" y="13134689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cascade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B1CF0C03-0CD0-0238-A284-EC6E0254CACE}"/>
                  </a:ext>
                </a:extLst>
              </p:cNvPr>
              <p:cNvSpPr txBox="1"/>
              <p:nvPr/>
            </p:nvSpPr>
            <p:spPr>
              <a:xfrm>
                <a:off x="18538517" y="13134689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feedback loop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14B31FC8-20E1-DE83-C964-6DBF29EB6C19}"/>
                  </a:ext>
                </a:extLst>
              </p:cNvPr>
              <p:cNvSpPr txBox="1"/>
              <p:nvPr/>
            </p:nvSpPr>
            <p:spPr>
              <a:xfrm>
                <a:off x="20763234" y="13134689"/>
                <a:ext cx="13260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feedforward loop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1 autoregulation</a:t>
                </a: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0174B65-CD1B-03DA-3472-E58819F5BC0D}"/>
                  </a:ext>
                </a:extLst>
              </p:cNvPr>
              <p:cNvSpPr txBox="1"/>
              <p:nvPr/>
            </p:nvSpPr>
            <p:spPr>
              <a:xfrm>
                <a:off x="23009874" y="13134689"/>
                <a:ext cx="1282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cascade</a:t>
                </a:r>
              </a:p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2 autoregulation</a:t>
                </a: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798C4C8F-20B9-7FEC-735F-C005645F3EF4}"/>
                  </a:ext>
                </a:extLst>
              </p:cNvPr>
              <p:cNvSpPr txBox="1"/>
              <p:nvPr/>
            </p:nvSpPr>
            <p:spPr>
              <a:xfrm>
                <a:off x="12153944" y="13134689"/>
                <a:ext cx="8146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bi-mutual</a:t>
                </a: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BE62691A-389B-AA08-F0F3-149BAB5B3886}"/>
                  </a:ext>
                </a:extLst>
              </p:cNvPr>
              <p:cNvSpPr txBox="1"/>
              <p:nvPr/>
            </p:nvSpPr>
            <p:spPr>
              <a:xfrm>
                <a:off x="25451087" y="13134689"/>
                <a:ext cx="12586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+mn-lt"/>
                    <a:ea typeface="Sans Serif Collection" panose="020B0502040504020204" pitchFamily="34" charset="-78"/>
                    <a:cs typeface="Sans Serif Collection" panose="020B0502040504020204" pitchFamily="34" charset="-78"/>
                  </a:rPr>
                  <a:t>mutual cascade</a:t>
                </a:r>
              </a:p>
            </p:txBody>
          </p:sp>
        </p:grpSp>
      </p:grpSp>
      <p:pic>
        <p:nvPicPr>
          <p:cNvPr id="291" name="Picture 290">
            <a:extLst>
              <a:ext uri="{FF2B5EF4-FFF2-40B4-BE49-F238E27FC236}">
                <a16:creationId xmlns:a16="http://schemas.microsoft.com/office/drawing/2014/main" id="{B433B7BD-6C01-84D5-3803-37148EF2185B}"/>
              </a:ext>
            </a:extLst>
      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9054506" y="26013853"/>
            <a:ext cx="2457793" cy="1228896"/>
          </a:xfrm>
          <a:prstGeom prst="rect">
            <a:avLst/>
          </a:prstGeom>
        </p:spPr>
      </p:pic>
      <p:grpSp>
        <p:nvGrpSpPr>
          <p:cNvPr id="292" name="Group 291">
            <a:extLst>
              <a:ext uri="{FF2B5EF4-FFF2-40B4-BE49-F238E27FC236}">
                <a16:creationId xmlns:a16="http://schemas.microsoft.com/office/drawing/2014/main" id="{90E54CF7-2160-EBA7-39B9-A483F98D1289}"/>
              </a:ext>
            </a:extLst>
          </p:cNvPr>
          <p:cNvGrpSpPr/>
          <p:nvPr/>
        </p:nvGrpSpPr>
        <p:grpSpPr>
          <a:xfrm>
            <a:off x="12671348" y="28702122"/>
            <a:ext cx="3009093" cy="2529918"/>
            <a:chOff x="13666497" y="34849111"/>
            <a:chExt cx="3046151" cy="2529918"/>
          </a:xfrm>
        </p:grpSpPr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C9370D86-1744-DDDD-D901-2642480F01FC}"/>
                </a:ext>
              </a:extLst>
            </p:cNvPr>
            <p:cNvSpPr txBox="1"/>
            <p:nvPr/>
          </p:nvSpPr>
          <p:spPr>
            <a:xfrm>
              <a:off x="13666497" y="36609588"/>
              <a:ext cx="230229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Estimate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w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</a:t>
              </a:r>
            </a:p>
            <a:p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000" i="1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and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constant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1855283-BD1F-0091-E672-02632E796596}"/>
                </a:ext>
              </a:extLst>
            </p:cNvPr>
            <p:cNvSpPr txBox="1"/>
            <p:nvPr/>
          </p:nvSpPr>
          <p:spPr>
            <a:xfrm>
              <a:off x="13666497" y="35264566"/>
              <a:ext cx="304614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Estimate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and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w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</a:t>
              </a:r>
            </a:p>
            <a:p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constant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852EB219-13E0-9046-1458-3077D48E8E3D}"/>
                </a:ext>
              </a:extLst>
            </p:cNvPr>
            <p:cNvSpPr txBox="1"/>
            <p:nvPr/>
          </p:nvSpPr>
          <p:spPr>
            <a:xfrm>
              <a:off x="13666498" y="35933938"/>
              <a:ext cx="30461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Estimate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and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w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</a:t>
              </a:r>
            </a:p>
            <a:p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constant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5A83D1DA-D813-AB22-4301-C04B16225FF3}"/>
                </a:ext>
              </a:extLst>
            </p:cNvPr>
            <p:cNvSpPr txBox="1"/>
            <p:nvPr/>
          </p:nvSpPr>
          <p:spPr>
            <a:xfrm>
              <a:off x="13671765" y="34849111"/>
              <a:ext cx="23022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Estimate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P</a:t>
              </a:r>
              <a:r>
                <a:rPr lang="en-US" sz="2000" i="1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,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b</a:t>
              </a:r>
              <a:r>
                <a:rPr lang="en-US" sz="2000" i="1" dirty="0">
                  <a:latin typeface="+mn-lt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, </a:t>
              </a:r>
              <a:r>
                <a:rPr lang="en-US" sz="2200" i="1" dirty="0">
                  <a:latin typeface="Times New Roman" panose="02020603050405020304" pitchFamily="18" charset="0"/>
                  <a:ea typeface="Sans Serif Collection" panose="020B0502040504020204" pitchFamily="34" charset="0"/>
                  <a:cs typeface="Times New Roman" panose="02020603050405020304" pitchFamily="18" charset="0"/>
                </a:rPr>
                <a:t>w</a:t>
              </a:r>
              <a:endParaRPr lang="en-US" sz="2200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6EE562C0-DFE2-4B13-0CFF-3DD5C87C5F34}"/>
              </a:ext>
            </a:extLst>
          </p:cNvPr>
          <p:cNvGrpSpPr/>
          <p:nvPr/>
        </p:nvGrpSpPr>
        <p:grpSpPr>
          <a:xfrm>
            <a:off x="14785209" y="28363212"/>
            <a:ext cx="8292101" cy="3594896"/>
            <a:chOff x="15429801" y="26873128"/>
            <a:chExt cx="8292101" cy="3594896"/>
          </a:xfrm>
        </p:grpSpPr>
        <p:pic>
          <p:nvPicPr>
            <p:cNvPr id="298" name="Picture 297" descr="A graph with a number of rectangular objects&#10;&#10;AI-generated content may be incorrect.">
              <a:extLst>
                <a:ext uri="{FF2B5EF4-FFF2-40B4-BE49-F238E27FC236}">
                  <a16:creationId xmlns:a16="http://schemas.microsoft.com/office/drawing/2014/main" id="{DB907774-0072-1CA4-F409-C2928438E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rcRect l="7960" t="14314" b="10589"/>
            <a:stretch>
              <a:fillRect/>
            </a:stretch>
          </p:blipFill>
          <p:spPr>
            <a:xfrm>
              <a:off x="15429801" y="26873128"/>
              <a:ext cx="8292101" cy="3416320"/>
            </a:xfrm>
            <a:prstGeom prst="rect">
              <a:avLst/>
            </a:prstGeom>
          </p:spPr>
        </p:pic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60F644A5-8C34-2D96-B631-813DFCD36293}"/>
                </a:ext>
              </a:extLst>
            </p:cNvPr>
            <p:cNvSpPr txBox="1"/>
            <p:nvPr/>
          </p:nvSpPr>
          <p:spPr>
            <a:xfrm>
              <a:off x="15526057" y="30129470"/>
              <a:ext cx="78716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Log</a:t>
              </a:r>
              <a:r>
                <a:rPr lang="en-US" sz="1600" baseline="-25000" dirty="0"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10</a:t>
              </a:r>
              <a:r>
                <a:rPr lang="en-US" sz="1600" dirty="0"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 of the weight LSE for all 21 network structures across four modeling conditions</a:t>
              </a:r>
            </a:p>
          </p:txBody>
        </p:sp>
      </p:grpSp>
      <p:sp>
        <p:nvSpPr>
          <p:cNvPr id="122" name="Title 1"/>
          <p:cNvSpPr txBox="1">
            <a:spLocks/>
          </p:cNvSpPr>
          <p:nvPr/>
        </p:nvSpPr>
        <p:spPr>
          <a:xfrm>
            <a:off x="12512089" y="21421324"/>
            <a:ext cx="18906475" cy="160014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r>
              <a:rPr lang="en-US" sz="3500" b="1" dirty="0">
                <a:solidFill>
                  <a:srgbClr val="16693F"/>
                </a:solidFill>
              </a:rPr>
              <a:t>Model sensitivity was tested using all possible 3-gene, 4-edge “toy” networks. </a:t>
            </a:r>
          </a:p>
          <a:p>
            <a:r>
              <a:rPr lang="en-US" sz="3500" b="1" dirty="0">
                <a:solidFill>
                  <a:srgbClr val="16693F"/>
                </a:solidFill>
              </a:rPr>
              <a:t>Simulated data was generated based on known parameters. Then the simulated data was used to estimate parameters to see if the model returned the known values.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ED1F3E6B-1B10-8244-3DBE-69166D2C7465}"/>
              </a:ext>
            </a:extLst>
          </p:cNvPr>
          <p:cNvSpPr txBox="1"/>
          <p:nvPr/>
        </p:nvSpPr>
        <p:spPr>
          <a:xfrm>
            <a:off x="27390455" y="23510056"/>
            <a:ext cx="505916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Least squares error, LSE, was used to rank the performance of the networks relative to one another.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error between the known weights and the estimated weights was computed as follows:</a:t>
            </a:r>
          </a:p>
          <a:p>
            <a:pPr marL="228600" indent="-228600"/>
            <a:endParaRPr lang="en-US" sz="2400" dirty="0">
              <a:latin typeface="+mn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/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	          LSE =			      </a:t>
            </a:r>
          </a:p>
          <a:p>
            <a:pPr marL="228600" indent="-228600"/>
            <a:endParaRPr lang="en-US" sz="2000" dirty="0">
              <a:latin typeface="+mn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/>
            <a:endParaRPr lang="en-US" sz="800" dirty="0">
              <a:latin typeface="+mn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/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2000" i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w</a:t>
            </a:r>
            <a:r>
              <a:rPr lang="en-US" sz="2000" i="1" baseline="-25000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i</a:t>
            </a:r>
            <a:r>
              <a:rPr lang="en-US" sz="2000" baseline="-25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are the actual weights</a:t>
            </a:r>
          </a:p>
          <a:p>
            <a:pPr marL="228600"/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2000" i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w’</a:t>
            </a:r>
            <a:r>
              <a:rPr lang="en-US" sz="2000" i="1" baseline="-25000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are the estimated weights.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68E89E-8A10-E298-B042-89E4D6124A70}"/>
              </a:ext>
            </a:extLst>
          </p:cNvPr>
          <p:cNvSpPr txBox="1"/>
          <p:nvPr/>
        </p:nvSpPr>
        <p:spPr>
          <a:xfrm>
            <a:off x="22669272" y="28574968"/>
            <a:ext cx="97264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When </a:t>
            </a:r>
            <a:r>
              <a:rPr lang="en-US" sz="24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and </a:t>
            </a:r>
            <a:r>
              <a:rPr lang="en-US" sz="24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were held constant, only the 4 weight parameters were estimated, compared to the 10 estimated when </a:t>
            </a:r>
            <a:r>
              <a:rPr lang="en-US" sz="24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and </a:t>
            </a:r>
            <a:r>
              <a:rPr lang="en-US" sz="24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w</a:t>
            </a: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were all estimated.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performance of the model when </a:t>
            </a:r>
            <a:r>
              <a:rPr lang="en-US" sz="240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and </a:t>
            </a:r>
            <a:r>
              <a:rPr lang="en-US" sz="240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were held constant and when only </a:t>
            </a:r>
            <a:r>
              <a:rPr lang="en-US" sz="240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was held constant were relatively similar, suggesting that the issue is estimating the production rate, </a:t>
            </a:r>
          </a:p>
          <a:p>
            <a:pPr marL="241300"/>
            <a:r>
              <a:rPr lang="en-US" sz="2400" b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not necessarily the number of parameters estimated.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27E640-B9FA-066D-2CA2-7DA45DA2E164}"/>
              </a:ext>
            </a:extLst>
          </p:cNvPr>
          <p:cNvSpPr txBox="1"/>
          <p:nvPr/>
        </p:nvSpPr>
        <p:spPr>
          <a:xfrm>
            <a:off x="27390455" y="27851453"/>
            <a:ext cx="50276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Ranking based on the sum of the LSEs under the four conditions.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78D717-D484-0389-73DB-76980B5E5AB3}"/>
              </a:ext>
            </a:extLst>
          </p:cNvPr>
          <p:cNvSpPr txBox="1"/>
          <p:nvPr/>
        </p:nvSpPr>
        <p:spPr>
          <a:xfrm>
            <a:off x="33257900" y="7154959"/>
            <a:ext cx="99706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1300" indent="-2413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Since weights were arbitrarily assigned (1, -1, 2, or -2), we also investigated if the rankings were solely based on network structure, or if they were also impacted by the weights assigned to the edges. </a:t>
            </a:r>
          </a:p>
          <a:p>
            <a:pPr marL="241300" indent="-2413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All 24 permutations of the weight assignments to edges were modeled for the networks originally ranked 1</a:t>
            </a:r>
            <a:r>
              <a:rPr lang="en-US" sz="20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</a:t>
            </a: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7</a:t>
            </a:r>
            <a:r>
              <a:rPr lang="en-US" sz="20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</a:t>
            </a: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and 19</a:t>
            </a:r>
            <a:r>
              <a:rPr lang="en-US" sz="20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</a:t>
            </a: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 determine the impact of the weights. </a:t>
            </a:r>
          </a:p>
          <a:p>
            <a:pPr marL="241300" indent="-2413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LSE of the weights were calculated for each trial as before.</a:t>
            </a:r>
          </a:p>
        </p:txBody>
      </p:sp>
      <p:pic>
        <p:nvPicPr>
          <p:cNvPr id="202" name="Picture 201">
            <a:extLst>
              <a:ext uri="{FF2B5EF4-FFF2-40B4-BE49-F238E27FC236}">
                <a16:creationId xmlns:a16="http://schemas.microsoft.com/office/drawing/2014/main" id="{6BC4DF37-CE9F-D8E5-3E44-494E1377E493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" b="12873"/>
          <a:stretch>
            <a:fillRect/>
          </a:stretch>
        </p:blipFill>
        <p:spPr>
          <a:xfrm>
            <a:off x="33156289" y="21334639"/>
            <a:ext cx="5402118" cy="1468678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2A7452DB-A464-5E3D-220C-D132F0483549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"/>
          <a:stretch>
            <a:fillRect/>
          </a:stretch>
        </p:blipFill>
        <p:spPr>
          <a:xfrm>
            <a:off x="33156288" y="12215050"/>
            <a:ext cx="5402119" cy="1685672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DA990A89-AA97-2710-AE9E-5F0D9B3333B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"/>
          <a:stretch>
            <a:fillRect/>
          </a:stretch>
        </p:blipFill>
        <p:spPr>
          <a:xfrm>
            <a:off x="33156288" y="16881337"/>
            <a:ext cx="5402119" cy="1685672"/>
          </a:xfrm>
          <a:prstGeom prst="rect">
            <a:avLst/>
          </a:prstGeom>
        </p:spPr>
      </p:pic>
      <p:sp>
        <p:nvSpPr>
          <p:cNvPr id="303" name="TextBox 302">
            <a:extLst>
              <a:ext uri="{FF2B5EF4-FFF2-40B4-BE49-F238E27FC236}">
                <a16:creationId xmlns:a16="http://schemas.microsoft.com/office/drawing/2014/main" id="{2494D547-D2A1-1F61-D115-BD6BCD80BEC6}"/>
              </a:ext>
            </a:extLst>
          </p:cNvPr>
          <p:cNvSpPr txBox="1"/>
          <p:nvPr/>
        </p:nvSpPr>
        <p:spPr>
          <a:xfrm>
            <a:off x="34412321" y="13545087"/>
            <a:ext cx="40314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</a:t>
            </a:r>
            <a:r>
              <a:rPr lang="en-US" sz="900" baseline="-25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9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of the weight LSE for all permutations across four modeling conditions</a:t>
            </a: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F3A52030-E9AD-8009-6937-A02ECDC6F12D}"/>
              </a:ext>
            </a:extLst>
          </p:cNvPr>
          <p:cNvGrpSpPr/>
          <p:nvPr/>
        </p:nvGrpSpPr>
        <p:grpSpPr>
          <a:xfrm>
            <a:off x="33160959" y="18903688"/>
            <a:ext cx="5221897" cy="1014671"/>
            <a:chOff x="369409" y="4696011"/>
            <a:chExt cx="8229600" cy="1599100"/>
          </a:xfrm>
        </p:grpSpPr>
        <p:pic>
          <p:nvPicPr>
            <p:cNvPr id="314" name="Picture 313">
              <a:extLst>
                <a:ext uri="{FF2B5EF4-FFF2-40B4-BE49-F238E27FC236}">
                  <a16:creationId xmlns:a16="http://schemas.microsoft.com/office/drawing/2014/main" id="{79CF2D6D-DCDA-2512-A310-F2ACF287B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409" y="4771111"/>
              <a:ext cx="2743200" cy="1524000"/>
            </a:xfrm>
            <a:prstGeom prst="rect">
              <a:avLst/>
            </a:prstGeom>
          </p:spPr>
        </p:pic>
        <p:pic>
          <p:nvPicPr>
            <p:cNvPr id="315" name="Picture 314">
              <a:extLst>
                <a:ext uri="{FF2B5EF4-FFF2-40B4-BE49-F238E27FC236}">
                  <a16:creationId xmlns:a16="http://schemas.microsoft.com/office/drawing/2014/main" id="{13ECA3BD-1DE2-87D8-361A-7E72ED054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609" y="4771111"/>
              <a:ext cx="2743200" cy="1524000"/>
            </a:xfrm>
            <a:prstGeom prst="rect">
              <a:avLst/>
            </a:prstGeom>
          </p:spPr>
        </p:pic>
        <p:pic>
          <p:nvPicPr>
            <p:cNvPr id="316" name="Picture 315">
              <a:extLst>
                <a:ext uri="{FF2B5EF4-FFF2-40B4-BE49-F238E27FC236}">
                  <a16:creationId xmlns:a16="http://schemas.microsoft.com/office/drawing/2014/main" id="{B7FE2E60-D35D-A552-9F94-2F266A00E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5809" y="4771111"/>
              <a:ext cx="2743200" cy="1524000"/>
            </a:xfrm>
            <a:prstGeom prst="rect">
              <a:avLst/>
            </a:prstGeom>
          </p:spPr>
        </p:pic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965CBB1D-FBAC-4D57-69AC-26EF6C78EDF9}"/>
                </a:ext>
              </a:extLst>
            </p:cNvPr>
            <p:cNvGrpSpPr/>
            <p:nvPr/>
          </p:nvGrpSpPr>
          <p:grpSpPr>
            <a:xfrm>
              <a:off x="369409" y="4696011"/>
              <a:ext cx="5994231" cy="461665"/>
              <a:chOff x="369409" y="591515"/>
              <a:chExt cx="5994231" cy="461665"/>
            </a:xfrm>
          </p:grpSpPr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53E594F6-73B6-6879-3F79-76058C57B45D}"/>
                  </a:ext>
                </a:extLst>
              </p:cNvPr>
              <p:cNvSpPr txBox="1"/>
              <p:nvPr/>
            </p:nvSpPr>
            <p:spPr>
              <a:xfrm>
                <a:off x="369409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CEC28923-D6E0-5358-20A3-6A79AFADCBC5}"/>
                  </a:ext>
                </a:extLst>
              </p:cNvPr>
              <p:cNvSpPr txBox="1"/>
              <p:nvPr/>
            </p:nvSpPr>
            <p:spPr>
              <a:xfrm>
                <a:off x="3197247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791DC299-E7BD-28A5-1E36-5200B3B6784C}"/>
                  </a:ext>
                </a:extLst>
              </p:cNvPr>
              <p:cNvSpPr txBox="1"/>
              <p:nvPr/>
            </p:nvSpPr>
            <p:spPr>
              <a:xfrm>
                <a:off x="6025086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BBFA44B-F8BC-14B8-27C6-7ED2CAD3C1C2}"/>
              </a:ext>
            </a:extLst>
          </p:cNvPr>
          <p:cNvGrpSpPr/>
          <p:nvPr/>
        </p:nvGrpSpPr>
        <p:grpSpPr>
          <a:xfrm>
            <a:off x="33233940" y="9577294"/>
            <a:ext cx="5221899" cy="988717"/>
            <a:chOff x="369409" y="591515"/>
            <a:chExt cx="8229600" cy="1558196"/>
          </a:xfrm>
        </p:grpSpPr>
        <p:pic>
          <p:nvPicPr>
            <p:cNvPr id="322" name="Picture 321">
              <a:extLst>
                <a:ext uri="{FF2B5EF4-FFF2-40B4-BE49-F238E27FC236}">
                  <a16:creationId xmlns:a16="http://schemas.microsoft.com/office/drawing/2014/main" id="{DDC30495-3D09-3F46-6227-4BC62B02A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409" y="627699"/>
              <a:ext cx="2743200" cy="1518867"/>
            </a:xfrm>
            <a:prstGeom prst="rect">
              <a:avLst/>
            </a:prstGeom>
          </p:spPr>
        </p:pic>
        <p:pic>
          <p:nvPicPr>
            <p:cNvPr id="323" name="Picture 322">
              <a:extLst>
                <a:ext uri="{FF2B5EF4-FFF2-40B4-BE49-F238E27FC236}">
                  <a16:creationId xmlns:a16="http://schemas.microsoft.com/office/drawing/2014/main" id="{3BCE4FE0-69D3-218E-0895-A96E3B9FD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609" y="624829"/>
              <a:ext cx="2743200" cy="1524607"/>
            </a:xfrm>
            <a:prstGeom prst="rect">
              <a:avLst/>
            </a:prstGeom>
          </p:spPr>
        </p:pic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EBF7578A-0342-872D-DD9A-0ECF41E90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5809" y="624554"/>
              <a:ext cx="2743200" cy="1525157"/>
            </a:xfrm>
            <a:prstGeom prst="rect">
              <a:avLst/>
            </a:prstGeom>
          </p:spPr>
        </p:pic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06BFA92E-8C6F-7F7E-BD74-392FBC3ECFE6}"/>
                </a:ext>
              </a:extLst>
            </p:cNvPr>
            <p:cNvGrpSpPr/>
            <p:nvPr/>
          </p:nvGrpSpPr>
          <p:grpSpPr>
            <a:xfrm>
              <a:off x="369409" y="591515"/>
              <a:ext cx="5994231" cy="461665"/>
              <a:chOff x="369409" y="591515"/>
              <a:chExt cx="5994231" cy="461665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A39180EF-9AA5-D8AF-3F98-C447100276AB}"/>
                  </a:ext>
                </a:extLst>
              </p:cNvPr>
              <p:cNvSpPr txBox="1"/>
              <p:nvPr/>
            </p:nvSpPr>
            <p:spPr>
              <a:xfrm>
                <a:off x="369409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1E70EDFF-6ABC-998C-4701-DED432BD95DE}"/>
                  </a:ext>
                </a:extLst>
              </p:cNvPr>
              <p:cNvSpPr txBox="1"/>
              <p:nvPr/>
            </p:nvSpPr>
            <p:spPr>
              <a:xfrm>
                <a:off x="3197247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60A9785E-C8F6-25D5-3E06-9E548FD26AC6}"/>
                  </a:ext>
                </a:extLst>
              </p:cNvPr>
              <p:cNvSpPr txBox="1"/>
              <p:nvPr/>
            </p:nvSpPr>
            <p:spPr>
              <a:xfrm>
                <a:off x="6025086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CA5896BF-F4E7-0B2A-5B40-3FE58B619126}"/>
              </a:ext>
            </a:extLst>
          </p:cNvPr>
          <p:cNvGrpSpPr/>
          <p:nvPr/>
        </p:nvGrpSpPr>
        <p:grpSpPr>
          <a:xfrm>
            <a:off x="33233409" y="14327050"/>
            <a:ext cx="5221899" cy="971739"/>
            <a:chOff x="369409" y="2652228"/>
            <a:chExt cx="8229600" cy="1531440"/>
          </a:xfrm>
        </p:grpSpPr>
        <p:pic>
          <p:nvPicPr>
            <p:cNvPr id="330" name="Picture 329">
              <a:extLst>
                <a:ext uri="{FF2B5EF4-FFF2-40B4-BE49-F238E27FC236}">
                  <a16:creationId xmlns:a16="http://schemas.microsoft.com/office/drawing/2014/main" id="{E302EE42-AEE4-3D07-BE30-275041B02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409" y="2659668"/>
              <a:ext cx="2743200" cy="1524000"/>
            </a:xfrm>
            <a:prstGeom prst="rect">
              <a:avLst/>
            </a:prstGeom>
          </p:spPr>
        </p:pic>
        <p:pic>
          <p:nvPicPr>
            <p:cNvPr id="331" name="Picture 330">
              <a:extLst>
                <a:ext uri="{FF2B5EF4-FFF2-40B4-BE49-F238E27FC236}">
                  <a16:creationId xmlns:a16="http://schemas.microsoft.com/office/drawing/2014/main" id="{49574E20-6F87-D3DD-D59A-9C1DB335A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609" y="2659668"/>
              <a:ext cx="2743200" cy="1524000"/>
            </a:xfrm>
            <a:prstGeom prst="rect">
              <a:avLst/>
            </a:prstGeom>
          </p:spPr>
        </p:pic>
        <p:pic>
          <p:nvPicPr>
            <p:cNvPr id="332" name="Picture 331">
              <a:extLst>
                <a:ext uri="{FF2B5EF4-FFF2-40B4-BE49-F238E27FC236}">
                  <a16:creationId xmlns:a16="http://schemas.microsoft.com/office/drawing/2014/main" id="{1EB54B78-91BC-B075-AD60-819809E51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5809" y="2659668"/>
              <a:ext cx="2743200" cy="1524000"/>
            </a:xfrm>
            <a:prstGeom prst="rect">
              <a:avLst/>
            </a:prstGeom>
          </p:spPr>
        </p:pic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85550F0E-F1AC-42F7-03E6-359D8AE22118}"/>
                </a:ext>
              </a:extLst>
            </p:cNvPr>
            <p:cNvGrpSpPr/>
            <p:nvPr/>
          </p:nvGrpSpPr>
          <p:grpSpPr>
            <a:xfrm>
              <a:off x="369409" y="2652228"/>
              <a:ext cx="5994231" cy="461665"/>
              <a:chOff x="369409" y="591515"/>
              <a:chExt cx="5994231" cy="461665"/>
            </a:xfrm>
          </p:grpSpPr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39C17736-E244-8684-8BDB-4A2C78DBFAFF}"/>
                  </a:ext>
                </a:extLst>
              </p:cNvPr>
              <p:cNvSpPr txBox="1"/>
              <p:nvPr/>
            </p:nvSpPr>
            <p:spPr>
              <a:xfrm>
                <a:off x="369409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E5F910F2-99E5-9158-B0AF-F09D45BCB087}"/>
                  </a:ext>
                </a:extLst>
              </p:cNvPr>
              <p:cNvSpPr txBox="1"/>
              <p:nvPr/>
            </p:nvSpPr>
            <p:spPr>
              <a:xfrm>
                <a:off x="3197247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15960C4A-F13A-7B60-6B08-EFC7E8601F64}"/>
                  </a:ext>
                </a:extLst>
              </p:cNvPr>
              <p:cNvSpPr txBox="1"/>
              <p:nvPr/>
            </p:nvSpPr>
            <p:spPr>
              <a:xfrm>
                <a:off x="6025086" y="59151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Sans Serif Collection" panose="020B0502040504020204" pitchFamily="34" charset="0"/>
                    <a:cs typeface="Times New Roman" panose="02020603050405020304" pitchFamily="18" charset="0"/>
                  </a:rPr>
                  <a:t>†</a:t>
                </a:r>
                <a:endParaRPr lang="en-US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BC007A34-B236-4181-47FD-D744564F909C}"/>
              </a:ext>
            </a:extLst>
          </p:cNvPr>
          <p:cNvSpPr txBox="1"/>
          <p:nvPr/>
        </p:nvSpPr>
        <p:spPr>
          <a:xfrm>
            <a:off x="38167600" y="9276970"/>
            <a:ext cx="5150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  <a:latin typeface="+mn-lt"/>
              </a:rPr>
              <a:t>Log</a:t>
            </a:r>
            <a:r>
              <a:rPr lang="en-US" b="1" baseline="-25000" dirty="0">
                <a:solidFill>
                  <a:schemeClr val="tx1"/>
                </a:solidFill>
                <a:latin typeface="+mn-lt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LSE of Weight Permutations for Network Ranked 1</a:t>
            </a:r>
            <a:r>
              <a:rPr lang="en-US" b="1" baseline="30000" dirty="0">
                <a:solidFill>
                  <a:schemeClr val="tx1"/>
                </a:solidFill>
                <a:latin typeface="+mn-lt"/>
              </a:rPr>
              <a:t>st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algn="r"/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estimated only (dark);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P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, &amp;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all estimated (light)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C0E3B6A-3006-4E69-F6B2-EEF8D4C991F0}"/>
              </a:ext>
            </a:extLst>
          </p:cNvPr>
          <p:cNvSpPr txBox="1"/>
          <p:nvPr/>
        </p:nvSpPr>
        <p:spPr>
          <a:xfrm>
            <a:off x="33225583" y="13956127"/>
            <a:ext cx="2026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16693F"/>
                </a:solidFill>
              </a:rPr>
              <a:t>mutual cascade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25F24109-0D9F-0D17-B731-E0022F5CD857}"/>
              </a:ext>
            </a:extLst>
          </p:cNvPr>
          <p:cNvSpPr txBox="1"/>
          <p:nvPr/>
        </p:nvSpPr>
        <p:spPr>
          <a:xfrm>
            <a:off x="33225583" y="9059255"/>
            <a:ext cx="143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16693F"/>
                </a:solidFill>
              </a:rPr>
              <a:t>bi-mutual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B454FA62-CFAC-E5AC-0246-E2AB0E6C832D}"/>
              </a:ext>
            </a:extLst>
          </p:cNvPr>
          <p:cNvSpPr txBox="1"/>
          <p:nvPr/>
        </p:nvSpPr>
        <p:spPr>
          <a:xfrm>
            <a:off x="33225583" y="18589160"/>
            <a:ext cx="299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16693F"/>
                </a:solidFill>
              </a:rPr>
              <a:t>fan in, 2 autoregulation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EC13D74-A57C-78AC-5377-648D042DD02E}"/>
              </a:ext>
            </a:extLst>
          </p:cNvPr>
          <p:cNvSpPr txBox="1"/>
          <p:nvPr/>
        </p:nvSpPr>
        <p:spPr>
          <a:xfrm>
            <a:off x="38068213" y="18589160"/>
            <a:ext cx="5250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  <a:latin typeface="+mn-lt"/>
              </a:rPr>
              <a:t>Log</a:t>
            </a:r>
            <a:r>
              <a:rPr lang="en-US" b="1" baseline="-25000" dirty="0">
                <a:solidFill>
                  <a:schemeClr val="tx1"/>
                </a:solidFill>
                <a:latin typeface="+mn-lt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LSE of Weight Permutations for Network Ranked 19</a:t>
            </a:r>
            <a:r>
              <a:rPr lang="en-US" b="1" baseline="30000" dirty="0">
                <a:solidFill>
                  <a:schemeClr val="tx1"/>
                </a:solidFill>
                <a:latin typeface="+mn-lt"/>
              </a:rPr>
              <a:t>th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algn="r"/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estimated only (dark);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P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, &amp;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all estimated (light)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DBC402-2CAF-51CD-1851-F28026DC5F72}"/>
              </a:ext>
            </a:extLst>
          </p:cNvPr>
          <p:cNvSpPr txBox="1"/>
          <p:nvPr/>
        </p:nvSpPr>
        <p:spPr>
          <a:xfrm rot="16200000">
            <a:off x="37595800" y="11301623"/>
            <a:ext cx="2202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Log</a:t>
            </a:r>
            <a:r>
              <a:rPr lang="en-US" sz="1200" baseline="-25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of the weight LSE 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696EE995-C310-B40F-34A2-6E810C842392}"/>
              </a:ext>
            </a:extLst>
          </p:cNvPr>
          <p:cNvSpPr txBox="1"/>
          <p:nvPr/>
        </p:nvSpPr>
        <p:spPr>
          <a:xfrm>
            <a:off x="42972239" y="9600176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70114DD-80ED-1C71-7513-3FA9034F454C}"/>
              </a:ext>
            </a:extLst>
          </p:cNvPr>
          <p:cNvSpPr txBox="1"/>
          <p:nvPr/>
        </p:nvSpPr>
        <p:spPr>
          <a:xfrm>
            <a:off x="38167600" y="13956127"/>
            <a:ext cx="5150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  <a:latin typeface="+mn-lt"/>
              </a:rPr>
              <a:t>Log</a:t>
            </a:r>
            <a:r>
              <a:rPr lang="en-US" b="1" baseline="-25000" dirty="0">
                <a:solidFill>
                  <a:schemeClr val="tx1"/>
                </a:solidFill>
                <a:latin typeface="+mn-lt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LSE of Weight Permutations for Network Ranked 7</a:t>
            </a:r>
            <a:r>
              <a:rPr lang="en-US" b="1" baseline="30000" dirty="0">
                <a:solidFill>
                  <a:schemeClr val="tx1"/>
                </a:solidFill>
                <a:latin typeface="+mn-lt"/>
              </a:rPr>
              <a:t>th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algn="r"/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estimated only (dark);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P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, &amp; </a:t>
            </a:r>
            <a:r>
              <a:rPr lang="en-US" b="1" i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all estimated (light)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0EB32BA2-4881-CA74-303D-43E8E337BA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779411"/>
              </p:ext>
            </p:extLst>
          </p:nvPr>
        </p:nvGraphicFramePr>
        <p:xfrm>
          <a:off x="38780582" y="14368388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9"/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9F162A21-E170-611F-3CA3-1F18FF8A520B}"/>
              </a:ext>
            </a:extLst>
          </p:cNvPr>
          <p:cNvSpPr txBox="1"/>
          <p:nvPr/>
        </p:nvSpPr>
        <p:spPr>
          <a:xfrm>
            <a:off x="42207029" y="14612863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+mn-lt"/>
                <a:ea typeface="Sans Serif Collection" panose="020B0502040504020204" pitchFamily="34" charset="0"/>
                <a:cs typeface="Times New Roman" panose="02020603050405020304" pitchFamily="18" charset="0"/>
              </a:rPr>
              <a:t>*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6775E839-6E2F-2F84-0599-9DBB0CC765C0}"/>
              </a:ext>
            </a:extLst>
      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9445752" y="17683750"/>
            <a:ext cx="3754120" cy="71628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FEBB4953-2736-7F3C-ACD9-276F2677E1B4}"/>
              </a:ext>
            </a:extLst>
          </p:cNvPr>
          <p:cNvSpPr txBox="1"/>
          <p:nvPr/>
        </p:nvSpPr>
        <p:spPr>
          <a:xfrm>
            <a:off x="38860291" y="17664375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47BCA33-E927-7A7E-C4D0-F31F8890D2ED}"/>
              </a:ext>
            </a:extLst>
          </p:cNvPr>
          <p:cNvSpPr txBox="1"/>
          <p:nvPr/>
        </p:nvSpPr>
        <p:spPr>
          <a:xfrm>
            <a:off x="38860291" y="17843253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2E55A37-A879-0D9B-EF1B-C42CAE0965D5}"/>
              </a:ext>
            </a:extLst>
          </p:cNvPr>
          <p:cNvSpPr txBox="1"/>
          <p:nvPr/>
        </p:nvSpPr>
        <p:spPr>
          <a:xfrm>
            <a:off x="38860291" y="18022131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794AAD0-0D14-E996-386F-A935B4A4B8D9}"/>
              </a:ext>
            </a:extLst>
          </p:cNvPr>
          <p:cNvSpPr txBox="1"/>
          <p:nvPr/>
        </p:nvSpPr>
        <p:spPr>
          <a:xfrm>
            <a:off x="38860291" y="18201010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C92CA5D-A8B1-D1CF-1A07-F0437D6C6B6C}"/>
              </a:ext>
            </a:extLst>
          </p:cNvPr>
          <p:cNvSpPr txBox="1"/>
          <p:nvPr/>
        </p:nvSpPr>
        <p:spPr>
          <a:xfrm rot="16200000">
            <a:off x="37586275" y="15946895"/>
            <a:ext cx="2202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Log</a:t>
            </a:r>
            <a:r>
              <a:rPr lang="en-US" sz="1200" baseline="-25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of the weight LSE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BF8D3D9-F5B5-552B-54DE-A41C95197743}"/>
              </a:ext>
            </a:extLst>
          </p:cNvPr>
          <p:cNvSpPr txBox="1"/>
          <p:nvPr/>
        </p:nvSpPr>
        <p:spPr>
          <a:xfrm>
            <a:off x="41881786" y="15084656"/>
            <a:ext cx="124585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median = 0.539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EFC1F48-DCA2-9A00-48D9-9528D2253C41}"/>
              </a:ext>
            </a:extLst>
          </p:cNvPr>
          <p:cNvSpPr txBox="1"/>
          <p:nvPr/>
        </p:nvSpPr>
        <p:spPr>
          <a:xfrm>
            <a:off x="41399282" y="15841444"/>
            <a:ext cx="17283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median = 9.670 x 10</a:t>
            </a:r>
            <a:r>
              <a:rPr lang="en-US" sz="1200" baseline="30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-11</a:t>
            </a:r>
            <a:endParaRPr lang="en-US" sz="12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1392E713-0AA2-13F7-207D-D59A0DD65F92}"/>
              </a:ext>
            </a:extLst>
          </p:cNvPr>
          <p:cNvSpPr txBox="1"/>
          <p:nvPr/>
        </p:nvSpPr>
        <p:spPr>
          <a:xfrm>
            <a:off x="39360212" y="14782942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8EC63055-5BF8-BF91-9CAB-243BD981D09D}"/>
              </a:ext>
            </a:extLst>
          </p:cNvPr>
          <p:cNvSpPr txBox="1"/>
          <p:nvPr/>
        </p:nvSpPr>
        <p:spPr>
          <a:xfrm>
            <a:off x="41399775" y="14552826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DCCFB76-E5D2-6E12-AC84-CF76DA1D2B2D}"/>
              </a:ext>
            </a:extLst>
          </p:cNvPr>
          <p:cNvSpPr txBox="1"/>
          <p:nvPr/>
        </p:nvSpPr>
        <p:spPr>
          <a:xfrm>
            <a:off x="42973345" y="14290714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6" name="Chart 175">
            <a:extLst>
              <a:ext uri="{FF2B5EF4-FFF2-40B4-BE49-F238E27FC236}">
                <a16:creationId xmlns:a16="http://schemas.microsoft.com/office/drawing/2014/main" id="{FD4B68FF-D742-170B-064B-BE45DF0E6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2808699"/>
              </p:ext>
            </p:extLst>
          </p:nvPr>
        </p:nvGraphicFramePr>
        <p:xfrm>
          <a:off x="38645694" y="18965177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1"/>
          </a:graphicData>
        </a:graphic>
      </p:graphicFrame>
      <p:sp>
        <p:nvSpPr>
          <p:cNvPr id="178" name="TextBox 177">
            <a:extLst>
              <a:ext uri="{FF2B5EF4-FFF2-40B4-BE49-F238E27FC236}">
                <a16:creationId xmlns:a16="http://schemas.microsoft.com/office/drawing/2014/main" id="{A775E2C4-6EAD-BD16-7890-3024800FEDDD}"/>
              </a:ext>
            </a:extLst>
          </p:cNvPr>
          <p:cNvSpPr txBox="1"/>
          <p:nvPr/>
        </p:nvSpPr>
        <p:spPr>
          <a:xfrm>
            <a:off x="42682052" y="19111004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+mn-lt"/>
                <a:ea typeface="Sans Serif Collection" panose="020B0502040504020204" pitchFamily="34" charset="0"/>
                <a:cs typeface="Times New Roman" panose="02020603050405020304" pitchFamily="18" charset="0"/>
              </a:rPr>
              <a:t>*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22F3498-A5C2-0F2B-D3B2-5DEB9003280A}"/>
              </a:ext>
            </a:extLst>
          </p:cNvPr>
          <p:cNvSpPr txBox="1"/>
          <p:nvPr/>
        </p:nvSpPr>
        <p:spPr>
          <a:xfrm>
            <a:off x="38860291" y="22107253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1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6C9F327-3109-D963-BE02-F606990E1C29}"/>
              </a:ext>
            </a:extLst>
          </p:cNvPr>
          <p:cNvSpPr txBox="1"/>
          <p:nvPr/>
        </p:nvSpPr>
        <p:spPr>
          <a:xfrm>
            <a:off x="38860291" y="22286131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2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D843DD9-48A8-D326-5BDF-9CA1343F308A}"/>
              </a:ext>
            </a:extLst>
          </p:cNvPr>
          <p:cNvSpPr txBox="1"/>
          <p:nvPr/>
        </p:nvSpPr>
        <p:spPr>
          <a:xfrm>
            <a:off x="38860291" y="22465009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3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582F4D0-861C-C286-431A-40187AD316BE}"/>
              </a:ext>
            </a:extLst>
          </p:cNvPr>
          <p:cNvSpPr txBox="1"/>
          <p:nvPr/>
        </p:nvSpPr>
        <p:spPr>
          <a:xfrm>
            <a:off x="38860291" y="22643888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14A49B9-0427-E41C-D28E-643DAC5ED015}"/>
              </a:ext>
            </a:extLst>
          </p:cNvPr>
          <p:cNvSpPr txBox="1"/>
          <p:nvPr/>
        </p:nvSpPr>
        <p:spPr>
          <a:xfrm>
            <a:off x="41881786" y="19621092"/>
            <a:ext cx="124585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median = 0.876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FF55D0A-7770-9666-A6FF-A3D617DD81A1}"/>
              </a:ext>
            </a:extLst>
          </p:cNvPr>
          <p:cNvSpPr txBox="1"/>
          <p:nvPr/>
        </p:nvSpPr>
        <p:spPr>
          <a:xfrm>
            <a:off x="41399282" y="20613772"/>
            <a:ext cx="17283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median = 2.652 x 10</a:t>
            </a:r>
            <a:r>
              <a:rPr lang="en-US" sz="1200" baseline="30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-10</a:t>
            </a:r>
            <a:endParaRPr lang="en-US" sz="12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1" name="Picture 200">
            <a:extLst>
              <a:ext uri="{FF2B5EF4-FFF2-40B4-BE49-F238E27FC236}">
                <a16:creationId xmlns:a16="http://schemas.microsoft.com/office/drawing/2014/main" id="{04931D39-3016-5BF7-BF6E-5986C2165E9C}"/>
              </a:ext>
            </a:extLst>
      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9435184" y="22133301"/>
            <a:ext cx="3798975" cy="704088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1DB9D73-AB49-FB9C-1CDE-6895295DC102}"/>
              </a:ext>
            </a:extLst>
          </p:cNvPr>
          <p:cNvSpPr txBox="1"/>
          <p:nvPr/>
        </p:nvSpPr>
        <p:spPr>
          <a:xfrm rot="16200000">
            <a:off x="37586275" y="20418348"/>
            <a:ext cx="2202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Log</a:t>
            </a:r>
            <a:r>
              <a:rPr lang="en-US" sz="1200" baseline="-25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of the weight LSE 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3B935649-512D-DD9A-EE9A-6AF6751E35DC}"/>
              </a:ext>
            </a:extLst>
          </p:cNvPr>
          <p:cNvSpPr txBox="1"/>
          <p:nvPr/>
        </p:nvSpPr>
        <p:spPr>
          <a:xfrm>
            <a:off x="39339934" y="19283750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5C13711C-14DD-57AC-5C57-8437037FE8A0}"/>
              </a:ext>
            </a:extLst>
          </p:cNvPr>
          <p:cNvSpPr txBox="1"/>
          <p:nvPr/>
        </p:nvSpPr>
        <p:spPr>
          <a:xfrm>
            <a:off x="41703347" y="19006009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F2232F63-97B9-9190-F68C-B377D951C661}"/>
              </a:ext>
            </a:extLst>
          </p:cNvPr>
          <p:cNvSpPr txBox="1"/>
          <p:nvPr/>
        </p:nvSpPr>
        <p:spPr>
          <a:xfrm>
            <a:off x="42972117" y="18924872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22BAFD6-FFA2-E044-1351-D4494C08A7C7}"/>
              </a:ext>
            </a:extLst>
          </p:cNvPr>
          <p:cNvSpPr txBox="1"/>
          <p:nvPr/>
        </p:nvSpPr>
        <p:spPr>
          <a:xfrm>
            <a:off x="33473032" y="10608344"/>
            <a:ext cx="4738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Expected and observed weights when </a:t>
            </a:r>
            <a:r>
              <a:rPr lang="en-US" sz="1200" i="1" dirty="0"/>
              <a:t>P</a:t>
            </a:r>
            <a:r>
              <a:rPr lang="en-US" sz="1200" dirty="0"/>
              <a:t>, </a:t>
            </a:r>
            <a:r>
              <a:rPr lang="en-US" sz="1200" i="1" dirty="0"/>
              <a:t>b</a:t>
            </a:r>
            <a:r>
              <a:rPr lang="en-US" sz="1200" dirty="0"/>
              <a:t>, and </a:t>
            </a:r>
            <a:r>
              <a:rPr lang="en-US" sz="1200" i="1" dirty="0"/>
              <a:t>w</a:t>
            </a:r>
            <a:r>
              <a:rPr lang="en-US" sz="1200" dirty="0"/>
              <a:t> are all estimated</a:t>
            </a:r>
          </a:p>
        </p:txBody>
      </p:sp>
      <p:graphicFrame>
        <p:nvGraphicFramePr>
          <p:cNvPr id="351" name="Table 350">
            <a:extLst>
              <a:ext uri="{FF2B5EF4-FFF2-40B4-BE49-F238E27FC236}">
                <a16:creationId xmlns:a16="http://schemas.microsoft.com/office/drawing/2014/main" id="{B760BA08-C74F-762F-0E94-3B85B5D59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419375"/>
              </p:ext>
            </p:extLst>
          </p:nvPr>
        </p:nvGraphicFramePr>
        <p:xfrm>
          <a:off x="33236977" y="10894411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-1.917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-0.903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0.976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1.939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graphicFrame>
        <p:nvGraphicFramePr>
          <p:cNvPr id="352" name="Table 351">
            <a:extLst>
              <a:ext uri="{FF2B5EF4-FFF2-40B4-BE49-F238E27FC236}">
                <a16:creationId xmlns:a16="http://schemas.microsoft.com/office/drawing/2014/main" id="{EE52CA57-94A8-7978-B796-61C809781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148996"/>
              </p:ext>
            </p:extLst>
          </p:nvPr>
        </p:nvGraphicFramePr>
        <p:xfrm>
          <a:off x="35009543" y="10894411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0.492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-0.734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-2.807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0.127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graphicFrame>
        <p:nvGraphicFramePr>
          <p:cNvPr id="353" name="Table 352">
            <a:extLst>
              <a:ext uri="{FF2B5EF4-FFF2-40B4-BE49-F238E27FC236}">
                <a16:creationId xmlns:a16="http://schemas.microsoft.com/office/drawing/2014/main" id="{65EE38B8-D866-C4E8-CDB1-BD653A1F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796214"/>
              </p:ext>
            </p:extLst>
          </p:nvPr>
        </p:nvGraphicFramePr>
        <p:xfrm>
          <a:off x="36782110" y="10893080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0.221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-0.908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-2.812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-3.314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F1A682F-744A-7AC2-3AB0-F1AF6773FE23}"/>
              </a:ext>
            </a:extLst>
          </p:cNvPr>
          <p:cNvSpPr txBox="1"/>
          <p:nvPr/>
        </p:nvSpPr>
        <p:spPr>
          <a:xfrm>
            <a:off x="39536448" y="10418730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+mn-lt"/>
                <a:ea typeface="Sans Serif Collection" panose="020B0502040504020204" pitchFamily="34" charset="0"/>
                <a:cs typeface="Times New Roman" panose="02020603050405020304" pitchFamily="18" charset="0"/>
              </a:rPr>
              <a:t>*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D647A5-CA88-A1AB-AA66-8D3500809CB9}"/>
              </a:ext>
            </a:extLst>
          </p:cNvPr>
          <p:cNvSpPr txBox="1"/>
          <p:nvPr/>
        </p:nvSpPr>
        <p:spPr>
          <a:xfrm>
            <a:off x="38860291" y="13008452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F2979F-423B-6AAF-7E08-4921D6BEEB3C}"/>
              </a:ext>
            </a:extLst>
          </p:cNvPr>
          <p:cNvSpPr txBox="1"/>
          <p:nvPr/>
        </p:nvSpPr>
        <p:spPr>
          <a:xfrm>
            <a:off x="38860291" y="13187330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81E22F-5E94-209E-7753-FF675F94F2D4}"/>
              </a:ext>
            </a:extLst>
          </p:cNvPr>
          <p:cNvSpPr txBox="1"/>
          <p:nvPr/>
        </p:nvSpPr>
        <p:spPr>
          <a:xfrm>
            <a:off x="38860291" y="13366208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157831-F00C-A0F7-099C-4AAD710B54AC}"/>
              </a:ext>
            </a:extLst>
          </p:cNvPr>
          <p:cNvSpPr txBox="1"/>
          <p:nvPr/>
        </p:nvSpPr>
        <p:spPr>
          <a:xfrm>
            <a:off x="38860291" y="1354508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Weight 4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9744C19B-6543-1689-9D39-736EA5069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308598"/>
              </p:ext>
            </p:extLst>
          </p:nvPr>
        </p:nvGraphicFramePr>
        <p:xfrm>
          <a:off x="38749163" y="9760416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3"/>
          </a:graphicData>
        </a:graphic>
      </p:graphicFrame>
      <p:pic>
        <p:nvPicPr>
          <p:cNvPr id="46" name="Picture 45">
            <a:extLst>
              <a:ext uri="{FF2B5EF4-FFF2-40B4-BE49-F238E27FC236}">
                <a16:creationId xmlns:a16="http://schemas.microsoft.com/office/drawing/2014/main" id="{7A1B67D3-CB91-6071-F6E2-4A88AE35E7B2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39438004" y="13029095"/>
            <a:ext cx="3758184" cy="722971"/>
          </a:xfrm>
          <a:prstGeom prst="rect">
            <a:avLst/>
          </a:prstGeom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8B82088D-FDB2-5066-BFE1-BEF86F226BDF}"/>
              </a:ext>
            </a:extLst>
          </p:cNvPr>
          <p:cNvSpPr txBox="1"/>
          <p:nvPr/>
        </p:nvSpPr>
        <p:spPr>
          <a:xfrm>
            <a:off x="39359106" y="10225754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0C625B7A-EE16-FCD6-1AD4-46EC07B63646}"/>
              </a:ext>
            </a:extLst>
          </p:cNvPr>
          <p:cNvSpPr txBox="1"/>
          <p:nvPr/>
        </p:nvSpPr>
        <p:spPr>
          <a:xfrm>
            <a:off x="41560594" y="9747988"/>
            <a:ext cx="214821" cy="292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†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936A92-ECCB-E8F9-762F-2503DE3DCA22}"/>
              </a:ext>
            </a:extLst>
          </p:cNvPr>
          <p:cNvSpPr txBox="1"/>
          <p:nvPr/>
        </p:nvSpPr>
        <p:spPr>
          <a:xfrm>
            <a:off x="41881786" y="10339894"/>
            <a:ext cx="124585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median = 2.121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26C3CE-BA35-6837-5774-622A38A4E76C}"/>
              </a:ext>
            </a:extLst>
          </p:cNvPr>
          <p:cNvSpPr txBox="1"/>
          <p:nvPr/>
        </p:nvSpPr>
        <p:spPr>
          <a:xfrm>
            <a:off x="41399282" y="11412053"/>
            <a:ext cx="17283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median = 2.671 x 10</a:t>
            </a:r>
            <a:r>
              <a:rPr lang="en-US" sz="1200" baseline="300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-10</a:t>
            </a:r>
            <a:endParaRPr lang="en-US" sz="12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63" name="Table 362">
            <a:extLst>
              <a:ext uri="{FF2B5EF4-FFF2-40B4-BE49-F238E27FC236}">
                <a16:creationId xmlns:a16="http://schemas.microsoft.com/office/drawing/2014/main" id="{75637776-0E8A-5961-0A31-526559B77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092579"/>
              </p:ext>
            </p:extLst>
          </p:nvPr>
        </p:nvGraphicFramePr>
        <p:xfrm>
          <a:off x="33232961" y="15578712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0.782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-1.021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-2.038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2.069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graphicFrame>
        <p:nvGraphicFramePr>
          <p:cNvPr id="364" name="Table 363">
            <a:extLst>
              <a:ext uri="{FF2B5EF4-FFF2-40B4-BE49-F238E27FC236}">
                <a16:creationId xmlns:a16="http://schemas.microsoft.com/office/drawing/2014/main" id="{197C02D7-CB8F-D545-D00F-4D63B5E68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79301"/>
              </p:ext>
            </p:extLst>
          </p:nvPr>
        </p:nvGraphicFramePr>
        <p:xfrm>
          <a:off x="35005527" y="15578712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0.620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1.562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-1.541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-0.763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graphicFrame>
        <p:nvGraphicFramePr>
          <p:cNvPr id="365" name="Table 364">
            <a:extLst>
              <a:ext uri="{FF2B5EF4-FFF2-40B4-BE49-F238E27FC236}">
                <a16:creationId xmlns:a16="http://schemas.microsoft.com/office/drawing/2014/main" id="{922DE40A-1E8F-B313-D12B-9C4B4444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631940"/>
              </p:ext>
            </p:extLst>
          </p:nvPr>
        </p:nvGraphicFramePr>
        <p:xfrm>
          <a:off x="36778094" y="15577381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-0.845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-1.593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-2.417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0.916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sp>
        <p:nvSpPr>
          <p:cNvPr id="366" name="TextBox 365">
            <a:extLst>
              <a:ext uri="{FF2B5EF4-FFF2-40B4-BE49-F238E27FC236}">
                <a16:creationId xmlns:a16="http://schemas.microsoft.com/office/drawing/2014/main" id="{45395B5B-EAC7-0FD0-CCFC-16670CA70687}"/>
              </a:ext>
            </a:extLst>
          </p:cNvPr>
          <p:cNvSpPr txBox="1"/>
          <p:nvPr/>
        </p:nvSpPr>
        <p:spPr>
          <a:xfrm>
            <a:off x="33474363" y="15285308"/>
            <a:ext cx="4738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Expected and observed weights when </a:t>
            </a:r>
            <a:r>
              <a:rPr lang="en-US" sz="1200" i="1" dirty="0"/>
              <a:t>P</a:t>
            </a:r>
            <a:r>
              <a:rPr lang="en-US" sz="1200" dirty="0"/>
              <a:t>, </a:t>
            </a:r>
            <a:r>
              <a:rPr lang="en-US" sz="1200" i="1" dirty="0"/>
              <a:t>b</a:t>
            </a:r>
            <a:r>
              <a:rPr lang="en-US" sz="1200" dirty="0"/>
              <a:t>, and </a:t>
            </a:r>
            <a:r>
              <a:rPr lang="en-US" sz="1200" i="1" dirty="0"/>
              <a:t>w</a:t>
            </a:r>
            <a:r>
              <a:rPr lang="en-US" sz="1200" dirty="0"/>
              <a:t> are all estimated</a:t>
            </a:r>
          </a:p>
        </p:txBody>
      </p:sp>
      <p:graphicFrame>
        <p:nvGraphicFramePr>
          <p:cNvPr id="367" name="Table 366">
            <a:extLst>
              <a:ext uri="{FF2B5EF4-FFF2-40B4-BE49-F238E27FC236}">
                <a16:creationId xmlns:a16="http://schemas.microsoft.com/office/drawing/2014/main" id="{10D7B3E7-A92E-06D3-C2A4-E37389331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02367"/>
              </p:ext>
            </p:extLst>
          </p:nvPr>
        </p:nvGraphicFramePr>
        <p:xfrm>
          <a:off x="33234286" y="20194259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2.211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-2.027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0.921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-0.994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graphicFrame>
        <p:nvGraphicFramePr>
          <p:cNvPr id="368" name="Table 367">
            <a:extLst>
              <a:ext uri="{FF2B5EF4-FFF2-40B4-BE49-F238E27FC236}">
                <a16:creationId xmlns:a16="http://schemas.microsoft.com/office/drawing/2014/main" id="{53CA63EA-A188-47A0-2BFB-F07BE7018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303434"/>
              </p:ext>
            </p:extLst>
          </p:nvPr>
        </p:nvGraphicFramePr>
        <p:xfrm>
          <a:off x="35006852" y="20194259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-0.766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0.704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-1.829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0.766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graphicFrame>
        <p:nvGraphicFramePr>
          <p:cNvPr id="369" name="Table 368">
            <a:extLst>
              <a:ext uri="{FF2B5EF4-FFF2-40B4-BE49-F238E27FC236}">
                <a16:creationId xmlns:a16="http://schemas.microsoft.com/office/drawing/2014/main" id="{1B3545AC-9827-DA06-C048-636D6E18D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686791"/>
              </p:ext>
            </p:extLst>
          </p:nvPr>
        </p:nvGraphicFramePr>
        <p:xfrm>
          <a:off x="36779419" y="20192928"/>
          <a:ext cx="1649134" cy="1133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28">
                  <a:extLst>
                    <a:ext uri="{9D8B030D-6E8A-4147-A177-3AD203B41FA5}">
                      <a16:colId xmlns:a16="http://schemas.microsoft.com/office/drawing/2014/main" val="218785597"/>
                    </a:ext>
                  </a:extLst>
                </a:gridCol>
                <a:gridCol w="845506">
                  <a:extLst>
                    <a:ext uri="{9D8B030D-6E8A-4147-A177-3AD203B41FA5}">
                      <a16:colId xmlns:a16="http://schemas.microsoft.com/office/drawing/2014/main" val="1928864429"/>
                    </a:ext>
                  </a:extLst>
                </a:gridCol>
              </a:tblGrid>
              <a:tr h="177516">
                <a:tc>
                  <a:txBody>
                    <a:bodyPr/>
                    <a:lstStyle/>
                    <a:p>
                      <a:r>
                        <a:rPr lang="en-US" sz="1200" b="1" dirty="0"/>
                        <a:t>Expected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Observed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184000978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0.951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624566469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 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0.143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4271650212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-2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-2.808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2559579256"/>
                  </a:ext>
                </a:extLst>
              </a:tr>
              <a:tr h="177516">
                <a:tc>
                  <a:txBody>
                    <a:bodyPr/>
                    <a:lstStyle/>
                    <a:p>
                      <a:r>
                        <a:rPr lang="en-US" sz="1200" dirty="0"/>
                        <a:t>      -1</a:t>
                      </a:r>
                    </a:p>
                  </a:txBody>
                  <a:tcPr marL="43771" marR="43771" marT="21885" marB="21885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-0.385</a:t>
                      </a:r>
                    </a:p>
                  </a:txBody>
                  <a:tcPr marL="43771" marR="43771" marT="21885" marB="21885"/>
                </a:tc>
                <a:extLst>
                  <a:ext uri="{0D108BD9-81ED-4DB2-BD59-A6C34878D82A}">
                    <a16:rowId xmlns:a16="http://schemas.microsoft.com/office/drawing/2014/main" val="3605432342"/>
                  </a:ext>
                </a:extLst>
              </a:tr>
            </a:tbl>
          </a:graphicData>
        </a:graphic>
      </p:graphicFrame>
      <p:sp>
        <p:nvSpPr>
          <p:cNvPr id="370" name="TextBox 369">
            <a:extLst>
              <a:ext uri="{FF2B5EF4-FFF2-40B4-BE49-F238E27FC236}">
                <a16:creationId xmlns:a16="http://schemas.microsoft.com/office/drawing/2014/main" id="{F43CC8C8-05DE-DF42-4949-630A29B8600F}"/>
              </a:ext>
            </a:extLst>
          </p:cNvPr>
          <p:cNvSpPr txBox="1"/>
          <p:nvPr/>
        </p:nvSpPr>
        <p:spPr>
          <a:xfrm>
            <a:off x="33475688" y="19900855"/>
            <a:ext cx="4738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Expected and observed weights when </a:t>
            </a:r>
            <a:r>
              <a:rPr lang="en-US" sz="1200" i="1" dirty="0"/>
              <a:t>P</a:t>
            </a:r>
            <a:r>
              <a:rPr lang="en-US" sz="1200" dirty="0"/>
              <a:t>, </a:t>
            </a:r>
            <a:r>
              <a:rPr lang="en-US" sz="1200" i="1" dirty="0"/>
              <a:t>b</a:t>
            </a:r>
            <a:r>
              <a:rPr lang="en-US" sz="1200" dirty="0"/>
              <a:t>, and </a:t>
            </a:r>
            <a:r>
              <a:rPr lang="en-US" sz="1200" i="1" dirty="0"/>
              <a:t>w</a:t>
            </a:r>
            <a:r>
              <a:rPr lang="en-US" sz="1200" dirty="0"/>
              <a:t> are all estimated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63F60ECF-8B80-7338-9888-ABB4345A80F6}"/>
              </a:ext>
            </a:extLst>
          </p:cNvPr>
          <p:cNvSpPr txBox="1"/>
          <p:nvPr/>
        </p:nvSpPr>
        <p:spPr>
          <a:xfrm>
            <a:off x="34408305" y="18201010"/>
            <a:ext cx="40314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</a:t>
            </a:r>
            <a:r>
              <a:rPr lang="en-US" sz="900" baseline="-25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9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of the weight LSE for all permutations across four modeling conditions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B3FC90CA-1058-987D-4E77-B8EB2E23DC4E}"/>
              </a:ext>
            </a:extLst>
          </p:cNvPr>
          <p:cNvSpPr txBox="1"/>
          <p:nvPr/>
        </p:nvSpPr>
        <p:spPr>
          <a:xfrm>
            <a:off x="34416321" y="22643888"/>
            <a:ext cx="40314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</a:t>
            </a:r>
            <a:r>
              <a:rPr lang="en-US" sz="900" baseline="-25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9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of the weight LSE for all permutations across four modeling conditions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FF6782C1-834D-6CE4-A0CB-B1E53E531B3C}"/>
              </a:ext>
            </a:extLst>
          </p:cNvPr>
          <p:cNvSpPr txBox="1"/>
          <p:nvPr/>
        </p:nvSpPr>
        <p:spPr>
          <a:xfrm>
            <a:off x="33257900" y="23009447"/>
            <a:ext cx="97656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Generally, when only </a:t>
            </a:r>
            <a:r>
              <a:rPr lang="en-US" sz="1600" i="1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w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is estimated, the LSE is very low (10</a:t>
            </a:r>
            <a:r>
              <a:rPr lang="en-US" sz="16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-12 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– 10</a:t>
            </a:r>
            <a:r>
              <a:rPr lang="en-US" sz="16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-6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), so we ranked model performance when </a:t>
            </a:r>
            <a:r>
              <a:rPr lang="en-US" sz="16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and </a:t>
            </a:r>
            <a:r>
              <a:rPr lang="en-US" sz="16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w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were all estimated, LSE = 10</a:t>
            </a:r>
            <a:r>
              <a:rPr lang="en-US" sz="16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-2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– 10</a:t>
            </a:r>
            <a:r>
              <a:rPr lang="en-US" sz="1600" baseline="300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1 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(see bar charts). </a:t>
            </a:r>
          </a:p>
          <a:p>
            <a:pPr marL="228600" lvl="7" indent="-228600">
              <a:buFont typeface="Arial" panose="020B0604020202020204" pitchFamily="34" charset="0"/>
              <a:buChar char="•"/>
              <a:tabLst>
                <a:tab pos="350838" algn="l"/>
              </a:tabLst>
            </a:pP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box and whisker plots show the same pattern that we saw previously where the median LSE is smaller in the two conditions where </a:t>
            </a:r>
            <a:r>
              <a:rPr lang="en-US" sz="1600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held constant.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mutual cascade family of networks performs better than the other two network families with smaller median LSEs for all estimation conditions. </a:t>
            </a:r>
          </a:p>
        </p:txBody>
      </p:sp>
    </p:spTree>
    <p:extLst>
      <p:ext uri="{BB962C8B-B14F-4D97-AF65-F5344CB8AC3E}">
        <p14:creationId xmlns:p14="http://schemas.microsoft.com/office/powerpoint/2010/main" val="2166200899"/>
      </p:ext>
    </p:extLst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6065</TotalTime>
  <Words>2823</Words>
  <Application>Microsoft Office PowerPoint</Application>
  <PresentationFormat>Custom</PresentationFormat>
  <Paragraphs>406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Arial,Sans-Serif</vt:lpstr>
      <vt:lpstr>Calibri</vt:lpstr>
      <vt:lpstr>Sans Serif Collection</vt:lpstr>
      <vt:lpstr>Symbol</vt:lpstr>
      <vt:lpstr>Times New Roman</vt:lpstr>
      <vt:lpstr>Wingdings</vt:lpstr>
      <vt:lpstr>Office Theme</vt:lpstr>
      <vt:lpstr>Equation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Dahlquist, Kam D.</dc:creator>
  <cp:lastModifiedBy>Dahlquist, Kam</cp:lastModifiedBy>
  <cp:revision>211</cp:revision>
  <cp:lastPrinted>2026-06-11T20:15:03Z</cp:lastPrinted>
  <dcterms:modified xsi:type="dcterms:W3CDTF">2026-06-11T20:48:34Z</dcterms:modified>
</cp:coreProperties>
</file>