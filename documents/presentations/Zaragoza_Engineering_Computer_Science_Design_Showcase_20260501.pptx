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2F1_574EDDBE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31D_ABB60EA5.xml" ContentType="application/vnd.ms-powerpoint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4.xml" ContentType="application/vnd.openxmlformats-officedocument.presentationml.notesSlide+xml"/>
  <Override PartName="/ppt/comments/modernComment_31A_B1B7C430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modernComment_119_0.xml" ContentType="application/vnd.ms-powerpoint.comments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811" r:id="rId3"/>
    <p:sldId id="835" r:id="rId4"/>
    <p:sldId id="258" r:id="rId5"/>
    <p:sldId id="831" r:id="rId6"/>
    <p:sldId id="793" r:id="rId7"/>
    <p:sldId id="810" r:id="rId8"/>
    <p:sldId id="802" r:id="rId9"/>
    <p:sldId id="803" r:id="rId10"/>
    <p:sldId id="804" r:id="rId11"/>
    <p:sldId id="836" r:id="rId12"/>
    <p:sldId id="795" r:id="rId13"/>
    <p:sldId id="783" r:id="rId14"/>
    <p:sldId id="796" r:id="rId15"/>
    <p:sldId id="753" r:id="rId16"/>
    <p:sldId id="754" r:id="rId17"/>
    <p:sldId id="779" r:id="rId18"/>
    <p:sldId id="782" r:id="rId19"/>
    <p:sldId id="837" r:id="rId20"/>
    <p:sldId id="797" r:id="rId21"/>
    <p:sldId id="785" r:id="rId22"/>
    <p:sldId id="833" r:id="rId23"/>
    <p:sldId id="763" r:id="rId24"/>
    <p:sldId id="794" r:id="rId25"/>
    <p:sldId id="774" r:id="rId26"/>
    <p:sldId id="281" r:id="rId27"/>
    <p:sldId id="713" r:id="rId28"/>
  </p:sldIdLst>
  <p:sldSz cx="9144000" cy="5143500" type="screen16x9"/>
  <p:notesSz cx="6858000" cy="9144000"/>
  <p:embeddedFontLst>
    <p:embeddedFont>
      <p:font typeface="Sans Serif Collection" panose="020B0502040504020204" pitchFamily="34" charset="-78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42E501-4BB1-3555-C1AF-A3C31A0E7D23}" name="Dionisio, John David" initials="DJ" userId="S::johndavid.dionisio@lmu.edu::e3b1f1c0-3270-469a-82f5-d004832549cb" providerId="AD"/>
  <p188:author id="{050CC742-17C3-54B3-4E0E-240C4BB316BB}" name="Guest User" initials="GU" userId="S::urn:spo:tenantanon#0376eb4b-c206-4056-9061-e342dc2ecda8::" providerId="AD"/>
  <p188:author id="{45D20B7D-4004-C4B1-FB1E-27168D811655}" name="Tran, Ngoc Kim Ngan" initials="NT" userId="S::ntran18@lion.lmu.edu::f1a20c60-f6cc-4486-9ea1-ef2fe2f42ea5" providerId="AD"/>
  <p188:author id="{81AFC9C0-94CF-1F08-B603-C41C896D1D0E}" name="Zaragoza, Cecilia" initials="CZ" userId="S::czarago3@lion.lmu.edu::ba79d74b-ac7e-4e1f-8231-f254b0908332" providerId="AD"/>
  <p188:author id="{F30846FF-0436-857E-6A61-7F15FB93B6D2}" name="Dahlquist, Kam" initials="DK" userId="S::kam.dahlquist@lmu.edu::40b18385-251d-4a80-b9c3-d2dafbeb4f5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ika Tran" initials="" lastIdx="8" clrIdx="0"/>
  <p:cmAuthor id="1" name="Milka Z" initials="" lastIdx="3" clrIdx="1"/>
  <p:cmAuthor id="2" name="Tran, Ngoc Kim Ngan" initials="TN" lastIdx="4" clrIdx="2">
    <p:extLst>
      <p:ext uri="{19B8F6BF-5375-455C-9EA6-DF929625EA0E}">
        <p15:presenceInfo xmlns:p15="http://schemas.microsoft.com/office/powerpoint/2012/main" userId="S::ntran18@lion.lmu.edu::f1a20c60-f6cc-4486-9ea1-ef2fe2f42ea5" providerId="AD"/>
      </p:ext>
    </p:extLst>
  </p:cmAuthor>
  <p:cmAuthor id="3" name="Zekarias, Milka" initials="ZM" lastIdx="3" clrIdx="3">
    <p:extLst>
      <p:ext uri="{19B8F6BF-5375-455C-9EA6-DF929625EA0E}">
        <p15:presenceInfo xmlns:p15="http://schemas.microsoft.com/office/powerpoint/2012/main" userId="S::mzekaria@lion.lmu.edu::450d914f-7c24-4505-a2c7-a9ef6dfa0a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693F"/>
    <a:srgbClr val="008F00"/>
    <a:srgbClr val="A9CFAF"/>
    <a:srgbClr val="DEF1E0"/>
    <a:srgbClr val="AAD1B1"/>
    <a:srgbClr val="C8E7D5"/>
    <a:srgbClr val="A8CFB0"/>
    <a:srgbClr val="D5DEA0"/>
    <a:srgbClr val="DDEFD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94777-F9A4-254D-83AF-27B7C38AFD87}" v="28" dt="2026-05-01T18:07:52.1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84"/>
    <p:restoredTop sz="88333"/>
  </p:normalViewPr>
  <p:slideViewPr>
    <p:cSldViewPr snapToGrid="0">
      <p:cViewPr varScale="1">
        <p:scale>
          <a:sx n="134" d="100"/>
          <a:sy n="134" d="100"/>
        </p:scale>
        <p:origin x="760" y="176"/>
      </p:cViewPr>
      <p:guideLst>
        <p:guide orient="horz" pos="1620"/>
        <p:guide pos="2880"/>
      </p:guideLst>
    </p:cSldViewPr>
  </p:slideViewPr>
  <p:notesTextViewPr>
    <p:cViewPr>
      <p:scale>
        <a:sx n="110" d="100"/>
        <a:sy n="11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2F1_574EDD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A0566A-626E-7041-A4AF-B62E66DE6E98}" authorId="{81AFC9C0-94CF-1F08-B603-C41C896D1D0E}" created="2026-04-30T16:30:57.7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64786366" sldId="753"/>
      <ac:graphicFrameMk id="10" creationId="{0AADA06A-14AF-0663-EDD6-2CC0BF48CE16}"/>
      <ac:tblMk/>
      <ac:tcMk rowId="549696382" colId="217355893"/>
      <ac:txMk cp="0" len="16">
        <ac:context len="17" hash="1850832491"/>
      </ac:txMk>
    </ac:txMkLst>
    <p188:pos x="1682216" y="3315424"/>
    <p188:txBody>
      <a:bodyPr/>
      <a:lstStyle/>
      <a:p>
        <a:r>
          <a:rPr lang="en-US"/>
          <a:t>explain that these are only some of the benefits of migration</a:t>
        </a:r>
      </a:p>
    </p188:txBody>
  </p188:cm>
</p188:cmLst>
</file>

<file path=ppt/comments/modernComment_31A_B1B7C4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0A41CE-4441-F343-85EA-12736765DA67}" authorId="{81AFC9C0-94CF-1F08-B603-C41C896D1D0E}" created="2026-04-30T16:32:50.031">
    <pc:sldMkLst xmlns:pc="http://schemas.microsoft.com/office/powerpoint/2013/main/command">
      <pc:docMk/>
      <pc:sldMk cId="2981610544" sldId="794"/>
    </pc:sldMkLst>
    <p188:txBody>
      <a:bodyPr/>
      <a:lstStyle/>
      <a:p>
        <a:r>
          <a:rPr lang="en-US"/>
          <a:t>be ready for "why did migration take so long to start" question</a:t>
        </a:r>
      </a:p>
    </p188:txBody>
  </p188:cm>
  <p188:cm id="{D586AD65-8049-7344-891E-217D6BC49237}" authorId="{81AFC9C0-94CF-1F08-B603-C41C896D1D0E}" created="2026-04-30T16:35:57.701">
    <pc:sldMkLst xmlns:pc="http://schemas.microsoft.com/office/powerpoint/2013/main/command">
      <pc:docMk/>
      <pc:sldMk cId="2981610544" sldId="794"/>
    </pc:sldMkLst>
    <p188:txBody>
      <a:bodyPr/>
      <a:lstStyle/>
      <a:p>
        <a:r>
          <a:rPr lang="en-US"/>
          <a:t>try to see if can compute how much code was in classic, how much code touched in classic, how much in react</a:t>
        </a:r>
      </a:p>
    </p188:txBody>
  </p188:cm>
  <p188:cm id="{DEDE5E8B-0C63-4845-988C-BD956F224993}" authorId="{81AFC9C0-94CF-1F08-B603-C41C896D1D0E}" created="2026-04-30T16:37:27.404">
    <pc:sldMkLst xmlns:pc="http://schemas.microsoft.com/office/powerpoint/2013/main/command">
      <pc:docMk/>
      <pc:sldMk cId="2981610544" sldId="794"/>
    </pc:sldMkLst>
    <p188:txBody>
      <a:bodyPr/>
      <a:lstStyle/>
      <a:p>
        <a:r>
          <a:rPr lang="en-US"/>
          <a:t>be ready for: How much AI did you use to help?</a:t>
        </a:r>
      </a:p>
    </p188:txBody>
  </p188:cm>
</p188:cmLst>
</file>

<file path=ppt/comments/modernComment_31D_ABB60E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6B6514-3207-3943-9B0E-32D959E8623C}" authorId="{81AFC9C0-94CF-1F08-B603-C41C896D1D0E}" created="2026-04-30T16:32:07.453">
    <pc:sldMkLst xmlns:pc="http://schemas.microsoft.com/office/powerpoint/2013/main/command">
      <pc:docMk/>
      <pc:sldMk cId="2880835237" sldId="797"/>
    </pc:sldMkLst>
    <p188:txBody>
      <a:bodyPr/>
      <a:lstStyle/>
      <a:p>
        <a:r>
          <a:rPr lang="en-US"/>
          <a:t>can also highlight how transition to collapse easier because of built-in grommet component</a:t>
        </a:r>
      </a:p>
    </p188:txBody>
  </p188:cm>
</p188:cmLst>
</file>

<file path=ppt/comments/modernComment_11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B650AA-0FDA-4C65-B6A1-1EB5584F9CCE}" authorId="{F30846FF-0436-857E-6A61-7F15FB93B6D2}" created="2026-04-28T20:47:50.8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1"/>
      <ac:spMk id="299" creationId="{00000000-0000-0000-0000-000000000000}"/>
      <ac:txMk cp="0" len="32">
        <ac:context len="33" hash="3937923342"/>
      </ac:txMk>
    </ac:txMkLst>
    <p188:pos x="4759993" y="225592"/>
    <p188:txBody>
      <a:bodyPr/>
      <a:lstStyle/>
      <a:p>
        <a:r>
          <a:rPr lang="en-US"/>
          <a:t>do you want to point to the React version or include it in addition?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1BDF4D-1F86-4980-A257-09DE4420AF5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E8FF18-D5C3-4203-AB1A-E0DCABD42747}">
      <dgm:prSet phldrT="[Text]" phldr="0"/>
      <dgm:spPr>
        <a:solidFill>
          <a:srgbClr val="16693F"/>
        </a:solidFill>
      </dgm:spPr>
      <dgm:t>
        <a:bodyPr/>
        <a:lstStyle/>
        <a:p>
          <a:pPr rtl="0"/>
          <a:r>
            <a:rPr lang="en-US"/>
            <a:t>v1  </a:t>
          </a:r>
          <a:r>
            <a:rPr lang="en-US">
              <a:latin typeface="Arial"/>
            </a:rPr>
            <a:t>  </a:t>
          </a:r>
          <a:r>
            <a:rPr lang="en-US"/>
            <a:t>(2014-16)</a:t>
          </a:r>
        </a:p>
      </dgm:t>
    </dgm:pt>
    <dgm:pt modelId="{F3068679-451C-418B-9DE7-1C6EBA0835CC}" type="parTrans" cxnId="{3ED519C2-C4C2-483B-864B-375286D86078}">
      <dgm:prSet/>
      <dgm:spPr/>
      <dgm:t>
        <a:bodyPr/>
        <a:lstStyle/>
        <a:p>
          <a:endParaRPr lang="en-US"/>
        </a:p>
      </dgm:t>
    </dgm:pt>
    <dgm:pt modelId="{68F7394D-AE2A-40C2-930F-6783231C46F0}" type="sibTrans" cxnId="{3ED519C2-C4C2-483B-864B-375286D86078}">
      <dgm:prSet/>
      <dgm:spPr/>
      <dgm:t>
        <a:bodyPr/>
        <a:lstStyle/>
        <a:p>
          <a:endParaRPr lang="en-US"/>
        </a:p>
      </dgm:t>
    </dgm:pt>
    <dgm:pt modelId="{8BA84369-509D-46A6-A160-46F416BE49B5}">
      <dgm:prSet phldrT="[Text]" phldr="0"/>
      <dgm:spPr>
        <a:solidFill>
          <a:srgbClr val="DFEBE5"/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v2   (2016-18)</a:t>
          </a:r>
        </a:p>
      </dgm:t>
    </dgm:pt>
    <dgm:pt modelId="{57CA1585-8E51-4D9F-AD46-D0CEAFF6AE2E}" type="parTrans" cxnId="{54733A53-FED2-48FF-AE84-8132BEECE8BC}">
      <dgm:prSet/>
      <dgm:spPr/>
      <dgm:t>
        <a:bodyPr/>
        <a:lstStyle/>
        <a:p>
          <a:endParaRPr lang="en-US"/>
        </a:p>
      </dgm:t>
    </dgm:pt>
    <dgm:pt modelId="{B29CA227-040E-45AC-9F91-C9DC744D5CF0}" type="sibTrans" cxnId="{54733A53-FED2-48FF-AE84-8132BEECE8BC}">
      <dgm:prSet/>
      <dgm:spPr/>
      <dgm:t>
        <a:bodyPr/>
        <a:lstStyle/>
        <a:p>
          <a:endParaRPr lang="en-US"/>
        </a:p>
      </dgm:t>
    </dgm:pt>
    <dgm:pt modelId="{473152B6-C37D-4981-8E83-A313A61ABD92}">
      <dgm:prSet phldrT="[Text]" phldr="0"/>
      <dgm:spPr>
        <a:solidFill>
          <a:srgbClr val="16693F"/>
        </a:solidFill>
      </dgm:spPr>
      <dgm:t>
        <a:bodyPr/>
        <a:lstStyle/>
        <a:p>
          <a:r>
            <a:rPr lang="en-US"/>
            <a:t>v3   (2018)</a:t>
          </a:r>
        </a:p>
      </dgm:t>
    </dgm:pt>
    <dgm:pt modelId="{1637C740-5767-4381-B58E-89CE3C5E98C7}" type="parTrans" cxnId="{057CF0AB-F87B-4B59-A9D7-C2287C3C3A7F}">
      <dgm:prSet/>
      <dgm:spPr/>
      <dgm:t>
        <a:bodyPr/>
        <a:lstStyle/>
        <a:p>
          <a:endParaRPr lang="en-US"/>
        </a:p>
      </dgm:t>
    </dgm:pt>
    <dgm:pt modelId="{0287BE0A-F5A0-4841-9568-ED7E884D7B1B}" type="sibTrans" cxnId="{057CF0AB-F87B-4B59-A9D7-C2287C3C3A7F}">
      <dgm:prSet/>
      <dgm:spPr/>
      <dgm:t>
        <a:bodyPr/>
        <a:lstStyle/>
        <a:p>
          <a:endParaRPr lang="en-US"/>
        </a:p>
      </dgm:t>
    </dgm:pt>
    <dgm:pt modelId="{1F092380-A4A5-439A-9A14-461C66C9E153}">
      <dgm:prSet phldrT="[Text]" phldr="0"/>
      <dgm:spPr>
        <a:solidFill>
          <a:srgbClr val="DFEBE5"/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v4   (2019)</a:t>
          </a:r>
        </a:p>
      </dgm:t>
    </dgm:pt>
    <dgm:pt modelId="{7DA2AF6E-1AA8-460D-8B26-E2E3332C81B2}" type="parTrans" cxnId="{84456B2F-53B8-48EF-AA47-54D7118D7B51}">
      <dgm:prSet/>
      <dgm:spPr/>
      <dgm:t>
        <a:bodyPr/>
        <a:lstStyle/>
        <a:p>
          <a:endParaRPr lang="en-US"/>
        </a:p>
      </dgm:t>
    </dgm:pt>
    <dgm:pt modelId="{7E679611-E11F-4CB8-B903-E4940A360B84}" type="sibTrans" cxnId="{84456B2F-53B8-48EF-AA47-54D7118D7B51}">
      <dgm:prSet/>
      <dgm:spPr/>
      <dgm:t>
        <a:bodyPr/>
        <a:lstStyle/>
        <a:p>
          <a:endParaRPr lang="en-US"/>
        </a:p>
      </dgm:t>
    </dgm:pt>
    <dgm:pt modelId="{B761CDEB-FE38-4036-A485-FFE8828BF5C2}">
      <dgm:prSet phldrT="[Text]" phldr="0"/>
      <dgm:spPr>
        <a:solidFill>
          <a:srgbClr val="16693F"/>
        </a:solidFill>
      </dgm:spPr>
      <dgm:t>
        <a:bodyPr/>
        <a:lstStyle/>
        <a:p>
          <a:r>
            <a:rPr lang="en-US"/>
            <a:t>v5   (2019-22)</a:t>
          </a:r>
        </a:p>
      </dgm:t>
    </dgm:pt>
    <dgm:pt modelId="{4906221A-711F-4D94-BB57-345C723AB6D9}" type="parTrans" cxnId="{545FD914-B67B-4389-8BF9-B5B2756E01C2}">
      <dgm:prSet/>
      <dgm:spPr/>
      <dgm:t>
        <a:bodyPr/>
        <a:lstStyle/>
        <a:p>
          <a:endParaRPr lang="en-US"/>
        </a:p>
      </dgm:t>
    </dgm:pt>
    <dgm:pt modelId="{0026119C-EA0D-4FA2-8184-05608C8B1F19}" type="sibTrans" cxnId="{545FD914-B67B-4389-8BF9-B5B2756E01C2}">
      <dgm:prSet/>
      <dgm:spPr/>
      <dgm:t>
        <a:bodyPr/>
        <a:lstStyle/>
        <a:p>
          <a:endParaRPr lang="en-US"/>
        </a:p>
      </dgm:t>
    </dgm:pt>
    <dgm:pt modelId="{9384497F-533F-430F-A781-0FAFA943519B}">
      <dgm:prSet phldrT="[Text]" phldr="0"/>
      <dgm:spPr>
        <a:solidFill>
          <a:srgbClr val="DFEBE5"/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v6   (2022-23)</a:t>
          </a:r>
        </a:p>
      </dgm:t>
    </dgm:pt>
    <dgm:pt modelId="{04D3B2EF-C9C5-4600-8885-3FCC01116716}" type="parTrans" cxnId="{BC8AAE48-4C51-4D6F-BA7C-2997E6B526A1}">
      <dgm:prSet/>
      <dgm:spPr/>
      <dgm:t>
        <a:bodyPr/>
        <a:lstStyle/>
        <a:p>
          <a:endParaRPr lang="en-US"/>
        </a:p>
      </dgm:t>
    </dgm:pt>
    <dgm:pt modelId="{C16578D5-F111-4C1E-8DAD-B5E6EB7FEC71}" type="sibTrans" cxnId="{BC8AAE48-4C51-4D6F-BA7C-2997E6B526A1}">
      <dgm:prSet/>
      <dgm:spPr/>
      <dgm:t>
        <a:bodyPr/>
        <a:lstStyle/>
        <a:p>
          <a:endParaRPr lang="en-US"/>
        </a:p>
      </dgm:t>
    </dgm:pt>
    <dgm:pt modelId="{100C9332-8C00-425F-AF03-01F772DED47F}">
      <dgm:prSet phldrT="[Text]" phldr="0"/>
      <dgm:spPr>
        <a:solidFill>
          <a:srgbClr val="16693F"/>
        </a:solidFill>
      </dgm:spPr>
      <dgm:t>
        <a:bodyPr/>
        <a:lstStyle/>
        <a:p>
          <a:pPr rtl="0"/>
          <a:r>
            <a:rPr lang="en-US"/>
            <a:t>v7  </a:t>
          </a:r>
          <a:r>
            <a:rPr lang="en-US">
              <a:latin typeface="Arial"/>
            </a:rPr>
            <a:t> </a:t>
          </a:r>
          <a:r>
            <a:rPr lang="en-US"/>
            <a:t>(2023-26)</a:t>
          </a:r>
        </a:p>
      </dgm:t>
    </dgm:pt>
    <dgm:pt modelId="{8C50A2C8-2F19-47FC-91D3-11B12F78C3D9}" type="parTrans" cxnId="{DD93FAD4-083B-4392-A72E-12D0B3BAE8F6}">
      <dgm:prSet/>
      <dgm:spPr/>
      <dgm:t>
        <a:bodyPr/>
        <a:lstStyle/>
        <a:p>
          <a:endParaRPr lang="en-US"/>
        </a:p>
      </dgm:t>
    </dgm:pt>
    <dgm:pt modelId="{85530519-CD19-4718-B297-B46476372B8C}" type="sibTrans" cxnId="{DD93FAD4-083B-4392-A72E-12D0B3BAE8F6}">
      <dgm:prSet/>
      <dgm:spPr/>
      <dgm:t>
        <a:bodyPr/>
        <a:lstStyle/>
        <a:p>
          <a:endParaRPr lang="en-US"/>
        </a:p>
      </dgm:t>
    </dgm:pt>
    <dgm:pt modelId="{25E8AEBA-B8F4-4B2B-BBF3-588546F58EA0}">
      <dgm:prSet phldrT="[Text]" phldr="0"/>
      <dgm:spPr>
        <a:solidFill>
          <a:srgbClr val="DFEBE5"/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React (2025-26)</a:t>
          </a:r>
        </a:p>
      </dgm:t>
    </dgm:pt>
    <dgm:pt modelId="{999027B8-8DC8-4BD3-9CE3-CA3905CD9112}" type="parTrans" cxnId="{D22DCC53-F2BA-4554-B167-609AB2E33CA1}">
      <dgm:prSet/>
      <dgm:spPr/>
      <dgm:t>
        <a:bodyPr/>
        <a:lstStyle/>
        <a:p>
          <a:endParaRPr lang="en-US"/>
        </a:p>
      </dgm:t>
    </dgm:pt>
    <dgm:pt modelId="{8B2CADD5-B85C-4E24-9540-8EC5BFF39A33}" type="sibTrans" cxnId="{D22DCC53-F2BA-4554-B167-609AB2E33CA1}">
      <dgm:prSet/>
      <dgm:spPr/>
      <dgm:t>
        <a:bodyPr/>
        <a:lstStyle/>
        <a:p>
          <a:endParaRPr lang="en-US"/>
        </a:p>
      </dgm:t>
    </dgm:pt>
    <dgm:pt modelId="{EE52B0FD-51CF-4F64-B82E-B95C028AA2BB}" type="pres">
      <dgm:prSet presAssocID="{731BDF4D-1F86-4980-A257-09DE4420AF5A}" presName="Name0" presStyleCnt="0">
        <dgm:presLayoutVars>
          <dgm:dir/>
          <dgm:animLvl val="lvl"/>
          <dgm:resizeHandles val="exact"/>
        </dgm:presLayoutVars>
      </dgm:prSet>
      <dgm:spPr/>
    </dgm:pt>
    <dgm:pt modelId="{0F3A6854-FE96-44ED-B82B-CDAE7E2E090F}" type="pres">
      <dgm:prSet presAssocID="{34E8FF18-D5C3-4203-AB1A-E0DCABD42747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B8AE0F7A-0B34-41CF-88D5-8DEE442C6461}" type="pres">
      <dgm:prSet presAssocID="{68F7394D-AE2A-40C2-930F-6783231C46F0}" presName="parTxOnlySpace" presStyleCnt="0"/>
      <dgm:spPr/>
    </dgm:pt>
    <dgm:pt modelId="{C7D0E513-4CB3-4B52-A0E3-F20BD7B61CFF}" type="pres">
      <dgm:prSet presAssocID="{8BA84369-509D-46A6-A160-46F416BE49B5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6DC26627-76B3-4C30-AF96-9FFB8DBBBD14}" type="pres">
      <dgm:prSet presAssocID="{B29CA227-040E-45AC-9F91-C9DC744D5CF0}" presName="parTxOnlySpace" presStyleCnt="0"/>
      <dgm:spPr/>
    </dgm:pt>
    <dgm:pt modelId="{30BB4A63-100D-493E-9AC3-7C802609B470}" type="pres">
      <dgm:prSet presAssocID="{473152B6-C37D-4981-8E83-A313A61ABD92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1D8D9228-3E49-4800-8971-BD8C9429A5DF}" type="pres">
      <dgm:prSet presAssocID="{0287BE0A-F5A0-4841-9568-ED7E884D7B1B}" presName="parTxOnlySpace" presStyleCnt="0"/>
      <dgm:spPr/>
    </dgm:pt>
    <dgm:pt modelId="{16A43A8F-44E7-472E-87FB-AB8B6640105D}" type="pres">
      <dgm:prSet presAssocID="{1F092380-A4A5-439A-9A14-461C66C9E15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CD1D9BC1-7189-456E-AAB5-6E070E7B50F4}" type="pres">
      <dgm:prSet presAssocID="{7E679611-E11F-4CB8-B903-E4940A360B84}" presName="parTxOnlySpace" presStyleCnt="0"/>
      <dgm:spPr/>
    </dgm:pt>
    <dgm:pt modelId="{3BC9835C-889B-45D6-A163-4AA7329170C7}" type="pres">
      <dgm:prSet presAssocID="{B761CDEB-FE38-4036-A485-FFE8828BF5C2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F14EAE50-A0BB-4626-B0B4-029205BAF0AB}" type="pres">
      <dgm:prSet presAssocID="{0026119C-EA0D-4FA2-8184-05608C8B1F19}" presName="parTxOnlySpace" presStyleCnt="0"/>
      <dgm:spPr/>
    </dgm:pt>
    <dgm:pt modelId="{4F5C5BD0-001A-4FBB-9C24-66620BE999B8}" type="pres">
      <dgm:prSet presAssocID="{9384497F-533F-430F-A781-0FAFA943519B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E1271167-6679-4888-B120-060E505D2255}" type="pres">
      <dgm:prSet presAssocID="{C16578D5-F111-4C1E-8DAD-B5E6EB7FEC71}" presName="parTxOnlySpace" presStyleCnt="0"/>
      <dgm:spPr/>
    </dgm:pt>
    <dgm:pt modelId="{6293A051-8ED7-40BC-A24A-255161956B3C}" type="pres">
      <dgm:prSet presAssocID="{100C9332-8C00-425F-AF03-01F772DED47F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5C7F0833-F154-4D9C-83EE-AE13E2BDDD67}" type="pres">
      <dgm:prSet presAssocID="{85530519-CD19-4718-B297-B46476372B8C}" presName="parTxOnlySpace" presStyleCnt="0"/>
      <dgm:spPr/>
    </dgm:pt>
    <dgm:pt modelId="{67EE7576-E38C-468A-88F2-312B1C7A4D0B}" type="pres">
      <dgm:prSet presAssocID="{25E8AEBA-B8F4-4B2B-BBF3-588546F58EA0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545FD914-B67B-4389-8BF9-B5B2756E01C2}" srcId="{731BDF4D-1F86-4980-A257-09DE4420AF5A}" destId="{B761CDEB-FE38-4036-A485-FFE8828BF5C2}" srcOrd="4" destOrd="0" parTransId="{4906221A-711F-4D94-BB57-345C723AB6D9}" sibTransId="{0026119C-EA0D-4FA2-8184-05608C8B1F19}"/>
    <dgm:cxn modelId="{889F0A1D-A344-41F5-AEF0-87F82C088A4F}" type="presOf" srcId="{1F092380-A4A5-439A-9A14-461C66C9E153}" destId="{16A43A8F-44E7-472E-87FB-AB8B6640105D}" srcOrd="0" destOrd="0" presId="urn:microsoft.com/office/officeart/2005/8/layout/chevron1"/>
    <dgm:cxn modelId="{622B212C-2570-4C09-8DC4-B70261ACB1D9}" type="presOf" srcId="{731BDF4D-1F86-4980-A257-09DE4420AF5A}" destId="{EE52B0FD-51CF-4F64-B82E-B95C028AA2BB}" srcOrd="0" destOrd="0" presId="urn:microsoft.com/office/officeart/2005/8/layout/chevron1"/>
    <dgm:cxn modelId="{84456B2F-53B8-48EF-AA47-54D7118D7B51}" srcId="{731BDF4D-1F86-4980-A257-09DE4420AF5A}" destId="{1F092380-A4A5-439A-9A14-461C66C9E153}" srcOrd="3" destOrd="0" parTransId="{7DA2AF6E-1AA8-460D-8B26-E2E3332C81B2}" sibTransId="{7E679611-E11F-4CB8-B903-E4940A360B84}"/>
    <dgm:cxn modelId="{3CB3D741-6CF0-4BF7-8787-2C271EF5C490}" type="presOf" srcId="{8BA84369-509D-46A6-A160-46F416BE49B5}" destId="{C7D0E513-4CB3-4B52-A0E3-F20BD7B61CFF}" srcOrd="0" destOrd="0" presId="urn:microsoft.com/office/officeart/2005/8/layout/chevron1"/>
    <dgm:cxn modelId="{BC8AAE48-4C51-4D6F-BA7C-2997E6B526A1}" srcId="{731BDF4D-1F86-4980-A257-09DE4420AF5A}" destId="{9384497F-533F-430F-A781-0FAFA943519B}" srcOrd="5" destOrd="0" parTransId="{04D3B2EF-C9C5-4600-8885-3FCC01116716}" sibTransId="{C16578D5-F111-4C1E-8DAD-B5E6EB7FEC71}"/>
    <dgm:cxn modelId="{5DB6A36C-52FD-4249-808E-F247BCCE907D}" type="presOf" srcId="{25E8AEBA-B8F4-4B2B-BBF3-588546F58EA0}" destId="{67EE7576-E38C-468A-88F2-312B1C7A4D0B}" srcOrd="0" destOrd="0" presId="urn:microsoft.com/office/officeart/2005/8/layout/chevron1"/>
    <dgm:cxn modelId="{CFB16F4E-F330-4E88-99B8-0E0AB24F1AC8}" type="presOf" srcId="{473152B6-C37D-4981-8E83-A313A61ABD92}" destId="{30BB4A63-100D-493E-9AC3-7C802609B470}" srcOrd="0" destOrd="0" presId="urn:microsoft.com/office/officeart/2005/8/layout/chevron1"/>
    <dgm:cxn modelId="{95BEE850-3C45-408A-88A2-87B97AC1E5C5}" type="presOf" srcId="{100C9332-8C00-425F-AF03-01F772DED47F}" destId="{6293A051-8ED7-40BC-A24A-255161956B3C}" srcOrd="0" destOrd="0" presId="urn:microsoft.com/office/officeart/2005/8/layout/chevron1"/>
    <dgm:cxn modelId="{54733A53-FED2-48FF-AE84-8132BEECE8BC}" srcId="{731BDF4D-1F86-4980-A257-09DE4420AF5A}" destId="{8BA84369-509D-46A6-A160-46F416BE49B5}" srcOrd="1" destOrd="0" parTransId="{57CA1585-8E51-4D9F-AD46-D0CEAFF6AE2E}" sibTransId="{B29CA227-040E-45AC-9F91-C9DC744D5CF0}"/>
    <dgm:cxn modelId="{D22DCC53-F2BA-4554-B167-609AB2E33CA1}" srcId="{731BDF4D-1F86-4980-A257-09DE4420AF5A}" destId="{25E8AEBA-B8F4-4B2B-BBF3-588546F58EA0}" srcOrd="7" destOrd="0" parTransId="{999027B8-8DC8-4BD3-9CE3-CA3905CD9112}" sibTransId="{8B2CADD5-B85C-4E24-9540-8EC5BFF39A33}"/>
    <dgm:cxn modelId="{057CF0AB-F87B-4B59-A9D7-C2287C3C3A7F}" srcId="{731BDF4D-1F86-4980-A257-09DE4420AF5A}" destId="{473152B6-C37D-4981-8E83-A313A61ABD92}" srcOrd="2" destOrd="0" parTransId="{1637C740-5767-4381-B58E-89CE3C5E98C7}" sibTransId="{0287BE0A-F5A0-4841-9568-ED7E884D7B1B}"/>
    <dgm:cxn modelId="{3ED519C2-C4C2-483B-864B-375286D86078}" srcId="{731BDF4D-1F86-4980-A257-09DE4420AF5A}" destId="{34E8FF18-D5C3-4203-AB1A-E0DCABD42747}" srcOrd="0" destOrd="0" parTransId="{F3068679-451C-418B-9DE7-1C6EBA0835CC}" sibTransId="{68F7394D-AE2A-40C2-930F-6783231C46F0}"/>
    <dgm:cxn modelId="{947C3CD2-0C63-4BB5-97D8-D6DF436FDDB8}" type="presOf" srcId="{9384497F-533F-430F-A781-0FAFA943519B}" destId="{4F5C5BD0-001A-4FBB-9C24-66620BE999B8}" srcOrd="0" destOrd="0" presId="urn:microsoft.com/office/officeart/2005/8/layout/chevron1"/>
    <dgm:cxn modelId="{DD93FAD4-083B-4392-A72E-12D0B3BAE8F6}" srcId="{731BDF4D-1F86-4980-A257-09DE4420AF5A}" destId="{100C9332-8C00-425F-AF03-01F772DED47F}" srcOrd="6" destOrd="0" parTransId="{8C50A2C8-2F19-47FC-91D3-11B12F78C3D9}" sibTransId="{85530519-CD19-4718-B297-B46476372B8C}"/>
    <dgm:cxn modelId="{03C775DE-9321-4FA4-B3EC-867BEECAC0EB}" type="presOf" srcId="{B761CDEB-FE38-4036-A485-FFE8828BF5C2}" destId="{3BC9835C-889B-45D6-A163-4AA7329170C7}" srcOrd="0" destOrd="0" presId="urn:microsoft.com/office/officeart/2005/8/layout/chevron1"/>
    <dgm:cxn modelId="{F9CF94FD-7EF3-413E-BB9F-30E9EA7939C4}" type="presOf" srcId="{34E8FF18-D5C3-4203-AB1A-E0DCABD42747}" destId="{0F3A6854-FE96-44ED-B82B-CDAE7E2E090F}" srcOrd="0" destOrd="0" presId="urn:microsoft.com/office/officeart/2005/8/layout/chevron1"/>
    <dgm:cxn modelId="{329208B1-3887-4E8C-8B70-7DCB3520B04F}" type="presParOf" srcId="{EE52B0FD-51CF-4F64-B82E-B95C028AA2BB}" destId="{0F3A6854-FE96-44ED-B82B-CDAE7E2E090F}" srcOrd="0" destOrd="0" presId="urn:microsoft.com/office/officeart/2005/8/layout/chevron1"/>
    <dgm:cxn modelId="{7ECBFAF8-7BA3-4724-80FB-5A0B8853D2B3}" type="presParOf" srcId="{EE52B0FD-51CF-4F64-B82E-B95C028AA2BB}" destId="{B8AE0F7A-0B34-41CF-88D5-8DEE442C6461}" srcOrd="1" destOrd="0" presId="urn:microsoft.com/office/officeart/2005/8/layout/chevron1"/>
    <dgm:cxn modelId="{AC64D882-E018-4B5E-B452-206744FD592E}" type="presParOf" srcId="{EE52B0FD-51CF-4F64-B82E-B95C028AA2BB}" destId="{C7D0E513-4CB3-4B52-A0E3-F20BD7B61CFF}" srcOrd="2" destOrd="0" presId="urn:microsoft.com/office/officeart/2005/8/layout/chevron1"/>
    <dgm:cxn modelId="{E05C9C87-DFA0-42FB-85A7-876ECBE48887}" type="presParOf" srcId="{EE52B0FD-51CF-4F64-B82E-B95C028AA2BB}" destId="{6DC26627-76B3-4C30-AF96-9FFB8DBBBD14}" srcOrd="3" destOrd="0" presId="urn:microsoft.com/office/officeart/2005/8/layout/chevron1"/>
    <dgm:cxn modelId="{A2C0B181-51E5-435F-9214-5FF1171BC92F}" type="presParOf" srcId="{EE52B0FD-51CF-4F64-B82E-B95C028AA2BB}" destId="{30BB4A63-100D-493E-9AC3-7C802609B470}" srcOrd="4" destOrd="0" presId="urn:microsoft.com/office/officeart/2005/8/layout/chevron1"/>
    <dgm:cxn modelId="{64DF1C53-1445-4C88-B83C-69C2D9C86D14}" type="presParOf" srcId="{EE52B0FD-51CF-4F64-B82E-B95C028AA2BB}" destId="{1D8D9228-3E49-4800-8971-BD8C9429A5DF}" srcOrd="5" destOrd="0" presId="urn:microsoft.com/office/officeart/2005/8/layout/chevron1"/>
    <dgm:cxn modelId="{C3B188D1-83B5-4DEA-958F-322AB6A5660B}" type="presParOf" srcId="{EE52B0FD-51CF-4F64-B82E-B95C028AA2BB}" destId="{16A43A8F-44E7-472E-87FB-AB8B6640105D}" srcOrd="6" destOrd="0" presId="urn:microsoft.com/office/officeart/2005/8/layout/chevron1"/>
    <dgm:cxn modelId="{8BCC1F03-F9AC-43AB-A56C-F108E047CB79}" type="presParOf" srcId="{EE52B0FD-51CF-4F64-B82E-B95C028AA2BB}" destId="{CD1D9BC1-7189-456E-AAB5-6E070E7B50F4}" srcOrd="7" destOrd="0" presId="urn:microsoft.com/office/officeart/2005/8/layout/chevron1"/>
    <dgm:cxn modelId="{28F66982-C972-4F3D-AD5E-7255B1A3DF45}" type="presParOf" srcId="{EE52B0FD-51CF-4F64-B82E-B95C028AA2BB}" destId="{3BC9835C-889B-45D6-A163-4AA7329170C7}" srcOrd="8" destOrd="0" presId="urn:microsoft.com/office/officeart/2005/8/layout/chevron1"/>
    <dgm:cxn modelId="{8CB9291E-E9B9-4789-8BCD-ACEEEDDFBEAB}" type="presParOf" srcId="{EE52B0FD-51CF-4F64-B82E-B95C028AA2BB}" destId="{F14EAE50-A0BB-4626-B0B4-029205BAF0AB}" srcOrd="9" destOrd="0" presId="urn:microsoft.com/office/officeart/2005/8/layout/chevron1"/>
    <dgm:cxn modelId="{6D035AB4-EDBC-445B-944A-46143B19183E}" type="presParOf" srcId="{EE52B0FD-51CF-4F64-B82E-B95C028AA2BB}" destId="{4F5C5BD0-001A-4FBB-9C24-66620BE999B8}" srcOrd="10" destOrd="0" presId="urn:microsoft.com/office/officeart/2005/8/layout/chevron1"/>
    <dgm:cxn modelId="{9478A339-56E1-4120-AD3F-AA14A57EA46F}" type="presParOf" srcId="{EE52B0FD-51CF-4F64-B82E-B95C028AA2BB}" destId="{E1271167-6679-4888-B120-060E505D2255}" srcOrd="11" destOrd="0" presId="urn:microsoft.com/office/officeart/2005/8/layout/chevron1"/>
    <dgm:cxn modelId="{897A938C-B8E5-4707-8760-F5F2A0DDFEE4}" type="presParOf" srcId="{EE52B0FD-51CF-4F64-B82E-B95C028AA2BB}" destId="{6293A051-8ED7-40BC-A24A-255161956B3C}" srcOrd="12" destOrd="0" presId="urn:microsoft.com/office/officeart/2005/8/layout/chevron1"/>
    <dgm:cxn modelId="{E10F24FE-1E7D-468F-A933-1501C2C371CF}" type="presParOf" srcId="{EE52B0FD-51CF-4F64-B82E-B95C028AA2BB}" destId="{5C7F0833-F154-4D9C-83EE-AE13E2BDDD67}" srcOrd="13" destOrd="0" presId="urn:microsoft.com/office/officeart/2005/8/layout/chevron1"/>
    <dgm:cxn modelId="{D07F8DB6-38BB-4200-83C0-5D4757B00490}" type="presParOf" srcId="{EE52B0FD-51CF-4F64-B82E-B95C028AA2BB}" destId="{67EE7576-E38C-468A-88F2-312B1C7A4D0B}" srcOrd="14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A6854-FE96-44ED-B82B-CDAE7E2E090F}">
      <dsp:nvSpPr>
        <dsp:cNvPr id="0" name=""/>
        <dsp:cNvSpPr/>
      </dsp:nvSpPr>
      <dsp:spPr>
        <a:xfrm>
          <a:off x="749" y="357943"/>
          <a:ext cx="1200861" cy="480344"/>
        </a:xfrm>
        <a:prstGeom prst="chevron">
          <a:avLst/>
        </a:prstGeom>
        <a:solidFill>
          <a:srgbClr val="16693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v1  </a:t>
          </a:r>
          <a:r>
            <a:rPr lang="en-US" sz="1100" kern="1200">
              <a:latin typeface="Arial"/>
            </a:rPr>
            <a:t>  </a:t>
          </a:r>
          <a:r>
            <a:rPr lang="en-US" sz="1100" kern="1200"/>
            <a:t>(2014-16)</a:t>
          </a:r>
        </a:p>
      </dsp:txBody>
      <dsp:txXfrm>
        <a:off x="240921" y="357943"/>
        <a:ext cx="720517" cy="480344"/>
      </dsp:txXfrm>
    </dsp:sp>
    <dsp:sp modelId="{C7D0E513-4CB3-4B52-A0E3-F20BD7B61CFF}">
      <dsp:nvSpPr>
        <dsp:cNvPr id="0" name=""/>
        <dsp:cNvSpPr/>
      </dsp:nvSpPr>
      <dsp:spPr>
        <a:xfrm>
          <a:off x="1081524" y="357943"/>
          <a:ext cx="1200861" cy="480344"/>
        </a:xfrm>
        <a:prstGeom prst="chevron">
          <a:avLst/>
        </a:prstGeom>
        <a:solidFill>
          <a:srgbClr val="DFEBE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1"/>
              </a:solidFill>
            </a:rPr>
            <a:t>v2   (2016-18)</a:t>
          </a:r>
        </a:p>
      </dsp:txBody>
      <dsp:txXfrm>
        <a:off x="1321696" y="357943"/>
        <a:ext cx="720517" cy="480344"/>
      </dsp:txXfrm>
    </dsp:sp>
    <dsp:sp modelId="{30BB4A63-100D-493E-9AC3-7C802609B470}">
      <dsp:nvSpPr>
        <dsp:cNvPr id="0" name=""/>
        <dsp:cNvSpPr/>
      </dsp:nvSpPr>
      <dsp:spPr>
        <a:xfrm>
          <a:off x="2162300" y="357943"/>
          <a:ext cx="1200861" cy="480344"/>
        </a:xfrm>
        <a:prstGeom prst="chevron">
          <a:avLst/>
        </a:prstGeom>
        <a:solidFill>
          <a:srgbClr val="16693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v3   (2018)</a:t>
          </a:r>
        </a:p>
      </dsp:txBody>
      <dsp:txXfrm>
        <a:off x="2402472" y="357943"/>
        <a:ext cx="720517" cy="480344"/>
      </dsp:txXfrm>
    </dsp:sp>
    <dsp:sp modelId="{16A43A8F-44E7-472E-87FB-AB8B6640105D}">
      <dsp:nvSpPr>
        <dsp:cNvPr id="0" name=""/>
        <dsp:cNvSpPr/>
      </dsp:nvSpPr>
      <dsp:spPr>
        <a:xfrm>
          <a:off x="3243076" y="357943"/>
          <a:ext cx="1200861" cy="480344"/>
        </a:xfrm>
        <a:prstGeom prst="chevron">
          <a:avLst/>
        </a:prstGeom>
        <a:solidFill>
          <a:srgbClr val="DFEBE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1"/>
              </a:solidFill>
            </a:rPr>
            <a:t>v4   (2019)</a:t>
          </a:r>
        </a:p>
      </dsp:txBody>
      <dsp:txXfrm>
        <a:off x="3483248" y="357943"/>
        <a:ext cx="720517" cy="480344"/>
      </dsp:txXfrm>
    </dsp:sp>
    <dsp:sp modelId="{3BC9835C-889B-45D6-A163-4AA7329170C7}">
      <dsp:nvSpPr>
        <dsp:cNvPr id="0" name=""/>
        <dsp:cNvSpPr/>
      </dsp:nvSpPr>
      <dsp:spPr>
        <a:xfrm>
          <a:off x="4323851" y="357943"/>
          <a:ext cx="1200861" cy="480344"/>
        </a:xfrm>
        <a:prstGeom prst="chevron">
          <a:avLst/>
        </a:prstGeom>
        <a:solidFill>
          <a:srgbClr val="16693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v5   (2019-22)</a:t>
          </a:r>
        </a:p>
      </dsp:txBody>
      <dsp:txXfrm>
        <a:off x="4564023" y="357943"/>
        <a:ext cx="720517" cy="480344"/>
      </dsp:txXfrm>
    </dsp:sp>
    <dsp:sp modelId="{4F5C5BD0-001A-4FBB-9C24-66620BE999B8}">
      <dsp:nvSpPr>
        <dsp:cNvPr id="0" name=""/>
        <dsp:cNvSpPr/>
      </dsp:nvSpPr>
      <dsp:spPr>
        <a:xfrm>
          <a:off x="5404627" y="357943"/>
          <a:ext cx="1200861" cy="480344"/>
        </a:xfrm>
        <a:prstGeom prst="chevron">
          <a:avLst/>
        </a:prstGeom>
        <a:solidFill>
          <a:srgbClr val="DFEBE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1"/>
              </a:solidFill>
            </a:rPr>
            <a:t>v6   (2022-23)</a:t>
          </a:r>
        </a:p>
      </dsp:txBody>
      <dsp:txXfrm>
        <a:off x="5644799" y="357943"/>
        <a:ext cx="720517" cy="480344"/>
      </dsp:txXfrm>
    </dsp:sp>
    <dsp:sp modelId="{6293A051-8ED7-40BC-A24A-255161956B3C}">
      <dsp:nvSpPr>
        <dsp:cNvPr id="0" name=""/>
        <dsp:cNvSpPr/>
      </dsp:nvSpPr>
      <dsp:spPr>
        <a:xfrm>
          <a:off x="6485403" y="357943"/>
          <a:ext cx="1200861" cy="480344"/>
        </a:xfrm>
        <a:prstGeom prst="chevron">
          <a:avLst/>
        </a:prstGeom>
        <a:solidFill>
          <a:srgbClr val="16693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v7  </a:t>
          </a:r>
          <a:r>
            <a:rPr lang="en-US" sz="1100" kern="1200">
              <a:latin typeface="Arial"/>
            </a:rPr>
            <a:t> </a:t>
          </a:r>
          <a:r>
            <a:rPr lang="en-US" sz="1100" kern="1200"/>
            <a:t>(2023-26)</a:t>
          </a:r>
        </a:p>
      </dsp:txBody>
      <dsp:txXfrm>
        <a:off x="6725575" y="357943"/>
        <a:ext cx="720517" cy="480344"/>
      </dsp:txXfrm>
    </dsp:sp>
    <dsp:sp modelId="{67EE7576-E38C-468A-88F2-312B1C7A4D0B}">
      <dsp:nvSpPr>
        <dsp:cNvPr id="0" name=""/>
        <dsp:cNvSpPr/>
      </dsp:nvSpPr>
      <dsp:spPr>
        <a:xfrm>
          <a:off x="7566178" y="357943"/>
          <a:ext cx="1200861" cy="480344"/>
        </a:xfrm>
        <a:prstGeom prst="chevron">
          <a:avLst/>
        </a:prstGeom>
        <a:solidFill>
          <a:srgbClr val="DFEBE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1"/>
              </a:solidFill>
            </a:rPr>
            <a:t>React (2025-26)</a:t>
          </a:r>
        </a:p>
      </dsp:txBody>
      <dsp:txXfrm>
        <a:off x="7806350" y="357943"/>
        <a:ext cx="720517" cy="480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04:52:54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6:31:22.4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26 24575,'-8'0'0,"3"-3"0,5-2 0,5 0 0,3-2 0,1 6 0,-1-3 0,0 4 0,1 0 0,-1 0 0,-3 0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6:31:22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54 24575,'9'-4'0,"9"-1"0,-2-1 0,3 2 0,14-2 0,-16 3 0,11 0 0,-15 1 0,-6 1 0,-5 1 0,-2-2 0,-5 2 0,-3 0 0,-9 0 0,-3 2 0,-1-1 0,1 3 0,12-4 0,0 2 0,8-2 0,8 0 0,8 0 0,4 0 0,2-2 0,-3 0 0,-8-1 0,-2-1 0,-9 4 0,-5-3 0,-3 0 0,-13 0 0,3 4 0,-9 0 0,8 5 0,2-3 0,9 1 0,4-2 0,11-2 0,5-2 0,5-1 0,-5-1 0,2 2 0,-10-1 0,-3 2 0,-6 0 0,-13 1 0,5 2 0,-17 0 0,16 0 0,-5 1 0,16-2 0,7 0 0,1-1 0,2 0 0,-2 0 0,0 0 0,0 0 0,-2 0 0,-2 0 0,-7 0 0,-2 0 0,-2 0 0,7 0 0,12 0 0,3-2 0,16-1 0,-7-2 0,9 2 0,-11 1 0,3 2 0,-8 0 0,-2 0 0,-7-2 0,0 2 0,-5-2 0,1 4 0,-5-2 0,-5 4 0,-2-2 0,-3 3 0,0 0 0,7-3 0,-2 0 0,9-2 0,0 0 0,11 0 0,9 0 0,13 0 0,0 0 0,-7 0 0,-11 0 0,-12 0 0,-3 0 0,-16 2 0,-1-1 0,-8 3 0,5-4 0,9 4 0,3-4 0,8 2 0,14-4 0,0-1 0,16 0 0,-2-2 0,-6 4 0,-2-3 0,-12 3 0,-5-2 0,-3 2 0,0-1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916366E9-97A0-1249-5200-D0F7B1D2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79b1b18c_0_44:notes">
            <a:extLst>
              <a:ext uri="{FF2B5EF4-FFF2-40B4-BE49-F238E27FC236}">
                <a16:creationId xmlns:a16="http://schemas.microsoft.com/office/drawing/2014/main" id="{6B65AF39-65D3-B2C2-1A8D-53B82F3AA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79b1b18c_0_44:notes">
            <a:extLst>
              <a:ext uri="{FF2B5EF4-FFF2-40B4-BE49-F238E27FC236}">
                <a16:creationId xmlns:a16="http://schemas.microsoft.com/office/drawing/2014/main" id="{9803BF65-2944-8411-7602-87476815D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Maika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056898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BC4D71AA-C41F-5A61-3663-9DF01946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79b1b18c_0_44:notes">
            <a:extLst>
              <a:ext uri="{FF2B5EF4-FFF2-40B4-BE49-F238E27FC236}">
                <a16:creationId xmlns:a16="http://schemas.microsoft.com/office/drawing/2014/main" id="{9CCF3029-9F03-84CF-CB0D-F24BC64CD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79b1b18c_0_44:notes">
            <a:extLst>
              <a:ext uri="{FF2B5EF4-FFF2-40B4-BE49-F238E27FC236}">
                <a16:creationId xmlns:a16="http://schemas.microsoft.com/office/drawing/2014/main" id="{8E08D5CF-C576-F947-D601-054E38850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Maika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139541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79b1b18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79b1b18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1B76181-72EA-2953-36C0-4FFDD047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79b1b18c_0_5:notes">
            <a:extLst>
              <a:ext uri="{FF2B5EF4-FFF2-40B4-BE49-F238E27FC236}">
                <a16:creationId xmlns:a16="http://schemas.microsoft.com/office/drawing/2014/main" id="{3B4F1C60-BFDC-5CA7-3B19-5AD10BAD3C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179b1b18c_0_5:notes">
            <a:extLst>
              <a:ext uri="{FF2B5EF4-FFF2-40B4-BE49-F238E27FC236}">
                <a16:creationId xmlns:a16="http://schemas.microsoft.com/office/drawing/2014/main" id="{D9D3366D-B5D4-6389-4B8B-0265327F7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Each node represents a regulatory transcription factor and each edge is a regulatory relationship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9868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Maika</a:t>
            </a:r>
          </a:p>
        </p:txBody>
      </p:sp>
    </p:spTree>
    <p:extLst>
      <p:ext uri="{BB962C8B-B14F-4D97-AF65-F5344CB8AC3E}">
        <p14:creationId xmlns:p14="http://schemas.microsoft.com/office/powerpoint/2010/main" val="500616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DBA5D-8D20-BCD6-6D32-B377F381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118CF-CA1F-2B3A-81AC-8789734A5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871B5-3871-B577-2F4B-266FECE1D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Maika</a:t>
            </a:r>
          </a:p>
        </p:txBody>
      </p:sp>
    </p:spTree>
    <p:extLst>
      <p:ext uri="{BB962C8B-B14F-4D97-AF65-F5344CB8AC3E}">
        <p14:creationId xmlns:p14="http://schemas.microsoft.com/office/powerpoint/2010/main" val="680681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Maika</a:t>
            </a:r>
          </a:p>
        </p:txBody>
      </p:sp>
    </p:spTree>
    <p:extLst>
      <p:ext uri="{BB962C8B-B14F-4D97-AF65-F5344CB8AC3E}">
        <p14:creationId xmlns:p14="http://schemas.microsoft.com/office/powerpoint/2010/main" val="730235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Maika</a:t>
            </a:r>
          </a:p>
        </p:txBody>
      </p:sp>
    </p:spTree>
    <p:extLst>
      <p:ext uri="{BB962C8B-B14F-4D97-AF65-F5344CB8AC3E}">
        <p14:creationId xmlns:p14="http://schemas.microsoft.com/office/powerpoint/2010/main" val="1907937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Maika</a:t>
            </a:r>
          </a:p>
        </p:txBody>
      </p:sp>
    </p:spTree>
    <p:extLst>
      <p:ext uri="{BB962C8B-B14F-4D97-AF65-F5344CB8AC3E}">
        <p14:creationId xmlns:p14="http://schemas.microsoft.com/office/powerpoint/2010/main" val="882283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C71BF681-10BF-235F-3D95-27B244B7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79b1b18c_0_44:notes">
            <a:extLst>
              <a:ext uri="{FF2B5EF4-FFF2-40B4-BE49-F238E27FC236}">
                <a16:creationId xmlns:a16="http://schemas.microsoft.com/office/drawing/2014/main" id="{55779BB9-AC51-6B53-B5CC-84DBEBA8CA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79b1b18c_0_44:notes">
            <a:extLst>
              <a:ext uri="{FF2B5EF4-FFF2-40B4-BE49-F238E27FC236}">
                <a16:creationId xmlns:a16="http://schemas.microsoft.com/office/drawing/2014/main" id="{4D897165-D0ED-8514-56BC-088C68299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Maika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819417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Cecilia</a:t>
            </a:r>
          </a:p>
        </p:txBody>
      </p:sp>
    </p:spTree>
    <p:extLst>
      <p:ext uri="{BB962C8B-B14F-4D97-AF65-F5344CB8AC3E}">
        <p14:creationId xmlns:p14="http://schemas.microsoft.com/office/powerpoint/2010/main" val="936304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9866B-713E-F8D6-897A-4B000453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6DA6A-F748-D262-4B42-5D4078A96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25EAB-4169-53EC-34E4-AF607A394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,Sans-Serif"/>
              <a:buNone/>
            </a:pPr>
            <a:r>
              <a:rPr lang="en-US" dirty="0"/>
              <a:t>Cecilia</a:t>
            </a:r>
          </a:p>
          <a:p>
            <a:pPr marL="228600" indent="-228600">
              <a:buFont typeface="Arial,Sans-Serif"/>
              <a:buChar char="•"/>
            </a:pPr>
            <a:r>
              <a:rPr lang="en-US" dirty="0"/>
              <a:t>we have a classic app that started development in 2014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sz="1100" b="1" dirty="0">
                <a:solidFill>
                  <a:srgbClr val="16693F"/>
                </a:solidFill>
                <a:ea typeface="Sans Serif Collection"/>
                <a:cs typeface="Sans Serif Collection"/>
              </a:rPr>
              <a:t>uses jQuery/Bootstrap/Pug framework</a:t>
            </a:r>
            <a:endParaRPr lang="en-US" sz="1100" b="0" dirty="0">
              <a:solidFill>
                <a:srgbClr val="16693F"/>
              </a:solidFill>
              <a:ea typeface="Sans Serif Collection"/>
              <a:cs typeface="Sans Serif Collection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sz="1100" b="0" dirty="0">
                <a:solidFill>
                  <a:srgbClr val="16693F"/>
                </a:solidFill>
                <a:ea typeface="Sans Serif Collection"/>
                <a:cs typeface="Sans Serif Collection"/>
              </a:rPr>
              <a:t>pug: DOM </a:t>
            </a:r>
            <a:r>
              <a:rPr lang="en-US" sz="1100" b="0" dirty="0" err="1">
                <a:solidFill>
                  <a:srgbClr val="16693F"/>
                </a:solidFill>
                <a:ea typeface="Sans Serif Collection"/>
                <a:cs typeface="Sans Serif Collection"/>
              </a:rPr>
              <a:t>strucutre</a:t>
            </a:r>
            <a:r>
              <a:rPr lang="en-US" sz="1100" b="0" dirty="0">
                <a:solidFill>
                  <a:srgbClr val="16693F"/>
                </a:solidFill>
                <a:ea typeface="Sans Serif Collection"/>
                <a:cs typeface="Sans Serif Collection"/>
              </a:rPr>
              <a:t>, contains all elements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dirty="0"/>
              <a:t>pug is static template file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dirty="0"/>
              <a:t>when loaded into browser, generates HTML 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dirty="0"/>
              <a:t>after that, any updates are done through JS or jQuery</a:t>
            </a:r>
            <a:endParaRPr lang="en-US" sz="1100" b="0" dirty="0">
              <a:solidFill>
                <a:srgbClr val="16693F"/>
              </a:solidFill>
              <a:ea typeface="Sans Serif Collection"/>
              <a:cs typeface="Sans Serif Collection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sz="1100" b="0" dirty="0">
                <a:solidFill>
                  <a:srgbClr val="16693F"/>
                </a:solidFill>
                <a:ea typeface="Sans Serif Collection"/>
                <a:cs typeface="Sans Serif Collection"/>
              </a:rPr>
              <a:t>jQuery: allows you to connect and access those elements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sz="1100" b="0" dirty="0">
                <a:solidFill>
                  <a:srgbClr val="16693F"/>
                </a:solidFill>
                <a:ea typeface="Sans Serif Collection"/>
                <a:cs typeface="Sans Serif Collection"/>
              </a:rPr>
              <a:t>manual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sz="1100" b="0" dirty="0">
                <a:solidFill>
                  <a:srgbClr val="16693F"/>
                </a:solidFill>
                <a:ea typeface="Sans Serif Collection"/>
                <a:cs typeface="Sans Serif Collection"/>
              </a:rPr>
              <a:t>Bootstrap: style the page using CSS classes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endParaRPr lang="en-US" sz="1100" b="0" dirty="0">
              <a:solidFill>
                <a:srgbClr val="16693F"/>
              </a:solidFill>
              <a:ea typeface="Sans Serif Collection"/>
              <a:cs typeface="Sans Serif Collection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sz="1100" b="1" dirty="0">
                <a:solidFill>
                  <a:srgbClr val="16693F"/>
                </a:solidFill>
                <a:ea typeface="Sans Serif Collection"/>
                <a:cs typeface="Sans Serif Collection"/>
              </a:rPr>
              <a:t>Inspiration for migration away from jQuery/Bootstrap/Pug framework</a:t>
            </a:r>
            <a:endParaRPr lang="en-US" dirty="0"/>
          </a:p>
          <a:p>
            <a:pPr marL="228600" indent="-228600">
              <a:buFont typeface="Arial,Sans-Serif"/>
              <a:buChar char="•"/>
            </a:pPr>
            <a:r>
              <a:rPr lang="en-US" dirty="0"/>
              <a:t>The way old web app is built is no longer industry standard way to develop webapps for a reason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dirty="0"/>
              <a:t>jQuery imperative: a lot of manual updates dedicating to finding elements, removing a class, or or appending text, and it can be hard to keep these updates in sync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dirty="0"/>
              <a:t>have to put out listeners to see when different values are updated, which leads to code redundancy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dirty="0"/>
              <a:t>jQuery manual tracking: no built-in way to store data, have to use data </a:t>
            </a:r>
            <a:r>
              <a:rPr lang="en-US" dirty="0" err="1"/>
              <a:t>attirbutes</a:t>
            </a:r>
            <a:r>
              <a:rPr lang="en-US" dirty="0"/>
              <a:t>, which makes it hard to share data across app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dirty="0"/>
              <a:t>jQuery: when any values change, up to the developer to decide when to </a:t>
            </a:r>
            <a:r>
              <a:rPr lang="en-US" dirty="0" err="1"/>
              <a:t>rerender</a:t>
            </a:r>
            <a:r>
              <a:rPr lang="en-US" dirty="0"/>
              <a:t> the app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dirty="0"/>
              <a:t>pug is static: since pug is just a template, any updates are done through JS or jQuery requiring more work on developer end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r>
              <a:rPr lang="en-US" dirty="0"/>
              <a:t>(a lot of code because of this, harder to understand code and isolate issues)</a:t>
            </a:r>
          </a:p>
          <a:p>
            <a:pPr marL="685800" lvl="1" indent="-228600">
              <a:buFont typeface="Arial,Sans-Serif"/>
              <a:buChar char="•"/>
            </a:pP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Char char="•"/>
              <a:tabLst/>
              <a:defRPr/>
            </a:pPr>
            <a:endParaRPr lang="en-US" dirty="0"/>
          </a:p>
          <a:p>
            <a:pPr marL="228600" indent="-228600">
              <a:buFont typeface="Arial,Sans-Serif"/>
              <a:buChar char="•"/>
            </a:pPr>
            <a:endParaRPr lang="en-US" dirty="0"/>
          </a:p>
          <a:p>
            <a:pPr marL="228600" indent="-228600">
              <a:buFont typeface="Arial,Sans-Serif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613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3651-2B8F-253E-B317-F1509DDA0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955E5-9442-D61B-D4DC-9AE7AE763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07FBD-0916-3428-E0F7-CDB161F97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,Sans-Serif"/>
              <a:buNone/>
              <a:tabLst/>
              <a:defRPr/>
            </a:pPr>
            <a:r>
              <a:rPr lang="en-US" dirty="0"/>
              <a:t>Cecilia</a:t>
            </a:r>
          </a:p>
          <a:p>
            <a:pPr marL="228600" indent="-228600">
              <a:buFont typeface="Arial,Sans-Serif"/>
              <a:buChar char="•"/>
            </a:pPr>
            <a:r>
              <a:rPr lang="en-US" dirty="0"/>
              <a:t>React allows UI to be function of current data, or state</a:t>
            </a:r>
          </a:p>
          <a:p>
            <a:pPr marL="685800" lvl="1" indent="-228600">
              <a:buFont typeface="Arial,Sans-Serif"/>
              <a:buChar char="•"/>
            </a:pPr>
            <a:r>
              <a:rPr lang="en-US" dirty="0"/>
              <a:t>react declarative: when data changes, the web app automatically calculates the most efficient way to update the screen without manual manipulation of DOM</a:t>
            </a:r>
          </a:p>
          <a:p>
            <a:pPr marL="685800" lvl="1" indent="-228600">
              <a:buFont typeface="Arial,Sans-Serif"/>
              <a:buChar char="•"/>
            </a:pPr>
            <a:r>
              <a:rPr lang="en-US" dirty="0"/>
              <a:t>single source of truth in React: react components manage internal state and data flows between parent and child elements easily. when a value changes in one place, it changes everywhere</a:t>
            </a:r>
          </a:p>
          <a:p>
            <a:pPr marL="685800" lvl="1" indent="-228600">
              <a:buFont typeface="Arial,Sans-Serif"/>
              <a:buChar char="•"/>
            </a:pPr>
            <a:r>
              <a:rPr lang="en-US" dirty="0"/>
              <a:t>Grommet: pre-built components that are modular and can be easily reused </a:t>
            </a:r>
          </a:p>
          <a:p>
            <a:pPr marL="685800" lvl="1" indent="-228600">
              <a:buFont typeface="Arial,Sans-Serif"/>
              <a:buChar char="•"/>
            </a:pPr>
            <a:r>
              <a:rPr lang="en-US" dirty="0"/>
              <a:t>(can mention this)</a:t>
            </a:r>
          </a:p>
          <a:p>
            <a:pPr marL="1143000" lvl="2" indent="-228600">
              <a:buFont typeface="Arial,Sans-Serif"/>
              <a:buChar char="•"/>
            </a:pPr>
            <a:r>
              <a:rPr lang="en-US" dirty="0"/>
              <a:t>React is current industry standard for front-end development</a:t>
            </a:r>
          </a:p>
          <a:p>
            <a:pPr marL="1143000" lvl="2" indent="-228600">
              <a:buFont typeface="Arial,Sans-Serif"/>
              <a:buChar char="•"/>
            </a:pPr>
            <a:r>
              <a:rPr lang="en-US" dirty="0"/>
              <a:t>React is the framework that we are choosing because allows code to be divided into components</a:t>
            </a:r>
          </a:p>
          <a:p>
            <a:pPr marL="1600200" lvl="3" indent="-228600">
              <a:buFont typeface="Courier New,monospace"/>
              <a:buChar char="o"/>
            </a:pPr>
            <a:r>
              <a:rPr lang="en-US" dirty="0"/>
              <a:t>This increases maintainability of code since makes different parts of code more easily reusable</a:t>
            </a:r>
          </a:p>
          <a:p>
            <a:pPr marL="228600" indent="-228600">
              <a:buFont typeface="Arial,Sans-Serif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874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B42EA-0663-12FF-084B-1AF3F668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C61D2-D650-1E46-D391-F0B022C71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7A202-4896-4350-2033-765272030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100" dirty="0">
                <a:solidFill>
                  <a:schemeClr val="tx1"/>
                </a:solidFill>
              </a:rPr>
              <a:t>Cecilia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Improved code readability and state-management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code is more modular because of the nature of component behavior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migrated testing framework over to </a:t>
            </a:r>
            <a:r>
              <a:rPr lang="en-US" sz="1100" dirty="0" err="1">
                <a:solidFill>
                  <a:schemeClr val="tx1"/>
                </a:solidFill>
              </a:rPr>
              <a:t>vitest</a:t>
            </a:r>
            <a:r>
              <a:rPr lang="en-US" sz="1100" dirty="0">
                <a:solidFill>
                  <a:schemeClr val="tx1"/>
                </a:solidFill>
              </a:rPr>
              <a:t> because it is built-in framework for </a:t>
            </a:r>
            <a:r>
              <a:rPr lang="en-US" sz="1100" dirty="0" err="1">
                <a:solidFill>
                  <a:schemeClr val="tx1"/>
                </a:solidFill>
              </a:rPr>
              <a:t>vite</a:t>
            </a:r>
            <a:r>
              <a:rPr lang="en-US" sz="1100" dirty="0">
                <a:solidFill>
                  <a:schemeClr val="tx1"/>
                </a:solidFill>
              </a:rPr>
              <a:t>, which allows us to create optimized builds of web app for development and release to production. in Classic just use 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Advanced interactive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GRNsight positioned to continue expanding functionality as new visualization needs arise</a:t>
            </a:r>
          </a:p>
        </p:txBody>
      </p:sp>
    </p:spTree>
    <p:extLst>
      <p:ext uri="{BB962C8B-B14F-4D97-AF65-F5344CB8AC3E}">
        <p14:creationId xmlns:p14="http://schemas.microsoft.com/office/powerpoint/2010/main" val="4031546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5BF69-0FB5-7130-D677-FA21B6A9D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814C0-5D83-C685-759C-0C2D7254E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5D47B-ECD2-B7D8-9B2E-42C7200D6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,Sans-Serif"/>
              <a:buChar char="•"/>
            </a:pPr>
            <a:r>
              <a:rPr lang="en-US" dirty="0"/>
              <a:t>Cecilia</a:t>
            </a:r>
          </a:p>
          <a:p>
            <a:pPr marL="228600" indent="-228600">
              <a:buFont typeface="Arial,Sans-Serif"/>
              <a:buChar char="•"/>
            </a:pPr>
            <a:r>
              <a:rPr lang="en-US" dirty="0"/>
              <a:t>can display graphs and demos</a:t>
            </a:r>
          </a:p>
        </p:txBody>
      </p:sp>
    </p:spTree>
    <p:extLst>
      <p:ext uri="{BB962C8B-B14F-4D97-AF65-F5344CB8AC3E}">
        <p14:creationId xmlns:p14="http://schemas.microsoft.com/office/powerpoint/2010/main" val="438463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ABE9F-14B4-6614-A3FE-3BDCE5C5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C9788-E3C8-437D-175E-3CE5D0251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3B8D0-DE54-C1E9-6325-F0B40AB78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Cecilia</a:t>
            </a:r>
          </a:p>
        </p:txBody>
      </p:sp>
    </p:spTree>
    <p:extLst>
      <p:ext uri="{BB962C8B-B14F-4D97-AF65-F5344CB8AC3E}">
        <p14:creationId xmlns:p14="http://schemas.microsoft.com/office/powerpoint/2010/main" val="3521995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A9FAE-587E-718A-5BAF-A73A387C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0B173-B71B-A5A0-3870-26838769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93B78-98FA-F736-0C1B-0D1F6A0E0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Cecilia</a:t>
            </a:r>
          </a:p>
        </p:txBody>
      </p:sp>
    </p:spTree>
    <p:extLst>
      <p:ext uri="{BB962C8B-B14F-4D97-AF65-F5344CB8AC3E}">
        <p14:creationId xmlns:p14="http://schemas.microsoft.com/office/powerpoint/2010/main" val="4145828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8AEA589F-E0FC-3F16-64A9-348941E9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79b1b18c_0_44:notes">
            <a:extLst>
              <a:ext uri="{FF2B5EF4-FFF2-40B4-BE49-F238E27FC236}">
                <a16:creationId xmlns:a16="http://schemas.microsoft.com/office/drawing/2014/main" id="{DDAC76B3-6D04-E2B0-2D48-9A29CE541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79b1b18c_0_44:notes">
            <a:extLst>
              <a:ext uri="{FF2B5EF4-FFF2-40B4-BE49-F238E27FC236}">
                <a16:creationId xmlns:a16="http://schemas.microsoft.com/office/drawing/2014/main" id="{8EB2271F-D4D7-496C-2C94-886369381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Maika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4779324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,Sans-Serif"/>
              <a:buChar char="•"/>
            </a:pPr>
            <a:r>
              <a:rPr lang="en-US" dirty="0"/>
              <a:t>Cecilia</a:t>
            </a:r>
          </a:p>
          <a:p>
            <a:pPr marL="228600" indent="-228600">
              <a:buFont typeface="Arial,Sans-Serif"/>
              <a:buChar char="•"/>
            </a:pPr>
            <a:r>
              <a:rPr lang="en-US" dirty="0"/>
              <a:t>State management and component structure allows for more complex UI manipulation</a:t>
            </a:r>
          </a:p>
          <a:p>
            <a:pPr marL="685800" lvl="1" indent="-228600">
              <a:buFont typeface="Arial,Sans-Serif"/>
              <a:buChar char="•"/>
            </a:pPr>
            <a:r>
              <a:rPr lang="en-US" dirty="0"/>
              <a:t>easier to pass value across the app, and any changes made to a variable in one place in the app can cause a re-render of the graph, see updates immediately without any extra work</a:t>
            </a:r>
          </a:p>
          <a:p>
            <a:pPr marL="228600" indent="-228600">
              <a:buFont typeface="Arial,Sans-Serif"/>
              <a:buChar char="•"/>
            </a:pPr>
            <a:r>
              <a:rPr lang="en-US" dirty="0"/>
              <a:t>Also easier to enhance user interaction</a:t>
            </a:r>
          </a:p>
          <a:p>
            <a:pPr marL="685800" lvl="1" indent="-228600">
              <a:buFont typeface="Courier New,monospace"/>
              <a:buChar char="o"/>
            </a:pPr>
            <a:r>
              <a:rPr lang="en-US" dirty="0"/>
              <a:t>Can easily hide or show panels without too much extra work (because of state variables)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072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2AB2B-A856-6EC3-B5BF-EE1B20E49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8DCF2-8DCB-E5EA-624A-CC48656EE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D7A33-A4D0-A66D-DAF6-C3A6DDE3B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,Sans-Serif"/>
              <a:buChar char="•"/>
            </a:pPr>
            <a:r>
              <a:rPr lang="en-US" dirty="0"/>
              <a:t>we had a bug in classic where the arrowhead for the edge was too far to one side of the node, and this was fixed in react code over</a:t>
            </a:r>
          </a:p>
          <a:p>
            <a:pPr marL="228600" indent="-228600">
              <a:buFont typeface="Arial,Sans-Serif"/>
              <a:buChar char="•"/>
            </a:pPr>
            <a:r>
              <a:rPr lang="en-US" dirty="0"/>
              <a:t>illustrates that benefit to migrating code over, although it may require time and effort, can allow for improvements of app and resolution of long-standing bug issues</a:t>
            </a:r>
          </a:p>
          <a:p>
            <a:pPr marL="228600" indent="-228600">
              <a:buFont typeface="Arial,Sans-Serif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4151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3DE9-F728-7836-37BC-6DD5AFFB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BCD64-313D-CCFD-891B-E1193A733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1242A-A3F5-33B0-6676-9391B875E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r>
              <a:rPr lang="en-US" dirty="0"/>
              <a:t>currently cycle to deploy is that have to push code to beta and build to </a:t>
            </a:r>
            <a:r>
              <a:rPr lang="en-US" dirty="0" err="1"/>
              <a:t>gh</a:t>
            </a:r>
            <a:r>
              <a:rPr lang="en-US" dirty="0"/>
              <a:t>-pages separately</a:t>
            </a:r>
          </a:p>
          <a:p>
            <a:pPr marL="914400" lvl="1" indent="-298450"/>
            <a:r>
              <a:rPr lang="en-US" dirty="0"/>
              <a:t>goal is to automate this </a:t>
            </a:r>
          </a:p>
        </p:txBody>
      </p:sp>
    </p:spTree>
    <p:extLst>
      <p:ext uri="{BB962C8B-B14F-4D97-AF65-F5344CB8AC3E}">
        <p14:creationId xmlns:p14="http://schemas.microsoft.com/office/powerpoint/2010/main" val="40942954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3AF5A-38CB-E1AB-21FC-DB85969B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6514C-BE5F-FCB8-F8BA-CC8C8AE98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0E6F2-34B8-40CE-7AB8-7ADECF935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Cecilia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0687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make this one less complex?</a:t>
            </a:r>
          </a:p>
        </p:txBody>
      </p:sp>
    </p:spTree>
    <p:extLst>
      <p:ext uri="{BB962C8B-B14F-4D97-AF65-F5344CB8AC3E}">
        <p14:creationId xmlns:p14="http://schemas.microsoft.com/office/powerpoint/2010/main" val="7233474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6F5F450A-F9B8-CBD1-344F-86261534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79b1b18c_0_44:notes">
            <a:extLst>
              <a:ext uri="{FF2B5EF4-FFF2-40B4-BE49-F238E27FC236}">
                <a16:creationId xmlns:a16="http://schemas.microsoft.com/office/drawing/2014/main" id="{C417137F-2C63-5FF1-2F53-45791430B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79b1b18c_0_44:notes">
            <a:extLst>
              <a:ext uri="{FF2B5EF4-FFF2-40B4-BE49-F238E27FC236}">
                <a16:creationId xmlns:a16="http://schemas.microsoft.com/office/drawing/2014/main" id="{AB791E01-E53C-3F3E-CAE2-19AB317440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Cecilia</a:t>
            </a:r>
          </a:p>
        </p:txBody>
      </p:sp>
    </p:spTree>
    <p:extLst>
      <p:ext uri="{BB962C8B-B14F-4D97-AF65-F5344CB8AC3E}">
        <p14:creationId xmlns:p14="http://schemas.microsoft.com/office/powerpoint/2010/main" val="17646969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179b1b18c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a179b1b18c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8BA7F81B-5DC8-736E-2703-E9CA2919B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179b1b18c_0_149:notes">
            <a:extLst>
              <a:ext uri="{FF2B5EF4-FFF2-40B4-BE49-F238E27FC236}">
                <a16:creationId xmlns:a16="http://schemas.microsoft.com/office/drawing/2014/main" id="{6E741720-8874-A0FC-7DD3-97055EDE9B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a179b1b18c_0_149:notes">
            <a:extLst>
              <a:ext uri="{FF2B5EF4-FFF2-40B4-BE49-F238E27FC236}">
                <a16:creationId xmlns:a16="http://schemas.microsoft.com/office/drawing/2014/main" id="{C3103349-48E0-6366-48DA-287859965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5798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8.png"/><Relationship Id="rId1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7.jpe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1.jpe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11" Type="http://schemas.openxmlformats.org/officeDocument/2006/relationships/image" Target="../media/image15.png"/><Relationship Id="rId5" Type="http://schemas.openxmlformats.org/officeDocument/2006/relationships/image" Target="../media/image7.jpe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20.emf"/><Relationship Id="rId9" Type="http://schemas.openxmlformats.org/officeDocument/2006/relationships/image" Target="../media/image13.png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6.png"/><Relationship Id="rId1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5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jpeg"/><Relationship Id="rId11" Type="http://schemas.openxmlformats.org/officeDocument/2006/relationships/image" Target="../media/image14.png"/><Relationship Id="rId5" Type="http://schemas.openxmlformats.org/officeDocument/2006/relationships/image" Target="../media/image20.emf"/><Relationship Id="rId15" Type="http://schemas.openxmlformats.org/officeDocument/2006/relationships/image" Target="../media/image10.png"/><Relationship Id="rId10" Type="http://schemas.openxmlformats.org/officeDocument/2006/relationships/image" Target="../media/image13.png"/><Relationship Id="rId19" Type="http://schemas.openxmlformats.org/officeDocument/2006/relationships/image" Target="../media/image21.jpeg"/><Relationship Id="rId4" Type="http://schemas.openxmlformats.org/officeDocument/2006/relationships/image" Target="../media/image22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27.png"/><Relationship Id="rId4" Type="http://schemas.openxmlformats.org/officeDocument/2006/relationships/image" Target="../media/image30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9.png"/><Relationship Id="rId18" Type="http://schemas.openxmlformats.org/officeDocument/2006/relationships/image" Target="../media/image43.png"/><Relationship Id="rId3" Type="http://schemas.microsoft.com/office/2018/10/relationships/comments" Target="../comments/modernComment_2F1_574EDDBE.xml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17" Type="http://schemas.microsoft.com/office/2007/relationships/hdphoto" Target="../media/hdphoto2.wdp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2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11" Type="http://schemas.microsoft.com/office/2007/relationships/hdphoto" Target="../media/hdphoto1.wdp"/><Relationship Id="rId5" Type="http://schemas.openxmlformats.org/officeDocument/2006/relationships/image" Target="../media/image29.png"/><Relationship Id="rId15" Type="http://schemas.openxmlformats.org/officeDocument/2006/relationships/image" Target="../media/image41.png"/><Relationship Id="rId10" Type="http://schemas.openxmlformats.org/officeDocument/2006/relationships/image" Target="../media/image37.png"/><Relationship Id="rId19" Type="http://schemas.openxmlformats.org/officeDocument/2006/relationships/image" Target="../media/image44.png"/><Relationship Id="rId4" Type="http://schemas.openxmlformats.org/officeDocument/2006/relationships/image" Target="../media/image34.png"/><Relationship Id="rId9" Type="http://schemas.openxmlformats.org/officeDocument/2006/relationships/image" Target="../media/image30.png"/><Relationship Id="rId1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dondi.github.io/GRNsight/react-thesis-4081/" TargetMode="Externa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31D_ABB60EA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59.svg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12" Type="http://schemas.openxmlformats.org/officeDocument/2006/relationships/image" Target="../media/image5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6.svg"/><Relationship Id="rId11" Type="http://schemas.openxmlformats.org/officeDocument/2006/relationships/image" Target="../media/image57.svg"/><Relationship Id="rId5" Type="http://schemas.openxmlformats.org/officeDocument/2006/relationships/image" Target="../media/image56.png"/><Relationship Id="rId10" Type="http://schemas.openxmlformats.org/officeDocument/2006/relationships/image" Target="../media/image59.png"/><Relationship Id="rId9" Type="http://schemas.openxmlformats.org/officeDocument/2006/relationships/customXml" Target="../ink/ink3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18/10/relationships/comments" Target="../comments/modernComment_31A_B1B7C430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0.xml"/><Relationship Id="rId7" Type="http://schemas.openxmlformats.org/officeDocument/2006/relationships/image" Target="../media/image6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339150"/>
            <a:ext cx="8520600" cy="22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" sz="2800" dirty="0">
                <a:solidFill>
                  <a:srgbClr val="16693F"/>
                </a:solidFill>
              </a:rPr>
              <a:t>Major Front-End Migration for GRNsight,</a:t>
            </a:r>
            <a:br>
              <a:rPr lang="en" sz="2800" dirty="0">
                <a:solidFill>
                  <a:srgbClr val="16693F"/>
                </a:solidFill>
              </a:rPr>
            </a:br>
            <a:r>
              <a:rPr lang="en" sz="2800" dirty="0">
                <a:solidFill>
                  <a:srgbClr val="16693F"/>
                </a:solidFill>
              </a:rPr>
              <a:t>a Web Application for Visualizing Gene Regulatory and Protein-Protein Interaction Network Models</a:t>
            </a:r>
            <a:endParaRPr lang="en-US" sz="28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601191"/>
            <a:ext cx="8520600" cy="12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15000"/>
              </a:lnSpc>
              <a:buSzPts val="605"/>
            </a:pPr>
            <a:r>
              <a:rPr lang="en" sz="2200" b="1" dirty="0">
                <a:solidFill>
                  <a:schemeClr val="tx1"/>
                </a:solidFill>
              </a:rPr>
              <a:t>Cecilia J. Zaragoza</a:t>
            </a:r>
            <a:endParaRPr sz="22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200" b="1" dirty="0">
                <a:solidFill>
                  <a:schemeClr val="tx1"/>
                </a:solidFill>
              </a:rPr>
              <a:t>Department of Computer Science</a:t>
            </a:r>
            <a:endParaRPr sz="2200"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200" b="1" dirty="0">
                <a:solidFill>
                  <a:schemeClr val="tx1"/>
                </a:solidFill>
              </a:rPr>
              <a:t>Loyola Marymount University</a:t>
            </a:r>
            <a:endParaRPr sz="2200" b="1" dirty="0">
              <a:solidFill>
                <a:schemeClr val="tx1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4075250"/>
            <a:ext cx="5495588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14000"/>
              </a:lnSpc>
              <a:buSzPts val="605"/>
            </a:pPr>
            <a:r>
              <a:rPr lang="en" sz="1400" b="1" dirty="0">
                <a:solidFill>
                  <a:schemeClr val="tx1"/>
                </a:solidFill>
              </a:rPr>
              <a:t>Engineering &amp; Computer Science Design Showcase</a:t>
            </a:r>
          </a:p>
          <a:p>
            <a:pPr marL="0" indent="0" algn="l">
              <a:lnSpc>
                <a:spcPct val="114000"/>
              </a:lnSpc>
              <a:buSzPts val="605"/>
            </a:pPr>
            <a:r>
              <a:rPr lang="en" sz="1400" b="1" dirty="0">
                <a:solidFill>
                  <a:schemeClr val="tx1"/>
                </a:solidFill>
              </a:rPr>
              <a:t>May 1, 2026</a:t>
            </a:r>
            <a:endParaRPr sz="1400" b="1" dirty="0">
              <a:solidFill>
                <a:schemeClr val="tx1"/>
              </a:solidFill>
            </a:endParaRPr>
          </a:p>
        </p:txBody>
      </p:sp>
      <p:cxnSp>
        <p:nvCxnSpPr>
          <p:cNvPr id="57" name="Google Shape;57;p13"/>
          <p:cNvCxnSpPr>
            <a:cxnSpLocks/>
          </p:cNvCxnSpPr>
          <p:nvPr/>
        </p:nvCxnSpPr>
        <p:spPr>
          <a:xfrm>
            <a:off x="321900" y="2067097"/>
            <a:ext cx="8438642" cy="0"/>
          </a:xfrm>
          <a:prstGeom prst="straightConnector1">
            <a:avLst/>
          </a:prstGeom>
          <a:noFill/>
          <a:ln w="9525" cap="flat" cmpd="sng">
            <a:solidFill>
              <a:srgbClr val="16693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288" y="3896332"/>
            <a:ext cx="3336712" cy="115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ADEE1D6-85C5-C5BE-2415-1443EFDC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9A3447B5-F611-380D-A7E3-8D4074165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527" y="182034"/>
            <a:ext cx="8520600" cy="810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solidFill>
                  <a:srgbClr val="16693F"/>
                </a:solidFill>
              </a:rPr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BC5C5-2DDD-89A7-4CEA-14F1FB5AA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293" y="585777"/>
            <a:ext cx="8285598" cy="4372102"/>
          </a:xfrm>
        </p:spPr>
        <p:txBody>
          <a:bodyPr>
            <a:normAutofit/>
          </a:bodyPr>
          <a:lstStyle/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GRNsight is an open-source tool that allows for easier visualization of </a:t>
            </a:r>
          </a:p>
          <a:p>
            <a:pPr marL="463550" indent="0">
              <a:lnSpc>
                <a:spcPct val="114999"/>
              </a:lnSpc>
              <a:buNone/>
            </a:pPr>
            <a:r>
              <a:rPr lang="en-US" dirty="0">
                <a:solidFill>
                  <a:schemeClr val="tx1"/>
                </a:solidFill>
              </a:rPr>
              <a:t>Gene Regulatory Networks (GRN) and Protein-Protein Interactions (PPI).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GRNsight is an integral part of a data analysis workflow for biologists who model GRNs. </a:t>
            </a:r>
          </a:p>
          <a:p>
            <a:pPr>
              <a:lnSpc>
                <a:spcPct val="114999"/>
              </a:lnSpc>
            </a:pPr>
            <a:r>
              <a:rPr lang="en-US" dirty="0" err="1">
                <a:solidFill>
                  <a:schemeClr val="tx1"/>
                </a:solidFill>
              </a:rPr>
              <a:t>GRNsight’s</a:t>
            </a:r>
            <a:r>
              <a:rPr lang="en-US" dirty="0">
                <a:solidFill>
                  <a:schemeClr val="tx1"/>
                </a:solidFill>
              </a:rPr>
              <a:t> interface was originally built using older web tools, leading to repeated code and making user interface updates difficult.</a:t>
            </a:r>
            <a:endParaRPr lang="en-US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I have migrated </a:t>
            </a:r>
            <a:r>
              <a:rPr lang="en-US" dirty="0" err="1">
                <a:solidFill>
                  <a:schemeClr val="tx1"/>
                </a:solidFill>
              </a:rPr>
              <a:t>GRNsight’s</a:t>
            </a:r>
            <a:r>
              <a:rPr lang="en-US" dirty="0">
                <a:solidFill>
                  <a:schemeClr val="tx1"/>
                </a:solidFill>
              </a:rPr>
              <a:t> user interface to React, Vite, and Grommet UI which are modern, scalable, and industry-standard frameworks.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GRNsight React migration has resulted in user interface improvements and bug fixes that enhance the user experience for biologists.</a:t>
            </a:r>
          </a:p>
        </p:txBody>
      </p:sp>
    </p:spTree>
    <p:extLst>
      <p:ext uri="{BB962C8B-B14F-4D97-AF65-F5344CB8AC3E}">
        <p14:creationId xmlns:p14="http://schemas.microsoft.com/office/powerpoint/2010/main" val="192803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D303E87-54CB-C08D-4D9C-53A6A05D6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6D279293-4F94-1BC4-D52F-AE32852A31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527" y="182034"/>
            <a:ext cx="8520600" cy="810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solidFill>
                  <a:srgbClr val="16693F"/>
                </a:solidFill>
              </a:rPr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4C683-D7EA-C8A4-176F-281DAE58B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293" y="585777"/>
            <a:ext cx="8285598" cy="4372102"/>
          </a:xfrm>
        </p:spPr>
        <p:txBody>
          <a:bodyPr>
            <a:normAutofit/>
          </a:bodyPr>
          <a:lstStyle/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GRNsight is an open-source tool that allows for easier visualization of </a:t>
            </a:r>
          </a:p>
          <a:p>
            <a:pPr marL="463550" indent="0">
              <a:lnSpc>
                <a:spcPct val="114999"/>
              </a:lnSpc>
              <a:buNone/>
            </a:pPr>
            <a:r>
              <a:rPr lang="en-US" dirty="0">
                <a:solidFill>
                  <a:schemeClr val="tx1"/>
                </a:solidFill>
              </a:rPr>
              <a:t>Gene Regulatory Networks (GRN) and Protein-Protein Interactions (PPI).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GRNsight is an integral part of a data analysis workflow for biologists who model GRNs. </a:t>
            </a:r>
          </a:p>
          <a:p>
            <a:pPr>
              <a:lnSpc>
                <a:spcPct val="114999"/>
              </a:lnSpc>
            </a:pPr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GRNsight’s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interface was originally built using older web tools, leading to repeated code and making user interface updates difficult.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 have migrated </a:t>
            </a:r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GRNsight’s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user interface to React, Vite, and Grommet UI which are modern, scalable, and industry-standard frameworks.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GRNsight React migration has resulted in user interface improvements and bug fixes that enhance the user experience for biologists.</a:t>
            </a:r>
          </a:p>
        </p:txBody>
      </p:sp>
    </p:spTree>
    <p:extLst>
      <p:ext uri="{BB962C8B-B14F-4D97-AF65-F5344CB8AC3E}">
        <p14:creationId xmlns:p14="http://schemas.microsoft.com/office/powerpoint/2010/main" val="224905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296527" y="182034"/>
            <a:ext cx="8520600" cy="810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solidFill>
                  <a:srgbClr val="16693F"/>
                </a:solidFill>
              </a:rPr>
              <a:t>Gene expression is the flow of information in a cell from </a:t>
            </a:r>
            <a:br>
              <a:rPr lang="en" sz="2000" b="1">
                <a:solidFill>
                  <a:srgbClr val="16693F"/>
                </a:solidFill>
              </a:rPr>
            </a:br>
            <a:r>
              <a:rPr lang="en" sz="2000" b="1">
                <a:solidFill>
                  <a:srgbClr val="16693F"/>
                </a:solidFill>
              </a:rPr>
              <a:t>DNA to RNA to protein</a:t>
            </a:r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2992253" y="4686786"/>
            <a:ext cx="3129148" cy="3735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Image from Dr. Surat P, Ph.D. on AZO Life Sciences</a:t>
            </a:r>
            <a:endParaRPr lang="en-US" sz="800"/>
          </a:p>
        </p:txBody>
      </p:sp>
      <p:pic>
        <p:nvPicPr>
          <p:cNvPr id="92" name="Google Shape;92;p15"/>
          <p:cNvPicPr preferRelativeResize="0"/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9355" y="992437"/>
            <a:ext cx="3645289" cy="369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2A727F9-0124-7C19-1BCB-439197EE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>
            <a:extLst>
              <a:ext uri="{FF2B5EF4-FFF2-40B4-BE49-F238E27FC236}">
                <a16:creationId xmlns:a16="http://schemas.microsoft.com/office/drawing/2014/main" id="{14BE6D4D-1773-920E-5BBF-A4922B0BC3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19332"/>
            <a:ext cx="8520600" cy="1079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solidFill>
                  <a:srgbClr val="16693F"/>
                </a:solidFill>
              </a:rPr>
              <a:t>A Gene Regulatory Network (GRN) </a:t>
            </a:r>
            <a:r>
              <a:rPr lang="en-US" sz="2000" b="1" dirty="0">
                <a:solidFill>
                  <a:srgbClr val="16693F"/>
                </a:solidFill>
              </a:rPr>
              <a:t>consists of genes, transcription factors and the regulatory connections between them which govern the level of expression of mRNA and protein from genes</a:t>
            </a:r>
            <a:br>
              <a:rPr lang="en-US" sz="2000" b="1" dirty="0">
                <a:solidFill>
                  <a:srgbClr val="16693F"/>
                </a:solidFill>
              </a:rPr>
            </a:br>
            <a:endParaRPr sz="2000" b="1" dirty="0">
              <a:solidFill>
                <a:srgbClr val="16693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B1B41-A4A2-652A-22BD-BB4146EA8FD5}"/>
              </a:ext>
            </a:extLst>
          </p:cNvPr>
          <p:cNvSpPr txBox="1"/>
          <p:nvPr/>
        </p:nvSpPr>
        <p:spPr>
          <a:xfrm>
            <a:off x="5473821" y="4282177"/>
            <a:ext cx="3559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Yeast GRN that controls the cold shock response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Node = transcription factor / gene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edge = regulatory relationship</a:t>
            </a:r>
            <a:endParaRPr lang="en-US" sz="12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ight Arrow 15">
            <a:extLst>
              <a:ext uri="{FF2B5EF4-FFF2-40B4-BE49-F238E27FC236}">
                <a16:creationId xmlns:a16="http://schemas.microsoft.com/office/drawing/2014/main" id="{566FA680-C193-B583-25A4-EE5EB2837133}"/>
              </a:ext>
            </a:extLst>
          </p:cNvPr>
          <p:cNvSpPr/>
          <p:nvPr/>
        </p:nvSpPr>
        <p:spPr>
          <a:xfrm>
            <a:off x="4132070" y="2571750"/>
            <a:ext cx="879860" cy="630984"/>
          </a:xfrm>
          <a:prstGeom prst="rightArrow">
            <a:avLst/>
          </a:prstGeom>
          <a:solidFill>
            <a:srgbClr val="1669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81398-4EB7-0027-A11C-D74C96FA7A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3" t="1830" r="612" b="1961"/>
          <a:stretch>
            <a:fillRect/>
          </a:stretch>
        </p:blipFill>
        <p:spPr>
          <a:xfrm>
            <a:off x="5266063" y="1941411"/>
            <a:ext cx="3668617" cy="1991611"/>
          </a:xfrm>
          <a:prstGeom prst="rect">
            <a:avLst/>
          </a:prstGeom>
        </p:spPr>
      </p:pic>
      <p:pic>
        <p:nvPicPr>
          <p:cNvPr id="4" name="Google Shape;101;p16">
            <a:extLst>
              <a:ext uri="{FF2B5EF4-FFF2-40B4-BE49-F238E27FC236}">
                <a16:creationId xmlns:a16="http://schemas.microsoft.com/office/drawing/2014/main" id="{AE015BBF-17EF-276F-E872-6414C78FCA8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200000">
            <a:off x="920329" y="2079079"/>
            <a:ext cx="2065262" cy="21772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BB59A-0A7B-C38B-492E-1DF0ED247C20}"/>
              </a:ext>
            </a:extLst>
          </p:cNvPr>
          <p:cNvSpPr txBox="1"/>
          <p:nvPr/>
        </p:nvSpPr>
        <p:spPr>
          <a:xfrm>
            <a:off x="622910" y="4233564"/>
            <a:ext cx="2660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RCSB: PDB-101. https://pdb101.rcsb.org/</a:t>
            </a:r>
            <a:r>
              <a:rPr lang="en-US" sz="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motm</a:t>
            </a:r>
            <a:r>
              <a:rPr lang="en-US" sz="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/155</a:t>
            </a:r>
            <a:endParaRPr lang="en-US" sz="800" b="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0CA7A-7818-6143-34FC-F923C92855D4}"/>
              </a:ext>
            </a:extLst>
          </p:cNvPr>
          <p:cNvSpPr txBox="1"/>
          <p:nvPr/>
        </p:nvSpPr>
        <p:spPr>
          <a:xfrm>
            <a:off x="414576" y="1362937"/>
            <a:ext cx="30767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Regulatory Transcription Factors bind to DNA and turn on (activate) or turn off (repress) gene expression</a:t>
            </a:r>
            <a:endParaRPr 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11F3F0-C215-FE7C-E2F9-87202D80A390}"/>
              </a:ext>
            </a:extLst>
          </p:cNvPr>
          <p:cNvSpPr txBox="1"/>
          <p:nvPr/>
        </p:nvSpPr>
        <p:spPr>
          <a:xfrm>
            <a:off x="2268964" y="2427034"/>
            <a:ext cx="57982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ACE2</a:t>
            </a:r>
            <a:endParaRPr lang="en-US" sz="120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2BC3CF-CD45-D7D9-267F-580090F48685}"/>
              </a:ext>
            </a:extLst>
          </p:cNvPr>
          <p:cNvSpPr txBox="1"/>
          <p:nvPr/>
        </p:nvSpPr>
        <p:spPr>
          <a:xfrm>
            <a:off x="3235811" y="3583464"/>
            <a:ext cx="64212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ASH1</a:t>
            </a:r>
            <a:endParaRPr lang="en-US" sz="1200" b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10910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EEB7DD-58E5-4B79-DEDA-D8960FE865A0}"/>
              </a:ext>
            </a:extLst>
          </p:cNvPr>
          <p:cNvSpPr txBox="1">
            <a:spLocks/>
          </p:cNvSpPr>
          <p:nvPr/>
        </p:nvSpPr>
        <p:spPr>
          <a:xfrm>
            <a:off x="375047" y="95541"/>
            <a:ext cx="8393906" cy="662990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err="1">
                <a:solidFill>
                  <a:srgbClr val="16693F"/>
                </a:solidFill>
              </a:rPr>
              <a:t>GRNsight</a:t>
            </a:r>
            <a:r>
              <a:rPr lang="en-US" sz="2400" b="1">
                <a:solidFill>
                  <a:srgbClr val="16693F"/>
                </a:solidFill>
              </a:rPr>
              <a:t> is an integral part of a data analysis workflow for biologists who model GRNs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E6F56C-13B9-7A65-7ECB-5564ACCFF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080" y="867211"/>
            <a:ext cx="6829840" cy="418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0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EDA4D-8BE8-5A86-0D44-5FD1A383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D23B39-2E4C-C9C8-7908-FBE73ED5ADF2}"/>
              </a:ext>
            </a:extLst>
          </p:cNvPr>
          <p:cNvSpPr txBox="1">
            <a:spLocks/>
          </p:cNvSpPr>
          <p:nvPr/>
        </p:nvSpPr>
        <p:spPr>
          <a:xfrm>
            <a:off x="375047" y="95541"/>
            <a:ext cx="8393906" cy="662990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err="1">
                <a:solidFill>
                  <a:srgbClr val="16693F"/>
                </a:solidFill>
              </a:rPr>
              <a:t>GRNsight</a:t>
            </a:r>
            <a:r>
              <a:rPr lang="en-US" sz="2400" b="1">
                <a:solidFill>
                  <a:srgbClr val="16693F"/>
                </a:solidFill>
              </a:rPr>
              <a:t> is an integral part of a data analysis workflow for biologists who model GRNs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65BB453-897E-4368-ED50-0ACA45F52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16"/>
          <a:stretch>
            <a:fillRect/>
          </a:stretch>
        </p:blipFill>
        <p:spPr>
          <a:xfrm>
            <a:off x="310223" y="831949"/>
            <a:ext cx="2729209" cy="1661553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6533F68D-322F-C551-AC4D-CE0233699094}"/>
              </a:ext>
            </a:extLst>
          </p:cNvPr>
          <p:cNvGrpSpPr/>
          <p:nvPr/>
        </p:nvGrpSpPr>
        <p:grpSpPr>
          <a:xfrm>
            <a:off x="298848" y="2579270"/>
            <a:ext cx="1106008" cy="575789"/>
            <a:chOff x="398464" y="3439026"/>
            <a:chExt cx="1474677" cy="76771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0FA9CC7-BD65-63C0-8E43-E6D3C42CC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742" y="3439026"/>
              <a:ext cx="1252399" cy="319996"/>
            </a:xfrm>
            <a:prstGeom prst="rect">
              <a:avLst/>
            </a:prstGeom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35756A5-1EFE-BA1A-6785-70FCD8806C8B}"/>
                </a:ext>
              </a:extLst>
            </p:cNvPr>
            <p:cNvGrpSpPr/>
            <p:nvPr/>
          </p:nvGrpSpPr>
          <p:grpSpPr>
            <a:xfrm>
              <a:off x="398464" y="3872588"/>
              <a:ext cx="1474677" cy="334157"/>
              <a:chOff x="398464" y="3872588"/>
              <a:chExt cx="1474677" cy="334157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B49B4D54-3702-7FE8-4D9E-9C8C0FD52B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98464" y="3872588"/>
                <a:ext cx="744054" cy="334157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D9AA619-C0C8-87EB-5F45-877483B980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142519" y="3872588"/>
                <a:ext cx="730622" cy="334157"/>
              </a:xfrm>
              <a:prstGeom prst="rect">
                <a:avLst/>
              </a:prstGeom>
            </p:spPr>
          </p:pic>
        </p:grp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D72F6F24-4F13-2EBE-C9EF-DF5708035B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0223" y="3302021"/>
            <a:ext cx="1339998" cy="174593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B072932-A5B8-7A33-0092-553084C81A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60377" y="3306910"/>
            <a:ext cx="1021950" cy="174105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FD103D67-639B-DAA9-FB57-44E29FDFF99A}"/>
              </a:ext>
            </a:extLst>
          </p:cNvPr>
          <p:cNvGrpSpPr/>
          <p:nvPr/>
        </p:nvGrpSpPr>
        <p:grpSpPr>
          <a:xfrm>
            <a:off x="1478107" y="1191266"/>
            <a:ext cx="4131870" cy="2013393"/>
            <a:chOff x="1970808" y="1588356"/>
            <a:chExt cx="5509160" cy="2684525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F0DC660-FEA7-3242-EF70-B81823A634E5}"/>
                </a:ext>
              </a:extLst>
            </p:cNvPr>
            <p:cNvGrpSpPr/>
            <p:nvPr/>
          </p:nvGrpSpPr>
          <p:grpSpPr>
            <a:xfrm>
              <a:off x="1970808" y="3349262"/>
              <a:ext cx="2579808" cy="923619"/>
              <a:chOff x="1970808" y="3349262"/>
              <a:chExt cx="2579808" cy="923619"/>
            </a:xfrm>
          </p:grpSpPr>
          <p:sp>
            <p:nvSpPr>
              <p:cNvPr id="15" name="Rounded Rectangle 1">
                <a:extLst>
                  <a:ext uri="{FF2B5EF4-FFF2-40B4-BE49-F238E27FC236}">
                    <a16:creationId xmlns:a16="http://schemas.microsoft.com/office/drawing/2014/main" id="{48403943-3438-2BCA-3531-18EEBCA5F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5805" y="3349262"/>
                <a:ext cx="2509815" cy="923619"/>
              </a:xfrm>
              <a:prstGeom prst="roundRect">
                <a:avLst>
                  <a:gd name="adj" fmla="val 16667"/>
                </a:avLst>
              </a:prstGeom>
              <a:solidFill>
                <a:srgbClr val="16693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endParaRPr lang="en-US" altLang="en-US" sz="1013"/>
              </a:p>
            </p:txBody>
          </p:sp>
          <p:sp>
            <p:nvSpPr>
              <p:cNvPr id="16" name="TextBox 5">
                <a:extLst>
                  <a:ext uri="{FF2B5EF4-FFF2-40B4-BE49-F238E27FC236}">
                    <a16:creationId xmlns:a16="http://schemas.microsoft.com/office/drawing/2014/main" id="{DA39C395-4F01-D537-C6BC-2986F1752A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808" y="3349406"/>
                <a:ext cx="2579808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350" b="1">
                    <a:solidFill>
                      <a:schemeClr val="bg1"/>
                    </a:solidFill>
                  </a:rPr>
                  <a:t>Select network and expression data from </a:t>
                </a:r>
                <a:r>
                  <a:rPr lang="en-US" altLang="en-US" sz="1350" b="1" err="1">
                    <a:solidFill>
                      <a:schemeClr val="bg1"/>
                    </a:solidFill>
                  </a:rPr>
                  <a:t>GRNsight</a:t>
                </a:r>
                <a:r>
                  <a:rPr lang="en-US" altLang="en-US" sz="1350" b="1">
                    <a:solidFill>
                      <a:schemeClr val="bg1"/>
                    </a:solidFill>
                  </a:rPr>
                  <a:t> database</a:t>
                </a:r>
              </a:p>
            </p:txBody>
          </p:sp>
        </p:grpSp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985D8249-0031-F5B7-2C72-82896CCDE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3491" y="1588356"/>
              <a:ext cx="27864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>
                  <a:solidFill>
                    <a:schemeClr val="bg1"/>
                  </a:solidFill>
                </a:rPr>
                <a:t>Export to Excel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772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89505-D4EC-151C-028F-F73A7AD0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BA0CBA-CDA9-C3B7-A3EB-458D3EB8B10D}"/>
              </a:ext>
            </a:extLst>
          </p:cNvPr>
          <p:cNvSpPr txBox="1">
            <a:spLocks/>
          </p:cNvSpPr>
          <p:nvPr/>
        </p:nvSpPr>
        <p:spPr>
          <a:xfrm>
            <a:off x="375047" y="95541"/>
            <a:ext cx="8393906" cy="662990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err="1">
                <a:solidFill>
                  <a:srgbClr val="16693F"/>
                </a:solidFill>
              </a:rPr>
              <a:t>GRNsight</a:t>
            </a:r>
            <a:r>
              <a:rPr lang="en-US" sz="2400" b="1">
                <a:solidFill>
                  <a:srgbClr val="16693F"/>
                </a:solidFill>
              </a:rPr>
              <a:t> is an integral part of a data analysis workflow for biologists who model GRNs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162F215-1D13-1B9A-2903-2D4D8EC60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16"/>
          <a:stretch>
            <a:fillRect/>
          </a:stretch>
        </p:blipFill>
        <p:spPr>
          <a:xfrm>
            <a:off x="310223" y="831949"/>
            <a:ext cx="2729209" cy="1661553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1403D8CE-5B91-BCAD-D5BE-CED5C3D29519}"/>
              </a:ext>
            </a:extLst>
          </p:cNvPr>
          <p:cNvGrpSpPr/>
          <p:nvPr/>
        </p:nvGrpSpPr>
        <p:grpSpPr>
          <a:xfrm>
            <a:off x="298848" y="2579270"/>
            <a:ext cx="1106008" cy="575789"/>
            <a:chOff x="398464" y="3439026"/>
            <a:chExt cx="1474677" cy="76771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0A56FB6-2F99-8988-A7AC-52D95B2A2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742" y="3439026"/>
              <a:ext cx="1252399" cy="319996"/>
            </a:xfrm>
            <a:prstGeom prst="rect">
              <a:avLst/>
            </a:prstGeom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AEBA300-2B38-9E5F-FC3F-6DD8BAC82B91}"/>
                </a:ext>
              </a:extLst>
            </p:cNvPr>
            <p:cNvGrpSpPr/>
            <p:nvPr/>
          </p:nvGrpSpPr>
          <p:grpSpPr>
            <a:xfrm>
              <a:off x="398464" y="3872588"/>
              <a:ext cx="1474677" cy="334157"/>
              <a:chOff x="398464" y="3872588"/>
              <a:chExt cx="1474677" cy="334157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8F5F76A2-AE09-249B-30F0-7069731CB3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98464" y="3872588"/>
                <a:ext cx="744054" cy="334157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3D3F7A75-B6BB-92C4-A328-30EA0F546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142519" y="3872588"/>
                <a:ext cx="730622" cy="334157"/>
              </a:xfrm>
              <a:prstGeom prst="rect">
                <a:avLst/>
              </a:prstGeom>
            </p:spPr>
          </p:pic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DF9FC60E-CB44-B1F6-83B8-6323D7F845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93733" y="831949"/>
            <a:ext cx="543195" cy="8650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48974A8-184E-2A91-E5FB-091C9B3B9A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02833" y="936185"/>
            <a:ext cx="568754" cy="8650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F558651-FDCA-370F-2837-0F8C4E0FF1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08122" y="1036395"/>
            <a:ext cx="483444" cy="8691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0F57549-F21D-248D-F44E-45035CCAEA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5904" y="1141159"/>
            <a:ext cx="1518774" cy="86694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6819E1F-4A63-DB04-E656-49DCF354FA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49845" y="1252635"/>
            <a:ext cx="1666580" cy="86508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419156E-DE3C-B7D9-C534-4F48EC22E3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92714" y="1368729"/>
            <a:ext cx="1765385" cy="86694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D734262-DEB7-5AAF-E42D-FEF6AFB40B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0223" y="3302021"/>
            <a:ext cx="1339998" cy="174593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82F8F62-8BC4-6F4A-068A-69D8488BEF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55689" y="1993011"/>
            <a:ext cx="1215486" cy="174593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4520912-9F8B-1F3B-329A-E66EE590E20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60377" y="3306910"/>
            <a:ext cx="1021950" cy="174105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304C6EB9-9C9B-31E6-C17C-298364F1CB50}"/>
              </a:ext>
            </a:extLst>
          </p:cNvPr>
          <p:cNvGrpSpPr/>
          <p:nvPr/>
        </p:nvGrpSpPr>
        <p:grpSpPr>
          <a:xfrm>
            <a:off x="1478107" y="1191267"/>
            <a:ext cx="4131870" cy="2013394"/>
            <a:chOff x="1970808" y="1588356"/>
            <a:chExt cx="5509160" cy="2684525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EE84A93-CCFF-2713-F8CB-6D7B0B04BF39}"/>
                </a:ext>
              </a:extLst>
            </p:cNvPr>
            <p:cNvGrpSpPr/>
            <p:nvPr/>
          </p:nvGrpSpPr>
          <p:grpSpPr>
            <a:xfrm>
              <a:off x="1970808" y="3349262"/>
              <a:ext cx="2579808" cy="923619"/>
              <a:chOff x="1970808" y="3349262"/>
              <a:chExt cx="2579808" cy="923619"/>
            </a:xfrm>
          </p:grpSpPr>
          <p:sp>
            <p:nvSpPr>
              <p:cNvPr id="15" name="Rounded Rectangle 1">
                <a:extLst>
                  <a:ext uri="{FF2B5EF4-FFF2-40B4-BE49-F238E27FC236}">
                    <a16:creationId xmlns:a16="http://schemas.microsoft.com/office/drawing/2014/main" id="{0B0624D2-38C3-E297-D5BF-4A0AFD85C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5805" y="3349262"/>
                <a:ext cx="2509815" cy="923619"/>
              </a:xfrm>
              <a:prstGeom prst="roundRect">
                <a:avLst>
                  <a:gd name="adj" fmla="val 16667"/>
                </a:avLst>
              </a:prstGeom>
              <a:solidFill>
                <a:srgbClr val="16693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endParaRPr lang="en-US" altLang="en-US" sz="1013"/>
              </a:p>
            </p:txBody>
          </p:sp>
          <p:sp>
            <p:nvSpPr>
              <p:cNvPr id="16" name="TextBox 5">
                <a:extLst>
                  <a:ext uri="{FF2B5EF4-FFF2-40B4-BE49-F238E27FC236}">
                    <a16:creationId xmlns:a16="http://schemas.microsoft.com/office/drawing/2014/main" id="{D665AA55-7129-ADC8-DAF3-3E7836F16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808" y="3349406"/>
                <a:ext cx="2579808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350" b="1">
                    <a:solidFill>
                      <a:schemeClr val="bg1"/>
                    </a:solidFill>
                  </a:rPr>
                  <a:t>Select network and expression data from </a:t>
                </a:r>
                <a:r>
                  <a:rPr lang="en-US" altLang="en-US" sz="1350" b="1" err="1">
                    <a:solidFill>
                      <a:schemeClr val="bg1"/>
                    </a:solidFill>
                  </a:rPr>
                  <a:t>GRNsight</a:t>
                </a:r>
                <a:r>
                  <a:rPr lang="en-US" altLang="en-US" sz="1350" b="1">
                    <a:solidFill>
                      <a:schemeClr val="bg1"/>
                    </a:solidFill>
                  </a:rPr>
                  <a:t> database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0F98786-EB77-3A6E-CE35-4E309B947CDD}"/>
                </a:ext>
              </a:extLst>
            </p:cNvPr>
            <p:cNvGrpSpPr/>
            <p:nvPr/>
          </p:nvGrpSpPr>
          <p:grpSpPr>
            <a:xfrm>
              <a:off x="4693491" y="1588356"/>
              <a:ext cx="2786477" cy="934104"/>
              <a:chOff x="4693491" y="1588356"/>
              <a:chExt cx="2786477" cy="934104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5BF8499D-0B72-58EA-183A-5EB42DD3AB97}"/>
                  </a:ext>
                </a:extLst>
              </p:cNvPr>
              <p:cNvGrpSpPr/>
              <p:nvPr/>
            </p:nvGrpSpPr>
            <p:grpSpPr>
              <a:xfrm>
                <a:off x="4693491" y="1588356"/>
                <a:ext cx="2786477" cy="934104"/>
                <a:chOff x="3063195" y="1371002"/>
                <a:chExt cx="2786477" cy="934104"/>
              </a:xfrm>
            </p:grpSpPr>
            <p:sp>
              <p:nvSpPr>
                <p:cNvPr id="6" name="Rounded Rectangle 1">
                  <a:extLst>
                    <a:ext uri="{FF2B5EF4-FFF2-40B4-BE49-F238E27FC236}">
                      <a16:creationId xmlns:a16="http://schemas.microsoft.com/office/drawing/2014/main" id="{992F09D3-306F-E921-35F8-822FE53BBD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1526" y="1381487"/>
                  <a:ext cx="2509815" cy="92361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97B49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endParaRPr lang="en-US" altLang="en-US" sz="1013"/>
                </a:p>
              </p:txBody>
            </p:sp>
            <p:sp>
              <p:nvSpPr>
                <p:cNvPr id="7" name="TextBox 2">
                  <a:extLst>
                    <a:ext uri="{FF2B5EF4-FFF2-40B4-BE49-F238E27FC236}">
                      <a16:creationId xmlns:a16="http://schemas.microsoft.com/office/drawing/2014/main" id="{F838745C-DFC6-9A3C-C3B3-3DFE3D5EE8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63195" y="1371002"/>
                  <a:ext cx="2786477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350" b="1">
                      <a:solidFill>
                        <a:schemeClr val="bg1"/>
                      </a:solidFill>
                    </a:rPr>
                    <a:t>Export to Excel</a:t>
                  </a:r>
                </a:p>
              </p:txBody>
            </p:sp>
          </p:grp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4AA6E1CD-6EAF-6421-D2B0-FF6EC2A399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23115" t="25234" r="21151" b="25277"/>
              <a:stretch/>
            </p:blipFill>
            <p:spPr>
              <a:xfrm>
                <a:off x="5770452" y="1921416"/>
                <a:ext cx="632554" cy="561663"/>
              </a:xfrm>
              <a:prstGeom prst="rect">
                <a:avLst/>
              </a:prstGeom>
            </p:spPr>
          </p:pic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7918183-7CD1-D9D9-AB27-9052E30B5704}"/>
                </a:ext>
              </a:extLst>
            </p:cNvPr>
            <p:cNvCxnSpPr/>
            <p:nvPr/>
          </p:nvCxnSpPr>
          <p:spPr bwMode="auto">
            <a:xfrm flipV="1">
              <a:off x="3424909" y="2546119"/>
              <a:ext cx="1130300" cy="68580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61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29CAE-DCE2-2572-B918-67E35757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1268662-EB3A-3220-A711-E3DDE6DEB9EA}"/>
              </a:ext>
            </a:extLst>
          </p:cNvPr>
          <p:cNvSpPr txBox="1">
            <a:spLocks/>
          </p:cNvSpPr>
          <p:nvPr/>
        </p:nvSpPr>
        <p:spPr>
          <a:xfrm>
            <a:off x="375047" y="95541"/>
            <a:ext cx="8393906" cy="662990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err="1">
                <a:solidFill>
                  <a:srgbClr val="16693F"/>
                </a:solidFill>
              </a:rPr>
              <a:t>GRNsight</a:t>
            </a:r>
            <a:r>
              <a:rPr lang="en-US" sz="2400" b="1">
                <a:solidFill>
                  <a:srgbClr val="16693F"/>
                </a:solidFill>
              </a:rPr>
              <a:t> is an integral part of a data analysis workflow for biologists who model GRNs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DCDB54E-9FAE-43EA-98A0-C9D2DE183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16"/>
          <a:stretch>
            <a:fillRect/>
          </a:stretch>
        </p:blipFill>
        <p:spPr>
          <a:xfrm>
            <a:off x="310223" y="831949"/>
            <a:ext cx="2729209" cy="1661553"/>
          </a:xfrm>
          <a:prstGeom prst="rect">
            <a:avLst/>
          </a:prstGeom>
        </p:spPr>
      </p:pic>
      <p:pic>
        <p:nvPicPr>
          <p:cNvPr id="28" name="Picture 2" descr="figure01a">
            <a:extLst>
              <a:ext uri="{FF2B5EF4-FFF2-40B4-BE49-F238E27FC236}">
                <a16:creationId xmlns:a16="http://schemas.microsoft.com/office/drawing/2014/main" id="{8901F0D1-3A98-1B35-1F64-52EAFE7D9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751" y="2333474"/>
            <a:ext cx="1483652" cy="1112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1ADF7FDD-F9E7-BBB1-2E4E-86EF0A3D5ECD}"/>
              </a:ext>
            </a:extLst>
          </p:cNvPr>
          <p:cNvGrpSpPr/>
          <p:nvPr/>
        </p:nvGrpSpPr>
        <p:grpSpPr>
          <a:xfrm>
            <a:off x="298848" y="2579270"/>
            <a:ext cx="1106008" cy="575789"/>
            <a:chOff x="398464" y="3439026"/>
            <a:chExt cx="1474677" cy="76771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B383B82-7590-135B-468E-A31BA65EF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742" y="3439026"/>
              <a:ext cx="1252399" cy="319996"/>
            </a:xfrm>
            <a:prstGeom prst="rect">
              <a:avLst/>
            </a:prstGeom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870A41D-61FC-1A8E-FBC2-1941F6980D37}"/>
                </a:ext>
              </a:extLst>
            </p:cNvPr>
            <p:cNvGrpSpPr/>
            <p:nvPr/>
          </p:nvGrpSpPr>
          <p:grpSpPr>
            <a:xfrm>
              <a:off x="398464" y="3872588"/>
              <a:ext cx="1474677" cy="334157"/>
              <a:chOff x="398464" y="3872588"/>
              <a:chExt cx="1474677" cy="334157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C248022-BCBD-9247-84F2-63ED3EF1A6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98464" y="3872588"/>
                <a:ext cx="744054" cy="334157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2995A90B-101E-74C9-5284-1BD8E8C4A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142519" y="3872588"/>
                <a:ext cx="730622" cy="334157"/>
              </a:xfrm>
              <a:prstGeom prst="rect">
                <a:avLst/>
              </a:prstGeom>
            </p:spPr>
          </p:pic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D90C9A17-38E5-1C7F-570E-069CF0C4CD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93733" y="831949"/>
            <a:ext cx="543195" cy="8650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5992C69-A89B-BB9A-387B-98A403F52A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02833" y="936185"/>
            <a:ext cx="568754" cy="8650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6D6C555-5168-7DE7-ACA5-47E8BF2DFB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08122" y="1036395"/>
            <a:ext cx="483444" cy="8691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80EC255-7CB9-D2DD-E383-E12D48A856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5904" y="1141159"/>
            <a:ext cx="1518774" cy="86694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EB18DAD-1D65-D373-0BF2-D300C59820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49845" y="1252635"/>
            <a:ext cx="1666580" cy="86508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409F8A9-1DBF-DBAA-F54B-6C8E0934EC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92714" y="1368729"/>
            <a:ext cx="1765385" cy="86694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2F28709-79ED-0C09-A5F1-AE0AC22635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0223" y="3302021"/>
            <a:ext cx="1339998" cy="174593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B38B715-A2AF-44A8-B0CA-ACC395D413E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55689" y="1993011"/>
            <a:ext cx="1215486" cy="174593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E42A7F9-97B9-EA45-EC9E-F2B70119834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60377" y="3306910"/>
            <a:ext cx="1021950" cy="174105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9862455D-77B6-4E99-CF5A-48F18033E6B3}"/>
              </a:ext>
            </a:extLst>
          </p:cNvPr>
          <p:cNvGrpSpPr/>
          <p:nvPr/>
        </p:nvGrpSpPr>
        <p:grpSpPr>
          <a:xfrm>
            <a:off x="1478107" y="1191267"/>
            <a:ext cx="6170489" cy="3340926"/>
            <a:chOff x="1970808" y="1588356"/>
            <a:chExt cx="8227319" cy="445456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7979187-693B-A670-65C4-1ABFFF125347}"/>
                </a:ext>
              </a:extLst>
            </p:cNvPr>
            <p:cNvCxnSpPr/>
            <p:nvPr/>
          </p:nvCxnSpPr>
          <p:spPr bwMode="auto">
            <a:xfrm>
              <a:off x="7653424" y="2546119"/>
              <a:ext cx="1130300" cy="68580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34BFFD70-69FB-9038-178A-827D998EF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4997" y="5119595"/>
              <a:ext cx="2303463" cy="923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>
                  <a:solidFill>
                    <a:schemeClr val="bg1"/>
                  </a:solidFill>
                </a:rPr>
                <a:t>Visualization of  modeling results using </a:t>
              </a:r>
              <a:r>
                <a:rPr lang="en-US" altLang="en-US" sz="1350" b="1" err="1">
                  <a:solidFill>
                    <a:schemeClr val="bg1"/>
                  </a:solidFill>
                </a:rPr>
                <a:t>GRNsight</a:t>
              </a:r>
              <a:endParaRPr lang="en-US" altLang="en-US" sz="1350" b="1">
                <a:solidFill>
                  <a:schemeClr val="bg1"/>
                </a:solidFill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7C62B03-DF28-7D5B-E659-94D892F29F49}"/>
                </a:ext>
              </a:extLst>
            </p:cNvPr>
            <p:cNvGrpSpPr/>
            <p:nvPr/>
          </p:nvGrpSpPr>
          <p:grpSpPr>
            <a:xfrm>
              <a:off x="1970808" y="3349262"/>
              <a:ext cx="2579808" cy="923619"/>
              <a:chOff x="1970808" y="3349262"/>
              <a:chExt cx="2579808" cy="923619"/>
            </a:xfrm>
          </p:grpSpPr>
          <p:sp>
            <p:nvSpPr>
              <p:cNvPr id="15" name="Rounded Rectangle 1">
                <a:extLst>
                  <a:ext uri="{FF2B5EF4-FFF2-40B4-BE49-F238E27FC236}">
                    <a16:creationId xmlns:a16="http://schemas.microsoft.com/office/drawing/2014/main" id="{32C48A53-C719-8AE1-E1E2-ABBBD0A05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5805" y="3349262"/>
                <a:ext cx="2509815" cy="923619"/>
              </a:xfrm>
              <a:prstGeom prst="roundRect">
                <a:avLst>
                  <a:gd name="adj" fmla="val 16667"/>
                </a:avLst>
              </a:prstGeom>
              <a:solidFill>
                <a:srgbClr val="16693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endParaRPr lang="en-US" altLang="en-US" sz="1013"/>
              </a:p>
            </p:txBody>
          </p:sp>
          <p:sp>
            <p:nvSpPr>
              <p:cNvPr id="16" name="TextBox 5">
                <a:extLst>
                  <a:ext uri="{FF2B5EF4-FFF2-40B4-BE49-F238E27FC236}">
                    <a16:creationId xmlns:a16="http://schemas.microsoft.com/office/drawing/2014/main" id="{A299ED93-B6B7-D105-E212-42867E985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808" y="3349406"/>
                <a:ext cx="2579808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350" b="1">
                    <a:solidFill>
                      <a:schemeClr val="bg1"/>
                    </a:solidFill>
                  </a:rPr>
                  <a:t>Select network and expression data from </a:t>
                </a:r>
                <a:r>
                  <a:rPr lang="en-US" altLang="en-US" sz="1350" b="1" err="1">
                    <a:solidFill>
                      <a:schemeClr val="bg1"/>
                    </a:solidFill>
                  </a:rPr>
                  <a:t>GRNsight</a:t>
                </a:r>
                <a:r>
                  <a:rPr lang="en-US" altLang="en-US" sz="1350" b="1">
                    <a:solidFill>
                      <a:schemeClr val="bg1"/>
                    </a:solidFill>
                  </a:rPr>
                  <a:t> database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81F1703-B65C-A190-4B28-8FDFFBC1641A}"/>
                </a:ext>
              </a:extLst>
            </p:cNvPr>
            <p:cNvGrpSpPr/>
            <p:nvPr/>
          </p:nvGrpSpPr>
          <p:grpSpPr>
            <a:xfrm>
              <a:off x="4693491" y="1588356"/>
              <a:ext cx="2786477" cy="934104"/>
              <a:chOff x="4693491" y="1588356"/>
              <a:chExt cx="2786477" cy="934104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9C53DB1E-45FE-793F-3F5B-E4852AAA307A}"/>
                  </a:ext>
                </a:extLst>
              </p:cNvPr>
              <p:cNvGrpSpPr/>
              <p:nvPr/>
            </p:nvGrpSpPr>
            <p:grpSpPr>
              <a:xfrm>
                <a:off x="4693491" y="1588356"/>
                <a:ext cx="2786477" cy="934104"/>
                <a:chOff x="3063195" y="1371002"/>
                <a:chExt cx="2786477" cy="934104"/>
              </a:xfrm>
            </p:grpSpPr>
            <p:sp>
              <p:nvSpPr>
                <p:cNvPr id="6" name="Rounded Rectangle 1">
                  <a:extLst>
                    <a:ext uri="{FF2B5EF4-FFF2-40B4-BE49-F238E27FC236}">
                      <a16:creationId xmlns:a16="http://schemas.microsoft.com/office/drawing/2014/main" id="{A5A81733-7FC0-11C8-1ED0-F6D7CA20B9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1526" y="1381487"/>
                  <a:ext cx="2509815" cy="92361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97B49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endParaRPr lang="en-US" altLang="en-US" sz="1013"/>
                </a:p>
              </p:txBody>
            </p:sp>
            <p:sp>
              <p:nvSpPr>
                <p:cNvPr id="7" name="TextBox 2">
                  <a:extLst>
                    <a:ext uri="{FF2B5EF4-FFF2-40B4-BE49-F238E27FC236}">
                      <a16:creationId xmlns:a16="http://schemas.microsoft.com/office/drawing/2014/main" id="{10D98282-C228-0FB9-EE90-D6180D1E7A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63195" y="1371002"/>
                  <a:ext cx="2786477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350" b="1">
                      <a:solidFill>
                        <a:schemeClr val="bg1"/>
                      </a:solidFill>
                    </a:rPr>
                    <a:t>Export to Excel</a:t>
                  </a:r>
                </a:p>
              </p:txBody>
            </p:sp>
          </p:grp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AFDA3DF-F1EB-FDEF-2D84-D00230D308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23115" t="25234" r="21151" b="25277"/>
              <a:stretch/>
            </p:blipFill>
            <p:spPr>
              <a:xfrm>
                <a:off x="5770452" y="1921416"/>
                <a:ext cx="632554" cy="561663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44701F5-4AC8-4D84-01CA-442DA0E5D815}"/>
                </a:ext>
              </a:extLst>
            </p:cNvPr>
            <p:cNvGrpSpPr/>
            <p:nvPr/>
          </p:nvGrpSpPr>
          <p:grpSpPr>
            <a:xfrm>
              <a:off x="7688312" y="3352656"/>
              <a:ext cx="2509815" cy="923619"/>
              <a:chOff x="7688312" y="3428856"/>
              <a:chExt cx="2509815" cy="923619"/>
            </a:xfrm>
          </p:grpSpPr>
          <p:sp>
            <p:nvSpPr>
              <p:cNvPr id="9" name="Rounded Rectangle 1">
                <a:extLst>
                  <a:ext uri="{FF2B5EF4-FFF2-40B4-BE49-F238E27FC236}">
                    <a16:creationId xmlns:a16="http://schemas.microsoft.com/office/drawing/2014/main" id="{0BC81124-DF91-49F2-F240-BC61CC0ED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8312" y="3428856"/>
                <a:ext cx="2509815" cy="923619"/>
              </a:xfrm>
              <a:prstGeom prst="roundRect">
                <a:avLst>
                  <a:gd name="adj" fmla="val 16667"/>
                </a:avLst>
              </a:prstGeom>
              <a:solidFill>
                <a:srgbClr val="378B57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endParaRPr lang="en-US" altLang="en-US" sz="1013"/>
              </a:p>
            </p:txBody>
          </p:sp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0D87B7FF-76A3-3DD3-F9F7-BE5C8DC819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8312" y="3429000"/>
                <a:ext cx="2509815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350" b="1">
                    <a:solidFill>
                      <a:schemeClr val="bg1"/>
                    </a:solidFill>
                  </a:rPr>
                  <a:t>Dynamical systems modeling using </a:t>
                </a:r>
                <a:r>
                  <a:rPr lang="en-US" altLang="en-US" sz="1350" b="1" err="1">
                    <a:solidFill>
                      <a:schemeClr val="bg1"/>
                    </a:solidFill>
                  </a:rPr>
                  <a:t>GRNmap</a:t>
                </a:r>
                <a:endParaRPr lang="en-US" altLang="en-US" sz="1350" b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9264181-A08F-0BB2-A502-565CAA9D93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544907" y="3745107"/>
                <a:ext cx="577385" cy="511340"/>
              </a:xfrm>
              <a:prstGeom prst="rect">
                <a:avLst/>
              </a:prstGeom>
            </p:spPr>
          </p:pic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C4C3580-B144-CF4D-F90F-56799EBF5EE6}"/>
                </a:ext>
              </a:extLst>
            </p:cNvPr>
            <p:cNvCxnSpPr/>
            <p:nvPr/>
          </p:nvCxnSpPr>
          <p:spPr bwMode="auto">
            <a:xfrm flipV="1">
              <a:off x="3424909" y="2546119"/>
              <a:ext cx="1130300" cy="68580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1169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F76D-08F0-00EB-6DA6-23E44A7A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7D1AFE-BD6E-E1D3-7898-0B41FDE259B8}"/>
              </a:ext>
            </a:extLst>
          </p:cNvPr>
          <p:cNvSpPr txBox="1">
            <a:spLocks/>
          </p:cNvSpPr>
          <p:nvPr/>
        </p:nvSpPr>
        <p:spPr>
          <a:xfrm>
            <a:off x="375047" y="95541"/>
            <a:ext cx="8393906" cy="662990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err="1">
                <a:solidFill>
                  <a:srgbClr val="16693F"/>
                </a:solidFill>
              </a:rPr>
              <a:t>GRNsight</a:t>
            </a:r>
            <a:r>
              <a:rPr lang="en-US" sz="2400" b="1">
                <a:solidFill>
                  <a:srgbClr val="16693F"/>
                </a:solidFill>
              </a:rPr>
              <a:t> is an integral part of a data analysis workflow for biologists who model GRNs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F6F1138-2A49-7AD6-F7C0-B1ACC3713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16"/>
          <a:stretch>
            <a:fillRect/>
          </a:stretch>
        </p:blipFill>
        <p:spPr>
          <a:xfrm>
            <a:off x="310223" y="831949"/>
            <a:ext cx="2729209" cy="166155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E73EE6-1B32-E1AA-241E-56ABFE83D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50"/>
          <a:stretch>
            <a:fillRect/>
          </a:stretch>
        </p:blipFill>
        <p:spPr>
          <a:xfrm>
            <a:off x="6002767" y="3443817"/>
            <a:ext cx="2767419" cy="1601485"/>
          </a:xfrm>
          <a:prstGeom prst="rect">
            <a:avLst/>
          </a:prstGeom>
        </p:spPr>
      </p:pic>
      <p:pic>
        <p:nvPicPr>
          <p:cNvPr id="28" name="Picture 2" descr="figure01a">
            <a:extLst>
              <a:ext uri="{FF2B5EF4-FFF2-40B4-BE49-F238E27FC236}">
                <a16:creationId xmlns:a16="http://schemas.microsoft.com/office/drawing/2014/main" id="{46E31C4D-1D0E-7A7A-8175-3270B22B2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751" y="2333474"/>
            <a:ext cx="1483652" cy="1112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D614D137-B5F3-9C58-F552-37872F660071}"/>
              </a:ext>
            </a:extLst>
          </p:cNvPr>
          <p:cNvGrpSpPr/>
          <p:nvPr/>
        </p:nvGrpSpPr>
        <p:grpSpPr>
          <a:xfrm>
            <a:off x="298848" y="2579270"/>
            <a:ext cx="1106008" cy="575789"/>
            <a:chOff x="398464" y="3439026"/>
            <a:chExt cx="1474677" cy="76771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7284F8B-7AC9-662A-0DDF-BBCABE4E0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742" y="3439026"/>
              <a:ext cx="1252399" cy="319996"/>
            </a:xfrm>
            <a:prstGeom prst="rect">
              <a:avLst/>
            </a:prstGeom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9765ABC-AAFC-DBD5-CE14-87447769504A}"/>
                </a:ext>
              </a:extLst>
            </p:cNvPr>
            <p:cNvGrpSpPr/>
            <p:nvPr/>
          </p:nvGrpSpPr>
          <p:grpSpPr>
            <a:xfrm>
              <a:off x="398464" y="3872588"/>
              <a:ext cx="1474677" cy="334157"/>
              <a:chOff x="398464" y="3872588"/>
              <a:chExt cx="1474677" cy="334157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AE692BEA-A606-728C-5F02-479C2994A6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98464" y="3872588"/>
                <a:ext cx="744054" cy="334157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40E99A9D-20E3-6025-526B-5F66AB941E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142519" y="3872588"/>
                <a:ext cx="730622" cy="334157"/>
              </a:xfrm>
              <a:prstGeom prst="rect">
                <a:avLst/>
              </a:prstGeom>
            </p:spPr>
          </p:pic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7A8AE5AC-3818-EEA1-A670-2EF9EDA7BF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93733" y="831949"/>
            <a:ext cx="543195" cy="8650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B4CA081-D09B-C089-30CE-330EF59D7B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02833" y="936185"/>
            <a:ext cx="568754" cy="8650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F8D9E65-4150-55F6-6B9F-A185D904E0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08122" y="1036395"/>
            <a:ext cx="483444" cy="8691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9865082-3CE9-E503-1AD3-CE34E97C28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5904" y="1141159"/>
            <a:ext cx="1518774" cy="86694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79F5608-795D-1842-6239-677B39373D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49845" y="1252635"/>
            <a:ext cx="1666580" cy="86508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5E96DA3-D6B3-B21D-EDDF-75D6104EFA0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92714" y="1368729"/>
            <a:ext cx="1765385" cy="86694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F9228EB-941C-73E8-CE9A-8A7E4366671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0223" y="3302021"/>
            <a:ext cx="1339998" cy="174593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8AC20C1-9DE1-2068-21BC-E4AE34AC432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55689" y="1993011"/>
            <a:ext cx="1215486" cy="174593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79B6887-47CD-760B-DFE2-18FD000656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60377" y="3306910"/>
            <a:ext cx="1021950" cy="174105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BA824031-F6CD-08F6-188B-E0A713B64D7C}"/>
              </a:ext>
            </a:extLst>
          </p:cNvPr>
          <p:cNvGrpSpPr/>
          <p:nvPr/>
        </p:nvGrpSpPr>
        <p:grpSpPr>
          <a:xfrm>
            <a:off x="1478107" y="1191267"/>
            <a:ext cx="6170489" cy="3341036"/>
            <a:chOff x="1970808" y="1588356"/>
            <a:chExt cx="8227319" cy="4454714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6C82913-F3B3-9F79-6A34-B49300DFF4A9}"/>
                </a:ext>
              </a:extLst>
            </p:cNvPr>
            <p:cNvCxnSpPr/>
            <p:nvPr/>
          </p:nvCxnSpPr>
          <p:spPr bwMode="auto">
            <a:xfrm>
              <a:off x="7653424" y="2546119"/>
              <a:ext cx="1130300" cy="68580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98F556B-B236-B2A6-E302-CED365103838}"/>
                </a:ext>
              </a:extLst>
            </p:cNvPr>
            <p:cNvGrpSpPr/>
            <p:nvPr/>
          </p:nvGrpSpPr>
          <p:grpSpPr>
            <a:xfrm>
              <a:off x="4831822" y="5119451"/>
              <a:ext cx="2509815" cy="923619"/>
              <a:chOff x="4831822" y="5119451"/>
              <a:chExt cx="2509815" cy="923619"/>
            </a:xfrm>
          </p:grpSpPr>
          <p:sp>
            <p:nvSpPr>
              <p:cNvPr id="12" name="Rounded Rectangle 1">
                <a:extLst>
                  <a:ext uri="{FF2B5EF4-FFF2-40B4-BE49-F238E27FC236}">
                    <a16:creationId xmlns:a16="http://schemas.microsoft.com/office/drawing/2014/main" id="{AFFAE34F-4EF4-17EE-84EC-B13874375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1822" y="5119451"/>
                <a:ext cx="2509815" cy="923619"/>
              </a:xfrm>
              <a:prstGeom prst="roundRect">
                <a:avLst>
                  <a:gd name="adj" fmla="val 16667"/>
                </a:avLst>
              </a:prstGeom>
              <a:solidFill>
                <a:srgbClr val="16693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endParaRPr lang="en-US" altLang="en-US" sz="1013"/>
              </a:p>
            </p:txBody>
          </p:sp>
          <p:sp>
            <p:nvSpPr>
              <p:cNvPr id="13" name="TextBox 5">
                <a:extLst>
                  <a:ext uri="{FF2B5EF4-FFF2-40B4-BE49-F238E27FC236}">
                    <a16:creationId xmlns:a16="http://schemas.microsoft.com/office/drawing/2014/main" id="{D6804071-751A-BDF6-5CAC-6CF968D7C5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34998" y="5119595"/>
                <a:ext cx="2303463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350" b="1">
                    <a:solidFill>
                      <a:schemeClr val="bg1"/>
                    </a:solidFill>
                  </a:rPr>
                  <a:t>Visualization of  modeling results using </a:t>
                </a:r>
                <a:r>
                  <a:rPr lang="en-US" altLang="en-US" sz="1350" b="1" err="1">
                    <a:solidFill>
                      <a:schemeClr val="bg1"/>
                    </a:solidFill>
                  </a:rPr>
                  <a:t>GRNsight</a:t>
                </a:r>
                <a:endParaRPr lang="en-US" altLang="en-US" sz="135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D8B2E5D-CE44-E437-281D-733B75762FAA}"/>
                </a:ext>
              </a:extLst>
            </p:cNvPr>
            <p:cNvGrpSpPr/>
            <p:nvPr/>
          </p:nvGrpSpPr>
          <p:grpSpPr>
            <a:xfrm>
              <a:off x="1970808" y="3349262"/>
              <a:ext cx="2579808" cy="923619"/>
              <a:chOff x="1970808" y="3349262"/>
              <a:chExt cx="2579808" cy="923619"/>
            </a:xfrm>
          </p:grpSpPr>
          <p:sp>
            <p:nvSpPr>
              <p:cNvPr id="15" name="Rounded Rectangle 1">
                <a:extLst>
                  <a:ext uri="{FF2B5EF4-FFF2-40B4-BE49-F238E27FC236}">
                    <a16:creationId xmlns:a16="http://schemas.microsoft.com/office/drawing/2014/main" id="{B6098750-897C-346A-A3BC-201A0A2A7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5805" y="3349262"/>
                <a:ext cx="2509815" cy="923619"/>
              </a:xfrm>
              <a:prstGeom prst="roundRect">
                <a:avLst>
                  <a:gd name="adj" fmla="val 16667"/>
                </a:avLst>
              </a:prstGeom>
              <a:solidFill>
                <a:srgbClr val="16693F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endParaRPr lang="en-US" altLang="en-US" sz="1013"/>
              </a:p>
            </p:txBody>
          </p:sp>
          <p:sp>
            <p:nvSpPr>
              <p:cNvPr id="16" name="TextBox 5">
                <a:extLst>
                  <a:ext uri="{FF2B5EF4-FFF2-40B4-BE49-F238E27FC236}">
                    <a16:creationId xmlns:a16="http://schemas.microsoft.com/office/drawing/2014/main" id="{68504A33-341C-686C-0589-15876F646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808" y="3349406"/>
                <a:ext cx="2579808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350" b="1">
                    <a:solidFill>
                      <a:schemeClr val="bg1"/>
                    </a:solidFill>
                  </a:rPr>
                  <a:t>Select network and expression data from </a:t>
                </a:r>
                <a:r>
                  <a:rPr lang="en-US" altLang="en-US" sz="1350" b="1" err="1">
                    <a:solidFill>
                      <a:schemeClr val="bg1"/>
                    </a:solidFill>
                  </a:rPr>
                  <a:t>GRNsight</a:t>
                </a:r>
                <a:r>
                  <a:rPr lang="en-US" altLang="en-US" sz="1350" b="1">
                    <a:solidFill>
                      <a:schemeClr val="bg1"/>
                    </a:solidFill>
                  </a:rPr>
                  <a:t> database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7E243B1-2DA6-2E75-DC1B-8277A9A33D1B}"/>
                </a:ext>
              </a:extLst>
            </p:cNvPr>
            <p:cNvGrpSpPr/>
            <p:nvPr/>
          </p:nvGrpSpPr>
          <p:grpSpPr>
            <a:xfrm>
              <a:off x="4693491" y="1588356"/>
              <a:ext cx="2786477" cy="934104"/>
              <a:chOff x="4693491" y="1588356"/>
              <a:chExt cx="2786477" cy="934104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D6E66EE-35D7-0803-1E5D-1CA10AE7D592}"/>
                  </a:ext>
                </a:extLst>
              </p:cNvPr>
              <p:cNvGrpSpPr/>
              <p:nvPr/>
            </p:nvGrpSpPr>
            <p:grpSpPr>
              <a:xfrm>
                <a:off x="4693491" y="1588356"/>
                <a:ext cx="2786477" cy="934104"/>
                <a:chOff x="3063195" y="1371002"/>
                <a:chExt cx="2786477" cy="934104"/>
              </a:xfrm>
            </p:grpSpPr>
            <p:sp>
              <p:nvSpPr>
                <p:cNvPr id="6" name="Rounded Rectangle 1">
                  <a:extLst>
                    <a:ext uri="{FF2B5EF4-FFF2-40B4-BE49-F238E27FC236}">
                      <a16:creationId xmlns:a16="http://schemas.microsoft.com/office/drawing/2014/main" id="{AE1745F5-A742-6C5B-93D6-7F83DD3B14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1526" y="1381487"/>
                  <a:ext cx="2509815" cy="92361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97B49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/>
                  <a:endParaRPr lang="en-US" altLang="en-US" sz="1013"/>
                </a:p>
              </p:txBody>
            </p:sp>
            <p:sp>
              <p:nvSpPr>
                <p:cNvPr id="7" name="TextBox 2">
                  <a:extLst>
                    <a:ext uri="{FF2B5EF4-FFF2-40B4-BE49-F238E27FC236}">
                      <a16:creationId xmlns:a16="http://schemas.microsoft.com/office/drawing/2014/main" id="{41EF62E5-3DBF-306F-8811-87C3AC4157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63195" y="1371002"/>
                  <a:ext cx="2786477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350" b="1">
                      <a:solidFill>
                        <a:schemeClr val="bg1"/>
                      </a:solidFill>
                    </a:rPr>
                    <a:t>Export to Excel</a:t>
                  </a:r>
                </a:p>
              </p:txBody>
            </p:sp>
          </p:grp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83C6FF7A-3458-C025-E461-E19174DC42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23115" t="25234" r="21151" b="25277"/>
              <a:stretch/>
            </p:blipFill>
            <p:spPr>
              <a:xfrm>
                <a:off x="5770452" y="1921416"/>
                <a:ext cx="632554" cy="561663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BAC9224-8790-258A-3ACB-B92CD692165E}"/>
                </a:ext>
              </a:extLst>
            </p:cNvPr>
            <p:cNvGrpSpPr/>
            <p:nvPr/>
          </p:nvGrpSpPr>
          <p:grpSpPr>
            <a:xfrm>
              <a:off x="7688312" y="3352656"/>
              <a:ext cx="2509815" cy="923619"/>
              <a:chOff x="7688312" y="3428856"/>
              <a:chExt cx="2509815" cy="923619"/>
            </a:xfrm>
          </p:grpSpPr>
          <p:sp>
            <p:nvSpPr>
              <p:cNvPr id="9" name="Rounded Rectangle 1">
                <a:extLst>
                  <a:ext uri="{FF2B5EF4-FFF2-40B4-BE49-F238E27FC236}">
                    <a16:creationId xmlns:a16="http://schemas.microsoft.com/office/drawing/2014/main" id="{2D62320D-0B35-29A4-AB76-0A1B00CC3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8312" y="3428856"/>
                <a:ext cx="2509815" cy="923619"/>
              </a:xfrm>
              <a:prstGeom prst="roundRect">
                <a:avLst>
                  <a:gd name="adj" fmla="val 16667"/>
                </a:avLst>
              </a:prstGeom>
              <a:solidFill>
                <a:srgbClr val="378B57"/>
              </a:solidFill>
              <a:ln>
                <a:noFill/>
              </a:ln>
            </p:spPr>
            <p:txBody>
              <a:bodyPr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/>
                <a:endParaRPr lang="en-US" altLang="en-US" sz="1013"/>
              </a:p>
            </p:txBody>
          </p:sp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14A643F8-3FC9-F143-DAE8-B37818FDBE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8312" y="3429000"/>
                <a:ext cx="2509815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350" b="1">
                    <a:solidFill>
                      <a:schemeClr val="bg1"/>
                    </a:solidFill>
                  </a:rPr>
                  <a:t>Dynamical systems modeling using </a:t>
                </a:r>
                <a:r>
                  <a:rPr lang="en-US" altLang="en-US" sz="1350" b="1" err="1">
                    <a:solidFill>
                      <a:schemeClr val="bg1"/>
                    </a:solidFill>
                  </a:rPr>
                  <a:t>GRNmap</a:t>
                </a:r>
                <a:endParaRPr lang="en-US" altLang="en-US" sz="1350" b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1ECF820-B3F1-3BD4-5453-25FE705D6F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544907" y="3745107"/>
                <a:ext cx="577385" cy="511340"/>
              </a:xfrm>
              <a:prstGeom prst="rect">
                <a:avLst/>
              </a:prstGeom>
            </p:spPr>
          </p:pic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1DC4A78-89EF-B938-57A4-D40801FD6CD8}"/>
                </a:ext>
              </a:extLst>
            </p:cNvPr>
            <p:cNvCxnSpPr/>
            <p:nvPr/>
          </p:nvCxnSpPr>
          <p:spPr bwMode="auto">
            <a:xfrm flipH="1">
              <a:off x="7653424" y="4407374"/>
              <a:ext cx="1130300" cy="68580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D2AE216-A814-E44F-C3E8-8D98524DCDC7}"/>
                </a:ext>
              </a:extLst>
            </p:cNvPr>
            <p:cNvCxnSpPr/>
            <p:nvPr/>
          </p:nvCxnSpPr>
          <p:spPr bwMode="auto">
            <a:xfrm flipV="1">
              <a:off x="3424909" y="2546119"/>
              <a:ext cx="1130300" cy="68580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DE95429-183A-194C-F7BB-F23B123D5229}"/>
                </a:ext>
              </a:extLst>
            </p:cNvPr>
            <p:cNvCxnSpPr/>
            <p:nvPr/>
          </p:nvCxnSpPr>
          <p:spPr bwMode="auto">
            <a:xfrm flipH="1" flipV="1">
              <a:off x="3424909" y="4407374"/>
              <a:ext cx="1130300" cy="68580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590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028919F-3553-0E61-8DA7-5B503D6A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A33E5A28-5029-C256-B371-29F164147F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527" y="182034"/>
            <a:ext cx="8520600" cy="810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solidFill>
                  <a:srgbClr val="16693F"/>
                </a:solidFill>
              </a:rPr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5B1FE-B2A2-A1F6-CA0D-B63CF8877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293" y="585777"/>
            <a:ext cx="8285598" cy="4372102"/>
          </a:xfrm>
        </p:spPr>
        <p:txBody>
          <a:bodyPr>
            <a:normAutofit/>
          </a:bodyPr>
          <a:lstStyle/>
          <a:p>
            <a:pPr>
              <a:lnSpc>
                <a:spcPct val="114999"/>
              </a:lnSpc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GRNsight is an open-source tool that allows for easier visualization of </a:t>
            </a:r>
          </a:p>
          <a:p>
            <a:pPr marL="463550" indent="0">
              <a:lnSpc>
                <a:spcPct val="114999"/>
              </a:lnSpc>
              <a:buNone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Gene Regulatory Networks (GRN) and Protein-Protein Interactions (PPI).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GRNsight is an integral part of a data analysis workflow for biologists who model GRNs. </a:t>
            </a:r>
          </a:p>
          <a:p>
            <a:pPr>
              <a:lnSpc>
                <a:spcPct val="114999"/>
              </a:lnSpc>
            </a:pPr>
            <a:r>
              <a:rPr lang="en-US" dirty="0" err="1">
                <a:solidFill>
                  <a:schemeClr val="tx1"/>
                </a:solidFill>
              </a:rPr>
              <a:t>GRNsight’s</a:t>
            </a:r>
            <a:r>
              <a:rPr lang="en-US" dirty="0">
                <a:solidFill>
                  <a:schemeClr val="tx1"/>
                </a:solidFill>
              </a:rPr>
              <a:t> interface was originally built using older web tools, leading to repeated code and making user interface updates difficult.</a:t>
            </a:r>
            <a:endParaRPr lang="en-US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I have migrated </a:t>
            </a:r>
            <a:r>
              <a:rPr lang="en-US" dirty="0" err="1">
                <a:solidFill>
                  <a:schemeClr val="tx1"/>
                </a:solidFill>
              </a:rPr>
              <a:t>GRNsight’s</a:t>
            </a:r>
            <a:r>
              <a:rPr lang="en-US" dirty="0">
                <a:solidFill>
                  <a:schemeClr val="tx1"/>
                </a:solidFill>
              </a:rPr>
              <a:t> user interface to React, Vite, and Grommet UI which are modern, scalable, and industry-standard frameworks.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GRNsight React migration has resulted in user interface improvements and bug fixes that enhance the user experience for biologists.</a:t>
            </a:r>
          </a:p>
        </p:txBody>
      </p:sp>
    </p:spTree>
    <p:extLst>
      <p:ext uri="{BB962C8B-B14F-4D97-AF65-F5344CB8AC3E}">
        <p14:creationId xmlns:p14="http://schemas.microsoft.com/office/powerpoint/2010/main" val="3712981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26870B-1C37-57A4-4970-C2C5B74F06E6}"/>
              </a:ext>
            </a:extLst>
          </p:cNvPr>
          <p:cNvSpPr txBox="1"/>
          <p:nvPr/>
        </p:nvSpPr>
        <p:spPr>
          <a:xfrm>
            <a:off x="176414" y="135974"/>
            <a:ext cx="879938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16693F"/>
                </a:solidFill>
                <a:ea typeface="Sans Serif Collection"/>
                <a:cs typeface="Sans Serif Collection"/>
              </a:rPr>
              <a:t>GRNsight serves the browser UI from the web application server </a:t>
            </a:r>
          </a:p>
          <a:p>
            <a:r>
              <a:rPr lang="en-US" sz="2000" b="1">
                <a:solidFill>
                  <a:srgbClr val="16693F"/>
                </a:solidFill>
                <a:ea typeface="Sans Serif Collection"/>
                <a:cs typeface="Sans Serif Collection"/>
              </a:rPr>
              <a:t>while the API server handles import/export and all database access.</a:t>
            </a:r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A38F137-26F0-4ABB-D5A5-DD080C726ED2}"/>
              </a:ext>
            </a:extLst>
          </p:cNvPr>
          <p:cNvGrpSpPr/>
          <p:nvPr/>
        </p:nvGrpSpPr>
        <p:grpSpPr>
          <a:xfrm>
            <a:off x="176414" y="1239938"/>
            <a:ext cx="2596616" cy="2663623"/>
            <a:chOff x="488611" y="854374"/>
            <a:chExt cx="2596616" cy="266362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1B63C8B-CD39-DD0B-024D-40C635A21BC5}"/>
                </a:ext>
              </a:extLst>
            </p:cNvPr>
            <p:cNvSpPr/>
            <p:nvPr/>
          </p:nvSpPr>
          <p:spPr>
            <a:xfrm>
              <a:off x="488611" y="1172666"/>
              <a:ext cx="2596616" cy="23453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2693364-5305-CCEB-D74F-06FD2768E575}"/>
                </a:ext>
              </a:extLst>
            </p:cNvPr>
            <p:cNvSpPr/>
            <p:nvPr/>
          </p:nvSpPr>
          <p:spPr>
            <a:xfrm>
              <a:off x="886479" y="1513850"/>
              <a:ext cx="1800880" cy="16629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3CED2D9-8315-7CC8-1D24-A6AFD63EFB2C}"/>
                </a:ext>
              </a:extLst>
            </p:cNvPr>
            <p:cNvSpPr txBox="1"/>
            <p:nvPr/>
          </p:nvSpPr>
          <p:spPr>
            <a:xfrm>
              <a:off x="886479" y="1975999"/>
              <a:ext cx="180088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/>
                <a:t>Embedded graphical </a:t>
              </a:r>
            </a:p>
            <a:p>
              <a:pPr algn="ctr"/>
              <a:r>
                <a:rPr lang="en-US" sz="1300" dirty="0"/>
                <a:t>user interface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08612F-C2DB-E854-6866-2C26A3A3A2D8}"/>
                </a:ext>
              </a:extLst>
            </p:cNvPr>
            <p:cNvSpPr txBox="1"/>
            <p:nvPr/>
          </p:nvSpPr>
          <p:spPr>
            <a:xfrm>
              <a:off x="488611" y="854374"/>
              <a:ext cx="168919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Web Browser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04544B-F1F3-56D4-8B54-6B2CFA68AA80}"/>
                </a:ext>
              </a:extLst>
            </p:cNvPr>
            <p:cNvSpPr txBox="1"/>
            <p:nvPr/>
          </p:nvSpPr>
          <p:spPr>
            <a:xfrm>
              <a:off x="886480" y="1221462"/>
              <a:ext cx="180088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/>
                <a:t>Host web page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190B3B-0AA8-0311-6E14-97F0FFEAA686}"/>
              </a:ext>
            </a:extLst>
          </p:cNvPr>
          <p:cNvGrpSpPr/>
          <p:nvPr/>
        </p:nvGrpSpPr>
        <p:grpSpPr>
          <a:xfrm>
            <a:off x="5147366" y="1429099"/>
            <a:ext cx="1671208" cy="589734"/>
            <a:chOff x="4389352" y="1086898"/>
            <a:chExt cx="1800880" cy="64236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ADCCA34-81EE-9EA1-6F03-5C1C7A48FA9A}"/>
                </a:ext>
              </a:extLst>
            </p:cNvPr>
            <p:cNvSpPr/>
            <p:nvPr/>
          </p:nvSpPr>
          <p:spPr>
            <a:xfrm>
              <a:off x="4389352" y="1086898"/>
              <a:ext cx="1800880" cy="6423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35C1E9-A58F-E7EE-37DA-5E35B27A0C10}"/>
                </a:ext>
              </a:extLst>
            </p:cNvPr>
            <p:cNvSpPr txBox="1"/>
            <p:nvPr/>
          </p:nvSpPr>
          <p:spPr>
            <a:xfrm>
              <a:off x="4389352" y="1155332"/>
              <a:ext cx="1800880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/>
                <a:t>GRNsight web </a:t>
              </a:r>
            </a:p>
            <a:p>
              <a:pPr algn="ctr"/>
              <a:r>
                <a:rPr lang="en-US"/>
                <a:t>API server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26C844-81C6-4A57-74D2-530B8711458E}"/>
              </a:ext>
            </a:extLst>
          </p:cNvPr>
          <p:cNvGrpSpPr/>
          <p:nvPr/>
        </p:nvGrpSpPr>
        <p:grpSpPr>
          <a:xfrm>
            <a:off x="5147365" y="3488293"/>
            <a:ext cx="1673352" cy="605623"/>
            <a:chOff x="4389352" y="1086898"/>
            <a:chExt cx="1673352" cy="60562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FC298E-5E12-EF0F-E709-981E73148169}"/>
                </a:ext>
              </a:extLst>
            </p:cNvPr>
            <p:cNvSpPr/>
            <p:nvPr/>
          </p:nvSpPr>
          <p:spPr>
            <a:xfrm>
              <a:off x="4389352" y="1086898"/>
              <a:ext cx="1673352" cy="59436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BD4CB6-450A-101C-2690-5C682A418576}"/>
                </a:ext>
              </a:extLst>
            </p:cNvPr>
            <p:cNvSpPr txBox="1"/>
            <p:nvPr/>
          </p:nvSpPr>
          <p:spPr>
            <a:xfrm>
              <a:off x="4389352" y="1098161"/>
              <a:ext cx="1671209" cy="5943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/>
                <a:t>GRNsight web </a:t>
              </a:r>
            </a:p>
            <a:p>
              <a:pPr algn="ctr"/>
              <a:r>
                <a:rPr lang="en-US" dirty="0"/>
                <a:t>application server</a:t>
              </a:r>
            </a:p>
          </p:txBody>
        </p:sp>
      </p:grp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E6662E53-7E14-AD1C-7454-6E983D78DA21}"/>
              </a:ext>
            </a:extLst>
          </p:cNvPr>
          <p:cNvCxnSpPr>
            <a:cxnSpLocks/>
          </p:cNvCxnSpPr>
          <p:nvPr/>
        </p:nvCxnSpPr>
        <p:spPr>
          <a:xfrm flipV="1">
            <a:off x="2196127" y="1488094"/>
            <a:ext cx="2951238" cy="403869"/>
          </a:xfrm>
          <a:prstGeom prst="curvedConnector3">
            <a:avLst>
              <a:gd name="adj1" fmla="val 25402"/>
            </a:avLst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56531CA2-5F56-0024-AED5-0B32EEF8EAFF}"/>
              </a:ext>
            </a:extLst>
          </p:cNvPr>
          <p:cNvCxnSpPr>
            <a:cxnSpLocks/>
            <a:stCxn id="10" idx="1"/>
            <a:endCxn id="5" idx="3"/>
          </p:cNvCxnSpPr>
          <p:nvPr/>
        </p:nvCxnSpPr>
        <p:spPr>
          <a:xfrm rot="10800000" flipV="1">
            <a:off x="2375162" y="1732101"/>
            <a:ext cx="2772204" cy="875683"/>
          </a:xfrm>
          <a:prstGeom prst="curvedConnector3">
            <a:avLst>
              <a:gd name="adj1" fmla="val 17771"/>
            </a:avLst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81CAF98-AC18-1C7C-4FEC-A974E7EF2672}"/>
              </a:ext>
            </a:extLst>
          </p:cNvPr>
          <p:cNvSpPr txBox="1"/>
          <p:nvPr/>
        </p:nvSpPr>
        <p:spPr>
          <a:xfrm rot="21331946">
            <a:off x="3036239" y="1514294"/>
            <a:ext cx="165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Excel, SIF, GraphML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CEBFC5-FCAE-0F51-7A8B-0E7831EA875C}"/>
              </a:ext>
            </a:extLst>
          </p:cNvPr>
          <p:cNvSpPr txBox="1"/>
          <p:nvPr/>
        </p:nvSpPr>
        <p:spPr>
          <a:xfrm rot="21135837">
            <a:off x="2893091" y="2179947"/>
            <a:ext cx="1894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graph in JSON format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B1FB0-B840-6876-29DD-A0C1C79120E0}"/>
              </a:ext>
            </a:extLst>
          </p:cNvPr>
          <p:cNvSpPr txBox="1"/>
          <p:nvPr/>
        </p:nvSpPr>
        <p:spPr>
          <a:xfrm rot="21307305">
            <a:off x="3036745" y="1828995"/>
            <a:ext cx="165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Open/import cycle</a:t>
            </a:r>
          </a:p>
        </p:txBody>
      </p: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BFEF1196-56C3-E610-7CAE-508B291A599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75163" y="2018831"/>
            <a:ext cx="3719444" cy="1469461"/>
          </a:xfrm>
          <a:prstGeom prst="curvedConnector3">
            <a:avLst>
              <a:gd name="adj1" fmla="val -295"/>
            </a:avLst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EAAC26B-8594-D435-E176-E827F41C19C1}"/>
              </a:ext>
            </a:extLst>
          </p:cNvPr>
          <p:cNvSpPr txBox="1"/>
          <p:nvPr/>
        </p:nvSpPr>
        <p:spPr>
          <a:xfrm rot="21193709">
            <a:off x="3315672" y="3141036"/>
            <a:ext cx="165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Excel, SIF, GraphML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1EC5DE-E5C2-9FBC-66EB-BCFCD391F7B8}"/>
              </a:ext>
            </a:extLst>
          </p:cNvPr>
          <p:cNvSpPr txBox="1"/>
          <p:nvPr/>
        </p:nvSpPr>
        <p:spPr>
          <a:xfrm rot="20673971">
            <a:off x="3196154" y="2545236"/>
            <a:ext cx="1893695" cy="281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graph in JSON format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76A2064-4E51-ADCE-C674-8E92DC3F56E5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375160" y="2018833"/>
            <a:ext cx="3607810" cy="10157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28ED777-9204-14AF-128A-4EA8F8FEC78F}"/>
              </a:ext>
            </a:extLst>
          </p:cNvPr>
          <p:cNvSpPr txBox="1"/>
          <p:nvPr/>
        </p:nvSpPr>
        <p:spPr>
          <a:xfrm rot="20998581">
            <a:off x="3569957" y="2799163"/>
            <a:ext cx="165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Export cycle</a:t>
            </a:r>
          </a:p>
        </p:txBody>
      </p:sp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C2157548-D84F-C060-EBD6-E37F97C6BCE2}"/>
              </a:ext>
            </a:extLst>
          </p:cNvPr>
          <p:cNvCxnSpPr>
            <a:cxnSpLocks/>
            <a:stCxn id="14" idx="1"/>
            <a:endCxn id="3" idx="2"/>
          </p:cNvCxnSpPr>
          <p:nvPr/>
        </p:nvCxnSpPr>
        <p:spPr>
          <a:xfrm rot="10800000">
            <a:off x="1474723" y="3562376"/>
            <a:ext cx="3672643" cy="234360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42A252A-BA38-9BE2-624C-A5485CE4B32A}"/>
              </a:ext>
            </a:extLst>
          </p:cNvPr>
          <p:cNvSpPr txBox="1"/>
          <p:nvPr/>
        </p:nvSpPr>
        <p:spPr>
          <a:xfrm>
            <a:off x="3036239" y="3557065"/>
            <a:ext cx="1654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GUI Resources</a:t>
            </a:r>
          </a:p>
        </p:txBody>
      </p:sp>
      <p:pic>
        <p:nvPicPr>
          <p:cNvPr id="94" name="Graphic 93" descr="Database outline">
            <a:extLst>
              <a:ext uri="{FF2B5EF4-FFF2-40B4-BE49-F238E27FC236}">
                <a16:creationId xmlns:a16="http://schemas.microsoft.com/office/drawing/2014/main" id="{E9C77EED-4E79-C90F-03D7-EE0D3D2C45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8486" y="1137555"/>
            <a:ext cx="1189091" cy="1189091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9C41F16-CA45-B0ED-39A9-F9037949680A}"/>
              </a:ext>
            </a:extLst>
          </p:cNvPr>
          <p:cNvGrpSpPr/>
          <p:nvPr/>
        </p:nvGrpSpPr>
        <p:grpSpPr>
          <a:xfrm>
            <a:off x="6836608" y="1324415"/>
            <a:ext cx="1316210" cy="286262"/>
            <a:chOff x="6948245" y="1320764"/>
            <a:chExt cx="1316210" cy="286262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BF0AFC51-F01A-D073-2B9F-30309153CF69}"/>
                </a:ext>
              </a:extLst>
            </p:cNvPr>
            <p:cNvCxnSpPr>
              <a:cxnSpLocks/>
            </p:cNvCxnSpPr>
            <p:nvPr/>
          </p:nvCxnSpPr>
          <p:spPr>
            <a:xfrm>
              <a:off x="6948245" y="1607026"/>
              <a:ext cx="131621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2BBA25E-BAF4-1FD5-0BEE-D4AB51F61AE8}"/>
                </a:ext>
              </a:extLst>
            </p:cNvPr>
            <p:cNvSpPr txBox="1"/>
            <p:nvPr/>
          </p:nvSpPr>
          <p:spPr>
            <a:xfrm>
              <a:off x="6966279" y="1320764"/>
              <a:ext cx="12981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/>
                <a:t>SQL Query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52B4885-1593-9093-D449-C2F22748D14B}"/>
              </a:ext>
            </a:extLst>
          </p:cNvPr>
          <p:cNvGrpSpPr/>
          <p:nvPr/>
        </p:nvGrpSpPr>
        <p:grpSpPr>
          <a:xfrm>
            <a:off x="6818574" y="1899414"/>
            <a:ext cx="1334244" cy="282788"/>
            <a:chOff x="6930211" y="1899414"/>
            <a:chExt cx="1334244" cy="282788"/>
          </a:xfrm>
        </p:grpSpPr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E94DCA2-D25A-78A3-5D50-75A13DADA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48244" y="1899414"/>
              <a:ext cx="1316211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B488D05-A209-8C89-EAD0-5D88F50DD75F}"/>
                </a:ext>
              </a:extLst>
            </p:cNvPr>
            <p:cNvSpPr txBox="1"/>
            <p:nvPr/>
          </p:nvSpPr>
          <p:spPr>
            <a:xfrm>
              <a:off x="6930211" y="1905203"/>
              <a:ext cx="13342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/>
                <a:t>Query Result</a:t>
              </a: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82BBDBF2-9EBB-2A31-0348-7EA4E009BA32}"/>
              </a:ext>
            </a:extLst>
          </p:cNvPr>
          <p:cNvSpPr txBox="1"/>
          <p:nvPr/>
        </p:nvSpPr>
        <p:spPr>
          <a:xfrm>
            <a:off x="7918131" y="2182202"/>
            <a:ext cx="1189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PostgreSQL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Database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C35FC2-F6E0-D377-D767-B56085D8EF5B}"/>
              </a:ext>
            </a:extLst>
          </p:cNvPr>
          <p:cNvCxnSpPr>
            <a:cxnSpLocks/>
          </p:cNvCxnSpPr>
          <p:nvPr/>
        </p:nvCxnSpPr>
        <p:spPr>
          <a:xfrm flipV="1">
            <a:off x="4980890" y="966169"/>
            <a:ext cx="0" cy="3946673"/>
          </a:xfrm>
          <a:prstGeom prst="line">
            <a:avLst/>
          </a:prstGeom>
          <a:ln>
            <a:solidFill>
              <a:srgbClr val="16693F"/>
            </a:solidFill>
            <a:prstDash val="sysDash"/>
            <a:tailEnd type="non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280C7DC-FF81-CBEC-0372-0892FA6EF439}"/>
              </a:ext>
            </a:extLst>
          </p:cNvPr>
          <p:cNvSpPr txBox="1"/>
          <p:nvPr/>
        </p:nvSpPr>
        <p:spPr>
          <a:xfrm>
            <a:off x="1813306" y="4515332"/>
            <a:ext cx="145553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>
                <a:solidFill>
                  <a:schemeClr val="tx1"/>
                </a:solidFill>
                <a:ea typeface="Sans Serif Collection"/>
                <a:cs typeface="Sans Serif Collection"/>
              </a:rPr>
              <a:t>Frontend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3A4E2C-D538-12EC-AB4E-B0F15F60B669}"/>
              </a:ext>
            </a:extLst>
          </p:cNvPr>
          <p:cNvSpPr txBox="1"/>
          <p:nvPr/>
        </p:nvSpPr>
        <p:spPr>
          <a:xfrm>
            <a:off x="6462596" y="4512732"/>
            <a:ext cx="145553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>
                <a:solidFill>
                  <a:schemeClr val="tx1"/>
                </a:solidFill>
                <a:ea typeface="Sans Serif Collection"/>
                <a:cs typeface="Sans Serif Collection"/>
              </a:rPr>
              <a:t>Backend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441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EFC8-4075-D329-EA01-01459C82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F3A8444-1976-0FAF-8BC2-CBA75C4173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316" b="21776"/>
          <a:stretch>
            <a:fillRect/>
          </a:stretch>
        </p:blipFill>
        <p:spPr bwMode="auto">
          <a:xfrm>
            <a:off x="6877126" y="3663398"/>
            <a:ext cx="2207991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E2E934-38B9-A8CC-51D2-A679334AB7A1}"/>
              </a:ext>
            </a:extLst>
          </p:cNvPr>
          <p:cNvSpPr txBox="1"/>
          <p:nvPr/>
        </p:nvSpPr>
        <p:spPr>
          <a:xfrm>
            <a:off x="176414" y="135974"/>
            <a:ext cx="879938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16693F"/>
                </a:solidFill>
                <a:ea typeface="Sans Serif Collection"/>
                <a:cs typeface="Sans Serif Collection"/>
              </a:rPr>
              <a:t>GRNsight Classic built on jQuery/Bootstrap/Pug framework for frontend resulting in code redundancy and complex UI updates</a:t>
            </a:r>
          </a:p>
        </p:txBody>
      </p:sp>
      <p:pic>
        <p:nvPicPr>
          <p:cNvPr id="4" name="Picture 3" descr="A hexagon with white text&#10;&#10;AI-generated content may be incorrect.">
            <a:extLst>
              <a:ext uri="{FF2B5EF4-FFF2-40B4-BE49-F238E27FC236}">
                <a16:creationId xmlns:a16="http://schemas.microsoft.com/office/drawing/2014/main" id="{6A18CFFB-0507-A9F1-7095-0367231BA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50869" y="2277407"/>
            <a:ext cx="1259791" cy="1134118"/>
          </a:xfrm>
          <a:prstGeom prst="rect">
            <a:avLst/>
          </a:prstGeom>
        </p:spPr>
      </p:pic>
      <p:pic>
        <p:nvPicPr>
          <p:cNvPr id="5" name="Picture 4" descr="A dog with a sad face&#10;&#10;AI-generated content may be incorrect.">
            <a:extLst>
              <a:ext uri="{FF2B5EF4-FFF2-40B4-BE49-F238E27FC236}">
                <a16:creationId xmlns:a16="http://schemas.microsoft.com/office/drawing/2014/main" id="{42A5F6F6-9480-C6B6-0E9E-547F4D389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8642" y="1217103"/>
            <a:ext cx="2003624" cy="101930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9770A3B-A441-4DA7-18DF-9F8704D20FE9}"/>
              </a:ext>
            </a:extLst>
          </p:cNvPr>
          <p:cNvGrpSpPr/>
          <p:nvPr/>
        </p:nvGrpSpPr>
        <p:grpSpPr>
          <a:xfrm>
            <a:off x="3391736" y="843113"/>
            <a:ext cx="3480840" cy="3832167"/>
            <a:chOff x="2978150" y="640080"/>
            <a:chExt cx="3480840" cy="3832167"/>
          </a:xfrm>
        </p:grpSpPr>
        <p:sp>
          <p:nvSpPr>
            <p:cNvPr id="2" name="AutoShape 2">
              <a:extLst>
                <a:ext uri="{FF2B5EF4-FFF2-40B4-BE49-F238E27FC236}">
                  <a16:creationId xmlns:a16="http://schemas.microsoft.com/office/drawing/2014/main" id="{48DC9871-2035-8F76-14A3-622E71BF85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9600" y="241935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5" name="Picture 24" descr="A diagram of a computer program&#10;&#10;AI-generated content may be incorrect.">
              <a:extLst>
                <a:ext uri="{FF2B5EF4-FFF2-40B4-BE49-F238E27FC236}">
                  <a16:creationId xmlns:a16="http://schemas.microsoft.com/office/drawing/2014/main" id="{78822588-55ED-E6E4-0AC7-C428CD6CF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978150" y="640080"/>
              <a:ext cx="3480840" cy="3832167"/>
            </a:xfrm>
            <a:prstGeom prst="roundRect">
              <a:avLst>
                <a:gd name="adj" fmla="val 4453"/>
              </a:avLst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E55283-9E48-3AEC-20CB-5014A005A43F}"/>
                </a:ext>
              </a:extLst>
            </p:cNvPr>
            <p:cNvSpPr/>
            <p:nvPr/>
          </p:nvSpPr>
          <p:spPr>
            <a:xfrm>
              <a:off x="3022601" y="1156945"/>
              <a:ext cx="478246" cy="750232"/>
            </a:xfrm>
            <a:prstGeom prst="rect">
              <a:avLst/>
            </a:prstGeom>
            <a:solidFill>
              <a:srgbClr val="DDEFDF"/>
            </a:solidFill>
            <a:ln>
              <a:solidFill>
                <a:srgbClr val="DDEF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E616465-10CE-5384-D0AC-3680F1304EC2}"/>
                </a:ext>
              </a:extLst>
            </p:cNvPr>
            <p:cNvSpPr/>
            <p:nvPr/>
          </p:nvSpPr>
          <p:spPr>
            <a:xfrm>
              <a:off x="3022602" y="3562350"/>
              <a:ext cx="333374" cy="424205"/>
            </a:xfrm>
            <a:prstGeom prst="rect">
              <a:avLst/>
            </a:prstGeom>
            <a:solidFill>
              <a:srgbClr val="DDEFDF"/>
            </a:solidFill>
            <a:ln>
              <a:solidFill>
                <a:srgbClr val="DDEF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4FE86E-C8C7-1B99-2B21-F5D518DE560C}"/>
                </a:ext>
              </a:extLst>
            </p:cNvPr>
            <p:cNvSpPr/>
            <p:nvPr/>
          </p:nvSpPr>
          <p:spPr>
            <a:xfrm>
              <a:off x="3016251" y="2359646"/>
              <a:ext cx="425448" cy="438912"/>
            </a:xfrm>
            <a:prstGeom prst="rect">
              <a:avLst/>
            </a:prstGeom>
            <a:solidFill>
              <a:srgbClr val="A8CFB0"/>
            </a:solidFill>
            <a:ln>
              <a:solidFill>
                <a:srgbClr val="A8CF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DAA4CC3-3159-6467-6175-DE9D19B5A28C}"/>
              </a:ext>
            </a:extLst>
          </p:cNvPr>
          <p:cNvSpPr txBox="1"/>
          <p:nvPr/>
        </p:nvSpPr>
        <p:spPr>
          <a:xfrm>
            <a:off x="3391736" y="874286"/>
            <a:ext cx="348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Web Browser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9987E6-1188-7FDE-4BE3-1732BBF5EFC0}"/>
              </a:ext>
            </a:extLst>
          </p:cNvPr>
          <p:cNvSpPr/>
          <p:nvPr/>
        </p:nvSpPr>
        <p:spPr>
          <a:xfrm>
            <a:off x="5515275" y="1266967"/>
            <a:ext cx="1289785" cy="917968"/>
          </a:xfrm>
          <a:prstGeom prst="rect">
            <a:avLst/>
          </a:prstGeom>
          <a:solidFill>
            <a:srgbClr val="DEF1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11ABE-2109-FEED-ADEB-0078559BA6E1}"/>
              </a:ext>
            </a:extLst>
          </p:cNvPr>
          <p:cNvSpPr txBox="1"/>
          <p:nvPr/>
        </p:nvSpPr>
        <p:spPr>
          <a:xfrm>
            <a:off x="5515275" y="1445192"/>
            <a:ext cx="1289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PUG generates DOM structure.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174CAC-F5BC-A91C-1328-49A80D16086E}"/>
              </a:ext>
            </a:extLst>
          </p:cNvPr>
          <p:cNvSpPr/>
          <p:nvPr/>
        </p:nvSpPr>
        <p:spPr>
          <a:xfrm>
            <a:off x="5552346" y="2387527"/>
            <a:ext cx="1220568" cy="917968"/>
          </a:xfrm>
          <a:prstGeom prst="rect">
            <a:avLst/>
          </a:prstGeom>
          <a:solidFill>
            <a:srgbClr val="AAD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DC3D8-5DD5-8A18-FCF8-A7D8C680A3AF}"/>
              </a:ext>
            </a:extLst>
          </p:cNvPr>
          <p:cNvSpPr txBox="1"/>
          <p:nvPr/>
        </p:nvSpPr>
        <p:spPr>
          <a:xfrm>
            <a:off x="5552346" y="2428967"/>
            <a:ext cx="1289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/>
              <a:t>JQuery</a:t>
            </a:r>
            <a:r>
              <a:rPr lang="en-US" sz="1200"/>
              <a:t> connects and accesses DOM elements.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7B3AC3-0A00-D989-0580-6906C4FB085B}"/>
              </a:ext>
            </a:extLst>
          </p:cNvPr>
          <p:cNvSpPr/>
          <p:nvPr/>
        </p:nvSpPr>
        <p:spPr>
          <a:xfrm>
            <a:off x="5601775" y="3549527"/>
            <a:ext cx="1220568" cy="917968"/>
          </a:xfrm>
          <a:prstGeom prst="rect">
            <a:avLst/>
          </a:prstGeom>
          <a:solidFill>
            <a:srgbClr val="DEF1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697924-8E0D-9674-DC6D-4CC24FBDE3CB}"/>
              </a:ext>
            </a:extLst>
          </p:cNvPr>
          <p:cNvSpPr txBox="1"/>
          <p:nvPr/>
        </p:nvSpPr>
        <p:spPr>
          <a:xfrm>
            <a:off x="5567166" y="3706005"/>
            <a:ext cx="128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Bootstrap applies visual style and layout.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30C1D4-94CE-0608-8B97-CD8F75D52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43" y="953912"/>
            <a:ext cx="3344448" cy="150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74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D32D-13E6-7198-7C9A-E339C106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650456-D78F-2DBB-1883-939AF4CB4920}"/>
              </a:ext>
            </a:extLst>
          </p:cNvPr>
          <p:cNvSpPr txBox="1"/>
          <p:nvPr/>
        </p:nvSpPr>
        <p:spPr>
          <a:xfrm>
            <a:off x="176414" y="135974"/>
            <a:ext cx="879938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16693F"/>
                </a:solidFill>
                <a:ea typeface="Sans Serif Collection"/>
                <a:cs typeface="Sans Serif Collection"/>
              </a:rPr>
              <a:t>React/Grommet framework for frontend improves state management, code maintainability, and user interaction</a:t>
            </a:r>
            <a:endParaRPr lang="en-US" sz="2000">
              <a:solidFill>
                <a:srgbClr val="16693F"/>
              </a:solidFill>
              <a:ea typeface="Sans Serif Collection"/>
            </a:endParaRPr>
          </a:p>
        </p:txBody>
      </p:sp>
      <p:pic>
        <p:nvPicPr>
          <p:cNvPr id="8" name="Picture 7" descr="React original wordmark logo - free Icon PNG, SVG">
            <a:extLst>
              <a:ext uri="{FF2B5EF4-FFF2-40B4-BE49-F238E27FC236}">
                <a16:creationId xmlns:a16="http://schemas.microsoft.com/office/drawing/2014/main" id="{E2DDD75B-2CBE-1C56-5942-B92F7C111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690" y="1481601"/>
            <a:ext cx="1017271" cy="1017271"/>
          </a:xfrm>
          <a:prstGeom prst="rect">
            <a:avLst/>
          </a:prstGeom>
        </p:spPr>
      </p:pic>
      <p:pic>
        <p:nvPicPr>
          <p:cNvPr id="9" name="Picture 8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2513FC4C-A19C-7DF3-C49C-619D447A8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757"/>
          <a:stretch>
            <a:fillRect/>
          </a:stretch>
        </p:blipFill>
        <p:spPr>
          <a:xfrm>
            <a:off x="6837755" y="3462169"/>
            <a:ext cx="1908320" cy="61130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4F8FB30-A16E-4AC9-0CAE-CD3B7F8D774C}"/>
              </a:ext>
            </a:extLst>
          </p:cNvPr>
          <p:cNvGrpSpPr/>
          <p:nvPr/>
        </p:nvGrpSpPr>
        <p:grpSpPr>
          <a:xfrm>
            <a:off x="3391736" y="843113"/>
            <a:ext cx="3480840" cy="3832167"/>
            <a:chOff x="3391736" y="843113"/>
            <a:chExt cx="3480840" cy="383216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E088607-5D88-8A86-7FD8-B0921A98D46C}"/>
                </a:ext>
              </a:extLst>
            </p:cNvPr>
            <p:cNvGrpSpPr/>
            <p:nvPr/>
          </p:nvGrpSpPr>
          <p:grpSpPr>
            <a:xfrm>
              <a:off x="3391736" y="843113"/>
              <a:ext cx="3480840" cy="3832167"/>
              <a:chOff x="2978150" y="640080"/>
              <a:chExt cx="3480840" cy="3832167"/>
            </a:xfrm>
          </p:grpSpPr>
          <p:sp>
            <p:nvSpPr>
              <p:cNvPr id="2" name="AutoShape 2">
                <a:extLst>
                  <a:ext uri="{FF2B5EF4-FFF2-40B4-BE49-F238E27FC236}">
                    <a16:creationId xmlns:a16="http://schemas.microsoft.com/office/drawing/2014/main" id="{8ACA3969-9F83-D7D9-F7A6-15181115FB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19600" y="2419350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25" name="Picture 24" descr="A diagram of a computer program&#10;&#10;AI-generated content may be incorrect.">
                <a:extLst>
                  <a:ext uri="{FF2B5EF4-FFF2-40B4-BE49-F238E27FC236}">
                    <a16:creationId xmlns:a16="http://schemas.microsoft.com/office/drawing/2014/main" id="{256A0621-52C7-6B85-5E01-BF8B206B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978150" y="640080"/>
                <a:ext cx="3480840" cy="3832167"/>
              </a:xfrm>
              <a:prstGeom prst="roundRect">
                <a:avLst>
                  <a:gd name="adj" fmla="val 4453"/>
                </a:avLst>
              </a:prstGeom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2605E54-2DAD-6AB0-382B-9DBCCAB97D9F}"/>
                  </a:ext>
                </a:extLst>
              </p:cNvPr>
              <p:cNvSpPr/>
              <p:nvPr/>
            </p:nvSpPr>
            <p:spPr>
              <a:xfrm>
                <a:off x="3022601" y="1156945"/>
                <a:ext cx="478246" cy="750232"/>
              </a:xfrm>
              <a:prstGeom prst="rect">
                <a:avLst/>
              </a:prstGeom>
              <a:solidFill>
                <a:srgbClr val="DDEFDF"/>
              </a:solidFill>
              <a:ln>
                <a:solidFill>
                  <a:srgbClr val="DDEF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8137903-486A-7621-C4C7-C0613A454537}"/>
                  </a:ext>
                </a:extLst>
              </p:cNvPr>
              <p:cNvSpPr/>
              <p:nvPr/>
            </p:nvSpPr>
            <p:spPr>
              <a:xfrm>
                <a:off x="3022602" y="3562350"/>
                <a:ext cx="333374" cy="424205"/>
              </a:xfrm>
              <a:prstGeom prst="rect">
                <a:avLst/>
              </a:prstGeom>
              <a:solidFill>
                <a:srgbClr val="DDEFDF"/>
              </a:solidFill>
              <a:ln>
                <a:solidFill>
                  <a:srgbClr val="DDEF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79BFD37-B1BA-6196-0357-7019FE7ECC71}"/>
                  </a:ext>
                </a:extLst>
              </p:cNvPr>
              <p:cNvSpPr/>
              <p:nvPr/>
            </p:nvSpPr>
            <p:spPr>
              <a:xfrm>
                <a:off x="3016251" y="2359646"/>
                <a:ext cx="425448" cy="438912"/>
              </a:xfrm>
              <a:prstGeom prst="rect">
                <a:avLst/>
              </a:prstGeom>
              <a:solidFill>
                <a:srgbClr val="A8CFB0"/>
              </a:solidFill>
              <a:ln>
                <a:solidFill>
                  <a:srgbClr val="A8CFB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85FBF53-7A80-72BC-4E54-4F32661F1C6F}"/>
                </a:ext>
              </a:extLst>
            </p:cNvPr>
            <p:cNvSpPr txBox="1"/>
            <p:nvPr/>
          </p:nvSpPr>
          <p:spPr>
            <a:xfrm>
              <a:off x="3391736" y="874286"/>
              <a:ext cx="34808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Web Browser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C5F6D8-D37E-C3D1-6DBE-0EB8B8CE7A0F}"/>
                </a:ext>
              </a:extLst>
            </p:cNvPr>
            <p:cNvSpPr/>
            <p:nvPr/>
          </p:nvSpPr>
          <p:spPr>
            <a:xfrm>
              <a:off x="3424205" y="1266967"/>
              <a:ext cx="3402871" cy="1660216"/>
            </a:xfrm>
            <a:prstGeom prst="rect">
              <a:avLst/>
            </a:prstGeom>
            <a:solidFill>
              <a:srgbClr val="DEF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325A59-6F9A-D50D-88D8-C13CC09C5040}"/>
                </a:ext>
              </a:extLst>
            </p:cNvPr>
            <p:cNvSpPr/>
            <p:nvPr/>
          </p:nvSpPr>
          <p:spPr>
            <a:xfrm>
              <a:off x="3417900" y="2824428"/>
              <a:ext cx="3419856" cy="1660216"/>
            </a:xfrm>
            <a:prstGeom prst="rect">
              <a:avLst/>
            </a:prstGeom>
            <a:solidFill>
              <a:srgbClr val="AAD1B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27A6E86-34DC-880D-6FC2-19A61BB935B4}"/>
                </a:ext>
              </a:extLst>
            </p:cNvPr>
            <p:cNvSpPr/>
            <p:nvPr/>
          </p:nvSpPr>
          <p:spPr>
            <a:xfrm>
              <a:off x="3417899" y="4137426"/>
              <a:ext cx="3419856" cy="503831"/>
            </a:xfrm>
            <a:prstGeom prst="roundRect">
              <a:avLst/>
            </a:prstGeom>
            <a:solidFill>
              <a:srgbClr val="A9CF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0AC3345-6D1E-6CC0-DFD9-66CDB5986309}"/>
              </a:ext>
            </a:extLst>
          </p:cNvPr>
          <p:cNvSpPr txBox="1"/>
          <p:nvPr/>
        </p:nvSpPr>
        <p:spPr>
          <a:xfrm>
            <a:off x="5514311" y="1304116"/>
            <a:ext cx="12897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React JSX allows creation, access, and manipulation of DOM elements in the same place.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30A24AB-7C0F-4301-29BB-B6A27786AB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7647" y="1549832"/>
            <a:ext cx="1963684" cy="8154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1811368-B48E-3A50-C243-1EDC9EC3E349}"/>
              </a:ext>
            </a:extLst>
          </p:cNvPr>
          <p:cNvSpPr txBox="1"/>
          <p:nvPr/>
        </p:nvSpPr>
        <p:spPr>
          <a:xfrm>
            <a:off x="5491331" y="3117037"/>
            <a:ext cx="1289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Grommet provides styling and theming via reusable components.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37BE384-28EE-C88B-8838-105550C8DB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9650" y="3760299"/>
            <a:ext cx="1133985" cy="7987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A9D234-A7E0-E6CA-FEF4-46B34B7674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42561" y="2888898"/>
            <a:ext cx="1133985" cy="811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F72D95-1EFB-C4D9-2B14-2E311E0B50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43" y="953912"/>
            <a:ext cx="3344448" cy="150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44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FF6E-383B-56F2-4862-9ABC5CC3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F67CF-5A6E-6240-BE61-BCEE25C643A1}"/>
              </a:ext>
            </a:extLst>
          </p:cNvPr>
          <p:cNvSpPr txBox="1"/>
          <p:nvPr/>
        </p:nvSpPr>
        <p:spPr>
          <a:xfrm>
            <a:off x="171753" y="113559"/>
            <a:ext cx="879938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16693F"/>
                </a:solidFill>
                <a:ea typeface="Sans Serif Collection"/>
                <a:cs typeface="Sans Serif Collection"/>
              </a:rPr>
              <a:t>React migration resulted in tech stack improvements to developer experience and shorter build time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3C3EAD-09E8-22C6-926B-C82416D71292}"/>
              </a:ext>
            </a:extLst>
          </p:cNvPr>
          <p:cNvSpPr txBox="1">
            <a:spLocks/>
          </p:cNvSpPr>
          <p:nvPr/>
        </p:nvSpPr>
        <p:spPr>
          <a:xfrm>
            <a:off x="171752" y="513669"/>
            <a:ext cx="9105251" cy="287024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14999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AADA06A-14AF-0663-EDD6-2CC0BF48CE16}"/>
              </a:ext>
            </a:extLst>
          </p:cNvPr>
          <p:cNvGraphicFramePr>
            <a:graphicFrameLocks noGrp="1"/>
          </p:cNvGraphicFramePr>
          <p:nvPr/>
        </p:nvGraphicFramePr>
        <p:xfrm>
          <a:off x="171751" y="837126"/>
          <a:ext cx="8799385" cy="403269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14723">
                  <a:extLst>
                    <a:ext uri="{9D8B030D-6E8A-4147-A177-3AD203B41FA5}">
                      <a16:colId xmlns:a16="http://schemas.microsoft.com/office/drawing/2014/main" val="217355893"/>
                    </a:ext>
                  </a:extLst>
                </a:gridCol>
                <a:gridCol w="3500774">
                  <a:extLst>
                    <a:ext uri="{9D8B030D-6E8A-4147-A177-3AD203B41FA5}">
                      <a16:colId xmlns:a16="http://schemas.microsoft.com/office/drawing/2014/main" val="3238453823"/>
                    </a:ext>
                  </a:extLst>
                </a:gridCol>
                <a:gridCol w="3583888">
                  <a:extLst>
                    <a:ext uri="{9D8B030D-6E8A-4147-A177-3AD203B41FA5}">
                      <a16:colId xmlns:a16="http://schemas.microsoft.com/office/drawing/2014/main" val="3843126171"/>
                    </a:ext>
                  </a:extLst>
                </a:gridCol>
              </a:tblGrid>
              <a:tr h="397424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Classic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React / New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552899"/>
                  </a:ext>
                </a:extLst>
              </a:tr>
              <a:tr h="25746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8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8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</a:t>
                      </a:r>
                    </a:p>
                  </a:txBody>
                  <a:tcPr>
                    <a:solidFill>
                      <a:srgbClr val="008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189511"/>
                  </a:ext>
                </a:extLst>
              </a:tr>
              <a:tr h="542475">
                <a:tc>
                  <a:txBody>
                    <a:bodyPr/>
                    <a:lstStyle/>
                    <a:p>
                      <a:r>
                        <a:rPr lang="en-US" dirty="0"/>
                        <a:t>State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tracking of user interaction and input, and interface updates are tedious.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Automatic re-rendering of app based on user interaction and input, simplifying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696382"/>
                  </a:ext>
                </a:extLst>
              </a:tr>
              <a:tr h="5158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Bug Fixes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rgbClr val="008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Repetitive and complicated code makes bugs more likely and harder to find.</a:t>
                      </a:r>
                    </a:p>
                  </a:txBody>
                  <a:tcPr>
                    <a:solidFill>
                      <a:srgbClr val="008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Modular code allows for easier discovery of bugs and fewer bugs created.</a:t>
                      </a:r>
                    </a:p>
                  </a:txBody>
                  <a:tcPr>
                    <a:solidFill>
                      <a:srgbClr val="008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755800"/>
                  </a:ext>
                </a:extLst>
              </a:tr>
            </a:tbl>
          </a:graphicData>
        </a:graphic>
      </p:graphicFrame>
      <p:pic>
        <p:nvPicPr>
          <p:cNvPr id="3" name="Picture 2" descr="A hexagon with white text&#10;&#10;AI-generated content may be incorrect.">
            <a:extLst>
              <a:ext uri="{FF2B5EF4-FFF2-40B4-BE49-F238E27FC236}">
                <a16:creationId xmlns:a16="http://schemas.microsoft.com/office/drawing/2014/main" id="{9440B2E2-95F3-B443-C92C-9F2C7F37B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60696" y="1296292"/>
            <a:ext cx="575739" cy="591778"/>
          </a:xfrm>
          <a:prstGeom prst="rect">
            <a:avLst/>
          </a:prstGeom>
        </p:spPr>
      </p:pic>
      <p:pic>
        <p:nvPicPr>
          <p:cNvPr id="11" name="Picture 10" descr="React original wordmark logo - free Icon PNG, SVG">
            <a:extLst>
              <a:ext uri="{FF2B5EF4-FFF2-40B4-BE49-F238E27FC236}">
                <a16:creationId xmlns:a16="http://schemas.microsoft.com/office/drawing/2014/main" id="{1FFC834E-0A4B-D68E-8E30-5C3695B9A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959" y="1331254"/>
            <a:ext cx="551228" cy="551228"/>
          </a:xfrm>
          <a:prstGeom prst="rect">
            <a:avLst/>
          </a:prstGeom>
        </p:spPr>
      </p:pic>
      <p:pic>
        <p:nvPicPr>
          <p:cNvPr id="7" name="Picture 6" descr="A dog with a sad face&#10;&#10;AI-generated content may be incorrect.">
            <a:extLst>
              <a:ext uri="{FF2B5EF4-FFF2-40B4-BE49-F238E27FC236}">
                <a16:creationId xmlns:a16="http://schemas.microsoft.com/office/drawing/2014/main" id="{2DE38191-86EA-DCD8-68C2-410D9A80F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62" t="15820" r="6772" b="16765"/>
          <a:stretch>
            <a:fillRect/>
          </a:stretch>
        </p:blipFill>
        <p:spPr>
          <a:xfrm>
            <a:off x="3147808" y="1361614"/>
            <a:ext cx="1072926" cy="400119"/>
          </a:xfrm>
          <a:prstGeom prst="rect">
            <a:avLst/>
          </a:prstGeom>
        </p:spPr>
      </p:pic>
      <p:pic>
        <p:nvPicPr>
          <p:cNvPr id="12" name="Picture 11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F60186E5-2A6E-4960-52A6-47A0F94662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7116" y="1351975"/>
            <a:ext cx="439222" cy="399067"/>
          </a:xfrm>
          <a:prstGeom prst="rect">
            <a:avLst/>
          </a:prstGeom>
        </p:spPr>
      </p:pic>
      <p:pic>
        <p:nvPicPr>
          <p:cNvPr id="13" name="Picture 1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6FED39A3-2148-E7E0-CD38-D879D133DF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521" y="1342810"/>
            <a:ext cx="452132" cy="426871"/>
          </a:xfrm>
          <a:prstGeom prst="rect">
            <a:avLst/>
          </a:prstGeom>
        </p:spPr>
      </p:pic>
      <p:pic>
        <p:nvPicPr>
          <p:cNvPr id="15" name="Picture 2" descr="Report Post - Vite Logo PNG, Vector (AI, EPS, CDR, PDF, SVG)">
            <a:extLst>
              <a:ext uri="{FF2B5EF4-FFF2-40B4-BE49-F238E27FC236}">
                <a16:creationId xmlns:a16="http://schemas.microsoft.com/office/drawing/2014/main" id="{391065C3-DF54-DEC1-7AF9-593A6E3D52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86890" y="2626034"/>
            <a:ext cx="1058510" cy="45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1D34CA04-96D4-A60C-AC01-2BB8CA3469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757"/>
          <a:stretch>
            <a:fillRect/>
          </a:stretch>
        </p:blipFill>
        <p:spPr>
          <a:xfrm>
            <a:off x="5463121" y="1308698"/>
            <a:ext cx="1563555" cy="500864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F167996-5293-1A8B-699E-548FAADBA9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677" b="89964" l="2222" r="96000">
                        <a14:foregroundMark x1="8333" y1="28674" x2="18000" y2="63799"/>
                        <a14:foregroundMark x1="7444" y1="37993" x2="10667" y2="47670"/>
                        <a14:foregroundMark x1="8889" y1="48746" x2="8556" y2="68459"/>
                        <a14:foregroundMark x1="10333" y1="32975" x2="14222" y2="33333"/>
                        <a14:foregroundMark x1="39778" y1="36918" x2="39778" y2="36918"/>
                        <a14:foregroundMark x1="46778" y1="40860" x2="46778" y2="40860"/>
                        <a14:foregroundMark x1="56667" y1="44444" x2="56667" y2="44444"/>
                        <a14:foregroundMark x1="60778" y1="37993" x2="60778" y2="37993"/>
                        <a14:foregroundMark x1="69889" y1="54480" x2="69889" y2="54480"/>
                        <a14:foregroundMark x1="72889" y1="41935" x2="72889" y2="41935"/>
                        <a14:foregroundMark x1="77444" y1="47312" x2="77444" y2="47312"/>
                        <a14:foregroundMark x1="87111" y1="44803" x2="87111" y2="44803"/>
                        <a14:foregroundMark x1="90778" y1="45878" x2="90778" y2="45878"/>
                        <a14:foregroundMark x1="96111" y1="55914" x2="96111" y2="55914"/>
                        <a14:foregroundMark x1="2333" y1="31183" x2="2333" y2="31183"/>
                        <a14:foregroundMark x1="52000" y1="44086" x2="52000" y2="44086"/>
                        <a14:backgroundMark x1="31667" y1="17204" x2="31667" y2="17204"/>
                        <a14:backgroundMark x1="18333" y1="99283" x2="18333" y2="99283"/>
                        <a14:backgroundMark x1="1222" y1="96057" x2="1222" y2="96057"/>
                        <a14:backgroundMark x1="45333" y1="79928" x2="66111" y2="82796"/>
                        <a14:backgroundMark x1="44778" y1="77061" x2="46000" y2="69534"/>
                        <a14:backgroundMark x1="49444" y1="79211" x2="45667" y2="78853"/>
                        <a14:backgroundMark x1="66667" y1="45520" x2="67667" y2="476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23204" y="1351975"/>
            <a:ext cx="1179490" cy="36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Vitest Logo PNG, Vector (AI, EPS, CDR, PDF, SVG ...">
            <a:extLst>
              <a:ext uri="{FF2B5EF4-FFF2-40B4-BE49-F238E27FC236}">
                <a16:creationId xmlns:a16="http://schemas.microsoft.com/office/drawing/2014/main" id="{3FAEE8CF-FAE5-9ACA-4C6F-BE37370BA0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70327" y="3291676"/>
            <a:ext cx="1104158" cy="32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9707DF8-9991-0D6E-EFDD-51886EF4D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4" r="7002"/>
          <a:stretch>
            <a:fillRect/>
          </a:stretch>
        </p:blipFill>
        <p:spPr bwMode="auto">
          <a:xfrm>
            <a:off x="1981141" y="3061428"/>
            <a:ext cx="577648" cy="66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ai - npm">
            <a:extLst>
              <a:ext uri="{FF2B5EF4-FFF2-40B4-BE49-F238E27FC236}">
                <a16:creationId xmlns:a16="http://schemas.microsoft.com/office/drawing/2014/main" id="{49510896-1F91-3CB4-B30E-85503970A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3855" y="3063676"/>
            <a:ext cx="582491" cy="65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ode.js Logo PNG Transparent &amp; SVG Vector - Freebie Supply">
            <a:extLst>
              <a:ext uri="{FF2B5EF4-FFF2-40B4-BE49-F238E27FC236}">
                <a16:creationId xmlns:a16="http://schemas.microsoft.com/office/drawing/2014/main" id="{3CF4F086-16E3-3D81-8966-524332B93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875" t="17766" r="11515" b="20207"/>
          <a:stretch>
            <a:fillRect/>
          </a:stretch>
        </p:blipFill>
        <p:spPr bwMode="auto">
          <a:xfrm>
            <a:off x="1989311" y="2050167"/>
            <a:ext cx="607615" cy="36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ogo Postgresql - Free Transparent PNG Clipart Images Download">
            <a:extLst>
              <a:ext uri="{FF2B5EF4-FFF2-40B4-BE49-F238E27FC236}">
                <a16:creationId xmlns:a16="http://schemas.microsoft.com/office/drawing/2014/main" id="{CDF260A3-A60D-C5AC-C8BA-DA99F7B5A1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917" b="100000" l="2976" r="95833">
                        <a14:foregroundMark x1="9762" y1="8307" x2="13810" y2="44089"/>
                        <a14:foregroundMark x1="13810" y1="44089" x2="17143" y2="55591"/>
                        <a14:foregroundMark x1="5833" y1="23323" x2="15119" y2="48562"/>
                        <a14:foregroundMark x1="15119" y1="48562" x2="15952" y2="49521"/>
                        <a14:foregroundMark x1="39643" y1="38019" x2="39643" y2="38019"/>
                        <a14:foregroundMark x1="42500" y1="47604" x2="42500" y2="47604"/>
                        <a14:foregroundMark x1="51429" y1="45687" x2="51429" y2="45687"/>
                        <a14:foregroundMark x1="54405" y1="42492" x2="54405" y2="42492"/>
                        <a14:foregroundMark x1="60952" y1="48243" x2="60952" y2="48243"/>
                        <a14:foregroundMark x1="62738" y1="47284" x2="62738" y2="47284"/>
                        <a14:foregroundMark x1="70476" y1="52077" x2="70476" y2="52077"/>
                        <a14:foregroundMark x1="73452" y1="45367" x2="73452" y2="45367"/>
                        <a14:foregroundMark x1="96071" y1="60703" x2="96071" y2="60703"/>
                        <a14:foregroundMark x1="84524" y1="34185" x2="84524" y2="34185"/>
                        <a14:foregroundMark x1="3095" y1="20447" x2="7262" y2="46006"/>
                        <a14:backgroundMark x1="49167" y1="15655" x2="49167" y2="15655"/>
                        <a14:backgroundMark x1="42024" y1="13419" x2="48214" y2="18211"/>
                        <a14:backgroundMark x1="42024" y1="86581" x2="42024" y2="86581"/>
                        <a14:backgroundMark x1="34524" y1="93291" x2="34524" y2="93291"/>
                        <a14:backgroundMark x1="9167" y1="92652" x2="9167" y2="92652"/>
                        <a14:backgroundMark x1="34524" y1="88818" x2="65714" y2="89457"/>
                        <a14:backgroundMark x1="65714" y1="89457" x2="71786" y2="86581"/>
                        <a14:backgroundMark x1="44167" y1="79872" x2="49762" y2="99681"/>
                        <a14:backgroundMark x1="89048" y1="80192" x2="42976" y2="90735"/>
                        <a14:backgroundMark x1="89167" y1="57508" x2="89643" y2="638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3855" y="2010928"/>
            <a:ext cx="1244853" cy="46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C619FDB-FB99-0E2A-0D0C-FC71B5063294}"/>
              </a:ext>
            </a:extLst>
          </p:cNvPr>
          <p:cNvGrpSpPr/>
          <p:nvPr/>
        </p:nvGrpSpPr>
        <p:grpSpPr>
          <a:xfrm>
            <a:off x="3969981" y="2105054"/>
            <a:ext cx="1041521" cy="260652"/>
            <a:chOff x="4205638" y="2267498"/>
            <a:chExt cx="1041521" cy="260652"/>
          </a:xfrm>
        </p:grpSpPr>
        <p:pic>
          <p:nvPicPr>
            <p:cNvPr id="14" name="Picture 8" descr="Behind the Scenes of ExpressJS: A Deep Dive into Nodejs' Most Popular  Library | Level Up Coding">
              <a:extLst>
                <a:ext uri="{FF2B5EF4-FFF2-40B4-BE49-F238E27FC236}">
                  <a16:creationId xmlns:a16="http://schemas.microsoft.com/office/drawing/2014/main" id="{36860AAA-D90F-4021-895A-E1618632D3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2286" y="2267498"/>
              <a:ext cx="244873" cy="2544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6CC40766-613B-5B75-F024-7EF480CAF64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802" t="-1790" r="7140" b="1790"/>
            <a:stretch>
              <a:fillRect/>
            </a:stretch>
          </p:blipFill>
          <p:spPr bwMode="auto">
            <a:xfrm>
              <a:off x="4205638" y="2273715"/>
              <a:ext cx="764058" cy="2544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D08421-86D9-9D35-D2D9-112C1164D72E}"/>
              </a:ext>
            </a:extLst>
          </p:cNvPr>
          <p:cNvGrpSpPr/>
          <p:nvPr/>
        </p:nvGrpSpPr>
        <p:grpSpPr>
          <a:xfrm>
            <a:off x="7747456" y="2125403"/>
            <a:ext cx="1041521" cy="260652"/>
            <a:chOff x="4205638" y="2267498"/>
            <a:chExt cx="1041521" cy="260652"/>
          </a:xfrm>
        </p:grpSpPr>
        <p:pic>
          <p:nvPicPr>
            <p:cNvPr id="19" name="Picture 8" descr="Behind the Scenes of ExpressJS: A Deep Dive into Nodejs' Most Popular  Library | Level Up Coding">
              <a:extLst>
                <a:ext uri="{FF2B5EF4-FFF2-40B4-BE49-F238E27FC236}">
                  <a16:creationId xmlns:a16="http://schemas.microsoft.com/office/drawing/2014/main" id="{DF19D02B-3F30-4D4D-BFC7-ED18E0D8D5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2286" y="2267498"/>
              <a:ext cx="244873" cy="2544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>
              <a:extLst>
                <a:ext uri="{FF2B5EF4-FFF2-40B4-BE49-F238E27FC236}">
                  <a16:creationId xmlns:a16="http://schemas.microsoft.com/office/drawing/2014/main" id="{0BB943E8-EEA5-B589-37D2-6A99CBED0C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802" t="-1790" r="7140" b="1790"/>
            <a:stretch>
              <a:fillRect/>
            </a:stretch>
          </p:blipFill>
          <p:spPr bwMode="auto">
            <a:xfrm>
              <a:off x="4205638" y="2273715"/>
              <a:ext cx="764058" cy="2544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" name="Picture 10" descr="Logo Postgresql - Free Transparent PNG Clipart Images Download">
            <a:extLst>
              <a:ext uri="{FF2B5EF4-FFF2-40B4-BE49-F238E27FC236}">
                <a16:creationId xmlns:a16="http://schemas.microsoft.com/office/drawing/2014/main" id="{D7613977-9506-1509-D2EE-6BAAC6400F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917" b="100000" l="2976" r="95833">
                        <a14:foregroundMark x1="9762" y1="8307" x2="13810" y2="44089"/>
                        <a14:foregroundMark x1="13810" y1="44089" x2="17143" y2="55591"/>
                        <a14:foregroundMark x1="5833" y1="23323" x2="15119" y2="48562"/>
                        <a14:foregroundMark x1="15119" y1="48562" x2="15952" y2="49521"/>
                        <a14:foregroundMark x1="39643" y1="38019" x2="39643" y2="38019"/>
                        <a14:foregroundMark x1="42500" y1="47604" x2="42500" y2="47604"/>
                        <a14:foregroundMark x1="51429" y1="45687" x2="51429" y2="45687"/>
                        <a14:foregroundMark x1="54405" y1="42492" x2="54405" y2="42492"/>
                        <a14:foregroundMark x1="60952" y1="48243" x2="60952" y2="48243"/>
                        <a14:foregroundMark x1="62738" y1="47284" x2="62738" y2="47284"/>
                        <a14:foregroundMark x1="70476" y1="52077" x2="70476" y2="52077"/>
                        <a14:foregroundMark x1="73452" y1="45367" x2="73452" y2="45367"/>
                        <a14:foregroundMark x1="96071" y1="60703" x2="96071" y2="60703"/>
                        <a14:foregroundMark x1="84524" y1="34185" x2="84524" y2="34185"/>
                        <a14:foregroundMark x1="3095" y1="20447" x2="7262" y2="46006"/>
                        <a14:backgroundMark x1="49167" y1="15655" x2="49167" y2="15655"/>
                        <a14:backgroundMark x1="42024" y1="13419" x2="48214" y2="18211"/>
                        <a14:backgroundMark x1="42024" y1="86581" x2="42024" y2="86581"/>
                        <a14:backgroundMark x1="34524" y1="93291" x2="34524" y2="93291"/>
                        <a14:backgroundMark x1="9167" y1="92652" x2="9167" y2="92652"/>
                        <a14:backgroundMark x1="34524" y1="88818" x2="65714" y2="89457"/>
                        <a14:backgroundMark x1="65714" y1="89457" x2="71786" y2="86581"/>
                        <a14:backgroundMark x1="44167" y1="79872" x2="49762" y2="99681"/>
                        <a14:backgroundMark x1="89048" y1="80192" x2="42976" y2="90735"/>
                        <a14:backgroundMark x1="89167" y1="57508" x2="89643" y2="638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40151" y="2025054"/>
            <a:ext cx="1244853" cy="46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7873EB-F092-FD4E-F2A0-6DBB5BB77F3C}"/>
              </a:ext>
            </a:extLst>
          </p:cNvPr>
          <p:cNvSpPr txBox="1"/>
          <p:nvPr/>
        </p:nvSpPr>
        <p:spPr>
          <a:xfrm>
            <a:off x="171750" y="1318038"/>
            <a:ext cx="899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Frontend</a:t>
            </a:r>
          </a:p>
        </p:txBody>
      </p:sp>
      <p:pic>
        <p:nvPicPr>
          <p:cNvPr id="22" name="Picture 2" descr="HTML Webpack Combine Multiple Configs Plugin | @qwtel">
            <a:extLst>
              <a:ext uri="{FF2B5EF4-FFF2-40B4-BE49-F238E27FC236}">
                <a16:creationId xmlns:a16="http://schemas.microsoft.com/office/drawing/2014/main" id="{AA0E13BA-EFFB-5D35-9F08-8A58F4FB2E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65" t="29113" r="11427" b="28429"/>
          <a:stretch>
            <a:fillRect/>
          </a:stretch>
        </p:blipFill>
        <p:spPr bwMode="auto">
          <a:xfrm>
            <a:off x="2000735" y="2611257"/>
            <a:ext cx="1285546" cy="39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9A8F80-D1B2-C85F-9D20-25BDDD16A6EB}"/>
              </a:ext>
            </a:extLst>
          </p:cNvPr>
          <p:cNvSpPr txBox="1"/>
          <p:nvPr/>
        </p:nvSpPr>
        <p:spPr>
          <a:xfrm>
            <a:off x="171579" y="1974634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Backend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7E19DC-E7B5-473A-649D-BF7BF2465254}"/>
              </a:ext>
            </a:extLst>
          </p:cNvPr>
          <p:cNvSpPr txBox="1"/>
          <p:nvPr/>
        </p:nvSpPr>
        <p:spPr>
          <a:xfrm>
            <a:off x="171579" y="3311554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6C71EB-8A4E-26F6-31AE-325FF5CA10E8}"/>
              </a:ext>
            </a:extLst>
          </p:cNvPr>
          <p:cNvSpPr txBox="1"/>
          <p:nvPr/>
        </p:nvSpPr>
        <p:spPr>
          <a:xfrm>
            <a:off x="171579" y="2676443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Build Tool</a:t>
            </a:r>
          </a:p>
        </p:txBody>
      </p:sp>
      <p:pic>
        <p:nvPicPr>
          <p:cNvPr id="26" name="Picture 8" descr="Node.js Logo PNG Transparent &amp; SVG Vector - Freebie Supply">
            <a:extLst>
              <a:ext uri="{FF2B5EF4-FFF2-40B4-BE49-F238E27FC236}">
                <a16:creationId xmlns:a16="http://schemas.microsoft.com/office/drawing/2014/main" id="{1D5C9228-E370-28EF-5181-456106370B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875" t="17766" r="11515" b="20207"/>
          <a:stretch>
            <a:fillRect/>
          </a:stretch>
        </p:blipFill>
        <p:spPr bwMode="auto">
          <a:xfrm>
            <a:off x="5614791" y="2058728"/>
            <a:ext cx="607615" cy="36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7863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951C6-8A79-8FB5-47F9-15F4818D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43A772A-268F-6B49-C3EB-BCF1167B934C}"/>
              </a:ext>
            </a:extLst>
          </p:cNvPr>
          <p:cNvGrpSpPr/>
          <p:nvPr/>
        </p:nvGrpSpPr>
        <p:grpSpPr>
          <a:xfrm>
            <a:off x="1173523" y="799034"/>
            <a:ext cx="6370278" cy="3938065"/>
            <a:chOff x="1396788" y="843860"/>
            <a:chExt cx="6350425" cy="379204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33F453F-D6A7-7B83-EF69-73613738E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381" b="1317"/>
            <a:stretch>
              <a:fillRect/>
            </a:stretch>
          </p:blipFill>
          <p:spPr>
            <a:xfrm>
              <a:off x="1396788" y="843860"/>
              <a:ext cx="6343112" cy="375497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7A02A7D-F78E-3320-F0FB-453541B8D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469" t="176" r="80494" b="-176"/>
            <a:stretch>
              <a:fillRect/>
            </a:stretch>
          </p:blipFill>
          <p:spPr>
            <a:xfrm flipH="1">
              <a:off x="7701494" y="1435026"/>
              <a:ext cx="45719" cy="320087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F870272-B890-9ECE-C8E4-64889A4C6519}"/>
              </a:ext>
            </a:extLst>
          </p:cNvPr>
          <p:cNvSpPr txBox="1"/>
          <p:nvPr/>
        </p:nvSpPr>
        <p:spPr>
          <a:xfrm>
            <a:off x="176414" y="135974"/>
            <a:ext cx="879938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16693F"/>
                </a:solidFill>
                <a:ea typeface="Sans Serif Collection"/>
                <a:cs typeface="Sans Serif Collection"/>
              </a:rPr>
              <a:t>GRNsight React went live on October 15, 2025, </a:t>
            </a:r>
          </a:p>
          <a:p>
            <a:r>
              <a:rPr lang="en-US" sz="2000" b="1" dirty="0">
                <a:solidFill>
                  <a:srgbClr val="16693F"/>
                </a:solidFill>
                <a:ea typeface="Sans Serif Collection"/>
                <a:cs typeface="Sans Serif Collection"/>
              </a:rPr>
              <a:t>and can now display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26B1F-4BE3-E386-0A5C-07C7A5044920}"/>
              </a:ext>
            </a:extLst>
          </p:cNvPr>
          <p:cNvSpPr txBox="1"/>
          <p:nvPr/>
        </p:nvSpPr>
        <p:spPr>
          <a:xfrm>
            <a:off x="1767625" y="4598832"/>
            <a:ext cx="560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https://dondi.github.io/GRNsight/react-thesis-4081/</a:t>
            </a:r>
            <a:endParaRPr lang="en-US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dirty="0"/>
              <a:t>Viewport size, panning, and zoom are available graph features</a:t>
            </a:r>
          </a:p>
        </p:txBody>
      </p:sp>
    </p:spTree>
    <p:extLst>
      <p:ext uri="{BB962C8B-B14F-4D97-AF65-F5344CB8AC3E}">
        <p14:creationId xmlns:p14="http://schemas.microsoft.com/office/powerpoint/2010/main" val="1794536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60EE3-DDE8-734C-1766-7F4A4BE1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26D93-EE10-15A6-A38F-E6FE7B21E038}"/>
              </a:ext>
            </a:extLst>
          </p:cNvPr>
          <p:cNvSpPr txBox="1"/>
          <p:nvPr/>
        </p:nvSpPr>
        <p:spPr>
          <a:xfrm>
            <a:off x="171753" y="113559"/>
            <a:ext cx="8799384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16693F"/>
                </a:solidFill>
                <a:ea typeface="Sans Serif Collection"/>
                <a:cs typeface="Sans Serif Collection"/>
              </a:rPr>
              <a:t>Clients send different requests to the workers in the back 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287962-95D3-FD7A-408E-207FB5DF5DF6}"/>
              </a:ext>
            </a:extLst>
          </p:cNvPr>
          <p:cNvGrpSpPr/>
          <p:nvPr/>
        </p:nvGrpSpPr>
        <p:grpSpPr>
          <a:xfrm>
            <a:off x="3213757" y="890648"/>
            <a:ext cx="2879769" cy="3711039"/>
            <a:chOff x="2285998" y="727363"/>
            <a:chExt cx="2879769" cy="371103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32C407-9AC2-5E81-72D2-F68B64E5D3D2}"/>
                </a:ext>
              </a:extLst>
            </p:cNvPr>
            <p:cNvSpPr/>
            <p:nvPr/>
          </p:nvSpPr>
          <p:spPr>
            <a:xfrm>
              <a:off x="2285999" y="727363"/>
              <a:ext cx="2879768" cy="3711039"/>
            </a:xfrm>
            <a:prstGeom prst="rect">
              <a:avLst/>
            </a:prstGeom>
            <a:noFill/>
            <a:ln>
              <a:solidFill>
                <a:srgbClr val="1669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1">
              <a:extLst>
                <a:ext uri="{FF2B5EF4-FFF2-40B4-BE49-F238E27FC236}">
                  <a16:creationId xmlns:a16="http://schemas.microsoft.com/office/drawing/2014/main" id="{64194C44-C638-5A32-5EEB-3F831C3CF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8037" y="1289283"/>
              <a:ext cx="1930059" cy="463483"/>
            </a:xfrm>
            <a:prstGeom prst="roundRect">
              <a:avLst>
                <a:gd name="adj" fmla="val 16667"/>
              </a:avLst>
            </a:prstGeom>
            <a:solidFill>
              <a:srgbClr val="297B49"/>
            </a:solidFill>
            <a:ln>
              <a:noFill/>
            </a:ln>
          </p:spPr>
          <p:txBody>
            <a:bodyPr lIns="91440" tIns="45720" rIns="91440" bIns="4572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altLang="en-US" sz="1500">
                  <a:solidFill>
                    <a:schemeClr val="bg1"/>
                  </a:solidFill>
                  <a:latin typeface="Arial"/>
                </a:rPr>
                <a:t>Load Demo</a:t>
              </a:r>
              <a:endParaRPr lang="en-US"/>
            </a:p>
          </p:txBody>
        </p:sp>
        <p:sp>
          <p:nvSpPr>
            <p:cNvPr id="5" name="Rounded Rectangle 1">
              <a:extLst>
                <a:ext uri="{FF2B5EF4-FFF2-40B4-BE49-F238E27FC236}">
                  <a16:creationId xmlns:a16="http://schemas.microsoft.com/office/drawing/2014/main" id="{77D0ED7C-A6A1-34BD-9292-75C26281F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6975" y="2081611"/>
              <a:ext cx="2301163" cy="611924"/>
            </a:xfrm>
            <a:prstGeom prst="roundRect">
              <a:avLst>
                <a:gd name="adj" fmla="val 16667"/>
              </a:avLst>
            </a:prstGeom>
            <a:solidFill>
              <a:srgbClr val="297B49"/>
            </a:solidFill>
            <a:ln>
              <a:noFill/>
            </a:ln>
          </p:spPr>
          <p:txBody>
            <a:bodyPr lIns="91440" tIns="45720" rIns="91440" bIns="4572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altLang="en-US" sz="1500">
                  <a:solidFill>
                    <a:schemeClr val="bg1"/>
                  </a:solidFill>
                  <a:latin typeface="Arial"/>
                </a:rPr>
                <a:t>Import Files</a:t>
              </a:r>
            </a:p>
            <a:p>
              <a:pPr algn="ctr"/>
              <a:r>
                <a:rPr lang="en-US" altLang="en-US" sz="1500">
                  <a:solidFill>
                    <a:schemeClr val="bg1"/>
                  </a:solidFill>
                  <a:latin typeface="Arial"/>
                </a:rPr>
                <a:t>(Excel, SIF, </a:t>
              </a:r>
              <a:r>
                <a:rPr lang="en-US" altLang="en-US" sz="1500" err="1">
                  <a:solidFill>
                    <a:schemeClr val="bg1"/>
                  </a:solidFill>
                  <a:latin typeface="Arial"/>
                </a:rPr>
                <a:t>GraphML</a:t>
              </a:r>
              <a:r>
                <a:rPr lang="en-US" altLang="en-US" sz="1500">
                  <a:solidFill>
                    <a:schemeClr val="bg1"/>
                  </a:solidFill>
                  <a:latin typeface="Arial"/>
                </a:rPr>
                <a:t>)</a:t>
              </a:r>
              <a:endParaRPr lang="en-US" altLang="en-US" sz="1500">
                <a:solidFill>
                  <a:schemeClr val="bg1"/>
                </a:solidFill>
              </a:endParaRPr>
            </a:p>
          </p:txBody>
        </p:sp>
        <p:sp>
          <p:nvSpPr>
            <p:cNvPr id="9" name="Rounded Rectangle 1">
              <a:extLst>
                <a:ext uri="{FF2B5EF4-FFF2-40B4-BE49-F238E27FC236}">
                  <a16:creationId xmlns:a16="http://schemas.microsoft.com/office/drawing/2014/main" id="{05B9A47B-88EB-27F3-2FC3-57389291A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8038" y="2936983"/>
              <a:ext cx="1930059" cy="463483"/>
            </a:xfrm>
            <a:prstGeom prst="roundRect">
              <a:avLst>
                <a:gd name="adj" fmla="val 16667"/>
              </a:avLst>
            </a:prstGeom>
            <a:solidFill>
              <a:srgbClr val="297B49"/>
            </a:solidFill>
            <a:ln>
              <a:noFill/>
            </a:ln>
          </p:spPr>
          <p:txBody>
            <a:bodyPr lIns="91440" tIns="45720" rIns="91440" bIns="4572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altLang="en-US" sz="1500">
                  <a:solidFill>
                    <a:schemeClr val="bg1"/>
                  </a:solidFill>
                  <a:latin typeface="Arial"/>
                </a:rPr>
                <a:t>Export Graph</a:t>
              </a:r>
              <a:endParaRPr lang="en-US" altLang="en-US" sz="1500">
                <a:solidFill>
                  <a:schemeClr val="bg1"/>
                </a:solidFill>
              </a:endParaRPr>
            </a:p>
          </p:txBody>
        </p:sp>
        <p:sp>
          <p:nvSpPr>
            <p:cNvPr id="10" name="Rounded Rectangle 1">
              <a:extLst>
                <a:ext uri="{FF2B5EF4-FFF2-40B4-BE49-F238E27FC236}">
                  <a16:creationId xmlns:a16="http://schemas.microsoft.com/office/drawing/2014/main" id="{C0F75745-DE74-59CA-0713-30024DFFE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015" y="3694219"/>
              <a:ext cx="2120101" cy="485749"/>
            </a:xfrm>
            <a:prstGeom prst="roundRect">
              <a:avLst>
                <a:gd name="adj" fmla="val 16667"/>
              </a:avLst>
            </a:prstGeom>
            <a:solidFill>
              <a:srgbClr val="297B49"/>
            </a:solidFill>
            <a:ln>
              <a:noFill/>
            </a:ln>
          </p:spPr>
          <p:txBody>
            <a:bodyPr lIns="91440" tIns="45720" rIns="91440" bIns="4572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altLang="en-US" sz="1500" dirty="0">
                  <a:solidFill>
                    <a:schemeClr val="bg1"/>
                  </a:solidFill>
                  <a:latin typeface="Arial"/>
                </a:rPr>
                <a:t>Load from Database</a:t>
              </a:r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F5BBF2-A42A-E2EC-3DF0-DD4EF4815680}"/>
                </a:ext>
              </a:extLst>
            </p:cNvPr>
            <p:cNvSpPr txBox="1"/>
            <p:nvPr/>
          </p:nvSpPr>
          <p:spPr>
            <a:xfrm>
              <a:off x="2285998" y="779318"/>
              <a:ext cx="2879767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b="1">
                  <a:solidFill>
                    <a:srgbClr val="16693F"/>
                  </a:solidFill>
                </a:rPr>
                <a:t>Requests</a:t>
              </a:r>
              <a:endParaRPr lang="en-US" sz="16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0DF08F-3090-E96D-767E-18C3AB1CDC08}"/>
              </a:ext>
            </a:extLst>
          </p:cNvPr>
          <p:cNvGrpSpPr/>
          <p:nvPr/>
        </p:nvGrpSpPr>
        <p:grpSpPr>
          <a:xfrm>
            <a:off x="1024245" y="2735035"/>
            <a:ext cx="1246908" cy="1276358"/>
            <a:chOff x="326570" y="2571750"/>
            <a:chExt cx="1246908" cy="1276358"/>
          </a:xfrm>
        </p:grpSpPr>
        <p:pic>
          <p:nvPicPr>
            <p:cNvPr id="7" name="Picture 6" descr="A green and black logo&#10;&#10;AI-generated content may be incorrect.">
              <a:extLst>
                <a:ext uri="{FF2B5EF4-FFF2-40B4-BE49-F238E27FC236}">
                  <a16:creationId xmlns:a16="http://schemas.microsoft.com/office/drawing/2014/main" id="{3BA0CC1B-09F7-F68C-DABC-EC2091956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76"/>
            <a:stretch>
              <a:fillRect/>
            </a:stretch>
          </p:blipFill>
          <p:spPr>
            <a:xfrm>
              <a:off x="361456" y="2571750"/>
              <a:ext cx="1172135" cy="96223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B67EC0-24BC-8CD4-B40D-17091EFBE1A4}"/>
                </a:ext>
              </a:extLst>
            </p:cNvPr>
            <p:cNvSpPr txBox="1"/>
            <p:nvPr/>
          </p:nvSpPr>
          <p:spPr>
            <a:xfrm>
              <a:off x="326570" y="3540331"/>
              <a:ext cx="124690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rgbClr val="16693F"/>
                  </a:solidFill>
                </a:rPr>
                <a:t>React Client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0D5887D-C449-A98C-0F43-ABBB5A724783}"/>
              </a:ext>
            </a:extLst>
          </p:cNvPr>
          <p:cNvGrpSpPr/>
          <p:nvPr/>
        </p:nvGrpSpPr>
        <p:grpSpPr>
          <a:xfrm>
            <a:off x="920335" y="1168976"/>
            <a:ext cx="1462148" cy="1291202"/>
            <a:chOff x="920335" y="1168976"/>
            <a:chExt cx="1462148" cy="1291202"/>
          </a:xfrm>
        </p:grpSpPr>
        <p:pic>
          <p:nvPicPr>
            <p:cNvPr id="22" name="Picture 21" descr="A green and black logo&#10;&#10;AI-generated content may be incorrect.">
              <a:extLst>
                <a:ext uri="{FF2B5EF4-FFF2-40B4-BE49-F238E27FC236}">
                  <a16:creationId xmlns:a16="http://schemas.microsoft.com/office/drawing/2014/main" id="{B210B5F8-BC98-445E-4F97-87E6958E2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76"/>
            <a:stretch>
              <a:fillRect/>
            </a:stretch>
          </p:blipFill>
          <p:spPr>
            <a:xfrm>
              <a:off x="1059130" y="1168976"/>
              <a:ext cx="1172135" cy="96223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4A2C3C8-F7C7-CCAF-266B-31B062E6FEB9}"/>
                </a:ext>
              </a:extLst>
            </p:cNvPr>
            <p:cNvSpPr txBox="1"/>
            <p:nvPr/>
          </p:nvSpPr>
          <p:spPr>
            <a:xfrm>
              <a:off x="920335" y="2152401"/>
              <a:ext cx="146214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rgbClr val="16693F"/>
                  </a:solidFill>
                </a:rPr>
                <a:t>Classic Client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2F09996-D7DA-324D-4EF8-59209FB1E04F}"/>
              </a:ext>
            </a:extLst>
          </p:cNvPr>
          <p:cNvSpPr txBox="1"/>
          <p:nvPr/>
        </p:nvSpPr>
        <p:spPr>
          <a:xfrm>
            <a:off x="7125392" y="3116177"/>
            <a:ext cx="146214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16693F"/>
                </a:solidFill>
              </a:rPr>
              <a:t>API Server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06DDCC-7040-A4BE-B22A-4B93B64AB1F1}"/>
              </a:ext>
            </a:extLst>
          </p:cNvPr>
          <p:cNvCxnSpPr/>
          <p:nvPr/>
        </p:nvCxnSpPr>
        <p:spPr>
          <a:xfrm flipV="1">
            <a:off x="2274250" y="1778529"/>
            <a:ext cx="802094" cy="2880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D02A6F-AF7B-2C64-45D4-45F2EECC4B07}"/>
              </a:ext>
            </a:extLst>
          </p:cNvPr>
          <p:cNvCxnSpPr/>
          <p:nvPr/>
        </p:nvCxnSpPr>
        <p:spPr>
          <a:xfrm flipV="1">
            <a:off x="2274250" y="3337165"/>
            <a:ext cx="802094" cy="2880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2CE244-A125-3A3E-F7CD-29FB2B13E4A2}"/>
              </a:ext>
            </a:extLst>
          </p:cNvPr>
          <p:cNvCxnSpPr/>
          <p:nvPr/>
        </p:nvCxnSpPr>
        <p:spPr>
          <a:xfrm flipV="1">
            <a:off x="6286039" y="2587096"/>
            <a:ext cx="802094" cy="2880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Graphic 12" descr="Programmer female with solid fill">
            <a:extLst>
              <a:ext uri="{FF2B5EF4-FFF2-40B4-BE49-F238E27FC236}">
                <a16:creationId xmlns:a16="http://schemas.microsoft.com/office/drawing/2014/main" id="{15FE2B15-7EB4-8358-1F24-583233C2F7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8865" y="1783681"/>
            <a:ext cx="1295202" cy="129520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6AB4630-7E19-9EE5-07F9-D6A15BA3C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618" y="3725782"/>
            <a:ext cx="3012235" cy="135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92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6624-B0D4-0D0B-C22C-5DE9A266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F0B63-3081-7367-6AE1-6E1754636A0D}"/>
              </a:ext>
            </a:extLst>
          </p:cNvPr>
          <p:cNvSpPr txBox="1"/>
          <p:nvPr/>
        </p:nvSpPr>
        <p:spPr>
          <a:xfrm>
            <a:off x="171753" y="113559"/>
            <a:ext cx="8799384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16693F"/>
                </a:solidFill>
                <a:ea typeface="Sans Serif Collection"/>
                <a:cs typeface="Sans Serif Collection"/>
              </a:rPr>
              <a:t>Workers process the requests and return proper results to clients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F94E6A-AE17-EC0E-4EE4-9D88D07BA1A1}"/>
              </a:ext>
            </a:extLst>
          </p:cNvPr>
          <p:cNvGrpSpPr/>
          <p:nvPr/>
        </p:nvGrpSpPr>
        <p:grpSpPr>
          <a:xfrm>
            <a:off x="1043080" y="2733111"/>
            <a:ext cx="1246908" cy="1276358"/>
            <a:chOff x="326570" y="2571750"/>
            <a:chExt cx="1246908" cy="1276358"/>
          </a:xfrm>
        </p:grpSpPr>
        <p:pic>
          <p:nvPicPr>
            <p:cNvPr id="7" name="Picture 6" descr="A green and black logo&#10;&#10;AI-generated content may be incorrect.">
              <a:extLst>
                <a:ext uri="{FF2B5EF4-FFF2-40B4-BE49-F238E27FC236}">
                  <a16:creationId xmlns:a16="http://schemas.microsoft.com/office/drawing/2014/main" id="{F5B1827C-1708-54B6-8D73-AC06C6484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76"/>
            <a:stretch>
              <a:fillRect/>
            </a:stretch>
          </p:blipFill>
          <p:spPr>
            <a:xfrm>
              <a:off x="361456" y="2571750"/>
              <a:ext cx="1172135" cy="96223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DC39A3-55CE-8F64-753B-5E520947D222}"/>
                </a:ext>
              </a:extLst>
            </p:cNvPr>
            <p:cNvSpPr txBox="1"/>
            <p:nvPr/>
          </p:nvSpPr>
          <p:spPr>
            <a:xfrm>
              <a:off x="326570" y="3540331"/>
              <a:ext cx="124690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rgbClr val="16693F"/>
                  </a:solidFill>
                </a:rPr>
                <a:t>React Client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006E9A-6657-D293-51DC-5346154F3444}"/>
              </a:ext>
            </a:extLst>
          </p:cNvPr>
          <p:cNvGrpSpPr/>
          <p:nvPr/>
        </p:nvGrpSpPr>
        <p:grpSpPr>
          <a:xfrm>
            <a:off x="939170" y="1167052"/>
            <a:ext cx="1462148" cy="1291202"/>
            <a:chOff x="222661" y="2571750"/>
            <a:chExt cx="1462148" cy="1291202"/>
          </a:xfrm>
        </p:grpSpPr>
        <p:pic>
          <p:nvPicPr>
            <p:cNvPr id="22" name="Picture 21" descr="A green and black logo&#10;&#10;AI-generated content may be incorrect.">
              <a:extLst>
                <a:ext uri="{FF2B5EF4-FFF2-40B4-BE49-F238E27FC236}">
                  <a16:creationId xmlns:a16="http://schemas.microsoft.com/office/drawing/2014/main" id="{2168505D-8C50-6482-1061-CCD0D7E1F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76"/>
            <a:stretch>
              <a:fillRect/>
            </a:stretch>
          </p:blipFill>
          <p:spPr>
            <a:xfrm>
              <a:off x="361456" y="2571750"/>
              <a:ext cx="1172135" cy="96223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764693-8EA6-24DE-74BA-B9A44ADBBC90}"/>
                </a:ext>
              </a:extLst>
            </p:cNvPr>
            <p:cNvSpPr txBox="1"/>
            <p:nvPr/>
          </p:nvSpPr>
          <p:spPr>
            <a:xfrm>
              <a:off x="222661" y="3555175"/>
              <a:ext cx="146214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rgbClr val="16693F"/>
                  </a:solidFill>
                </a:rPr>
                <a:t>Classic Client</a:t>
              </a: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74FB16-A259-792B-1B14-6A4B4D4B56B7}"/>
              </a:ext>
            </a:extLst>
          </p:cNvPr>
          <p:cNvCxnSpPr>
            <a:cxnSpLocks/>
          </p:cNvCxnSpPr>
          <p:nvPr/>
        </p:nvCxnSpPr>
        <p:spPr>
          <a:xfrm flipH="1">
            <a:off x="2289951" y="1782731"/>
            <a:ext cx="750129" cy="4175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4794F5-CA2B-B022-B162-D2BFD0A9ADDA}"/>
              </a:ext>
            </a:extLst>
          </p:cNvPr>
          <p:cNvCxnSpPr>
            <a:cxnSpLocks/>
          </p:cNvCxnSpPr>
          <p:nvPr/>
        </p:nvCxnSpPr>
        <p:spPr>
          <a:xfrm flipH="1">
            <a:off x="2284987" y="3325910"/>
            <a:ext cx="750129" cy="4175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E29F4F-365F-09AF-33D5-565170E232BF}"/>
              </a:ext>
            </a:extLst>
          </p:cNvPr>
          <p:cNvGrpSpPr/>
          <p:nvPr/>
        </p:nvGrpSpPr>
        <p:grpSpPr>
          <a:xfrm>
            <a:off x="3252406" y="1560525"/>
            <a:ext cx="2879769" cy="2002285"/>
            <a:chOff x="2285998" y="727363"/>
            <a:chExt cx="2879769" cy="200228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6DF485-9031-9292-234D-B44E895205D4}"/>
                </a:ext>
              </a:extLst>
            </p:cNvPr>
            <p:cNvSpPr/>
            <p:nvPr/>
          </p:nvSpPr>
          <p:spPr>
            <a:xfrm>
              <a:off x="2285999" y="727363"/>
              <a:ext cx="2879768" cy="2002285"/>
            </a:xfrm>
            <a:prstGeom prst="rect">
              <a:avLst/>
            </a:prstGeom>
            <a:noFill/>
            <a:ln>
              <a:solidFill>
                <a:srgbClr val="1669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">
              <a:extLst>
                <a:ext uri="{FF2B5EF4-FFF2-40B4-BE49-F238E27FC236}">
                  <a16:creationId xmlns:a16="http://schemas.microsoft.com/office/drawing/2014/main" id="{659CE29C-6CD6-1679-E08E-CB07242EA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704" y="1254005"/>
              <a:ext cx="1930059" cy="463483"/>
            </a:xfrm>
            <a:prstGeom prst="roundRect">
              <a:avLst>
                <a:gd name="adj" fmla="val 16667"/>
              </a:avLst>
            </a:prstGeom>
            <a:solidFill>
              <a:srgbClr val="297B49"/>
            </a:solidFill>
            <a:ln>
              <a:noFill/>
            </a:ln>
          </p:spPr>
          <p:txBody>
            <a:bodyPr lIns="91440" tIns="45720" rIns="91440" bIns="4572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altLang="en-US" sz="1500">
                  <a:solidFill>
                    <a:schemeClr val="bg1"/>
                  </a:solidFill>
                  <a:latin typeface="Arial"/>
                </a:rPr>
                <a:t>JSON of Graph</a:t>
              </a:r>
              <a:endParaRPr lang="en-US" altLang="en-US" sz="1500">
                <a:solidFill>
                  <a:schemeClr val="bg1"/>
                </a:solidFill>
              </a:endParaRPr>
            </a:p>
          </p:txBody>
        </p:sp>
        <p:sp>
          <p:nvSpPr>
            <p:cNvPr id="25" name="Rounded Rectangle 1">
              <a:extLst>
                <a:ext uri="{FF2B5EF4-FFF2-40B4-BE49-F238E27FC236}">
                  <a16:creationId xmlns:a16="http://schemas.microsoft.com/office/drawing/2014/main" id="{972179DB-9E33-E3F6-92BF-72386988D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6975" y="2046333"/>
              <a:ext cx="2301163" cy="466344"/>
            </a:xfrm>
            <a:prstGeom prst="roundRect">
              <a:avLst>
                <a:gd name="adj" fmla="val 16667"/>
              </a:avLst>
            </a:prstGeom>
            <a:solidFill>
              <a:srgbClr val="297B49"/>
            </a:solidFill>
            <a:ln>
              <a:noFill/>
            </a:ln>
          </p:spPr>
          <p:txBody>
            <a:bodyPr lIns="91440" tIns="45720" rIns="91440" bIns="4572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1pPr>
              <a:lvl2pPr marL="742950" marR="0" lvl="1" indent="-28575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2pPr>
              <a:lvl3pPr marL="1143000" marR="0" lvl="2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3pPr>
              <a:lvl4pPr marL="1600200" marR="0" lvl="3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4pPr>
              <a:lvl5pPr marL="2057400" marR="0" lvl="4" indent="-228600" algn="l" rtl="0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5pPr>
              <a:lvl6pPr marL="2514600" marR="0" lvl="5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6pPr>
              <a:lvl7pPr marL="2971800" marR="0" lvl="6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7pPr>
              <a:lvl8pPr marL="3429000" marR="0" lvl="7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8pPr>
              <a:lvl9pPr marL="3886200" marR="0" lvl="8" indent="-228600" algn="l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2400" b="1" i="0" u="none" strike="noStrike" cap="none">
                  <a:solidFill>
                    <a:schemeClr val="tx1"/>
                  </a:solidFill>
                  <a:latin typeface="Arial" pitchFamily="34" charset="0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altLang="en-US" sz="1500">
                  <a:solidFill>
                    <a:schemeClr val="bg1"/>
                  </a:solidFill>
                  <a:latin typeface="Arial"/>
                </a:rPr>
                <a:t>Downloadable Files</a:t>
              </a:r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85F5FFD-F5C8-F17C-AD5A-048E3976C81C}"/>
                </a:ext>
              </a:extLst>
            </p:cNvPr>
            <p:cNvSpPr txBox="1"/>
            <p:nvPr/>
          </p:nvSpPr>
          <p:spPr>
            <a:xfrm>
              <a:off x="2285998" y="779318"/>
              <a:ext cx="2879767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b="1">
                  <a:solidFill>
                    <a:srgbClr val="16693F"/>
                  </a:solidFill>
                </a:rPr>
                <a:t>Workers Response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B83B4D-C1B8-4EE9-3477-C458DC7D9054}"/>
              </a:ext>
            </a:extLst>
          </p:cNvPr>
          <p:cNvCxnSpPr>
            <a:cxnSpLocks/>
          </p:cNvCxnSpPr>
          <p:nvPr/>
        </p:nvCxnSpPr>
        <p:spPr>
          <a:xfrm flipH="1">
            <a:off x="6304873" y="2561668"/>
            <a:ext cx="750129" cy="4175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Graphic 3" descr="Programmer female with solid fill">
            <a:extLst>
              <a:ext uri="{FF2B5EF4-FFF2-40B4-BE49-F238E27FC236}">
                <a16:creationId xmlns:a16="http://schemas.microsoft.com/office/drawing/2014/main" id="{3C070E03-7042-06B1-ABD8-E7519A5EA5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7700" y="1781757"/>
            <a:ext cx="1295202" cy="12952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D3EE04-90F6-8DB7-C6D4-6BD355ADCE79}"/>
              </a:ext>
            </a:extLst>
          </p:cNvPr>
          <p:cNvSpPr txBox="1"/>
          <p:nvPr/>
        </p:nvSpPr>
        <p:spPr>
          <a:xfrm>
            <a:off x="7125392" y="3116177"/>
            <a:ext cx="146214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16693F"/>
                </a:solidFill>
              </a:rPr>
              <a:t>API Server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34791-F8DB-0399-6439-2C02AB641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448" y="3614766"/>
            <a:ext cx="3366552" cy="151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69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95D9D2F-0C87-B074-89FF-C0B2AD1C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F90FC18A-3DCD-19E9-A0FC-51517C36F3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527" y="182034"/>
            <a:ext cx="8520600" cy="810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solidFill>
                  <a:srgbClr val="16693F"/>
                </a:solidFill>
              </a:rPr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5C7D-C9D0-919B-2068-EF753287A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293" y="585777"/>
            <a:ext cx="8285598" cy="4372102"/>
          </a:xfrm>
        </p:spPr>
        <p:txBody>
          <a:bodyPr>
            <a:normAutofit/>
          </a:bodyPr>
          <a:lstStyle/>
          <a:p>
            <a:pPr>
              <a:lnSpc>
                <a:spcPct val="114999"/>
              </a:lnSpc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GRNsight is an open-source tool that allows for easier visualization of </a:t>
            </a:r>
          </a:p>
          <a:p>
            <a:pPr marL="463550" indent="0">
              <a:lnSpc>
                <a:spcPct val="114999"/>
              </a:lnSpc>
              <a:buNone/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Gene Regulatory Networks (GRN) and Protein-Protein Interactions (PPI).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GRNsight is an integral part of a data analysis workflow for biologists who model GRNs. </a:t>
            </a:r>
          </a:p>
          <a:p>
            <a:pPr>
              <a:lnSpc>
                <a:spcPct val="114999"/>
              </a:lnSpc>
            </a:pPr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GRNsight’s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interface was originally built using older web tools, leading to repeated code and making user interface updates difficult.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 have migrated </a:t>
            </a:r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GRNsight’s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user interface to React, Vite, and Grommet UI which are modern, scalable, and industry-standard frameworks.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GRNsight React migration has resulted in user interface improvements and bug fixes that enhance the user experience for biologists.</a:t>
            </a:r>
          </a:p>
        </p:txBody>
      </p:sp>
    </p:spTree>
    <p:extLst>
      <p:ext uri="{BB962C8B-B14F-4D97-AF65-F5344CB8AC3E}">
        <p14:creationId xmlns:p14="http://schemas.microsoft.com/office/powerpoint/2010/main" val="1613197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DB5068-EED0-90FC-366E-AABCF8D54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9614" y="800100"/>
            <a:ext cx="2737476" cy="4213957"/>
          </a:xfrm>
          <a:prstGeom prst="rect">
            <a:avLst/>
          </a:prstGeom>
        </p:spPr>
      </p:pic>
      <p:sp>
        <p:nvSpPr>
          <p:cNvPr id="7" name="Right Arrow 15">
            <a:extLst>
              <a:ext uri="{FF2B5EF4-FFF2-40B4-BE49-F238E27FC236}">
                <a16:creationId xmlns:a16="http://schemas.microsoft.com/office/drawing/2014/main" id="{B6140167-E24D-C783-E9D6-0EAA92813965}"/>
              </a:ext>
            </a:extLst>
          </p:cNvPr>
          <p:cNvSpPr/>
          <p:nvPr/>
        </p:nvSpPr>
        <p:spPr>
          <a:xfrm>
            <a:off x="5481270" y="1448965"/>
            <a:ext cx="593889" cy="332918"/>
          </a:xfrm>
          <a:prstGeom prst="rightArrow">
            <a:avLst/>
          </a:prstGeom>
          <a:solidFill>
            <a:srgbClr val="1669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DF7504-377D-EB6B-17D9-9815A02209FE}"/>
              </a:ext>
            </a:extLst>
          </p:cNvPr>
          <p:cNvSpPr txBox="1"/>
          <p:nvPr/>
        </p:nvSpPr>
        <p:spPr>
          <a:xfrm>
            <a:off x="172308" y="115869"/>
            <a:ext cx="8799384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16693F"/>
                </a:solidFill>
                <a:ea typeface="Sans Serif Collection"/>
                <a:cs typeface="Sans Serif Collection"/>
              </a:rPr>
              <a:t>React streamlined the fast implementation of collapsible side panels</a:t>
            </a:r>
            <a:endParaRPr lang="en-US" dirty="0">
              <a:ea typeface="Sans Serif Collectio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D3ACC-BEA3-4827-8DBB-33182141FA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94"/>
          <a:stretch>
            <a:fillRect/>
          </a:stretch>
        </p:blipFill>
        <p:spPr>
          <a:xfrm>
            <a:off x="3930927" y="867265"/>
            <a:ext cx="1709213" cy="41456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391042-685D-753A-12D5-B22A6CF1F9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5158" y="845378"/>
            <a:ext cx="2484641" cy="417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352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C98CB-4BC1-82C4-2838-7395E074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6AF48-5301-501C-8CD0-A1061CA50DAF}"/>
              </a:ext>
            </a:extLst>
          </p:cNvPr>
          <p:cNvSpPr txBox="1"/>
          <p:nvPr/>
        </p:nvSpPr>
        <p:spPr>
          <a:xfrm>
            <a:off x="1062824" y="4470102"/>
            <a:ext cx="3008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Classic Arrowheads with space between the perimeter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1C9DD-05AC-1535-FF25-1282EFD43026}"/>
              </a:ext>
            </a:extLst>
          </p:cNvPr>
          <p:cNvSpPr txBox="1"/>
          <p:nvPr/>
        </p:nvSpPr>
        <p:spPr>
          <a:xfrm>
            <a:off x="172308" y="108693"/>
            <a:ext cx="879938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16693F"/>
                </a:solidFill>
                <a:ea typeface="Sans Serif Collection"/>
                <a:cs typeface="Sans Serif Collection"/>
              </a:rPr>
              <a:t>The high-level code review facilitated the fixing of a long-standing arrowhead bug in GRNsight Classic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91E86A-0459-5819-43EC-676A4F724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59796" y="1449214"/>
            <a:ext cx="2763403" cy="2800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031473-3CBB-0824-8B5F-B8DE6EEC6A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5524" y="1544120"/>
            <a:ext cx="3008681" cy="2716114"/>
          </a:xfrm>
          <a:prstGeom prst="rect">
            <a:avLst/>
          </a:prstGeom>
        </p:spPr>
      </p:pic>
      <p:sp>
        <p:nvSpPr>
          <p:cNvPr id="5" name="Donut 4">
            <a:extLst>
              <a:ext uri="{FF2B5EF4-FFF2-40B4-BE49-F238E27FC236}">
                <a16:creationId xmlns:a16="http://schemas.microsoft.com/office/drawing/2014/main" id="{C1F9B2C0-1590-1883-4708-76B396E463B6}"/>
              </a:ext>
            </a:extLst>
          </p:cNvPr>
          <p:cNvSpPr/>
          <p:nvPr/>
        </p:nvSpPr>
        <p:spPr>
          <a:xfrm>
            <a:off x="2732290" y="2025073"/>
            <a:ext cx="591810" cy="659959"/>
          </a:xfrm>
          <a:prstGeom prst="donut">
            <a:avLst>
              <a:gd name="adj" fmla="val 11538"/>
            </a:avLst>
          </a:prstGeom>
          <a:solidFill>
            <a:srgbClr val="16693F">
              <a:alpha val="90000"/>
            </a:srgbClr>
          </a:solidFill>
          <a:ln>
            <a:solidFill>
              <a:srgbClr val="1669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14C99-F3FC-D979-7654-409A61D38730}"/>
              </a:ext>
            </a:extLst>
          </p:cNvPr>
          <p:cNvSpPr txBox="1"/>
          <p:nvPr/>
        </p:nvSpPr>
        <p:spPr>
          <a:xfrm>
            <a:off x="5594959" y="4451331"/>
            <a:ext cx="3008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React Arrowheads touching the perimeter of the node</a:t>
            </a:r>
          </a:p>
        </p:txBody>
      </p:sp>
      <p:sp>
        <p:nvSpPr>
          <p:cNvPr id="13" name="Donut 12">
            <a:extLst>
              <a:ext uri="{FF2B5EF4-FFF2-40B4-BE49-F238E27FC236}">
                <a16:creationId xmlns:a16="http://schemas.microsoft.com/office/drawing/2014/main" id="{762956D2-C6AE-D148-665B-AFC8C15D44A0}"/>
              </a:ext>
            </a:extLst>
          </p:cNvPr>
          <p:cNvSpPr/>
          <p:nvPr/>
        </p:nvSpPr>
        <p:spPr>
          <a:xfrm>
            <a:off x="6434685" y="2006599"/>
            <a:ext cx="664615" cy="698059"/>
          </a:xfrm>
          <a:prstGeom prst="donut">
            <a:avLst>
              <a:gd name="adj" fmla="val 11538"/>
            </a:avLst>
          </a:prstGeom>
          <a:solidFill>
            <a:srgbClr val="16693F">
              <a:alpha val="90000"/>
            </a:srgbClr>
          </a:solidFill>
          <a:ln>
            <a:solidFill>
              <a:srgbClr val="1669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479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D2548-B9CD-8408-15BF-0EF8AC39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2868F8-B63D-338D-77A8-3B1D52797B8B}"/>
              </a:ext>
            </a:extLst>
          </p:cNvPr>
          <p:cNvSpPr txBox="1"/>
          <p:nvPr/>
        </p:nvSpPr>
        <p:spPr>
          <a:xfrm>
            <a:off x="176414" y="135974"/>
            <a:ext cx="879938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16693F"/>
                </a:solidFill>
                <a:ea typeface="Sans Serif Collection"/>
              </a:rPr>
              <a:t>Automated deployment of React app makes release process simpler and less manual</a:t>
            </a:r>
            <a:endParaRPr lang="en-US" sz="2000" dirty="0">
              <a:ea typeface="Sans Serif Collectio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8DD60C-17C8-E4A3-6F3D-90EBA6CCF8D9}"/>
              </a:ext>
            </a:extLst>
          </p:cNvPr>
          <p:cNvSpPr txBox="1"/>
          <p:nvPr/>
        </p:nvSpPr>
        <p:spPr>
          <a:xfrm>
            <a:off x="2600773" y="4576853"/>
            <a:ext cx="116120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6693F"/>
                </a:solidFill>
              </a:rPr>
              <a:t>Classic</a:t>
            </a:r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607C8DF8-87A3-20D5-9661-34BBB3315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845" y="1080929"/>
            <a:ext cx="1680861" cy="560299"/>
          </a:xfrm>
          <a:prstGeom prst="roundRect">
            <a:avLst>
              <a:gd name="adj" fmla="val 16667"/>
            </a:avLst>
          </a:prstGeom>
          <a:solidFill>
            <a:srgbClr val="297B49"/>
          </a:solidFill>
          <a:ln>
            <a:noFill/>
          </a:ln>
        </p:spPr>
        <p:txBody>
          <a:bodyPr lIns="91440" tIns="45720" rIns="91440" bIns="4572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1pPr>
            <a:lvl2pPr marL="742950" marR="0" lvl="1" indent="-28575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2pPr>
            <a:lvl3pPr marL="1143000" marR="0" lvl="2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3pPr>
            <a:lvl4pPr marL="1600200" marR="0" lvl="3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4pPr>
            <a:lvl5pPr marL="2057400" marR="0" lvl="4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5pPr>
            <a:lvl6pPr marL="2514600" marR="0" lvl="5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6pPr>
            <a:lvl7pPr marL="2971800" marR="0" lvl="6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7pPr>
            <a:lvl8pPr marL="3429000" marR="0" lvl="7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8pPr>
            <a:lvl9pPr marL="3886200" marR="0" lvl="8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sz="1500" dirty="0">
                <a:solidFill>
                  <a:schemeClr val="bg1"/>
                </a:solidFill>
                <a:latin typeface="Arial"/>
              </a:rPr>
              <a:t>Developer finishes code</a:t>
            </a:r>
            <a:endParaRPr lang="en-US" dirty="0"/>
          </a:p>
        </p:txBody>
      </p:sp>
      <p:sp>
        <p:nvSpPr>
          <p:cNvPr id="13" name="Rounded Rectangle 1">
            <a:extLst>
              <a:ext uri="{FF2B5EF4-FFF2-40B4-BE49-F238E27FC236}">
                <a16:creationId xmlns:a16="http://schemas.microsoft.com/office/drawing/2014/main" id="{FCE53D60-A10F-5631-59DD-A26938B3F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8845" y="1961657"/>
            <a:ext cx="1680861" cy="560299"/>
          </a:xfrm>
          <a:prstGeom prst="roundRect">
            <a:avLst>
              <a:gd name="adj" fmla="val 16667"/>
            </a:avLst>
          </a:prstGeom>
          <a:solidFill>
            <a:srgbClr val="297B49"/>
          </a:solidFill>
          <a:ln>
            <a:noFill/>
          </a:ln>
        </p:spPr>
        <p:txBody>
          <a:bodyPr lIns="91440" tIns="45720" rIns="91440" bIns="4572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1pPr>
            <a:lvl2pPr marL="742950" marR="0" lvl="1" indent="-28575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2pPr>
            <a:lvl3pPr marL="1143000" marR="0" lvl="2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3pPr>
            <a:lvl4pPr marL="1600200" marR="0" lvl="3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4pPr>
            <a:lvl5pPr marL="2057400" marR="0" lvl="4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5pPr>
            <a:lvl6pPr marL="2514600" marR="0" lvl="5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6pPr>
            <a:lvl7pPr marL="2971800" marR="0" lvl="6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7pPr>
            <a:lvl8pPr marL="3429000" marR="0" lvl="7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8pPr>
            <a:lvl9pPr marL="3886200" marR="0" lvl="8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sz="1500" dirty="0">
                <a:solidFill>
                  <a:schemeClr val="bg1"/>
                </a:solidFill>
                <a:latin typeface="Arial"/>
              </a:rPr>
              <a:t>Push code to GitHub Repo</a:t>
            </a:r>
            <a:endParaRPr lang="en-US" dirty="0"/>
          </a:p>
        </p:txBody>
      </p:sp>
      <p:sp>
        <p:nvSpPr>
          <p:cNvPr id="14" name="Rounded Rectangle 1">
            <a:extLst>
              <a:ext uri="{FF2B5EF4-FFF2-40B4-BE49-F238E27FC236}">
                <a16:creationId xmlns:a16="http://schemas.microsoft.com/office/drawing/2014/main" id="{58ADF09E-976D-D7F5-E38B-5DE36116D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8958" y="2886166"/>
            <a:ext cx="2120634" cy="763534"/>
          </a:xfrm>
          <a:prstGeom prst="roundRect">
            <a:avLst>
              <a:gd name="adj" fmla="val 16667"/>
            </a:avLst>
          </a:prstGeom>
          <a:solidFill>
            <a:srgbClr val="297B49"/>
          </a:solidFill>
          <a:ln>
            <a:noFill/>
          </a:ln>
        </p:spPr>
        <p:txBody>
          <a:bodyPr lIns="91440" tIns="45720" rIns="91440" bIns="4572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1pPr>
            <a:lvl2pPr marL="742950" marR="0" lvl="1" indent="-28575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2pPr>
            <a:lvl3pPr marL="1143000" marR="0" lvl="2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3pPr>
            <a:lvl4pPr marL="1600200" marR="0" lvl="3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4pPr>
            <a:lvl5pPr marL="2057400" marR="0" lvl="4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5pPr>
            <a:lvl6pPr marL="2514600" marR="0" lvl="5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6pPr>
            <a:lvl7pPr marL="2971800" marR="0" lvl="6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7pPr>
            <a:lvl8pPr marL="3429000" marR="0" lvl="7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8pPr>
            <a:lvl9pPr marL="3886200" marR="0" lvl="8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sz="1500" dirty="0">
                <a:solidFill>
                  <a:schemeClr val="bg1"/>
                </a:solidFill>
                <a:latin typeface="Arial"/>
              </a:rPr>
              <a:t>Automated GitHub Action creates build and deploys</a:t>
            </a:r>
            <a:endParaRPr lang="en-US" dirty="0"/>
          </a:p>
        </p:txBody>
      </p:sp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7CBD2B3B-911C-7F06-ACB6-A0AE4D6CA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326" y="3958262"/>
            <a:ext cx="1867898" cy="549170"/>
          </a:xfrm>
          <a:prstGeom prst="roundRect">
            <a:avLst>
              <a:gd name="adj" fmla="val 16667"/>
            </a:avLst>
          </a:prstGeom>
          <a:solidFill>
            <a:srgbClr val="297B49"/>
          </a:solidFill>
          <a:ln>
            <a:noFill/>
          </a:ln>
        </p:spPr>
        <p:txBody>
          <a:bodyPr lIns="91440" tIns="45720" rIns="91440" bIns="4572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1pPr>
            <a:lvl2pPr marL="742950" marR="0" lvl="1" indent="-28575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2pPr>
            <a:lvl3pPr marL="1143000" marR="0" lvl="2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3pPr>
            <a:lvl4pPr marL="1600200" marR="0" lvl="3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4pPr>
            <a:lvl5pPr marL="2057400" marR="0" lvl="4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5pPr>
            <a:lvl6pPr marL="2514600" marR="0" lvl="5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6pPr>
            <a:lvl7pPr marL="2971800" marR="0" lvl="6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7pPr>
            <a:lvl8pPr marL="3429000" marR="0" lvl="7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8pPr>
            <a:lvl9pPr marL="3886200" marR="0" lvl="8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sz="1500" dirty="0">
                <a:solidFill>
                  <a:schemeClr val="bg1"/>
                </a:solidFill>
                <a:latin typeface="Arial"/>
              </a:rPr>
              <a:t>GitHub Pages Live Application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27E240-421A-B128-915C-C21555B63663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6119276" y="1641228"/>
            <a:ext cx="0" cy="320429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83C497-145B-9663-6C62-F3217C8DD82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6119275" y="2521956"/>
            <a:ext cx="1" cy="364210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1B2A52-2D0C-063E-7975-AE073D29E76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6119275" y="3649700"/>
            <a:ext cx="0" cy="308562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6597E5D-02A3-4DE3-1B38-9C94B994764D}"/>
              </a:ext>
            </a:extLst>
          </p:cNvPr>
          <p:cNvSpPr txBox="1"/>
          <p:nvPr/>
        </p:nvSpPr>
        <p:spPr>
          <a:xfrm>
            <a:off x="5538673" y="4596396"/>
            <a:ext cx="116120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6693F"/>
                </a:solidFill>
              </a:rPr>
              <a:t>React</a:t>
            </a:r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0A07CEE4-371A-2924-1E26-BD4B841F6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0945" y="1061386"/>
            <a:ext cx="1680861" cy="560299"/>
          </a:xfrm>
          <a:prstGeom prst="roundRect">
            <a:avLst>
              <a:gd name="adj" fmla="val 16667"/>
            </a:avLst>
          </a:prstGeom>
          <a:solidFill>
            <a:srgbClr val="297B49"/>
          </a:solidFill>
          <a:ln>
            <a:noFill/>
          </a:ln>
        </p:spPr>
        <p:txBody>
          <a:bodyPr lIns="91440" tIns="45720" rIns="91440" bIns="4572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1pPr>
            <a:lvl2pPr marL="742950" marR="0" lvl="1" indent="-28575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2pPr>
            <a:lvl3pPr marL="1143000" marR="0" lvl="2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3pPr>
            <a:lvl4pPr marL="1600200" marR="0" lvl="3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4pPr>
            <a:lvl5pPr marL="2057400" marR="0" lvl="4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5pPr>
            <a:lvl6pPr marL="2514600" marR="0" lvl="5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6pPr>
            <a:lvl7pPr marL="2971800" marR="0" lvl="6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7pPr>
            <a:lvl8pPr marL="3429000" marR="0" lvl="7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8pPr>
            <a:lvl9pPr marL="3886200" marR="0" lvl="8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sz="1500" dirty="0">
                <a:solidFill>
                  <a:schemeClr val="bg1"/>
                </a:solidFill>
                <a:latin typeface="Arial"/>
              </a:rPr>
              <a:t>Developer finishes code</a:t>
            </a:r>
            <a:endParaRPr lang="en-US" dirty="0"/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A21CF58F-CBFD-E9FA-89E8-A6B74E9EA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0945" y="1942114"/>
            <a:ext cx="1680861" cy="560299"/>
          </a:xfrm>
          <a:prstGeom prst="roundRect">
            <a:avLst>
              <a:gd name="adj" fmla="val 16667"/>
            </a:avLst>
          </a:prstGeom>
          <a:solidFill>
            <a:srgbClr val="297B49"/>
          </a:solidFill>
          <a:ln>
            <a:noFill/>
          </a:ln>
        </p:spPr>
        <p:txBody>
          <a:bodyPr lIns="91440" tIns="45720" rIns="91440" bIns="4572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1pPr>
            <a:lvl2pPr marL="742950" marR="0" lvl="1" indent="-28575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2pPr>
            <a:lvl3pPr marL="1143000" marR="0" lvl="2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3pPr>
            <a:lvl4pPr marL="1600200" marR="0" lvl="3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4pPr>
            <a:lvl5pPr marL="2057400" marR="0" lvl="4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5pPr>
            <a:lvl6pPr marL="2514600" marR="0" lvl="5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6pPr>
            <a:lvl7pPr marL="2971800" marR="0" lvl="6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7pPr>
            <a:lvl8pPr marL="3429000" marR="0" lvl="7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8pPr>
            <a:lvl9pPr marL="3886200" marR="0" lvl="8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sz="1500" dirty="0">
                <a:solidFill>
                  <a:schemeClr val="bg1"/>
                </a:solidFill>
                <a:latin typeface="Arial"/>
              </a:rPr>
              <a:t>Push code to GitHub Repo</a:t>
            </a:r>
            <a:endParaRPr lang="en-US" dirty="0"/>
          </a:p>
        </p:txBody>
      </p:sp>
      <p:sp>
        <p:nvSpPr>
          <p:cNvPr id="24" name="Rounded Rectangle 1">
            <a:extLst>
              <a:ext uri="{FF2B5EF4-FFF2-40B4-BE49-F238E27FC236}">
                <a16:creationId xmlns:a16="http://schemas.microsoft.com/office/drawing/2014/main" id="{9797A911-46EE-DA13-D9E2-6B0AAE0D9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294" y="2791431"/>
            <a:ext cx="1999129" cy="858269"/>
          </a:xfrm>
          <a:prstGeom prst="roundRect">
            <a:avLst>
              <a:gd name="adj" fmla="val 16667"/>
            </a:avLst>
          </a:prstGeom>
          <a:solidFill>
            <a:srgbClr val="297B49"/>
          </a:solidFill>
          <a:ln>
            <a:noFill/>
          </a:ln>
        </p:spPr>
        <p:txBody>
          <a:bodyPr lIns="91440" tIns="45720" rIns="91440" bIns="4572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1pPr>
            <a:lvl2pPr marL="742950" marR="0" lvl="1" indent="-28575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2pPr>
            <a:lvl3pPr marL="1143000" marR="0" lvl="2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3pPr>
            <a:lvl4pPr marL="1600200" marR="0" lvl="3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4pPr>
            <a:lvl5pPr marL="2057400" marR="0" lvl="4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5pPr>
            <a:lvl6pPr marL="2514600" marR="0" lvl="5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6pPr>
            <a:lvl7pPr marL="2971800" marR="0" lvl="6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7pPr>
            <a:lvl8pPr marL="3429000" marR="0" lvl="7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8pPr>
            <a:lvl9pPr marL="3886200" marR="0" lvl="8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sz="1500" dirty="0">
                <a:solidFill>
                  <a:schemeClr val="bg1"/>
                </a:solidFill>
                <a:latin typeface="Arial"/>
              </a:rPr>
              <a:t>Manually pull code from main/beta</a:t>
            </a:r>
          </a:p>
          <a:p>
            <a:pPr algn="ctr"/>
            <a:r>
              <a:rPr lang="en-US" altLang="en-US" sz="1500" dirty="0">
                <a:solidFill>
                  <a:schemeClr val="bg1"/>
                </a:solidFill>
                <a:latin typeface="Arial"/>
              </a:rPr>
              <a:t>to server</a:t>
            </a:r>
            <a:endParaRPr lang="en-US" dirty="0"/>
          </a:p>
        </p:txBody>
      </p:sp>
      <p:sp>
        <p:nvSpPr>
          <p:cNvPr id="25" name="Rounded Rectangle 1">
            <a:extLst>
              <a:ext uri="{FF2B5EF4-FFF2-40B4-BE49-F238E27FC236}">
                <a16:creationId xmlns:a16="http://schemas.microsoft.com/office/drawing/2014/main" id="{F35BDA21-00B3-D370-5207-420475EAC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426" y="3938719"/>
            <a:ext cx="1867898" cy="549170"/>
          </a:xfrm>
          <a:prstGeom prst="roundRect">
            <a:avLst>
              <a:gd name="adj" fmla="val 16667"/>
            </a:avLst>
          </a:prstGeom>
          <a:solidFill>
            <a:srgbClr val="297B49"/>
          </a:solidFill>
          <a:ln>
            <a:noFill/>
          </a:ln>
        </p:spPr>
        <p:txBody>
          <a:bodyPr lIns="91440" tIns="45720" rIns="91440" bIns="4572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1pPr>
            <a:lvl2pPr marL="742950" marR="0" lvl="1" indent="-28575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2pPr>
            <a:lvl3pPr marL="1143000" marR="0" lvl="2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3pPr>
            <a:lvl4pPr marL="1600200" marR="0" lvl="3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4pPr>
            <a:lvl5pPr marL="2057400" marR="0" lvl="4" indent="-228600" algn="l" rtl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5pPr>
            <a:lvl6pPr marL="2514600" marR="0" lvl="5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6pPr>
            <a:lvl7pPr marL="2971800" marR="0" lvl="6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7pPr>
            <a:lvl8pPr marL="3429000" marR="0" lvl="7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8pPr>
            <a:lvl9pPr marL="3886200" marR="0" lvl="8" indent="-2286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2400" b="1" i="0" u="none" strike="noStrike" cap="none">
                <a:solidFill>
                  <a:schemeClr val="tx1"/>
                </a:solidFill>
                <a:latin typeface="Arial" pitchFamily="34" charset="0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sz="1500" dirty="0">
                <a:solidFill>
                  <a:schemeClr val="bg1"/>
                </a:solidFill>
                <a:latin typeface="Arial"/>
              </a:rPr>
              <a:t>GitHub Pages Live Application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5A669E-4F22-D058-BA24-F68A0B18E620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3181376" y="1621685"/>
            <a:ext cx="0" cy="320429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806F240-D550-2D80-7450-A21F9D7EA0C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3181376" y="2502413"/>
            <a:ext cx="2483" cy="289018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235850-CBE6-7E54-3133-3B19AAF7AEA7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3181375" y="3649700"/>
            <a:ext cx="2484" cy="289019"/>
          </a:xfrm>
          <a:prstGeom prst="straightConnector1">
            <a:avLst/>
          </a:prstGeom>
          <a:ln>
            <a:solidFill>
              <a:srgbClr val="16693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80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C559-A443-B911-E39A-F0C3754C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D4A420-3432-AC02-C5ED-4B213B9E9D80}"/>
              </a:ext>
            </a:extLst>
          </p:cNvPr>
          <p:cNvSpPr txBox="1"/>
          <p:nvPr/>
        </p:nvSpPr>
        <p:spPr>
          <a:xfrm>
            <a:off x="172308" y="192052"/>
            <a:ext cx="8799384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16693F"/>
                </a:solidFill>
                <a:ea typeface="Sans Serif Collection"/>
                <a:cs typeface="Sans Serif Collection"/>
              </a:rPr>
              <a:t>Future Work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626FFF6-E6A3-CEE7-B015-A4DC4DB7CAAB}"/>
                  </a:ext>
                </a:extLst>
              </p14:cNvPr>
              <p14:cNvContentPartPr/>
              <p14:nvPr/>
            </p14:nvContentPartPr>
            <p14:xfrm>
              <a:off x="7530730" y="465543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626FFF6-E6A3-CEE7-B015-A4DC4DB7CA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21730" y="456543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07BADD-D738-6428-7295-50D698F1C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702306"/>
              </p:ext>
            </p:extLst>
          </p:nvPr>
        </p:nvGraphicFramePr>
        <p:xfrm>
          <a:off x="1111353" y="813696"/>
          <a:ext cx="6921294" cy="3516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647">
                  <a:extLst>
                    <a:ext uri="{9D8B030D-6E8A-4147-A177-3AD203B41FA5}">
                      <a16:colId xmlns:a16="http://schemas.microsoft.com/office/drawing/2014/main" val="598336939"/>
                    </a:ext>
                  </a:extLst>
                </a:gridCol>
                <a:gridCol w="3460647">
                  <a:extLst>
                    <a:ext uri="{9D8B030D-6E8A-4147-A177-3AD203B41FA5}">
                      <a16:colId xmlns:a16="http://schemas.microsoft.com/office/drawing/2014/main" val="527331870"/>
                    </a:ext>
                  </a:extLst>
                </a:gridCol>
              </a:tblGrid>
              <a:tr h="107770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Migration</a:t>
                      </a:r>
                    </a:p>
                  </a:txBody>
                  <a:tcPr anchor="ctr">
                    <a:solidFill>
                      <a:srgbClr val="1669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/>
                        <a:t>Future Work</a:t>
                      </a:r>
                    </a:p>
                  </a:txBody>
                  <a:tcPr anchor="ctr">
                    <a:solidFill>
                      <a:srgbClr val="166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95524"/>
                  </a:ext>
                </a:extLst>
              </a:tr>
              <a:tr h="243840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 marL="182880" marT="18288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182880" marT="18288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271067"/>
                  </a:ext>
                </a:extLst>
              </a:tr>
            </a:tbl>
          </a:graphicData>
        </a:graphic>
      </p:graphicFrame>
      <p:grpSp>
        <p:nvGrpSpPr>
          <p:cNvPr id="3182" name="Group 3181">
            <a:extLst>
              <a:ext uri="{FF2B5EF4-FFF2-40B4-BE49-F238E27FC236}">
                <a16:creationId xmlns:a16="http://schemas.microsoft.com/office/drawing/2014/main" id="{DBFAC033-8D6B-A80A-3651-9902523A9314}"/>
              </a:ext>
            </a:extLst>
          </p:cNvPr>
          <p:cNvGrpSpPr/>
          <p:nvPr/>
        </p:nvGrpSpPr>
        <p:grpSpPr>
          <a:xfrm>
            <a:off x="1286167" y="2814392"/>
            <a:ext cx="2844619" cy="521208"/>
            <a:chOff x="1290126" y="3010575"/>
            <a:chExt cx="2844619" cy="52120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DA46809-C4C5-EB9A-52C1-4E716646E86A}"/>
                </a:ext>
              </a:extLst>
            </p:cNvPr>
            <p:cNvSpPr txBox="1"/>
            <p:nvPr/>
          </p:nvSpPr>
          <p:spPr>
            <a:xfrm>
              <a:off x="1885084" y="3114130"/>
              <a:ext cx="2249661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/>
                <a:t>Open File Tests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C1CF3F1-7114-1CDB-2749-2503109C1473}"/>
                </a:ext>
              </a:extLst>
            </p:cNvPr>
            <p:cNvGrpSpPr/>
            <p:nvPr/>
          </p:nvGrpSpPr>
          <p:grpSpPr>
            <a:xfrm>
              <a:off x="1290126" y="3010575"/>
              <a:ext cx="548640" cy="521208"/>
              <a:chOff x="323975" y="2849743"/>
              <a:chExt cx="548640" cy="521208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FC484D0-DFE0-649A-B340-A99B60743097}"/>
                  </a:ext>
                </a:extLst>
              </p:cNvPr>
              <p:cNvSpPr/>
              <p:nvPr/>
            </p:nvSpPr>
            <p:spPr>
              <a:xfrm>
                <a:off x="323975" y="2849743"/>
                <a:ext cx="548640" cy="521208"/>
              </a:xfrm>
              <a:prstGeom prst="ellipse">
                <a:avLst/>
              </a:prstGeom>
              <a:noFill/>
              <a:ln>
                <a:solidFill>
                  <a:srgbClr val="1669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" name="Graphic 27" descr="Folder Search with solid fill">
                <a:extLst>
                  <a:ext uri="{FF2B5EF4-FFF2-40B4-BE49-F238E27FC236}">
                    <a16:creationId xmlns:a16="http://schemas.microsoft.com/office/drawing/2014/main" id="{4A182471-AF62-C90C-AEA1-3E80C9AD8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87974" y="2898568"/>
                <a:ext cx="441174" cy="441174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BA9668F-725D-0078-228C-268D2005C7CC}"/>
                  </a:ext>
                </a:extLst>
              </p14:cNvPr>
              <p14:cNvContentPartPr/>
              <p14:nvPr/>
            </p14:nvContentPartPr>
            <p14:xfrm>
              <a:off x="6355726" y="764341"/>
              <a:ext cx="23040" cy="9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BA9668F-725D-0078-228C-268D2005C7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46726" y="755341"/>
                <a:ext cx="40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807E141-8D2A-8220-6643-0E446D6DA452}"/>
                  </a:ext>
                </a:extLst>
              </p14:cNvPr>
              <p14:cNvContentPartPr/>
              <p14:nvPr/>
            </p14:nvContentPartPr>
            <p14:xfrm>
              <a:off x="6452376" y="741693"/>
              <a:ext cx="108720" cy="19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807E141-8D2A-8220-6643-0E446D6DA4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43376" y="732693"/>
                <a:ext cx="1263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74" name="Group 3173">
            <a:extLst>
              <a:ext uri="{FF2B5EF4-FFF2-40B4-BE49-F238E27FC236}">
                <a16:creationId xmlns:a16="http://schemas.microsoft.com/office/drawing/2014/main" id="{92CA6E21-0307-38F2-9AEA-425B69881B67}"/>
              </a:ext>
            </a:extLst>
          </p:cNvPr>
          <p:cNvGrpSpPr/>
          <p:nvPr/>
        </p:nvGrpSpPr>
        <p:grpSpPr>
          <a:xfrm>
            <a:off x="1286167" y="1937689"/>
            <a:ext cx="2651656" cy="589670"/>
            <a:chOff x="465546" y="529949"/>
            <a:chExt cx="2651656" cy="589670"/>
          </a:xfrm>
        </p:grpSpPr>
        <p:sp>
          <p:nvSpPr>
            <p:cNvPr id="3175" name="TextBox 3174">
              <a:extLst>
                <a:ext uri="{FF2B5EF4-FFF2-40B4-BE49-F238E27FC236}">
                  <a16:creationId xmlns:a16="http://schemas.microsoft.com/office/drawing/2014/main" id="{D8D129AB-0717-A729-89A5-F769B0E410F5}"/>
                </a:ext>
              </a:extLst>
            </p:cNvPr>
            <p:cNvSpPr txBox="1"/>
            <p:nvPr/>
          </p:nvSpPr>
          <p:spPr>
            <a:xfrm>
              <a:off x="1084708" y="693979"/>
              <a:ext cx="2032494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/>
                <a:t>Node Coloring</a:t>
              </a:r>
            </a:p>
          </p:txBody>
        </p:sp>
        <p:grpSp>
          <p:nvGrpSpPr>
            <p:cNvPr id="3176" name="Group 3175">
              <a:extLst>
                <a:ext uri="{FF2B5EF4-FFF2-40B4-BE49-F238E27FC236}">
                  <a16:creationId xmlns:a16="http://schemas.microsoft.com/office/drawing/2014/main" id="{E3190DD8-52B3-8542-F5E5-1E8321A24AAC}"/>
                </a:ext>
              </a:extLst>
            </p:cNvPr>
            <p:cNvGrpSpPr/>
            <p:nvPr/>
          </p:nvGrpSpPr>
          <p:grpSpPr>
            <a:xfrm>
              <a:off x="465546" y="529949"/>
              <a:ext cx="548640" cy="589670"/>
              <a:chOff x="7669608" y="573657"/>
              <a:chExt cx="548640" cy="589670"/>
            </a:xfrm>
          </p:grpSpPr>
          <p:sp>
            <p:nvSpPr>
              <p:cNvPr id="3177" name="Oval 3176">
                <a:extLst>
                  <a:ext uri="{FF2B5EF4-FFF2-40B4-BE49-F238E27FC236}">
                    <a16:creationId xmlns:a16="http://schemas.microsoft.com/office/drawing/2014/main" id="{5DA394AE-6167-CE1B-A8C5-5E950ABF1727}"/>
                  </a:ext>
                </a:extLst>
              </p:cNvPr>
              <p:cNvSpPr/>
              <p:nvPr/>
            </p:nvSpPr>
            <p:spPr>
              <a:xfrm>
                <a:off x="7669608" y="642119"/>
                <a:ext cx="548640" cy="521208"/>
              </a:xfrm>
              <a:prstGeom prst="ellipse">
                <a:avLst/>
              </a:prstGeom>
              <a:noFill/>
              <a:ln>
                <a:solidFill>
                  <a:srgbClr val="1669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78" name="Group 3177">
                <a:extLst>
                  <a:ext uri="{FF2B5EF4-FFF2-40B4-BE49-F238E27FC236}">
                    <a16:creationId xmlns:a16="http://schemas.microsoft.com/office/drawing/2014/main" id="{62A211EB-EFAA-5AEF-7012-F7E325C1FA38}"/>
                  </a:ext>
                </a:extLst>
              </p:cNvPr>
              <p:cNvGrpSpPr/>
              <p:nvPr/>
            </p:nvGrpSpPr>
            <p:grpSpPr>
              <a:xfrm>
                <a:off x="7737567" y="573657"/>
                <a:ext cx="436524" cy="569681"/>
                <a:chOff x="6004628" y="1001268"/>
                <a:chExt cx="746379" cy="918914"/>
              </a:xfrm>
            </p:grpSpPr>
            <p:pic>
              <p:nvPicPr>
                <p:cNvPr id="3179" name="Graphic 3178" descr="Cloud with solid fill">
                  <a:extLst>
                    <a:ext uri="{FF2B5EF4-FFF2-40B4-BE49-F238E27FC236}">
                      <a16:creationId xmlns:a16="http://schemas.microsoft.com/office/drawing/2014/main" id="{A680BF33-9BEB-D56A-8F10-1141680943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04628" y="1001268"/>
                  <a:ext cx="746379" cy="704131"/>
                </a:xfrm>
                <a:prstGeom prst="rect">
                  <a:avLst/>
                </a:prstGeom>
              </p:spPr>
            </p:pic>
            <p:pic>
              <p:nvPicPr>
                <p:cNvPr id="3180" name="Graphic 3179" descr="Database with solid fill">
                  <a:extLst>
                    <a:ext uri="{FF2B5EF4-FFF2-40B4-BE49-F238E27FC236}">
                      <a16:creationId xmlns:a16="http://schemas.microsoft.com/office/drawing/2014/main" id="{495D641A-0C2A-37BE-2A43-A812BB9441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38046" y="1317511"/>
                  <a:ext cx="638834" cy="602671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D798876-F1F0-3D4B-1969-BBB2C0C068F5}"/>
              </a:ext>
            </a:extLst>
          </p:cNvPr>
          <p:cNvSpPr txBox="1"/>
          <p:nvPr/>
        </p:nvSpPr>
        <p:spPr>
          <a:xfrm>
            <a:off x="5317465" y="2029006"/>
            <a:ext cx="228136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/>
              <a:t>Integrate React app to main GRNsight application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15B356-4E46-60B1-F3DA-1DB8E3419AB6}"/>
              </a:ext>
            </a:extLst>
          </p:cNvPr>
          <p:cNvSpPr/>
          <p:nvPr/>
        </p:nvSpPr>
        <p:spPr>
          <a:xfrm>
            <a:off x="4716424" y="2013321"/>
            <a:ext cx="543789" cy="519204"/>
          </a:xfrm>
          <a:prstGeom prst="ellipse">
            <a:avLst/>
          </a:prstGeom>
          <a:noFill/>
          <a:ln>
            <a:solidFill>
              <a:srgbClr val="1669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Upload with solid fill">
            <a:extLst>
              <a:ext uri="{FF2B5EF4-FFF2-40B4-BE49-F238E27FC236}">
                <a16:creationId xmlns:a16="http://schemas.microsoft.com/office/drawing/2014/main" id="{136D1826-C481-88F8-4FA6-826481742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45083" y="2009952"/>
            <a:ext cx="493514" cy="49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26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8011003-5F42-F2F4-37AC-BAD98E8C1163}"/>
              </a:ext>
            </a:extLst>
          </p:cNvPr>
          <p:cNvGraphicFramePr/>
          <p:nvPr/>
        </p:nvGraphicFramePr>
        <p:xfrm>
          <a:off x="220762" y="1951876"/>
          <a:ext cx="8767790" cy="1196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14F43F-436F-4DF6-2F6C-BCDEA111EE17}"/>
              </a:ext>
            </a:extLst>
          </p:cNvPr>
          <p:cNvSpPr txBox="1"/>
          <p:nvPr/>
        </p:nvSpPr>
        <p:spPr>
          <a:xfrm>
            <a:off x="1493427" y="295956"/>
            <a:ext cx="646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1669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GRNsight turned 12 years old this year!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BF3716-7601-9719-E0A8-B3F5D7FF5051}"/>
              </a:ext>
            </a:extLst>
          </p:cNvPr>
          <p:cNvSpPr txBox="1"/>
          <p:nvPr/>
        </p:nvSpPr>
        <p:spPr>
          <a:xfrm>
            <a:off x="171777" y="2778919"/>
            <a:ext cx="22890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GRNsight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server live on </a:t>
            </a: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March 20, 2014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Loads unweighted and weighted GRNs using D3’s force graph layout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Imports Excel, SIF,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GraphML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formats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Demo files provided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CE5623-A7CD-35C8-B79C-DB15C0EF7197}"/>
              </a:ext>
            </a:extLst>
          </p:cNvPr>
          <p:cNvSpPr txBox="1"/>
          <p:nvPr/>
        </p:nvSpPr>
        <p:spPr>
          <a:xfrm>
            <a:off x="1168841" y="949353"/>
            <a:ext cx="2542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Viewport and bounding box separated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Zooming and scrolling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Edge weight normalization factor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AEA37F-9333-780A-86DE-0DD6A5A16767}"/>
              </a:ext>
            </a:extLst>
          </p:cNvPr>
          <p:cNvSpPr txBox="1"/>
          <p:nvPr/>
        </p:nvSpPr>
        <p:spPr>
          <a:xfrm>
            <a:off x="2407260" y="2778919"/>
            <a:ext cx="22890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Import an entire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GRNmap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-compatible Excel workbook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Node coloring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Expression database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Gene pages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Grid layout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FC6124-65A0-70A9-4E9C-F6919A08A142}"/>
              </a:ext>
            </a:extLst>
          </p:cNvPr>
          <p:cNvSpPr txBox="1"/>
          <p:nvPr/>
        </p:nvSpPr>
        <p:spPr>
          <a:xfrm>
            <a:off x="3385443" y="1194282"/>
            <a:ext cx="20359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Model-View-Controller paradigm introduced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9365D-EB4B-54FA-784C-F10753A38BEB}"/>
              </a:ext>
            </a:extLst>
          </p:cNvPr>
          <p:cNvSpPr txBox="1"/>
          <p:nvPr/>
        </p:nvSpPr>
        <p:spPr>
          <a:xfrm>
            <a:off x="4568244" y="2778919"/>
            <a:ext cx="21910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Export to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GRNmap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-compatible Excel workbook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Refactor expression 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29E624-DB4D-78F0-7734-E8B054A165AE}"/>
              </a:ext>
            </a:extLst>
          </p:cNvPr>
          <p:cNvSpPr txBox="1"/>
          <p:nvPr/>
        </p:nvSpPr>
        <p:spPr>
          <a:xfrm>
            <a:off x="5366814" y="1439211"/>
            <a:ext cx="2035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Backend GRN database from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YeastMine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24A5B-27B2-E4F3-AAC8-55B7B17D4B03}"/>
              </a:ext>
            </a:extLst>
          </p:cNvPr>
          <p:cNvSpPr txBox="1"/>
          <p:nvPr/>
        </p:nvSpPr>
        <p:spPr>
          <a:xfrm>
            <a:off x="6760156" y="2778919"/>
            <a:ext cx="19807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Displays PPIs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Backend PPI database from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YeastMine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UI and export improvements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GitHub 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FB6493-2F7D-E47C-05A0-2B98CC7CE79F}"/>
              </a:ext>
            </a:extLst>
          </p:cNvPr>
          <p:cNvSpPr txBox="1"/>
          <p:nvPr/>
        </p:nvSpPr>
        <p:spPr>
          <a:xfrm>
            <a:off x="7552603" y="1194282"/>
            <a:ext cx="17383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Port to React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Load database from </a:t>
            </a:r>
            <a:r>
              <a:rPr lang="en-US" sz="1600" err="1">
                <a:latin typeface="Arial" panose="020B0604020202020204" pitchFamily="34" charset="0"/>
                <a:cs typeface="Arial" panose="020B0604020202020204" pitchFamily="34" charset="0"/>
              </a:rPr>
              <a:t>Alliancemine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E5D87C-CB0E-62FB-9B0F-8357EAEBE90A}"/>
              </a:ext>
            </a:extLst>
          </p:cNvPr>
          <p:cNvSpPr txBox="1"/>
          <p:nvPr/>
        </p:nvSpPr>
        <p:spPr>
          <a:xfrm>
            <a:off x="825104" y="225296"/>
            <a:ext cx="37504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/>
              <a:t>🎂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16E5A3-94A0-2EFC-E682-BEB271731C3D}"/>
              </a:ext>
            </a:extLst>
          </p:cNvPr>
          <p:cNvSpPr txBox="1"/>
          <p:nvPr/>
        </p:nvSpPr>
        <p:spPr>
          <a:xfrm>
            <a:off x="7517083" y="225296"/>
            <a:ext cx="64503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/>
              <a:t>🎉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1C9CB0-7BC5-EF71-5048-BFA1F62A365C}"/>
              </a:ext>
            </a:extLst>
          </p:cNvPr>
          <p:cNvSpPr txBox="1"/>
          <p:nvPr/>
        </p:nvSpPr>
        <p:spPr>
          <a:xfrm>
            <a:off x="8162118" y="271463"/>
            <a:ext cx="36790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/>
              <a:t>🎈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80CE42-51A3-73A7-658B-9AD062F1E35D}"/>
              </a:ext>
            </a:extLst>
          </p:cNvPr>
          <p:cNvSpPr txBox="1"/>
          <p:nvPr/>
        </p:nvSpPr>
        <p:spPr>
          <a:xfrm>
            <a:off x="123110" y="242887"/>
            <a:ext cx="49820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/>
              <a:t>🥂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E7DB1CB-E8E0-02FC-720E-98D6D4D1C11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7462" y="1785802"/>
            <a:ext cx="955970" cy="45679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16105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2315BD3-4C0B-8973-DEA1-EB449968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0948522C-8AEF-D6C6-CECA-7B5B64B5A5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527" y="182034"/>
            <a:ext cx="8520600" cy="810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solidFill>
                  <a:srgbClr val="16693F"/>
                </a:solidFill>
              </a:rPr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71669-7343-1DD2-E2CA-8CD0CE412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293" y="585777"/>
            <a:ext cx="8331700" cy="4372102"/>
          </a:xfrm>
        </p:spPr>
        <p:txBody>
          <a:bodyPr>
            <a:normAutofit/>
          </a:bodyPr>
          <a:lstStyle/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GRNsight is an open-source tool that allows for easier visualization </a:t>
            </a:r>
          </a:p>
          <a:p>
            <a:pPr>
              <a:lnSpc>
                <a:spcPct val="114999"/>
              </a:lnSpc>
              <a:buNone/>
            </a:pPr>
            <a:r>
              <a:rPr lang="en-US" dirty="0">
                <a:solidFill>
                  <a:schemeClr val="tx1"/>
                </a:solidFill>
              </a:rPr>
              <a:t>     of Gene Regulatory Network (GRN) and Protein-Protein Interactions (PPI).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GRNsight is an integral part of a data analysis workflow for biologists who model GRNs. </a:t>
            </a:r>
          </a:p>
          <a:p>
            <a:pPr>
              <a:lnSpc>
                <a:spcPct val="114999"/>
              </a:lnSpc>
            </a:pPr>
            <a:r>
              <a:rPr lang="en-US" dirty="0" err="1">
                <a:solidFill>
                  <a:schemeClr val="tx1"/>
                </a:solidFill>
              </a:rPr>
              <a:t>GRNsight’s</a:t>
            </a:r>
            <a:r>
              <a:rPr lang="en-US" dirty="0">
                <a:solidFill>
                  <a:schemeClr val="tx1"/>
                </a:solidFill>
              </a:rPr>
              <a:t> interface was originally built using older web tools, leading to repeated code and difficult user interface updates.</a:t>
            </a:r>
            <a:endParaRPr lang="en-US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I have migrated </a:t>
            </a:r>
            <a:r>
              <a:rPr lang="en-US" dirty="0" err="1">
                <a:solidFill>
                  <a:schemeClr val="tx1"/>
                </a:solidFill>
              </a:rPr>
              <a:t>GRNsight’s</a:t>
            </a:r>
            <a:r>
              <a:rPr lang="en-US" dirty="0">
                <a:solidFill>
                  <a:schemeClr val="tx1"/>
                </a:solidFill>
              </a:rPr>
              <a:t> user interface to React Vite and Grommet UI which are modern, scalable, and industry-standard frameworks.</a:t>
            </a:r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chemeClr val="tx1"/>
                </a:solidFill>
              </a:rPr>
              <a:t>GRNsight React migration has resulted in user interface improvements and bug fixes that enhance the user experience for biologists.</a:t>
            </a:r>
          </a:p>
        </p:txBody>
      </p:sp>
    </p:spTree>
    <p:extLst>
      <p:ext uri="{BB962C8B-B14F-4D97-AF65-F5344CB8AC3E}">
        <p14:creationId xmlns:p14="http://schemas.microsoft.com/office/powerpoint/2010/main" val="706225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>
            <a:spLocks noGrp="1"/>
          </p:cNvSpPr>
          <p:nvPr>
            <p:ph type="title"/>
          </p:nvPr>
        </p:nvSpPr>
        <p:spPr>
          <a:xfrm>
            <a:off x="311700" y="112400"/>
            <a:ext cx="8520600" cy="5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6693F"/>
                </a:solidFill>
              </a:rPr>
              <a:t>Acknowledgements</a:t>
            </a:r>
            <a:endParaRPr b="1">
              <a:solidFill>
                <a:srgbClr val="16693F"/>
              </a:solidFill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383415" y="596988"/>
            <a:ext cx="5063954" cy="280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525" indent="-1588">
              <a:lnSpc>
                <a:spcPct val="115000"/>
              </a:lnSpc>
            </a:pPr>
            <a:r>
              <a:rPr lang="en" b="1" dirty="0">
                <a:solidFill>
                  <a:schemeClr val="tx1"/>
                </a:solidFill>
              </a:rPr>
              <a:t>Ngoc Kim Ngan Tran</a:t>
            </a:r>
            <a:endParaRPr b="1" dirty="0">
              <a:solidFill>
                <a:schemeClr val="dk1"/>
              </a:solidFill>
            </a:endParaRPr>
          </a:p>
          <a:p>
            <a:pPr marL="9525" indent="-1588">
              <a:lnSpc>
                <a:spcPct val="114999"/>
              </a:lnSpc>
            </a:pPr>
            <a:r>
              <a:rPr lang="en" b="1" dirty="0">
                <a:solidFill>
                  <a:schemeClr val="dk1"/>
                </a:solidFill>
              </a:rPr>
              <a:t>Milka Y. Zekarias</a:t>
            </a:r>
          </a:p>
          <a:p>
            <a:pPr marL="9525" indent="-1588">
              <a:lnSpc>
                <a:spcPct val="114999"/>
              </a:lnSpc>
            </a:pPr>
            <a:r>
              <a:rPr lang="en" b="1" dirty="0">
                <a:solidFill>
                  <a:schemeClr val="dk1"/>
                </a:solidFill>
              </a:rPr>
              <a:t>Amelie T. Dinh</a:t>
            </a:r>
          </a:p>
          <a:p>
            <a:pPr marL="9525" indent="-1588">
              <a:lnSpc>
                <a:spcPct val="114999"/>
              </a:lnSpc>
            </a:pPr>
            <a:r>
              <a:rPr lang="en" b="1" dirty="0">
                <a:solidFill>
                  <a:schemeClr val="dk1"/>
                </a:solidFill>
              </a:rPr>
              <a:t>Jia S. Garcia</a:t>
            </a:r>
          </a:p>
          <a:p>
            <a:pPr marL="9525" indent="-1588">
              <a:lnSpc>
                <a:spcPct val="114999"/>
              </a:lnSpc>
            </a:pPr>
            <a:r>
              <a:rPr lang="en" b="1" dirty="0">
                <a:solidFill>
                  <a:schemeClr val="dk1"/>
                </a:solidFill>
              </a:rPr>
              <a:t>Cindy L. Tong</a:t>
            </a:r>
          </a:p>
          <a:p>
            <a:pPr marL="9525" indent="-1588">
              <a:lnSpc>
                <a:spcPct val="115000"/>
              </a:lnSpc>
            </a:pPr>
            <a:r>
              <a:rPr lang="en-US" b="1" dirty="0">
                <a:solidFill>
                  <a:schemeClr val="dk1"/>
                </a:solidFill>
              </a:rPr>
              <a:t>Kam D. Dahlquist</a:t>
            </a:r>
          </a:p>
          <a:p>
            <a:pPr marL="9525" indent="-1588">
              <a:lnSpc>
                <a:spcPct val="115000"/>
              </a:lnSpc>
            </a:pPr>
            <a:r>
              <a:rPr lang="en" b="1" dirty="0">
                <a:solidFill>
                  <a:schemeClr val="dk1"/>
                </a:solidFill>
              </a:rPr>
              <a:t>Alex J. Miller</a:t>
            </a:r>
            <a:endParaRPr lang="en-US" b="1" dirty="0">
              <a:solidFill>
                <a:schemeClr val="dk1"/>
              </a:solidFill>
            </a:endParaRPr>
          </a:p>
          <a:p>
            <a:pPr marL="9525" indent="-1588">
              <a:lnSpc>
                <a:spcPct val="115000"/>
              </a:lnSpc>
            </a:pPr>
            <a:r>
              <a:rPr lang="en-US" b="1" dirty="0">
                <a:solidFill>
                  <a:schemeClr val="dk1"/>
                </a:solidFill>
              </a:rPr>
              <a:t>John David N. Dionisio</a:t>
            </a:r>
            <a:endParaRPr lang="en" b="1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</a:pPr>
            <a:r>
              <a:rPr lang="en" b="1" dirty="0">
                <a:solidFill>
                  <a:schemeClr val="dk1"/>
                </a:solidFill>
              </a:rPr>
              <a:t>LMU Department of Biology</a:t>
            </a:r>
          </a:p>
          <a:p>
            <a:pPr>
              <a:lnSpc>
                <a:spcPct val="114999"/>
              </a:lnSpc>
            </a:pPr>
            <a:r>
              <a:rPr lang="en" b="1" dirty="0">
                <a:solidFill>
                  <a:schemeClr val="dk1"/>
                </a:solidFill>
              </a:rPr>
              <a:t>HHMI STEM Research Learning Community </a:t>
            </a:r>
          </a:p>
          <a:p>
            <a:pPr>
              <a:lnSpc>
                <a:spcPct val="114999"/>
              </a:lnSpc>
            </a:pPr>
            <a:endParaRPr lang="en" b="1" dirty="0">
              <a:solidFill>
                <a:schemeClr val="dk1"/>
              </a:solidFill>
            </a:endParaRPr>
          </a:p>
        </p:txBody>
      </p:sp>
      <p:grpSp>
        <p:nvGrpSpPr>
          <p:cNvPr id="296" name="Google Shape;296;p38"/>
          <p:cNvGrpSpPr/>
          <p:nvPr/>
        </p:nvGrpSpPr>
        <p:grpSpPr>
          <a:xfrm>
            <a:off x="1832465" y="3228171"/>
            <a:ext cx="7153809" cy="1456802"/>
            <a:chOff x="519200" y="3207998"/>
            <a:chExt cx="7153809" cy="1456802"/>
          </a:xfrm>
        </p:grpSpPr>
        <p:sp>
          <p:nvSpPr>
            <p:cNvPr id="297" name="Google Shape;297;p38"/>
            <p:cNvSpPr txBox="1"/>
            <p:nvPr/>
          </p:nvSpPr>
          <p:spPr>
            <a:xfrm>
              <a:off x="519200" y="3301900"/>
              <a:ext cx="5159700" cy="136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 b="1">
                <a:solidFill>
                  <a:srgbClr val="16693F"/>
                </a:solidFill>
              </a:endParaRPr>
            </a:p>
          </p:txBody>
        </p:sp>
        <p:pic>
          <p:nvPicPr>
            <p:cNvPr id="298" name="Google Shape;29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2200" y="3427153"/>
              <a:ext cx="488475" cy="48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38"/>
            <p:cNvSpPr txBox="1"/>
            <p:nvPr/>
          </p:nvSpPr>
          <p:spPr>
            <a:xfrm>
              <a:off x="1298050" y="3207998"/>
              <a:ext cx="4835100" cy="4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rgbClr val="16693F"/>
                  </a:solidFill>
                </a:rPr>
                <a:t>http://</a:t>
              </a:r>
              <a:r>
                <a:rPr lang="en" sz="2000" b="1" dirty="0" err="1">
                  <a:solidFill>
                    <a:srgbClr val="16693F"/>
                  </a:solidFill>
                </a:rPr>
                <a:t>dondi.github.io</a:t>
              </a:r>
              <a:r>
                <a:rPr lang="en" sz="2000" b="1" dirty="0">
                  <a:solidFill>
                    <a:srgbClr val="16693F"/>
                  </a:solidFill>
                </a:rPr>
                <a:t>/GRNsight/</a:t>
              </a:r>
              <a:endParaRPr sz="2000" dirty="0">
                <a:solidFill>
                  <a:schemeClr val="dk2"/>
                </a:solidFill>
              </a:endParaRPr>
            </a:p>
          </p:txBody>
        </p:sp>
        <p:pic>
          <p:nvPicPr>
            <p:cNvPr id="300" name="Google Shape;300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3691" y="4095700"/>
              <a:ext cx="576996" cy="56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38"/>
            <p:cNvSpPr txBox="1"/>
            <p:nvPr/>
          </p:nvSpPr>
          <p:spPr>
            <a:xfrm>
              <a:off x="1298050" y="4140100"/>
              <a:ext cx="5583300" cy="4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rgbClr val="16693F"/>
                  </a:solidFill>
                </a:rPr>
                <a:t>https://</a:t>
              </a:r>
              <a:r>
                <a:rPr lang="en" sz="2000" b="1" dirty="0" err="1">
                  <a:solidFill>
                    <a:srgbClr val="16693F"/>
                  </a:solidFill>
                </a:rPr>
                <a:t>github.com</a:t>
              </a:r>
              <a:r>
                <a:rPr lang="en" sz="2000" b="1" dirty="0">
                  <a:solidFill>
                    <a:srgbClr val="16693F"/>
                  </a:solidFill>
                </a:rPr>
                <a:t>/</a:t>
              </a:r>
              <a:r>
                <a:rPr lang="en" sz="2000" b="1" dirty="0" err="1">
                  <a:solidFill>
                    <a:srgbClr val="16693F"/>
                  </a:solidFill>
                </a:rPr>
                <a:t>dondi</a:t>
              </a:r>
              <a:r>
                <a:rPr lang="en" sz="2000" b="1" dirty="0">
                  <a:solidFill>
                    <a:srgbClr val="16693F"/>
                  </a:solidFill>
                </a:rPr>
                <a:t>/GRNsight</a:t>
              </a:r>
              <a:endParaRPr sz="2000" b="1" dirty="0">
                <a:solidFill>
                  <a:srgbClr val="16693F"/>
                </a:solidFill>
              </a:endParaRPr>
            </a:p>
          </p:txBody>
        </p:sp>
        <p:sp>
          <p:nvSpPr>
            <p:cNvPr id="3" name="Google Shape;299;p38">
              <a:extLst>
                <a:ext uri="{FF2B5EF4-FFF2-40B4-BE49-F238E27FC236}">
                  <a16:creationId xmlns:a16="http://schemas.microsoft.com/office/drawing/2014/main" id="{65512EFB-09B5-1482-EE99-F5B4A522A895}"/>
                </a:ext>
              </a:extLst>
            </p:cNvPr>
            <p:cNvSpPr txBox="1"/>
            <p:nvPr/>
          </p:nvSpPr>
          <p:spPr>
            <a:xfrm>
              <a:off x="1298050" y="3584457"/>
              <a:ext cx="6374959" cy="4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2000" b="1">
                  <a:solidFill>
                    <a:srgbClr val="16693F"/>
                  </a:solidFill>
                </a:defRPr>
              </a:lvl1pPr>
            </a:lstStyle>
            <a:p>
              <a:r>
                <a:rPr lang="en-US" dirty="0"/>
                <a:t>https://dondi.github.io/GRNsight/react-thesis-4081/</a:t>
              </a:r>
            </a:p>
          </p:txBody>
        </p:sp>
      </p:grpSp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21260796-C0CD-52DC-746F-AD34C9943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415" y="3388316"/>
            <a:ext cx="1352550" cy="1352550"/>
          </a:xfrm>
          <a:prstGeom prst="rect">
            <a:avLst/>
          </a:prstGeom>
        </p:spPr>
      </p:pic>
      <p:pic>
        <p:nvPicPr>
          <p:cNvPr id="3074" name="Picture 2" descr="GRNsight Team Spring 2026">
            <a:extLst>
              <a:ext uri="{FF2B5EF4-FFF2-40B4-BE49-F238E27FC236}">
                <a16:creationId xmlns:a16="http://schemas.microsoft.com/office/drawing/2014/main" id="{C78A8FF1-0FD2-8D55-FD99-F53CCEEF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9" y="384814"/>
            <a:ext cx="4261875" cy="26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>
          <a:extLst>
            <a:ext uri="{FF2B5EF4-FFF2-40B4-BE49-F238E27FC236}">
              <a16:creationId xmlns:a16="http://schemas.microsoft.com/office/drawing/2014/main" id="{C0987B69-4D7C-0B00-262C-E11E050E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>
            <a:extLst>
              <a:ext uri="{FF2B5EF4-FFF2-40B4-BE49-F238E27FC236}">
                <a16:creationId xmlns:a16="http://schemas.microsoft.com/office/drawing/2014/main" id="{CD2C2F03-F9FA-93FA-F1C4-64D4404C1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12400"/>
            <a:ext cx="8520600" cy="9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sz="2000" b="1">
                <a:solidFill>
                  <a:srgbClr val="16693F"/>
                </a:solidFill>
              </a:rPr>
              <a:t>References</a:t>
            </a:r>
          </a:p>
        </p:txBody>
      </p:sp>
      <p:sp>
        <p:nvSpPr>
          <p:cNvPr id="3" name="Google Shape;239;p30">
            <a:extLst>
              <a:ext uri="{FF2B5EF4-FFF2-40B4-BE49-F238E27FC236}">
                <a16:creationId xmlns:a16="http://schemas.microsoft.com/office/drawing/2014/main" id="{F7C0137B-D853-C3BA-BCC9-D8CCE934309E}"/>
              </a:ext>
            </a:extLst>
          </p:cNvPr>
          <p:cNvSpPr txBox="1"/>
          <p:nvPr/>
        </p:nvSpPr>
        <p:spPr>
          <a:xfrm>
            <a:off x="434145" y="812527"/>
            <a:ext cx="8275709" cy="2142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475" tIns="85475" rIns="85475" bIns="85475" anchor="t" anchorCtr="0">
            <a:spAutoFit/>
          </a:bodyPr>
          <a:lstStyle/>
          <a:p>
            <a:pPr marL="171450" indent="-171450">
              <a:buChar char="•"/>
            </a:pPr>
            <a:r>
              <a:rPr lang="en-US" sz="1600" err="1">
                <a:solidFill>
                  <a:schemeClr val="tx1"/>
                </a:solidFill>
                <a:cs typeface="Times New Roman"/>
              </a:rPr>
              <a:t>AZoLifeSciences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. “A Guide to Understanding Gene Expression.” </a:t>
            </a:r>
            <a:r>
              <a:rPr lang="en-US" sz="1600" i="1" err="1">
                <a:solidFill>
                  <a:schemeClr val="tx1"/>
                </a:solidFill>
                <a:cs typeface="Times New Roman"/>
              </a:rPr>
              <a:t>AZoLifeSciences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, 27 Jan. 2021, </a:t>
            </a:r>
            <a:r>
              <a:rPr lang="en-US" sz="1600" err="1">
                <a:solidFill>
                  <a:schemeClr val="tx1"/>
                </a:solidFill>
                <a:cs typeface="Times New Roman"/>
              </a:rPr>
              <a:t>www.azolifesciences.com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/article/A-Guide-to-Understanding-Gene-</a:t>
            </a:r>
            <a:r>
              <a:rPr lang="en-US" sz="1600" err="1">
                <a:solidFill>
                  <a:schemeClr val="tx1"/>
                </a:solidFill>
                <a:cs typeface="Times New Roman"/>
              </a:rPr>
              <a:t>Expression.aspx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sz="1600">
                <a:solidFill>
                  <a:schemeClr val="tx1"/>
                </a:solidFill>
                <a:cs typeface="Times New Roman"/>
              </a:rPr>
              <a:t>“PDB101: Molecule of the Month: Vitamin D Receptor.” </a:t>
            </a:r>
            <a:r>
              <a:rPr lang="en-US" sz="1600" i="1">
                <a:solidFill>
                  <a:schemeClr val="tx1"/>
                </a:solidFill>
                <a:cs typeface="Times New Roman"/>
              </a:rPr>
              <a:t>RCSB: PDB-101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, pdb101.rcsb.org/</a:t>
            </a:r>
            <a:r>
              <a:rPr lang="en-US" sz="1600" err="1">
                <a:solidFill>
                  <a:schemeClr val="tx1"/>
                </a:solidFill>
                <a:cs typeface="Times New Roman"/>
              </a:rPr>
              <a:t>motm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/155.</a:t>
            </a:r>
          </a:p>
          <a:p>
            <a:pPr marL="171450" indent="-171450">
              <a:buFont typeface="Arial"/>
              <a:buChar char="•"/>
            </a:pPr>
            <a:r>
              <a:rPr lang="en-US" sz="1600">
                <a:solidFill>
                  <a:schemeClr val="tx1"/>
                </a:solidFill>
                <a:cs typeface="Times New Roman"/>
              </a:rPr>
              <a:t>“PDB101: Molecule of the Month: Cyclin and Cyclin-dependent Kinase.” </a:t>
            </a:r>
            <a:r>
              <a:rPr lang="en-US" sz="1600" i="1">
                <a:solidFill>
                  <a:schemeClr val="tx1"/>
                </a:solidFill>
                <a:cs typeface="Times New Roman"/>
              </a:rPr>
              <a:t>RCSB: PDB-101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, pdb101.rcsb.org/</a:t>
            </a:r>
            <a:r>
              <a:rPr lang="en-US" sz="1600" err="1">
                <a:solidFill>
                  <a:schemeClr val="tx1"/>
                </a:solidFill>
                <a:cs typeface="Times New Roman"/>
              </a:rPr>
              <a:t>motm</a:t>
            </a:r>
            <a:r>
              <a:rPr lang="en-US" sz="1600">
                <a:solidFill>
                  <a:schemeClr val="tx1"/>
                </a:solidFill>
                <a:cs typeface="Times New Roman"/>
              </a:rPr>
              <a:t>/236.</a:t>
            </a:r>
          </a:p>
          <a:p>
            <a:pPr marL="171450" indent="-171450">
              <a:buFont typeface="Arial"/>
              <a:buChar char="•"/>
            </a:pPr>
            <a:endParaRPr lang="en-US" sz="1600">
              <a:solidFill>
                <a:schemeClr val="tx1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884630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16693F"/>
          </a:solidFill>
          <a:tailEnd type="triangle"/>
        </a:ln>
      </a:spPr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3497</TotalTime>
  <Words>2184</Words>
  <Application>Microsoft Office PowerPoint</Application>
  <PresentationFormat>On-screen Show (16:9)</PresentationFormat>
  <Paragraphs>274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Simple Light</vt:lpstr>
      <vt:lpstr>Major Front-End Migration for GRNsight, a Web Application for Visualizing Gene Regulatory and Protein-Protein Interaction Network Models</vt:lpstr>
      <vt:lpstr>Outline</vt:lpstr>
      <vt:lpstr>Outline</vt:lpstr>
      <vt:lpstr>Gene expression is the flow of information in a cell from  DNA to RNA to protein</vt:lpstr>
      <vt:lpstr>A Gene Regulatory Network (GRN) consists of genes, transcription factors and the regulatory connections between them which govern the level of expression of mRNA and protein from genes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Acknowledgements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Dahlquist, Kam</dc:creator>
  <cp:lastModifiedBy>Zaragoza, Cecilia</cp:lastModifiedBy>
  <cp:revision>3</cp:revision>
  <cp:lastPrinted>2026-04-28T15:27:04Z</cp:lastPrinted>
  <dcterms:modified xsi:type="dcterms:W3CDTF">2026-05-18T16:19:41Z</dcterms:modified>
</cp:coreProperties>
</file>