
<file path=[Content_Types].xml><?xml version="1.0" encoding="utf-8"?>
<Types xmlns="http://schemas.openxmlformats.org/package/2006/content-types">
  <Default Extension="emf" ContentType="image/x-emf"/>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omments/modernComment_100_0.xml" ContentType="application/vnd.ms-powerpoint.comments+xml"/>
  <Override PartName="/ppt/notesSlides/notesSlide2.xml" ContentType="application/vnd.openxmlformats-officedocument.presentationml.notesSlide+xml"/>
  <Override PartName="/ppt/comments/modernComment_2D0_5E8B825C.xml" ContentType="application/vnd.ms-powerpoint.comments+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omments/modernComment_258_1E751F0B.xml" ContentType="application/vnd.ms-powerpoint.comments+xml"/>
  <Override PartName="/ppt/notesSlides/notesSlide6.xml" ContentType="application/vnd.openxmlformats-officedocument.presentationml.notesSlide+xml"/>
  <Override PartName="/ppt/comments/modernComment_2C4_D61B073F.xml" ContentType="application/vnd.ms-powerpoint.comments+xml"/>
  <Override PartName="/ppt/notesSlides/notesSlide7.xml" ContentType="application/vnd.openxmlformats-officedocument.presentationml.notesSlide+xml"/>
  <Override PartName="/ppt/comments/modernComment_319_63EA6C93.xml" ContentType="application/vnd.ms-powerpoint.comments+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omments/modernComment_31B_4B301005.xml" ContentType="application/vnd.ms-powerpoint.comments+xml"/>
  <Override PartName="/ppt/notesSlides/notesSlide14.xml" ContentType="application/vnd.openxmlformats-officedocument.presentationml.notesSlide+xml"/>
  <Override PartName="/ppt/comments/modernComment_30F_C392BF34.xml" ContentType="application/vnd.ms-powerpoint.comments+xml"/>
  <Override PartName="/ppt/notesSlides/notesSlide15.xml" ContentType="application/vnd.openxmlformats-officedocument.presentationml.notesSlide+xml"/>
  <Override PartName="/ppt/comments/modernComment_31C_CF54D9F3.xml" ContentType="application/vnd.ms-powerpoint.comments+xml"/>
  <Override PartName="/ppt/notesSlides/notesSlide16.xml" ContentType="application/vnd.openxmlformats-officedocument.presentationml.notesSlide+xml"/>
  <Override PartName="/ppt/comments/modernComment_2F2_6AF67446.xml" ContentType="application/vnd.ms-powerpoint.comments+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comments/modernComment_311_D3DD0C6A.xml" ContentType="application/vnd.ms-powerpoint.comments+xml"/>
  <Override PartName="/ppt/notesSlides/notesSlide19.xml" ContentType="application/vnd.openxmlformats-officedocument.presentationml.notesSlide+xml"/>
  <Override PartName="/ppt/comments/modernComment_30B_96DADEE6.xml" ContentType="application/vnd.ms-powerpoint.comments+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comments/modernComment_302_84D32728.xml" ContentType="application/vnd.ms-powerpoint.comments+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comments/modernComment_321_50ADC7EC.xml" ContentType="application/vnd.ms-powerpoint.comments+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comments/modernComment_2F1_574EDDBE.xml" ContentType="application/vnd.ms-powerpoint.comments+xml"/>
  <Override PartName="/ppt/notesSlides/notesSlide27.xml" ContentType="application/vnd.openxmlformats-officedocument.presentationml.notesSlide+xml"/>
  <Override PartName="/ppt/comments/modernComment_325_782738F9.xml" ContentType="application/vnd.ms-powerpoint.comments+xml"/>
  <Override PartName="/ppt/notesSlides/notesSlide28.xml" ContentType="application/vnd.openxmlformats-officedocument.presentationml.notesSlide+xml"/>
  <Override PartName="/ppt/comments/modernComment_2FB_B78DD850.xml" ContentType="application/vnd.ms-powerpoint.comments+xml"/>
  <Override PartName="/ppt/ink/ink1.xml" ContentType="application/inkml+xml"/>
  <Override PartName="/ppt/ink/ink2.xml" ContentType="application/inkml+xml"/>
  <Override PartName="/ppt/ink/ink3.xml" ContentType="application/inkml+xml"/>
  <Override PartName="/ppt/notesSlides/notesSlide29.xml" ContentType="application/vnd.openxmlformats-officedocument.presentationml.notesSlide+xml"/>
  <Override PartName="/ppt/comments/modernComment_306_2A18244F.xml" ContentType="application/vnd.ms-powerpoint.comments+xml"/>
  <Override PartName="/ppt/notesSlides/notesSlide30.xml" ContentType="application/vnd.openxmlformats-officedocument.presentationml.notesSlide+xml"/>
  <Override PartName="/ppt/comments/modernComment_31A_B1B7C430.xml" ContentType="application/vnd.ms-powerpoint.comments+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1.xml" ContentType="application/vnd.openxmlformats-officedocument.presentationml.notesSlide+xml"/>
  <Override PartName="/ppt/comments/modernComment_119_0.xml" ContentType="application/vnd.ms-powerpoint.comments+xml"/>
  <Override PartName="/ppt/notesSlides/notesSlide32.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34"/>
  </p:notesMasterIdLst>
  <p:sldIdLst>
    <p:sldId id="256" r:id="rId2"/>
    <p:sldId id="720" r:id="rId3"/>
    <p:sldId id="806" r:id="rId4"/>
    <p:sldId id="258" r:id="rId5"/>
    <p:sldId id="600" r:id="rId6"/>
    <p:sldId id="708" r:id="rId7"/>
    <p:sldId id="793" r:id="rId8"/>
    <p:sldId id="810" r:id="rId9"/>
    <p:sldId id="802" r:id="rId10"/>
    <p:sldId id="803" r:id="rId11"/>
    <p:sldId id="804" r:id="rId12"/>
    <p:sldId id="807" r:id="rId13"/>
    <p:sldId id="795" r:id="rId14"/>
    <p:sldId id="783" r:id="rId15"/>
    <p:sldId id="796" r:id="rId16"/>
    <p:sldId id="754" r:id="rId17"/>
    <p:sldId id="797" r:id="rId18"/>
    <p:sldId id="785" r:id="rId19"/>
    <p:sldId id="779" r:id="rId20"/>
    <p:sldId id="782" r:id="rId21"/>
    <p:sldId id="808" r:id="rId22"/>
    <p:sldId id="770" r:id="rId23"/>
    <p:sldId id="800" r:id="rId24"/>
    <p:sldId id="801" r:id="rId25"/>
    <p:sldId id="809" r:id="rId26"/>
    <p:sldId id="753" r:id="rId27"/>
    <p:sldId id="805" r:id="rId28"/>
    <p:sldId id="763" r:id="rId29"/>
    <p:sldId id="774" r:id="rId30"/>
    <p:sldId id="794" r:id="rId31"/>
    <p:sldId id="281" r:id="rId32"/>
    <p:sldId id="713" r:id="rId33"/>
  </p:sldIdLst>
  <p:sldSz cx="9144000" cy="5143500" type="screen16x9"/>
  <p:notesSz cx="6858000" cy="9144000"/>
  <p:embeddedFontLst>
    <p:embeddedFont>
      <p:font typeface="Sans Serif Collection" panose="020B0502040504020204" pitchFamily="34" charset="-78"/>
      <p:regular r:id="rId3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FB42E501-4BB1-3555-C1AF-A3C31A0E7D23}" name="Dionisio, John David" initials="DJ" userId="S::johndavid.dionisio@lmu.edu::e3b1f1c0-3270-469a-82f5-d004832549cb" providerId="AD"/>
  <p188:author id="{050CC742-17C3-54B3-4E0E-240C4BB316BB}" name="Guest User" initials="GU" userId="S::urn:spo:tenantanon#0376eb4b-c206-4056-9061-e342dc2ecda8::" providerId="AD"/>
  <p188:author id="{45D20B7D-4004-C4B1-FB1E-27168D811655}" name="Tran, Ngoc Kim Ngan" initials="NT" userId="S::ntran18@lion.lmu.edu::f1a20c60-f6cc-4486-9ea1-ef2fe2f42ea5" providerId="AD"/>
  <p188:author id="{F30846FF-0436-857E-6A61-7F15FB93B6D2}" name="Dahlquist, Kam" initials="DK" userId="S::kam.dahlquist@lmu.edu::40b18385-251d-4a80-b9c3-d2dafbeb4f50"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0" name="Maika Tran" initials="" lastIdx="8" clrIdx="0"/>
  <p:cmAuthor id="1" name="Milka Z" initials="" lastIdx="3" clrIdx="1"/>
  <p:cmAuthor id="2" name="Tran, Ngoc Kim Ngan" initials="TN" lastIdx="4" clrIdx="2">
    <p:extLst>
      <p:ext uri="{19B8F6BF-5375-455C-9EA6-DF929625EA0E}">
        <p15:presenceInfo xmlns:p15="http://schemas.microsoft.com/office/powerpoint/2012/main" userId="S::ntran18@lion.lmu.edu::f1a20c60-f6cc-4486-9ea1-ef2fe2f42ea5" providerId="AD"/>
      </p:ext>
    </p:extLst>
  </p:cmAuthor>
  <p:cmAuthor id="3" name="Zekarias, Milka" initials="ZM" lastIdx="3" clrIdx="3">
    <p:extLst>
      <p:ext uri="{19B8F6BF-5375-455C-9EA6-DF929625EA0E}">
        <p15:presenceInfo xmlns:p15="http://schemas.microsoft.com/office/powerpoint/2012/main" userId="S::mzekaria@lion.lmu.edu::450d914f-7c24-4505-a2c7-a9ef6dfa0a42"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6693F"/>
    <a:srgbClr val="008F00"/>
    <a:srgbClr val="A9CFAF"/>
    <a:srgbClr val="DEF1E0"/>
    <a:srgbClr val="AAD1B1"/>
    <a:srgbClr val="C8E7D5"/>
    <a:srgbClr val="A8CFB0"/>
    <a:srgbClr val="D5DEA0"/>
    <a:srgbClr val="DDEFDF"/>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432"/>
    <p:restoredTop sz="94615"/>
  </p:normalViewPr>
  <p:slideViewPr>
    <p:cSldViewPr snapToGrid="0">
      <p:cViewPr varScale="1">
        <p:scale>
          <a:sx n="180" d="100"/>
          <a:sy n="180" d="100"/>
        </p:scale>
        <p:origin x="184" y="536"/>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microsoft.com/office/2018/10/relationships/authors" Target="author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commentAuthors" Target="commentAuthor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1.fntdata"/><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s>
</file>

<file path=ppt/comments/modernComment_2C4_D61B073F.xml><?xml version="1.0" encoding="utf-8"?>
<p188:cmLst xmlns:a="http://schemas.openxmlformats.org/drawingml/2006/main" xmlns:r="http://schemas.openxmlformats.org/officeDocument/2006/relationships" xmlns:p188="http://schemas.microsoft.com/office/powerpoint/2018/8/main">
  <p188:cm id="{4B5EEF95-0A82-4B80-85CF-791237DA48FE}" authorId="{F30846FF-0436-857E-6A61-7F15FB93B6D2}" created="2026-03-13T22:22:22.241">
    <pc:sldMkLst xmlns:pc="http://schemas.microsoft.com/office/powerpoint/2013/main/command">
      <pc:docMk/>
      <pc:sldMk cId="3592095551" sldId="708"/>
    </pc:sldMkLst>
    <p188:txBody>
      <a:bodyPr/>
      <a:lstStyle/>
      <a:p>
        <a:r>
          <a:rPr lang="en-US"/>
          <a:t>Remove the left-hand image, move the proteins to the left and then show the PPI network.  Then caption the PPI saying that the nodes represent proteins and the edges represent binding.</a:t>
        </a:r>
      </a:p>
    </p188:txBody>
  </p188:cm>
  <p188:cm id="{789A04F9-4FDD-49C4-8C5A-5252A980A01A}" authorId="{F30846FF-0436-857E-6A61-7F15FB93B6D2}" created="2026-03-17T22:01:37.642">
    <ac:deMkLst xmlns:ac="http://schemas.microsoft.com/office/drawing/2013/main/command">
      <pc:docMk xmlns:pc="http://schemas.microsoft.com/office/powerpoint/2013/main/command"/>
      <pc:sldMk xmlns:pc="http://schemas.microsoft.com/office/powerpoint/2013/main/command" cId="3592095551" sldId="708"/>
      <ac:picMk id="7" creationId="{EA28F3DB-AEAB-2429-F159-97FC84C9F8B2}"/>
    </ac:deMkLst>
    <p188:txBody>
      <a:bodyPr/>
      <a:lstStyle/>
      <a:p>
        <a:r>
          <a:rPr lang="en-US"/>
          <a:t>Crop the edges so the viewport isn't showing</a:t>
        </a:r>
      </a:p>
    </p188:txBody>
  </p188:cm>
</p188:cmLst>
</file>

<file path=ppt/comments/modernComment_2D0_5E8B825C.xml><?xml version="1.0" encoding="utf-8"?>
<p188:cmLst xmlns:a="http://schemas.openxmlformats.org/drawingml/2006/main" xmlns:r="http://schemas.openxmlformats.org/officeDocument/2006/relationships" xmlns:p188="http://schemas.microsoft.com/office/powerpoint/2018/8/main">
  <p188:cm id="{FAE34541-A9CF-46F1-B322-E3CD234F3E07}" authorId="{F30846FF-0436-857E-6A61-7F15FB93B6D2}" created="2026-03-13T22:16:08.038">
    <ac:txMkLst xmlns:ac="http://schemas.microsoft.com/office/drawing/2013/main/command">
      <pc:docMk xmlns:pc="http://schemas.microsoft.com/office/powerpoint/2013/main/command"/>
      <pc:sldMk xmlns:pc="http://schemas.microsoft.com/office/powerpoint/2013/main/command" cId="1586201180" sldId="720"/>
      <ac:spMk id="90" creationId="{9A3447B5-F611-380D-A7E3-8D4074165538}"/>
      <ac:txMk cp="0" len="7">
        <ac:context len="8" hash="757246413"/>
      </ac:txMk>
    </ac:txMkLst>
    <p188:pos x="1015164" y="270710"/>
    <p188:txBody>
      <a:bodyPr/>
      <a:lstStyle/>
      <a:p>
        <a:r>
          <a:rPr lang="en-US"/>
          <a:t>Please trim the outline down to 4-5 bullet points.  The first two are not needed, start with the third and just spell out gene regulatory networks and protein-protein interaction networks.  You want to use the outline to state your results.</a:t>
        </a:r>
      </a:p>
    </p188:txBody>
  </p188:cm>
  <p188:cm id="{893FEF06-F90E-4ED4-A885-C19EE4C83982}" authorId="{F30846FF-0436-857E-6A61-7F15FB93B6D2}" created="2026-03-13T22:16:20.429">
    <ac:txMkLst xmlns:ac="http://schemas.microsoft.com/office/drawing/2013/main/command">
      <pc:docMk xmlns:pc="http://schemas.microsoft.com/office/powerpoint/2013/main/command"/>
      <pc:sldMk xmlns:pc="http://schemas.microsoft.com/office/powerpoint/2013/main/command" cId="1586201180" sldId="720"/>
      <ac:spMk id="3" creationId="{228BC5C5-2DDD-89A7-4CEA-14F1FB5AAA72}"/>
      <ac:txMk cp="225">
        <ac:context len="510" hash="3315324861"/>
      </ac:txMk>
    </ac:txMkLst>
    <p188:pos x="7602453" y="2564230"/>
    <p188:txBody>
      <a:bodyPr/>
      <a:lstStyle/>
      <a:p>
        <a:r>
          <a:rPr lang="en-US"/>
          <a:t>I believe Alliancemine has a lower case m.</a:t>
        </a:r>
      </a:p>
    </p188:txBody>
  </p188:cm>
  <p188:cm id="{6F439AF5-2985-48E6-A027-8A00612F2716}" authorId="{F30846FF-0436-857E-6A61-7F15FB93B6D2}" created="2026-03-13T22:16:51.556">
    <ac:txMkLst xmlns:ac="http://schemas.microsoft.com/office/drawing/2013/main/command">
      <pc:docMk xmlns:pc="http://schemas.microsoft.com/office/powerpoint/2013/main/command"/>
      <pc:sldMk xmlns:pc="http://schemas.microsoft.com/office/powerpoint/2013/main/command" cId="1586201180" sldId="720"/>
      <ac:spMk id="3" creationId="{228BC5C5-2DDD-89A7-4CEA-14F1FB5AAA72}"/>
      <ac:txMk cp="225">
        <ac:context len="510" hash="3315324861"/>
      </ac:txMk>
    </ac:txMkLst>
    <p188:pos x="3053013" y="2278480"/>
    <p188:replyLst>
      <p188:reply id="{D323CC99-46C7-440A-8C70-64F86B64AE9D}" authorId="{F30846FF-0436-857E-6A61-7F15FB93B6D2}" created="2026-03-13T22:17:57.825">
        <p188:txBody>
          <a:bodyPr/>
          <a:lstStyle/>
          <a:p>
            <a:r>
              <a:rPr lang="en-US"/>
              <a:t>For a particular slide, there should be all complete sentences or all phrases.  For the outline, it should be all complete sentences.</a:t>
            </a:r>
          </a:p>
        </p188:txBody>
      </p188:reply>
    </p188:replyLst>
    <p188:txBody>
      <a:bodyPr/>
      <a:lstStyle/>
      <a:p>
        <a:r>
          <a:rPr lang="en-US"/>
          <a:t>Make sure that all sentences have periods.</a:t>
        </a:r>
      </a:p>
    </p188:txBody>
  </p188:cm>
  <p188:cm id="{C6DA8284-4282-4AC7-94DB-9B1322B66E46}" authorId="{F30846FF-0436-857E-6A61-7F15FB93B6D2}" created="2026-03-13T22:17:33.996">
    <ac:txMkLst xmlns:ac="http://schemas.microsoft.com/office/drawing/2013/main/command">
      <pc:docMk xmlns:pc="http://schemas.microsoft.com/office/powerpoint/2013/main/command"/>
      <pc:sldMk xmlns:pc="http://schemas.microsoft.com/office/powerpoint/2013/main/command" cId="1586201180" sldId="720"/>
      <ac:spMk id="3" creationId="{228BC5C5-2DDD-89A7-4CEA-14F1FB5AAA72}"/>
      <ac:txMk cp="392">
        <ac:context len="510" hash="3315324861"/>
      </ac:txMk>
    </ac:txMkLst>
    <p188:pos x="5835315" y="4008019"/>
    <p188:txBody>
      <a:bodyPr/>
      <a:lstStyle/>
      <a:p>
        <a:r>
          <a:rPr lang="en-US"/>
          <a:t>Make sure you are using complete sentences.  </a:t>
        </a:r>
      </a:p>
    </p188:txBody>
  </p188:cm>
  <p188:cm id="{88F47C05-7B5C-4427-B56A-F5A68EF2DE38}" authorId="{F30846FF-0436-857E-6A61-7F15FB93B6D2}" created="2026-03-17T21:59:54.657">
    <ac:txMkLst xmlns:ac="http://schemas.microsoft.com/office/drawing/2013/main/command">
      <pc:docMk xmlns:pc="http://schemas.microsoft.com/office/powerpoint/2013/main/command"/>
      <pc:sldMk xmlns:pc="http://schemas.microsoft.com/office/powerpoint/2013/main/command" cId="1586201180" sldId="720"/>
      <ac:spMk id="3" creationId="{228BC5C5-2DDD-89A7-4CEA-14F1FB5AAA72}"/>
      <ac:txMk cp="221" len="3">
        <ac:context len="510" hash="3315324861"/>
      </ac:txMk>
    </ac:txMkLst>
    <p188:pos x="887328" y="1225717"/>
    <p188:replyLst>
      <p188:reply id="{923A8939-B7D5-48C0-A840-70C6A72E474F}" authorId="{F30846FF-0436-857E-6A61-7F15FB93B6D2}" created="2026-03-17T22:00:46.876">
        <p188:txBody>
          <a:bodyPr/>
          <a:lstStyle/>
          <a:p>
            <a:r>
              <a:rPr lang="en-US"/>
              <a:t>make sure that one word is not hanging out by itself on the second line</a:t>
            </a:r>
          </a:p>
        </p188:txBody>
      </p188:reply>
    </p188:replyLst>
    <p188:txBody>
      <a:bodyPr/>
      <a:lstStyle/>
      <a:p>
        <a:r>
          <a:rPr lang="en-US"/>
          <a:t>make sure that one word is not hanging out by itself on the second line</a:t>
        </a:r>
      </a:p>
    </p188:txBody>
  </p188:cm>
  <p188:cm id="{602B7A25-8869-4F20-8A96-651B2FFFA755}" authorId="{F30846FF-0436-857E-6A61-7F15FB93B6D2}" created="2026-03-17T22:00:59.751">
    <ac:txMkLst xmlns:ac="http://schemas.microsoft.com/office/drawing/2013/main/command">
      <pc:docMk xmlns:pc="http://schemas.microsoft.com/office/powerpoint/2013/main/command"/>
      <pc:sldMk xmlns:pc="http://schemas.microsoft.com/office/powerpoint/2013/main/command" cId="1586201180" sldId="720"/>
      <ac:spMk id="3" creationId="{228BC5C5-2DDD-89A7-4CEA-14F1FB5AAA72}"/>
      <ac:txMk cp="225" len="145">
        <ac:context len="510" hash="3315324861"/>
      </ac:txMk>
    </ac:txMkLst>
    <p188:pos x="2737184" y="2173203"/>
    <p188:txBody>
      <a:bodyPr/>
      <a:lstStyle/>
      <a:p>
        <a:r>
          <a:rPr lang="en-US"/>
          <a:t>split into two bullet points</a:t>
        </a:r>
      </a:p>
    </p188:txBody>
  </p188:cm>
</p188:cmLst>
</file>

<file path=ppt/comments/modernComment_2F1_574EDDBE.xml><?xml version="1.0" encoding="utf-8"?>
<p188:cmLst xmlns:a="http://schemas.openxmlformats.org/drawingml/2006/main" xmlns:r="http://schemas.openxmlformats.org/officeDocument/2006/relationships" xmlns:p188="http://schemas.microsoft.com/office/powerpoint/2018/8/main">
  <p188:cm id="{60217EF7-657A-4DE3-8E39-5BE6618923AE}" authorId="{F30846FF-0436-857E-6A61-7F15FB93B6D2}" created="2026-03-16T21:18:44.129">
    <ac:deMkLst xmlns:ac="http://schemas.microsoft.com/office/drawing/2013/main/command">
      <pc:docMk xmlns:pc="http://schemas.microsoft.com/office/powerpoint/2013/main/command"/>
      <pc:sldMk xmlns:pc="http://schemas.microsoft.com/office/powerpoint/2013/main/command" cId="1464786366" sldId="753"/>
      <ac:graphicFrameMk id="10" creationId="{0AADA06A-14AF-0663-EDD6-2CC0BF48CE16}"/>
    </ac:deMkLst>
    <p188:txBody>
      <a:bodyPr/>
      <a:lstStyle/>
      <a:p>
        <a:r>
          <a:rPr lang="en-US"/>
          <a:t>what about bootstrap, mocha/chai, Express?  What about PostgreSQL? Node?</a:t>
        </a:r>
      </a:p>
    </p188:txBody>
  </p188:cm>
  <p188:cm id="{0EDE15BF-CDCB-47CB-BF38-9212FF03C7D2}" authorId="{F30846FF-0436-857E-6A61-7F15FB93B6D2}" created="2026-03-17T22:07:02.371">
    <pc:sldMkLst xmlns:pc="http://schemas.microsoft.com/office/powerpoint/2013/main/command">
      <pc:docMk/>
      <pc:sldMk cId="1464786366" sldId="753"/>
    </pc:sldMkLst>
    <p188:txBody>
      <a:bodyPr/>
      <a:lstStyle/>
      <a:p>
        <a:r>
          <a:rPr lang="en-US"/>
          <a:t>Webpack is the equivalent of Vite.  Under Tech stack, label as front end, middle, backend, etc.  Testing should have its own level.  Make sure icons are aligned</a:t>
        </a:r>
      </a:p>
    </p188:txBody>
  </p188:cm>
  <p188:cm id="{4F8BFCB5-F18D-4028-A2B0-DF866D975526}" authorId="{F30846FF-0436-857E-6A61-7F15FB93B6D2}" created="2026-03-17T22:07:14.450">
    <ac:txMkLst xmlns:ac="http://schemas.microsoft.com/office/drawing/2013/main/command">
      <pc:docMk xmlns:pc="http://schemas.microsoft.com/office/powerpoint/2013/main/command"/>
      <pc:sldMk xmlns:pc="http://schemas.microsoft.com/office/powerpoint/2013/main/command" cId="1464786366" sldId="753"/>
      <ac:spMk id="2" creationId="{3D1F67CF-5A6E-6240-BE61-BCEE25C643A1}"/>
      <ac:txMk cp="40" len="11">
        <ac:context len="100" hash="4194686806"/>
      </ac:txMk>
    </ac:txMkLst>
    <p188:pos x="5910513" y="218072"/>
    <p188:txBody>
      <a:bodyPr/>
      <a:lstStyle/>
      <a:p>
        <a:r>
          <a:rPr lang="en-US"/>
          <a:t>Make the title a message, not a topic.</a:t>
        </a:r>
      </a:p>
    </p188:txBody>
  </p188:cm>
</p188:cmLst>
</file>

<file path=ppt/comments/modernComment_2F2_6AF67446.xml><?xml version="1.0" encoding="utf-8"?>
<p188:cmLst xmlns:a="http://schemas.openxmlformats.org/drawingml/2006/main" xmlns:r="http://schemas.openxmlformats.org/officeDocument/2006/relationships" xmlns:p188="http://schemas.microsoft.com/office/powerpoint/2018/8/main">
  <p188:cm id="{8AA2593D-1390-4D01-8918-399AA8E6326F}" authorId="{F30846FF-0436-857E-6A61-7F15FB93B6D2}" created="2026-03-16T19:38:29.233">
    <ac:txMkLst xmlns:ac="http://schemas.microsoft.com/office/drawing/2013/main/command">
      <pc:docMk xmlns:pc="http://schemas.microsoft.com/office/powerpoint/2013/main/command"/>
      <pc:sldMk xmlns:pc="http://schemas.microsoft.com/office/powerpoint/2013/main/command" cId="1794536518" sldId="754"/>
      <ac:spMk id="3" creationId="{DF870272-B890-9ECE-C8E4-64889A4C6519}"/>
      <ac:txMk cp="0" len="1">
        <ac:context len="74" hash="2799873603"/>
      </ac:txMk>
    </ac:txMkLst>
    <p188:pos x="3714750" y="218072"/>
    <p188:replyLst>
      <p188:reply id="{A05D323D-5EF5-40FC-935F-F1B00304F4B7}" authorId="{F30846FF-0436-857E-6A61-7F15FB93B6D2}" created="2026-03-16T20:58:49.983">
        <p188:txBody>
          <a:bodyPr/>
          <a:lstStyle/>
          <a:p>
            <a:r>
              <a:rPr lang="en-US"/>
              <a:t>highlight the features that you have replicated so far</a:t>
            </a:r>
          </a:p>
        </p188:txBody>
      </p188:reply>
      <p188:reply id="{414472D2-69BD-4571-BA12-73CA45639A05}" authorId="{F30846FF-0436-857E-6A61-7F15FB93B6D2}" created="2026-03-16T21:00:04.139">
        <p188:txBody>
          <a:bodyPr/>
          <a:lstStyle/>
          <a:p>
            <a:r>
              <a:rPr lang="en-US"/>
              <a:t>Or "GRNsight React went live on &lt;date&gt;</a:t>
            </a:r>
          </a:p>
        </p188:txBody>
      </p188:reply>
    </p188:replyLst>
    <p188:txBody>
      <a:bodyPr/>
      <a:lstStyle/>
      <a:p>
        <a:r>
          <a:rPr lang="en-US"/>
          <a:t>GRNsight React can now display graphs</a:t>
        </a:r>
      </a:p>
    </p188:txBody>
  </p188:cm>
  <p188:cm id="{237365CC-F70F-4196-894E-BD38C46CE130}" authorId="{F30846FF-0436-857E-6A61-7F15FB93B6D2}" created="2026-03-17T22:03:33.549">
    <ac:txMkLst xmlns:ac="http://schemas.microsoft.com/office/drawing/2013/main/command">
      <pc:docMk xmlns:pc="http://schemas.microsoft.com/office/powerpoint/2013/main/command"/>
      <pc:sldMk xmlns:pc="http://schemas.microsoft.com/office/powerpoint/2013/main/command" cId="1794536518" sldId="754"/>
      <ac:spMk id="3" creationId="{DF870272-B890-9ECE-C8E4-64889A4C6519}"/>
      <ac:txMk cp="67" len="6">
        <ac:context len="74" hash="2799873603"/>
      </ac:txMk>
    </ac:txMkLst>
    <p188:pos x="985085" y="526381"/>
    <p188:txBody>
      <a:bodyPr/>
      <a:lstStyle/>
      <a:p>
        <a:r>
          <a:rPr lang="en-US"/>
          <a:t>don't leave one word hanging on second line</a:t>
        </a:r>
      </a:p>
    </p188:txBody>
  </p188:cm>
</p188:cmLst>
</file>

<file path=ppt/comments/modernComment_2FB_B78DD850.xml><?xml version="1.0" encoding="utf-8"?>
<p188:cmLst xmlns:a="http://schemas.openxmlformats.org/drawingml/2006/main" xmlns:r="http://schemas.openxmlformats.org/officeDocument/2006/relationships" xmlns:p188="http://schemas.microsoft.com/office/powerpoint/2018/8/main">
  <p188:cm id="{2E2F0916-3155-4DD4-AD01-A0A823CD901D}" authorId="{F30846FF-0436-857E-6A61-7F15FB93B6D2}" created="2026-03-17T22:07:58.482">
    <pc:sldMkLst xmlns:pc="http://schemas.microsoft.com/office/powerpoint/2013/main/command">
      <pc:docMk/>
      <pc:sldMk cId="3079526480" sldId="763"/>
    </pc:sldMkLst>
    <p188:txBody>
      <a:bodyPr/>
      <a:lstStyle/>
      <a:p>
        <a:r>
          <a:rPr lang="en-US"/>
          <a:t>Just label this future work</a:t>
        </a:r>
      </a:p>
    </p188:txBody>
  </p188:cm>
  <p188:cm id="{741C5625-1CB2-44F9-8EE2-06AF4DEB6139}" authorId="{F30846FF-0436-857E-6A61-7F15FB93B6D2}" created="2026-03-17T22:09:05.656">
    <pc:sldMkLst xmlns:pc="http://schemas.microsoft.com/office/powerpoint/2013/main/command">
      <pc:docMk/>
      <pc:sldMk cId="3079526480" sldId="763"/>
    </pc:sldMkLst>
    <p188:replyLst>
      <p188:reply id="{DF9799BD-914A-4EB2-987C-C32CD92B7E5C}" authorId="{F30846FF-0436-857E-6A61-7F15FB93B6D2}" created="2026-03-17T22:09:23.344">
        <p188:txBody>
          <a:bodyPr/>
          <a:lstStyle/>
          <a:p>
            <a:r>
              <a:rPr lang="en-US"/>
              <a:t>server option on Amazon Web Services (AWS)</a:t>
            </a:r>
          </a:p>
        </p188:txBody>
      </p188:reply>
    </p188:replyLst>
    <p188:txBody>
      <a:bodyPr/>
      <a:lstStyle/>
      <a:p>
        <a:r>
          <a:rPr lang="en-US"/>
          <a:t>Split into two columns for future work for migration vs future work that is new.  You could even make a checklist of what is complete and not complete.</a:t>
        </a:r>
      </a:p>
    </p188:txBody>
  </p188:cm>
</p188:cmLst>
</file>

<file path=ppt/comments/modernComment_30B_96DADEE6.xml><?xml version="1.0" encoding="utf-8"?>
<p188:cmLst xmlns:a="http://schemas.openxmlformats.org/drawingml/2006/main" xmlns:r="http://schemas.openxmlformats.org/officeDocument/2006/relationships" xmlns:p188="http://schemas.microsoft.com/office/powerpoint/2018/8/main">
  <p188:cm id="{08B89901-B2DD-40E1-894B-1759F9EEF519}" authorId="{F30846FF-0436-857E-6A61-7F15FB93B6D2}" created="2026-03-17T22:04:46.506">
    <ac:deMkLst xmlns:ac="http://schemas.microsoft.com/office/drawing/2013/main/command">
      <pc:docMk xmlns:pc="http://schemas.microsoft.com/office/powerpoint/2013/main/command"/>
      <pc:sldMk xmlns:pc="http://schemas.microsoft.com/office/powerpoint/2013/main/command" cId="2530926310" sldId="779"/>
      <ac:picMk id="13" creationId="{15FE2B15-7EB4-8358-1F24-583233C2F77D}"/>
    </ac:deMkLst>
    <p188:txBody>
      <a:bodyPr/>
      <a:lstStyle/>
      <a:p>
        <a:r>
          <a:rPr lang="en-US"/>
          <a:t>Show your architecture diagram and make it clear that this is the API server</a:t>
        </a:r>
      </a:p>
    </p188:txBody>
  </p188:cm>
</p188:cmLst>
</file>

<file path=ppt/comments/modernComment_30F_C392BF34.xml><?xml version="1.0" encoding="utf-8"?>
<p188:cmLst xmlns:a="http://schemas.openxmlformats.org/drawingml/2006/main" xmlns:r="http://schemas.openxmlformats.org/officeDocument/2006/relationships" xmlns:p188="http://schemas.microsoft.com/office/powerpoint/2018/8/main">
  <p188:cm id="{EB39B862-3A83-4A9E-9E7B-C7D1A480AC84}" authorId="{F30846FF-0436-857E-6A61-7F15FB93B6D2}" created="2026-03-13T22:40:39.469">
    <ac:txMkLst xmlns:ac="http://schemas.microsoft.com/office/drawing/2013/main/command">
      <pc:docMk xmlns:pc="http://schemas.microsoft.com/office/powerpoint/2013/main/command"/>
      <pc:sldMk xmlns:pc="http://schemas.microsoft.com/office/powerpoint/2013/main/command" cId="3281174324" sldId="783"/>
      <ac:spMk id="3" creationId="{46E2E934-38B9-A8CC-51D2-A679334AB7A1}"/>
      <ac:txMk cp="9" len="7">
        <ac:context len="122" hash="3355758250"/>
      </ac:txMk>
    </ac:txMkLst>
    <p188:pos x="1028700" y="228600"/>
    <p188:txBody>
      <a:bodyPr/>
      <a:lstStyle/>
      <a:p>
        <a:r>
          <a:rPr lang="en-US"/>
          <a:t>Say GRNsight Classic, not just Classic.
I think you need a transition here like the figure from the original GRNsight paper that shows the server/client architecture.  Then you can transition to this.</a:t>
        </a:r>
      </a:p>
    </p188:txBody>
  </p188:cm>
  <p188:cm id="{CE2C26C4-E40A-4566-ABBF-957ECB858795}" authorId="{F30846FF-0436-857E-6A61-7F15FB93B6D2}" created="2026-03-16T18:26:20.595">
    <ac:deMkLst xmlns:ac="http://schemas.microsoft.com/office/drawing/2013/main/command">
      <pc:docMk xmlns:pc="http://schemas.microsoft.com/office/powerpoint/2013/main/command"/>
      <pc:sldMk xmlns:pc="http://schemas.microsoft.com/office/powerpoint/2013/main/command" cId="3281174324" sldId="783"/>
      <ac:spMk id="3" creationId="{46E2E934-38B9-A8CC-51D2-A679334AB7A1}"/>
    </ac:deMkLst>
    <p188:txBody>
      <a:bodyPr/>
      <a:lstStyle/>
      <a:p>
        <a:r>
          <a:rPr lang="en-US"/>
          <a:t>Not sure I'm wording this right, but the thought needs to be completed</a:t>
        </a:r>
      </a:p>
    </p188:txBody>
  </p188:cm>
  <p188:cm id="{8665398D-70D3-42AC-B1EA-05DCC4014634}" authorId="{F30846FF-0436-857E-6A61-7F15FB93B6D2}" created="2026-03-16T19:37:05.869">
    <pc:sldMkLst xmlns:pc="http://schemas.microsoft.com/office/powerpoint/2013/main/command">
      <pc:docMk/>
      <pc:sldMk cId="3281174324" sldId="783"/>
    </pc:sldMkLst>
    <p188:txBody>
      <a:bodyPr/>
      <a:lstStyle/>
      <a:p>
        <a:r>
          <a:rPr lang="en-US"/>
          <a:t>How does D3 fit in here?</a:t>
        </a:r>
      </a:p>
    </p188:txBody>
  </p188:cm>
  <p188:cm id="{0751CFC1-55D8-4077-968D-1A9C5AEE53A7}" authorId="{F30846FF-0436-857E-6A61-7F15FB93B6D2}" created="2026-03-17T22:02:53.471">
    <ac:deMkLst xmlns:ac="http://schemas.microsoft.com/office/drawing/2013/main/command">
      <pc:docMk xmlns:pc="http://schemas.microsoft.com/office/powerpoint/2013/main/command"/>
      <pc:sldMk xmlns:pc="http://schemas.microsoft.com/office/powerpoint/2013/main/command" cId="3281174324" sldId="783"/>
      <ac:picMk id="7" creationId="{4A756622-AD57-9660-8BF3-377F98736F85}"/>
    </ac:deMkLst>
    <p188:txBody>
      <a:bodyPr/>
      <a:lstStyle/>
      <a:p>
        <a:r>
          <a:rPr lang="en-US"/>
          <a:t>Replace this with your new diagram from the previous slide.</a:t>
        </a:r>
      </a:p>
    </p188:txBody>
  </p188:cm>
</p188:cmLst>
</file>

<file path=ppt/comments/modernComment_31A_B1B7C430.xml><?xml version="1.0" encoding="utf-8"?>
<p188:cmLst xmlns:a="http://schemas.openxmlformats.org/drawingml/2006/main" xmlns:r="http://schemas.openxmlformats.org/officeDocument/2006/relationships" xmlns:p188="http://schemas.microsoft.com/office/powerpoint/2018/8/main">
  <p188:cm id="{F3B082F5-C7AF-7349-92E0-7C294E597024}" authorId="{F30846FF-0436-857E-6A61-7F15FB93B6D2}" created="2026-03-13T22:39:02.561">
    <ac:txMkLst xmlns:ac="http://schemas.microsoft.com/office/drawing/2013/main/command">
      <pc:docMk xmlns:pc="http://schemas.microsoft.com/office/powerpoint/2013/main/command"/>
      <pc:sldMk xmlns:pc="http://schemas.microsoft.com/office/powerpoint/2013/main/command" cId="2981610544" sldId="794"/>
      <ac:spMk id="8" creationId="{DA14F43F-436F-4DF6-2F6C-BCDEA111EE17}"/>
      <ac:txMk cp="0" len="34">
        <ac:context len="35" hash="1559882487"/>
      </ac:txMk>
    </ac:txMkLst>
    <p188:pos x="6090557" y="236764"/>
    <p188:txBody>
      <a:bodyPr/>
      <a:lstStyle/>
      <a:p>
        <a:r>
          <a:rPr lang="en-US"/>
          <a:t>I made this slide in the desktop version of PowerPoint, but when I pasted it over, the formatting got all wonky.  I don't have time to fix it now.</a:t>
        </a:r>
      </a:p>
    </p188:txBody>
  </p188:cm>
</p188:cmLst>
</file>

<file path=ppt/comments/modernComment_31B_4B301005.xml><?xml version="1.0" encoding="utf-8"?>
<p188:cmLst xmlns:a="http://schemas.openxmlformats.org/drawingml/2006/main" xmlns:r="http://schemas.openxmlformats.org/officeDocument/2006/relationships" xmlns:p188="http://schemas.microsoft.com/office/powerpoint/2018/8/main">
  <p188:cm id="{E2252667-902A-4DE2-AB73-9043197FD458}" authorId="{F30846FF-0436-857E-6A61-7F15FB93B6D2}" created="2026-03-16T18:20:16.954">
    <ac:txMkLst xmlns:ac="http://schemas.microsoft.com/office/drawing/2013/main/command">
      <pc:docMk xmlns:pc="http://schemas.microsoft.com/office/powerpoint/2013/main/command"/>
      <pc:sldMk xmlns:pc="http://schemas.microsoft.com/office/powerpoint/2013/main/command" cId="1261441029" sldId="795"/>
      <ac:spMk id="6" creationId="{3426870B-1C37-57A4-4970-C2C5B74F06E6}"/>
      <ac:txMk cp="0">
        <ac:context len="132" hash="3232660752"/>
      </ac:txMk>
    </ac:txMkLst>
    <p188:pos x="1985210" y="526381"/>
    <p188:replyLst>
      <p188:reply id="{EBE36A05-6AD2-4BE3-9988-A9773AC4C309}" authorId="{F30846FF-0436-857E-6A61-7F15FB93B6D2}" created="2026-03-16T19:32:52.314">
        <p188:txBody>
          <a:bodyPr/>
          <a:lstStyle/>
          <a:p>
            <a:r>
              <a:rPr lang="en-US"/>
              <a:t>I saw @dondi's comment on another slide about backend/frontend.  So maybe draw a line here to distinguish backend and frontend?</a:t>
            </a:r>
          </a:p>
        </p188:txBody>
      </p188:reply>
    </p188:replyLst>
    <p188:txBody>
      <a:bodyPr/>
      <a:lstStyle/>
      <a:p>
        <a:r>
          <a:rPr lang="en-US"/>
          <a:t>I just made that title up and I'm not sure that it is correct, but I think we need to take a step back to talk about the overall architecture.</a:t>
        </a:r>
      </a:p>
    </p188:txBody>
  </p188:cm>
</p188:cmLst>
</file>

<file path=ppt/comments/modernComment_31C_CF54D9F3.xml><?xml version="1.0" encoding="utf-8"?>
<p188:cmLst xmlns:a="http://schemas.openxmlformats.org/drawingml/2006/main" xmlns:r="http://schemas.openxmlformats.org/officeDocument/2006/relationships" xmlns:p188="http://schemas.microsoft.com/office/powerpoint/2018/8/main">
  <p188:cm id="{17A7B8E8-E8CD-4AF2-874E-D801CDADE1E4}" authorId="{F30846FF-0436-857E-6A61-7F15FB93B6D2}" created="2026-03-16T19:35:35.783">
    <pc:sldMkLst xmlns:pc="http://schemas.microsoft.com/office/powerpoint/2013/main/command">
      <pc:docMk/>
      <pc:sldMk cId="3478444531" sldId="796"/>
    </pc:sldMkLst>
    <p188:replyLst>
      <p188:reply id="{A340AB87-5B13-4A85-B9D3-8ABCF6628E27}" authorId="{F30846FF-0436-857E-6A61-7F15FB93B6D2}" created="2026-03-16T19:41:05.021">
        <p188:txBody>
          <a:bodyPr/>
          <a:lstStyle/>
          <a:p>
            <a:r>
              <a:rPr lang="en-US"/>
              <a:t>make this equivalent slide for React</a:t>
            </a:r>
          </a:p>
        </p188:txBody>
      </p188:reply>
    </p188:replyLst>
    <p188:txBody>
      <a:bodyPr/>
      <a:lstStyle/>
      <a:p>
        <a:r>
          <a:rPr lang="en-US"/>
          <a:t>Make the equivalent slide for React</a:t>
        </a:r>
      </a:p>
    </p188:txBody>
  </p188:cm>
  <p188:cm id="{F28A3F54-F83B-4179-84C1-4125A2377D02}" authorId="{F30846FF-0436-857E-6A61-7F15FB93B6D2}" created="2026-03-17T22:03:10.439">
    <ac:deMkLst xmlns:ac="http://schemas.microsoft.com/office/drawing/2013/main/command">
      <pc:docMk xmlns:pc="http://schemas.microsoft.com/office/powerpoint/2013/main/command"/>
      <pc:sldMk xmlns:pc="http://schemas.microsoft.com/office/powerpoint/2013/main/command" cId="3478444531" sldId="796"/>
      <ac:picMk id="7" creationId="{BF099711-11BE-F2A0-585D-CBEDB911D5BE}"/>
    </ac:deMkLst>
    <p188:txBody>
      <a:bodyPr/>
      <a:lstStyle/>
      <a:p>
        <a:r>
          <a:rPr lang="en-US"/>
          <a:t>update with new diagram</a:t>
        </a:r>
      </a:p>
    </p188:txBody>
  </p188:cm>
</p188:cmLst>
</file>

<file path=ppt/comments/modernComment_100_0.xml><?xml version="1.0" encoding="utf-8"?>
<p188:cmLst xmlns:a="http://schemas.openxmlformats.org/drawingml/2006/main" xmlns:r="http://schemas.openxmlformats.org/officeDocument/2006/relationships" xmlns:p188="http://schemas.microsoft.com/office/powerpoint/2018/8/main">
  <p188:cm id="{E34E74B1-0A97-4E6B-8DB3-DB18D8E54DB3}" authorId="{050CC742-17C3-54B3-4E0E-240C4BB316BB}" created="2026-03-13T22:13:03.833">
    <ac:txMkLst xmlns:ac="http://schemas.microsoft.com/office/drawing/2013/main/command">
      <pc:docMk xmlns:pc="http://schemas.microsoft.com/office/powerpoint/2013/main/command"/>
      <pc:sldMk xmlns:pc="http://schemas.microsoft.com/office/powerpoint/2013/main/command" cId="0" sldId="256"/>
      <ac:spMk id="54" creationId="{00000000-0000-0000-0000-000000000000}"/>
      <ac:txMk cp="0" len="141">
        <ac:context len="142" hash="2127628176"/>
      </ac:txMk>
    </ac:txMkLst>
    <p188:pos x="5070021" y="1763485"/>
    <p188:replyLst>
      <p188:reply id="{53190B95-6725-471F-A563-42C897966265}" authorId="{F30846FF-0436-857E-6A61-7F15FB93B6D2}" created="2026-03-13T22:13:53.855">
        <p188:txBody>
          <a:bodyPr/>
          <a:lstStyle/>
          <a:p>
            <a:r>
              <a:rPr lang="en-US"/>
              <a:t>This is from Dr. Dahlquist, not sure why it is calling me a guest.</a:t>
            </a:r>
          </a:p>
        </p188:txBody>
      </p188:reply>
    </p188:replyLst>
    <p188:txBody>
      <a:bodyPr/>
      <a:lstStyle/>
      <a:p>
        <a:r>
          <a:rPr lang="en-US"/>
          <a:t>Reduce the font size to 28 and use bold so that the title fits on 3 lines. The slide looks crowded because there is not enough white space.</a:t>
        </a:r>
      </a:p>
    </p188:txBody>
  </p188:cm>
  <p188:cm id="{0EB4B5FD-DBD7-401D-981F-12688FACBB4E}" authorId="{F30846FF-0436-857E-6A61-7F15FB93B6D2}" created="2026-03-13T22:14:21.108">
    <ac:txMkLst xmlns:ac="http://schemas.microsoft.com/office/drawing/2013/main/command">
      <pc:docMk xmlns:pc="http://schemas.microsoft.com/office/powerpoint/2013/main/command"/>
      <pc:sldMk xmlns:pc="http://schemas.microsoft.com/office/powerpoint/2013/main/command" cId="0" sldId="256"/>
      <ac:spMk id="55" creationId="{00000000-0000-0000-0000-000000000000}"/>
      <ac:txMk cp="0" len="96">
        <ac:context len="97" hash="2538943623"/>
      </ac:txMk>
    </ac:txMkLst>
    <p188:pos x="4406565" y="1127960"/>
    <p188:replyLst>
      <p188:reply id="{277B5711-C598-4E68-A8E4-304408894477}" authorId="{F30846FF-0436-857E-6A61-7F15FB93B6D2}" created="2026-03-13T22:14:35.265">
        <p188:txBody>
          <a:bodyPr/>
          <a:lstStyle/>
          <a:p>
            <a:r>
              <a:rPr lang="en-US"/>
              <a:t>"LMU Undergraduate Research Symposium"</a:t>
            </a:r>
          </a:p>
        </p188:txBody>
      </p188:reply>
    </p188:replyLst>
    <p188:txBody>
      <a:bodyPr/>
      <a:lstStyle/>
      <a:p>
        <a:r>
          <a:rPr lang="en-US"/>
          <a:t>Please use black for your names and the text below for maximum readability.</a:t>
        </a:r>
      </a:p>
    </p188:txBody>
  </p188:cm>
  <p188:cm id="{14587BAD-5A80-48F3-A8E4-E52BF8D18B97}" authorId="{050CC742-17C3-54B3-4E0E-240C4BB316BB}" created="2026-03-17T21:59:16.318">
    <ac:txMkLst xmlns:ac="http://schemas.microsoft.com/office/drawing/2013/main/command">
      <pc:docMk xmlns:pc="http://schemas.microsoft.com/office/powerpoint/2013/main/command"/>
      <pc:sldMk xmlns:pc="http://schemas.microsoft.com/office/powerpoint/2013/main/command" cId="0" sldId="256"/>
      <ac:spMk id="56" creationId="{00000000-0000-0000-0000-000000000000}"/>
      <ac:txMk cp="4" len="23">
        <ac:context len="43" hash="168176076"/>
      </ac:txMk>
    </ac:txMkLst>
    <p188:pos x="3286125" y="210552"/>
    <p188:txBody>
      <a:bodyPr/>
      <a:lstStyle/>
      <a:p>
        <a:r>
          <a:rPr lang="en-US"/>
          <a:t>Undergraduate Research Symposium</a:t>
        </a:r>
      </a:p>
    </p188:txBody>
  </p188:cm>
</p188:cmLst>
</file>

<file path=ppt/comments/modernComment_119_0.xml><?xml version="1.0" encoding="utf-8"?>
<p188:cmLst xmlns:a="http://schemas.openxmlformats.org/drawingml/2006/main" xmlns:r="http://schemas.openxmlformats.org/officeDocument/2006/relationships" xmlns:p188="http://schemas.microsoft.com/office/powerpoint/2018/8/main">
  <p188:cm id="{863D2CAB-1FB7-4028-99C7-F48A5E81E148}" authorId="{F30846FF-0436-857E-6A61-7F15FB93B6D2}" created="2026-03-17T22:09:49.641">
    <ac:txMkLst xmlns:ac="http://schemas.microsoft.com/office/drawing/2013/main/command">
      <pc:docMk xmlns:pc="http://schemas.microsoft.com/office/powerpoint/2013/main/command"/>
      <pc:sldMk xmlns:pc="http://schemas.microsoft.com/office/powerpoint/2013/main/command" cId="0" sldId="281"/>
      <ac:spMk id="294" creationId="{00000000-0000-0000-0000-000000000000}"/>
      <ac:txMk cp="40" len="14">
        <ac:context len="196" hash="3727769223"/>
      </ac:txMk>
    </ac:txMkLst>
    <p188:pos x="1624263" y="909888"/>
    <p188:txBody>
      <a:bodyPr/>
      <a:lstStyle/>
      <a:p>
        <a:r>
          <a:rPr lang="en-US"/>
          <a:t>remove Nikki and add Cindy, Alex, Jia</a:t>
        </a:r>
      </a:p>
    </p188:txBody>
  </p188:cm>
</p188:cmLst>
</file>

<file path=ppt/comments/modernComment_258_1E751F0B.xml><?xml version="1.0" encoding="utf-8"?>
<p188:cmLst xmlns:a="http://schemas.openxmlformats.org/drawingml/2006/main" xmlns:r="http://schemas.openxmlformats.org/officeDocument/2006/relationships" xmlns:p188="http://schemas.microsoft.com/office/powerpoint/2018/8/main">
  <p188:cm id="{2EC5481F-3D33-42EC-81C2-3131C790C909}" authorId="{F30846FF-0436-857E-6A61-7F15FB93B6D2}" created="2026-03-13T22:21:04.129">
    <pc:sldMkLst xmlns:pc="http://schemas.microsoft.com/office/powerpoint/2013/main/command">
      <pc:docMk/>
      <pc:sldMk cId="510992139" sldId="600"/>
    </pc:sldMkLst>
    <p188:txBody>
      <a:bodyPr/>
      <a:lstStyle/>
      <a:p>
        <a:r>
          <a:rPr lang="en-US"/>
          <a:t>You can make the left image a little smaller and use the title from the previous slide as a bullet point below the image.  On the right, make it a little smaller and explain that the node represents both the transcription factor and the gene and the arrow represents the regulatory relationship.</a:t>
        </a:r>
      </a:p>
    </p188:txBody>
  </p188:cm>
</p188:cmLst>
</file>

<file path=ppt/comments/modernComment_302_84D32728.xml><?xml version="1.0" encoding="utf-8"?>
<p188:cmLst xmlns:a="http://schemas.openxmlformats.org/drawingml/2006/main" xmlns:r="http://schemas.openxmlformats.org/officeDocument/2006/relationships" xmlns:p188="http://schemas.microsoft.com/office/powerpoint/2018/8/main">
  <p188:cm id="{85B925DD-6ADF-4A15-8188-1F612F7EC08C}" authorId="{F30846FF-0436-857E-6A61-7F15FB93B6D2}" created="2026-03-16T21:20:06.457">
    <ac:txMkLst xmlns:ac="http://schemas.microsoft.com/office/drawing/2013/main/command">
      <pc:docMk xmlns:pc="http://schemas.microsoft.com/office/powerpoint/2013/main/command"/>
      <pc:sldMk xmlns:pc="http://schemas.microsoft.com/office/powerpoint/2013/main/command" cId="2228430632" sldId="770"/>
      <ac:spMk id="2" creationId="{3AE5BD4D-1512-E209-20EE-F4EB0F2F01FA}"/>
      <ac:txMk cp="0" len="93">
        <ac:context len="107" hash="609039272"/>
      </ac:txMk>
    </ac:txMkLst>
    <p188:pos x="3192235" y="538842"/>
    <p188:replyLst>
      <p188:reply id="{E90941D6-6518-42E0-BF65-16105E903178}" authorId="{F30846FF-0436-857E-6A61-7F15FB93B6D2}" created="2026-03-16T21:20:59.364">
        <p188:txBody>
          <a:bodyPr/>
          <a:lstStyle/>
          <a:p>
            <a:r>
              <a:rPr lang="en-US"/>
              <a:t>or some version of it since the first half of the talk is talking about the database migration</a:t>
            </a:r>
          </a:p>
        </p188:txBody>
      </p188:reply>
    </p188:replyLst>
    <p188:txBody>
      <a:bodyPr/>
      <a:lstStyle/>
      <a:p>
        <a:r>
          <a:rPr lang="en-US"/>
          <a:t>I think this slide should be included again.</a:t>
        </a:r>
      </a:p>
    </p188:txBody>
  </p188:cm>
  <p188:cm id="{6C14B975-4277-40BC-A138-C73612B23B20}" authorId="{F30846FF-0436-857E-6A61-7F15FB93B6D2}" created="2026-03-17T22:05:37.430">
    <ac:deMkLst xmlns:ac="http://schemas.microsoft.com/office/drawing/2013/main/command">
      <pc:docMk xmlns:pc="http://schemas.microsoft.com/office/powerpoint/2013/main/command"/>
      <pc:sldMk xmlns:pc="http://schemas.microsoft.com/office/powerpoint/2013/main/command" cId="2228430632" sldId="770"/>
      <ac:spMk id="9" creationId="{545E608A-97CD-471E-8AED-43C3CBA1ACAD}"/>
    </ac:deMkLst>
    <p188:txBody>
      <a:bodyPr/>
      <a:lstStyle/>
      <a:p>
        <a:r>
          <a:rPr lang="en-US"/>
          <a:t>Substitute NCBI GEO logo for this</a:t>
        </a:r>
      </a:p>
    </p188:txBody>
  </p188:cm>
</p188:cmLst>
</file>

<file path=ppt/comments/modernComment_306_2A18244F.xml><?xml version="1.0" encoding="utf-8"?>
<p188:cmLst xmlns:a="http://schemas.openxmlformats.org/drawingml/2006/main" xmlns:r="http://schemas.openxmlformats.org/officeDocument/2006/relationships" xmlns:p188="http://schemas.microsoft.com/office/powerpoint/2018/8/main">
  <p188:cm id="{13FFAE77-2C3E-4ECF-85AD-AEA00C9D09FC}" authorId="{F30846FF-0436-857E-6A61-7F15FB93B6D2}" created="2026-03-17T22:09:33.391">
    <ac:txMkLst xmlns:ac="http://schemas.microsoft.com/office/drawing/2013/main/command">
      <pc:docMk xmlns:pc="http://schemas.microsoft.com/office/powerpoint/2013/main/command"/>
      <pc:sldMk xmlns:pc="http://schemas.microsoft.com/office/powerpoint/2013/main/command" cId="706225231" sldId="774"/>
      <ac:spMk id="3" creationId="{0AE71669-7343-1DD2-E2CA-8CD0CE412CFB}"/>
      <ac:txMk cp="411">
        <ac:context len="511" hash="335420538"/>
      </ac:txMk>
    </ac:txMkLst>
    <p188:pos x="2308559" y="2489032"/>
    <p188:txBody>
      <a:bodyPr/>
      <a:lstStyle/>
      <a:p>
        <a:r>
          <a:rPr lang="en-US"/>
          <a:t>result</a:t>
        </a:r>
      </a:p>
    </p188:txBody>
  </p188:cm>
</p188:cmLst>
</file>

<file path=ppt/comments/modernComment_311_D3DD0C6A.xml><?xml version="1.0" encoding="utf-8"?>
<p188:cmLst xmlns:a="http://schemas.openxmlformats.org/drawingml/2006/main" xmlns:r="http://schemas.openxmlformats.org/officeDocument/2006/relationships" xmlns:p188="http://schemas.microsoft.com/office/powerpoint/2018/8/main">
  <p188:cm id="{0790328A-D455-47E4-B83D-C4A6516F40D8}" authorId="{F30846FF-0436-857E-6A61-7F15FB93B6D2}" created="2026-03-16T21:13:07.534">
    <ac:txMkLst xmlns:ac="http://schemas.microsoft.com/office/drawing/2013/main/command">
      <pc:docMk xmlns:pc="http://schemas.microsoft.com/office/powerpoint/2013/main/command"/>
      <pc:sldMk xmlns:pc="http://schemas.microsoft.com/office/powerpoint/2013/main/command" cId="3554479210" sldId="785"/>
      <ac:spMk id="8" creationId="{BF31C9DD-05AC-1535-FF25-1282EFD43026}"/>
      <ac:txMk cp="102">
        <ac:context len="103" hash="2949299013"/>
      </ac:txMk>
    </ac:txMkLst>
    <p188:pos x="5535385" y="538842"/>
    <p188:replyLst>
      <p188:reply id="{742862B9-D323-4157-9B5E-870B65F6AD82}" authorId="{F30846FF-0436-857E-6A61-7F15FB93B6D2}" created="2026-03-16T21:13:27.425">
        <p188:txBody>
          <a:bodyPr/>
          <a:lstStyle/>
          <a:p>
            <a:r>
              <a:rPr lang="en-US"/>
              <a:t>Do you mean that React fixed this or that because you looked at the code you were able to fix it?</a:t>
            </a:r>
          </a:p>
        </p188:txBody>
      </p188:reply>
      <p188:reply id="{9C69FCB4-A522-4EED-B281-70755F62CA9C}" authorId="{F30846FF-0436-857E-6A61-7F15FB93B6D2}" created="2026-03-16T21:14:33.613">
        <p188:txBody>
          <a:bodyPr/>
          <a:lstStyle/>
          <a:p>
            <a:r>
              <a:rPr lang="en-US"/>
              <a:t>Please make these images bigger.  Label them just Classic and React.  You don't need to say demo 1.  Also, say in words "Arrowheads overlapping" and "Arrowheads separated" underneath each so that people know what they are looking at.</a:t>
            </a:r>
          </a:p>
        </p188:txBody>
      </p188:reply>
      <p188:reply id="{53D0657B-A725-4395-BF1D-56F53077F9DB}" authorId="{F30846FF-0436-857E-6A61-7F15FB93B6D2}" created="2026-03-17T22:04:14.738">
        <p188:txBody>
          <a:bodyPr/>
          <a:lstStyle/>
          <a:p>
            <a:r>
              <a:rPr lang="en-US"/>
              <a:t>See my suggestion for flipping the logic of the title.</a:t>
            </a:r>
          </a:p>
        </p188:txBody>
      </p188:reply>
    </p188:replyLst>
    <p188:txBody>
      <a:bodyPr/>
      <a:lstStyle/>
      <a:p>
        <a:r>
          <a:rPr lang="en-US"/>
          <a:t>The high-level code review facilitated the fixing of a long-standing arrowhead bug in GRNsight Classic. </a:t>
        </a:r>
      </a:p>
    </p188:txBody>
  </p188:cm>
</p188:cmLst>
</file>

<file path=ppt/comments/modernComment_319_63EA6C93.xml><?xml version="1.0" encoding="utf-8"?>
<p188:cmLst xmlns:a="http://schemas.openxmlformats.org/drawingml/2006/main" xmlns:r="http://schemas.openxmlformats.org/officeDocument/2006/relationships" xmlns:p188="http://schemas.microsoft.com/office/powerpoint/2018/8/main">
  <p188:cm id="{E2B1DDC8-41BF-4C80-9767-F76682C6C130}" authorId="{F30846FF-0436-857E-6A61-7F15FB93B6D2}" created="2026-03-13T22:29:02.343">
    <pc:sldMkLst xmlns:pc="http://schemas.microsoft.com/office/powerpoint/2013/main/command">
      <pc:docMk/>
      <pc:sldMk cId="1676307603" sldId="793"/>
    </pc:sldMkLst>
    <p188:txBody>
      <a:bodyPr/>
      <a:lstStyle/>
      <a:p>
        <a:r>
          <a:rPr lang="en-US"/>
          <a:t>I made this for you.  You can ungroup the images and walk through the slide one square at a time.</a:t>
        </a:r>
      </a:p>
    </p188:txBody>
  </p188:cm>
  <p188:cm id="{8802B4EF-BAF1-4DA5-BBC5-8DF7AE8A22CB}" authorId="{F30846FF-0436-857E-6A61-7F15FB93B6D2}" created="2026-03-17T22:02:13.439">
    <pc:sldMkLst xmlns:pc="http://schemas.microsoft.com/office/powerpoint/2013/main/command">
      <pc:docMk/>
      <pc:sldMk cId="1676307603" sldId="793"/>
    </pc:sldMkLst>
    <p188:txBody>
      <a:bodyPr/>
      <a:lstStyle/>
      <a:p>
        <a:r>
          <a:rPr lang="en-US"/>
          <a:t>Before this slide, show the GRNsight home page with the black/white GRN displayed; keep the same title.</a:t>
        </a:r>
      </a:p>
    </p188:txBody>
  </p188:cm>
</p188:cmLst>
</file>

<file path=ppt/comments/modernComment_321_50ADC7EC.xml><?xml version="1.0" encoding="utf-8"?>
<p188:cmLst xmlns:a="http://schemas.openxmlformats.org/drawingml/2006/main" xmlns:r="http://schemas.openxmlformats.org/officeDocument/2006/relationships" xmlns:p188="http://schemas.microsoft.com/office/powerpoint/2018/8/main">
  <p188:cm id="{5CE3A446-6983-4491-9A1E-765725299243}" authorId="{F30846FF-0436-857E-6A61-7F15FB93B6D2}" created="2026-03-17T22:05:52.493">
    <ac:deMkLst xmlns:ac="http://schemas.microsoft.com/office/drawing/2013/main/command">
      <pc:docMk xmlns:pc="http://schemas.microsoft.com/office/powerpoint/2013/main/command"/>
      <pc:sldMk xmlns:pc="http://schemas.microsoft.com/office/powerpoint/2013/main/command" cId="1353566188" sldId="801"/>
      <ac:spMk id="18" creationId="{C5F226BF-95C8-40BB-1FA4-8779E57895FF}"/>
    </ac:deMkLst>
    <p188:txBody>
      <a:bodyPr/>
      <a:lstStyle/>
      <a:p>
        <a:r>
          <a:rPr lang="en-US"/>
          <a:t>substitute main.py</a:t>
        </a:r>
      </a:p>
    </p188:txBody>
  </p188:cm>
</p188:cmLst>
</file>

<file path=ppt/comments/modernComment_325_782738F9.xml><?xml version="1.0" encoding="utf-8"?>
<p188:cmLst xmlns:a="http://schemas.openxmlformats.org/drawingml/2006/main" xmlns:r="http://schemas.openxmlformats.org/officeDocument/2006/relationships" xmlns:p188="http://schemas.microsoft.com/office/powerpoint/2018/8/main">
  <p188:cm id="{FA8A3A50-8A17-4B34-B92A-92F9F10E0D52}" authorId="{F30846FF-0436-857E-6A61-7F15FB93B6D2}" created="2026-03-17T22:07:32.731">
    <ac:txMkLst xmlns:ac="http://schemas.microsoft.com/office/drawing/2013/main/command">
      <pc:docMk xmlns:pc="http://schemas.microsoft.com/office/powerpoint/2013/main/command"/>
      <pc:sldMk xmlns:pc="http://schemas.microsoft.com/office/powerpoint/2013/main/command" cId="2015836409" sldId="805"/>
      <ac:spMk id="2" creationId="{0BEACC91-8EAA-BC44-A207-235AA61C4B45}"/>
      <ac:txMk cp="0" len="68">
        <ac:context len="69" hash="2160533215"/>
      </ac:txMk>
    </ac:txMkLst>
    <p188:pos x="3737309" y="218072"/>
    <p188:txBody>
      <a:bodyPr/>
      <a:lstStyle/>
      <a:p>
        <a:r>
          <a:rPr lang="en-US"/>
          <a:t>make the title a message, not a topic</a:t>
        </a:r>
      </a:p>
    </p188:txBody>
  </p188:cm>
</p188:cmLst>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31BDF4D-1F86-4980-A257-09DE4420AF5A}" type="doc">
      <dgm:prSet loTypeId="urn:microsoft.com/office/officeart/2005/8/layout/chevron1" loCatId="process" qsTypeId="urn:microsoft.com/office/officeart/2005/8/quickstyle/simple1" qsCatId="simple" csTypeId="urn:microsoft.com/office/officeart/2005/8/colors/accent1_2" csCatId="accent1" phldr="1"/>
      <dgm:spPr/>
      <dgm:t>
        <a:bodyPr/>
        <a:lstStyle/>
        <a:p>
          <a:endParaRPr lang="en-US"/>
        </a:p>
      </dgm:t>
    </dgm:pt>
    <dgm:pt modelId="{34E8FF18-D5C3-4203-AB1A-E0DCABD42747}">
      <dgm:prSet phldrT="[Text]" phldr="0"/>
      <dgm:spPr>
        <a:solidFill>
          <a:srgbClr val="16693F"/>
        </a:solidFill>
      </dgm:spPr>
      <dgm:t>
        <a:bodyPr/>
        <a:lstStyle/>
        <a:p>
          <a:pPr rtl="0"/>
          <a:r>
            <a:rPr lang="en-US"/>
            <a:t>v1  </a:t>
          </a:r>
          <a:r>
            <a:rPr lang="en-US">
              <a:latin typeface="Arial"/>
            </a:rPr>
            <a:t>  </a:t>
          </a:r>
          <a:r>
            <a:rPr lang="en-US"/>
            <a:t>(2014-16)</a:t>
          </a:r>
        </a:p>
      </dgm:t>
    </dgm:pt>
    <dgm:pt modelId="{F3068679-451C-418B-9DE7-1C6EBA0835CC}" type="parTrans" cxnId="{3ED519C2-C4C2-483B-864B-375286D86078}">
      <dgm:prSet/>
      <dgm:spPr/>
      <dgm:t>
        <a:bodyPr/>
        <a:lstStyle/>
        <a:p>
          <a:endParaRPr lang="en-US"/>
        </a:p>
      </dgm:t>
    </dgm:pt>
    <dgm:pt modelId="{68F7394D-AE2A-40C2-930F-6783231C46F0}" type="sibTrans" cxnId="{3ED519C2-C4C2-483B-864B-375286D86078}">
      <dgm:prSet/>
      <dgm:spPr/>
      <dgm:t>
        <a:bodyPr/>
        <a:lstStyle/>
        <a:p>
          <a:endParaRPr lang="en-US"/>
        </a:p>
      </dgm:t>
    </dgm:pt>
    <dgm:pt modelId="{8BA84369-509D-46A6-A160-46F416BE49B5}">
      <dgm:prSet phldrT="[Text]" phldr="0"/>
      <dgm:spPr>
        <a:solidFill>
          <a:srgbClr val="DFEBE5"/>
        </a:solidFill>
      </dgm:spPr>
      <dgm:t>
        <a:bodyPr/>
        <a:lstStyle/>
        <a:p>
          <a:r>
            <a:rPr lang="en-US">
              <a:solidFill>
                <a:schemeClr val="tx1"/>
              </a:solidFill>
            </a:rPr>
            <a:t>v2   (2016-18)</a:t>
          </a:r>
        </a:p>
      </dgm:t>
    </dgm:pt>
    <dgm:pt modelId="{57CA1585-8E51-4D9F-AD46-D0CEAFF6AE2E}" type="parTrans" cxnId="{54733A53-FED2-48FF-AE84-8132BEECE8BC}">
      <dgm:prSet/>
      <dgm:spPr/>
      <dgm:t>
        <a:bodyPr/>
        <a:lstStyle/>
        <a:p>
          <a:endParaRPr lang="en-US"/>
        </a:p>
      </dgm:t>
    </dgm:pt>
    <dgm:pt modelId="{B29CA227-040E-45AC-9F91-C9DC744D5CF0}" type="sibTrans" cxnId="{54733A53-FED2-48FF-AE84-8132BEECE8BC}">
      <dgm:prSet/>
      <dgm:spPr/>
      <dgm:t>
        <a:bodyPr/>
        <a:lstStyle/>
        <a:p>
          <a:endParaRPr lang="en-US"/>
        </a:p>
      </dgm:t>
    </dgm:pt>
    <dgm:pt modelId="{473152B6-C37D-4981-8E83-A313A61ABD92}">
      <dgm:prSet phldrT="[Text]" phldr="0"/>
      <dgm:spPr>
        <a:solidFill>
          <a:srgbClr val="16693F"/>
        </a:solidFill>
      </dgm:spPr>
      <dgm:t>
        <a:bodyPr/>
        <a:lstStyle/>
        <a:p>
          <a:r>
            <a:rPr lang="en-US"/>
            <a:t>v3   (2018)</a:t>
          </a:r>
        </a:p>
      </dgm:t>
    </dgm:pt>
    <dgm:pt modelId="{1637C740-5767-4381-B58E-89CE3C5E98C7}" type="parTrans" cxnId="{057CF0AB-F87B-4B59-A9D7-C2287C3C3A7F}">
      <dgm:prSet/>
      <dgm:spPr/>
      <dgm:t>
        <a:bodyPr/>
        <a:lstStyle/>
        <a:p>
          <a:endParaRPr lang="en-US"/>
        </a:p>
      </dgm:t>
    </dgm:pt>
    <dgm:pt modelId="{0287BE0A-F5A0-4841-9568-ED7E884D7B1B}" type="sibTrans" cxnId="{057CF0AB-F87B-4B59-A9D7-C2287C3C3A7F}">
      <dgm:prSet/>
      <dgm:spPr/>
      <dgm:t>
        <a:bodyPr/>
        <a:lstStyle/>
        <a:p>
          <a:endParaRPr lang="en-US"/>
        </a:p>
      </dgm:t>
    </dgm:pt>
    <dgm:pt modelId="{1F092380-A4A5-439A-9A14-461C66C9E153}">
      <dgm:prSet phldrT="[Text]" phldr="0"/>
      <dgm:spPr>
        <a:solidFill>
          <a:srgbClr val="DFEBE5"/>
        </a:solidFill>
      </dgm:spPr>
      <dgm:t>
        <a:bodyPr/>
        <a:lstStyle/>
        <a:p>
          <a:r>
            <a:rPr lang="en-US">
              <a:solidFill>
                <a:schemeClr val="tx1"/>
              </a:solidFill>
            </a:rPr>
            <a:t>v4   (2019)</a:t>
          </a:r>
        </a:p>
      </dgm:t>
    </dgm:pt>
    <dgm:pt modelId="{7DA2AF6E-1AA8-460D-8B26-E2E3332C81B2}" type="parTrans" cxnId="{84456B2F-53B8-48EF-AA47-54D7118D7B51}">
      <dgm:prSet/>
      <dgm:spPr/>
      <dgm:t>
        <a:bodyPr/>
        <a:lstStyle/>
        <a:p>
          <a:endParaRPr lang="en-US"/>
        </a:p>
      </dgm:t>
    </dgm:pt>
    <dgm:pt modelId="{7E679611-E11F-4CB8-B903-E4940A360B84}" type="sibTrans" cxnId="{84456B2F-53B8-48EF-AA47-54D7118D7B51}">
      <dgm:prSet/>
      <dgm:spPr/>
      <dgm:t>
        <a:bodyPr/>
        <a:lstStyle/>
        <a:p>
          <a:endParaRPr lang="en-US"/>
        </a:p>
      </dgm:t>
    </dgm:pt>
    <dgm:pt modelId="{B761CDEB-FE38-4036-A485-FFE8828BF5C2}">
      <dgm:prSet phldrT="[Text]" phldr="0"/>
      <dgm:spPr>
        <a:solidFill>
          <a:srgbClr val="16693F"/>
        </a:solidFill>
      </dgm:spPr>
      <dgm:t>
        <a:bodyPr/>
        <a:lstStyle/>
        <a:p>
          <a:r>
            <a:rPr lang="en-US"/>
            <a:t>v5   (2019-22)</a:t>
          </a:r>
        </a:p>
      </dgm:t>
    </dgm:pt>
    <dgm:pt modelId="{4906221A-711F-4D94-BB57-345C723AB6D9}" type="parTrans" cxnId="{545FD914-B67B-4389-8BF9-B5B2756E01C2}">
      <dgm:prSet/>
      <dgm:spPr/>
      <dgm:t>
        <a:bodyPr/>
        <a:lstStyle/>
        <a:p>
          <a:endParaRPr lang="en-US"/>
        </a:p>
      </dgm:t>
    </dgm:pt>
    <dgm:pt modelId="{0026119C-EA0D-4FA2-8184-05608C8B1F19}" type="sibTrans" cxnId="{545FD914-B67B-4389-8BF9-B5B2756E01C2}">
      <dgm:prSet/>
      <dgm:spPr/>
      <dgm:t>
        <a:bodyPr/>
        <a:lstStyle/>
        <a:p>
          <a:endParaRPr lang="en-US"/>
        </a:p>
      </dgm:t>
    </dgm:pt>
    <dgm:pt modelId="{9384497F-533F-430F-A781-0FAFA943519B}">
      <dgm:prSet phldrT="[Text]" phldr="0"/>
      <dgm:spPr>
        <a:solidFill>
          <a:srgbClr val="DFEBE5"/>
        </a:solidFill>
      </dgm:spPr>
      <dgm:t>
        <a:bodyPr/>
        <a:lstStyle/>
        <a:p>
          <a:r>
            <a:rPr lang="en-US">
              <a:solidFill>
                <a:schemeClr val="tx1"/>
              </a:solidFill>
            </a:rPr>
            <a:t>v6   (2022-23)</a:t>
          </a:r>
        </a:p>
      </dgm:t>
    </dgm:pt>
    <dgm:pt modelId="{04D3B2EF-C9C5-4600-8885-3FCC01116716}" type="parTrans" cxnId="{BC8AAE48-4C51-4D6F-BA7C-2997E6B526A1}">
      <dgm:prSet/>
      <dgm:spPr/>
      <dgm:t>
        <a:bodyPr/>
        <a:lstStyle/>
        <a:p>
          <a:endParaRPr lang="en-US"/>
        </a:p>
      </dgm:t>
    </dgm:pt>
    <dgm:pt modelId="{C16578D5-F111-4C1E-8DAD-B5E6EB7FEC71}" type="sibTrans" cxnId="{BC8AAE48-4C51-4D6F-BA7C-2997E6B526A1}">
      <dgm:prSet/>
      <dgm:spPr/>
      <dgm:t>
        <a:bodyPr/>
        <a:lstStyle/>
        <a:p>
          <a:endParaRPr lang="en-US"/>
        </a:p>
      </dgm:t>
    </dgm:pt>
    <dgm:pt modelId="{100C9332-8C00-425F-AF03-01F772DED47F}">
      <dgm:prSet phldrT="[Text]" phldr="0"/>
      <dgm:spPr>
        <a:solidFill>
          <a:srgbClr val="16693F"/>
        </a:solidFill>
      </dgm:spPr>
      <dgm:t>
        <a:bodyPr/>
        <a:lstStyle/>
        <a:p>
          <a:pPr rtl="0"/>
          <a:r>
            <a:rPr lang="en-US"/>
            <a:t>v7  </a:t>
          </a:r>
          <a:r>
            <a:rPr lang="en-US">
              <a:latin typeface="Arial"/>
            </a:rPr>
            <a:t> </a:t>
          </a:r>
          <a:r>
            <a:rPr lang="en-US"/>
            <a:t>(2023-26)</a:t>
          </a:r>
        </a:p>
      </dgm:t>
    </dgm:pt>
    <dgm:pt modelId="{8C50A2C8-2F19-47FC-91D3-11B12F78C3D9}" type="parTrans" cxnId="{DD93FAD4-083B-4392-A72E-12D0B3BAE8F6}">
      <dgm:prSet/>
      <dgm:spPr/>
      <dgm:t>
        <a:bodyPr/>
        <a:lstStyle/>
        <a:p>
          <a:endParaRPr lang="en-US"/>
        </a:p>
      </dgm:t>
    </dgm:pt>
    <dgm:pt modelId="{85530519-CD19-4718-B297-B46476372B8C}" type="sibTrans" cxnId="{DD93FAD4-083B-4392-A72E-12D0B3BAE8F6}">
      <dgm:prSet/>
      <dgm:spPr/>
      <dgm:t>
        <a:bodyPr/>
        <a:lstStyle/>
        <a:p>
          <a:endParaRPr lang="en-US"/>
        </a:p>
      </dgm:t>
    </dgm:pt>
    <dgm:pt modelId="{25E8AEBA-B8F4-4B2B-BBF3-588546F58EA0}">
      <dgm:prSet phldrT="[Text]" phldr="0"/>
      <dgm:spPr>
        <a:solidFill>
          <a:srgbClr val="DFEBE5"/>
        </a:solidFill>
      </dgm:spPr>
      <dgm:t>
        <a:bodyPr/>
        <a:lstStyle/>
        <a:p>
          <a:r>
            <a:rPr lang="en-US">
              <a:solidFill>
                <a:schemeClr val="tx1"/>
              </a:solidFill>
            </a:rPr>
            <a:t>React (2025-26)</a:t>
          </a:r>
        </a:p>
      </dgm:t>
    </dgm:pt>
    <dgm:pt modelId="{999027B8-8DC8-4BD3-9CE3-CA3905CD9112}" type="parTrans" cxnId="{D22DCC53-F2BA-4554-B167-609AB2E33CA1}">
      <dgm:prSet/>
      <dgm:spPr/>
      <dgm:t>
        <a:bodyPr/>
        <a:lstStyle/>
        <a:p>
          <a:endParaRPr lang="en-US"/>
        </a:p>
      </dgm:t>
    </dgm:pt>
    <dgm:pt modelId="{8B2CADD5-B85C-4E24-9540-8EC5BFF39A33}" type="sibTrans" cxnId="{D22DCC53-F2BA-4554-B167-609AB2E33CA1}">
      <dgm:prSet/>
      <dgm:spPr/>
      <dgm:t>
        <a:bodyPr/>
        <a:lstStyle/>
        <a:p>
          <a:endParaRPr lang="en-US"/>
        </a:p>
      </dgm:t>
    </dgm:pt>
    <dgm:pt modelId="{EE52B0FD-51CF-4F64-B82E-B95C028AA2BB}" type="pres">
      <dgm:prSet presAssocID="{731BDF4D-1F86-4980-A257-09DE4420AF5A}" presName="Name0" presStyleCnt="0">
        <dgm:presLayoutVars>
          <dgm:dir/>
          <dgm:animLvl val="lvl"/>
          <dgm:resizeHandles val="exact"/>
        </dgm:presLayoutVars>
      </dgm:prSet>
      <dgm:spPr/>
    </dgm:pt>
    <dgm:pt modelId="{0F3A6854-FE96-44ED-B82B-CDAE7E2E090F}" type="pres">
      <dgm:prSet presAssocID="{34E8FF18-D5C3-4203-AB1A-E0DCABD42747}" presName="parTxOnly" presStyleLbl="node1" presStyleIdx="0" presStyleCnt="8">
        <dgm:presLayoutVars>
          <dgm:chMax val="0"/>
          <dgm:chPref val="0"/>
          <dgm:bulletEnabled val="1"/>
        </dgm:presLayoutVars>
      </dgm:prSet>
      <dgm:spPr/>
    </dgm:pt>
    <dgm:pt modelId="{B8AE0F7A-0B34-41CF-88D5-8DEE442C6461}" type="pres">
      <dgm:prSet presAssocID="{68F7394D-AE2A-40C2-930F-6783231C46F0}" presName="parTxOnlySpace" presStyleCnt="0"/>
      <dgm:spPr/>
    </dgm:pt>
    <dgm:pt modelId="{C7D0E513-4CB3-4B52-A0E3-F20BD7B61CFF}" type="pres">
      <dgm:prSet presAssocID="{8BA84369-509D-46A6-A160-46F416BE49B5}" presName="parTxOnly" presStyleLbl="node1" presStyleIdx="1" presStyleCnt="8">
        <dgm:presLayoutVars>
          <dgm:chMax val="0"/>
          <dgm:chPref val="0"/>
          <dgm:bulletEnabled val="1"/>
        </dgm:presLayoutVars>
      </dgm:prSet>
      <dgm:spPr/>
    </dgm:pt>
    <dgm:pt modelId="{6DC26627-76B3-4C30-AF96-9FFB8DBBBD14}" type="pres">
      <dgm:prSet presAssocID="{B29CA227-040E-45AC-9F91-C9DC744D5CF0}" presName="parTxOnlySpace" presStyleCnt="0"/>
      <dgm:spPr/>
    </dgm:pt>
    <dgm:pt modelId="{30BB4A63-100D-493E-9AC3-7C802609B470}" type="pres">
      <dgm:prSet presAssocID="{473152B6-C37D-4981-8E83-A313A61ABD92}" presName="parTxOnly" presStyleLbl="node1" presStyleIdx="2" presStyleCnt="8">
        <dgm:presLayoutVars>
          <dgm:chMax val="0"/>
          <dgm:chPref val="0"/>
          <dgm:bulletEnabled val="1"/>
        </dgm:presLayoutVars>
      </dgm:prSet>
      <dgm:spPr/>
    </dgm:pt>
    <dgm:pt modelId="{1D8D9228-3E49-4800-8971-BD8C9429A5DF}" type="pres">
      <dgm:prSet presAssocID="{0287BE0A-F5A0-4841-9568-ED7E884D7B1B}" presName="parTxOnlySpace" presStyleCnt="0"/>
      <dgm:spPr/>
    </dgm:pt>
    <dgm:pt modelId="{16A43A8F-44E7-472E-87FB-AB8B6640105D}" type="pres">
      <dgm:prSet presAssocID="{1F092380-A4A5-439A-9A14-461C66C9E153}" presName="parTxOnly" presStyleLbl="node1" presStyleIdx="3" presStyleCnt="8">
        <dgm:presLayoutVars>
          <dgm:chMax val="0"/>
          <dgm:chPref val="0"/>
          <dgm:bulletEnabled val="1"/>
        </dgm:presLayoutVars>
      </dgm:prSet>
      <dgm:spPr/>
    </dgm:pt>
    <dgm:pt modelId="{CD1D9BC1-7189-456E-AAB5-6E070E7B50F4}" type="pres">
      <dgm:prSet presAssocID="{7E679611-E11F-4CB8-B903-E4940A360B84}" presName="parTxOnlySpace" presStyleCnt="0"/>
      <dgm:spPr/>
    </dgm:pt>
    <dgm:pt modelId="{3BC9835C-889B-45D6-A163-4AA7329170C7}" type="pres">
      <dgm:prSet presAssocID="{B761CDEB-FE38-4036-A485-FFE8828BF5C2}" presName="parTxOnly" presStyleLbl="node1" presStyleIdx="4" presStyleCnt="8">
        <dgm:presLayoutVars>
          <dgm:chMax val="0"/>
          <dgm:chPref val="0"/>
          <dgm:bulletEnabled val="1"/>
        </dgm:presLayoutVars>
      </dgm:prSet>
      <dgm:spPr/>
    </dgm:pt>
    <dgm:pt modelId="{F14EAE50-A0BB-4626-B0B4-029205BAF0AB}" type="pres">
      <dgm:prSet presAssocID="{0026119C-EA0D-4FA2-8184-05608C8B1F19}" presName="parTxOnlySpace" presStyleCnt="0"/>
      <dgm:spPr/>
    </dgm:pt>
    <dgm:pt modelId="{4F5C5BD0-001A-4FBB-9C24-66620BE999B8}" type="pres">
      <dgm:prSet presAssocID="{9384497F-533F-430F-A781-0FAFA943519B}" presName="parTxOnly" presStyleLbl="node1" presStyleIdx="5" presStyleCnt="8">
        <dgm:presLayoutVars>
          <dgm:chMax val="0"/>
          <dgm:chPref val="0"/>
          <dgm:bulletEnabled val="1"/>
        </dgm:presLayoutVars>
      </dgm:prSet>
      <dgm:spPr/>
    </dgm:pt>
    <dgm:pt modelId="{E1271167-6679-4888-B120-060E505D2255}" type="pres">
      <dgm:prSet presAssocID="{C16578D5-F111-4C1E-8DAD-B5E6EB7FEC71}" presName="parTxOnlySpace" presStyleCnt="0"/>
      <dgm:spPr/>
    </dgm:pt>
    <dgm:pt modelId="{6293A051-8ED7-40BC-A24A-255161956B3C}" type="pres">
      <dgm:prSet presAssocID="{100C9332-8C00-425F-AF03-01F772DED47F}" presName="parTxOnly" presStyleLbl="node1" presStyleIdx="6" presStyleCnt="8">
        <dgm:presLayoutVars>
          <dgm:chMax val="0"/>
          <dgm:chPref val="0"/>
          <dgm:bulletEnabled val="1"/>
        </dgm:presLayoutVars>
      </dgm:prSet>
      <dgm:spPr/>
    </dgm:pt>
    <dgm:pt modelId="{5C7F0833-F154-4D9C-83EE-AE13E2BDDD67}" type="pres">
      <dgm:prSet presAssocID="{85530519-CD19-4718-B297-B46476372B8C}" presName="parTxOnlySpace" presStyleCnt="0"/>
      <dgm:spPr/>
    </dgm:pt>
    <dgm:pt modelId="{67EE7576-E38C-468A-88F2-312B1C7A4D0B}" type="pres">
      <dgm:prSet presAssocID="{25E8AEBA-B8F4-4B2B-BBF3-588546F58EA0}" presName="parTxOnly" presStyleLbl="node1" presStyleIdx="7" presStyleCnt="8">
        <dgm:presLayoutVars>
          <dgm:chMax val="0"/>
          <dgm:chPref val="0"/>
          <dgm:bulletEnabled val="1"/>
        </dgm:presLayoutVars>
      </dgm:prSet>
      <dgm:spPr/>
    </dgm:pt>
  </dgm:ptLst>
  <dgm:cxnLst>
    <dgm:cxn modelId="{545FD914-B67B-4389-8BF9-B5B2756E01C2}" srcId="{731BDF4D-1F86-4980-A257-09DE4420AF5A}" destId="{B761CDEB-FE38-4036-A485-FFE8828BF5C2}" srcOrd="4" destOrd="0" parTransId="{4906221A-711F-4D94-BB57-345C723AB6D9}" sibTransId="{0026119C-EA0D-4FA2-8184-05608C8B1F19}"/>
    <dgm:cxn modelId="{889F0A1D-A344-41F5-AEF0-87F82C088A4F}" type="presOf" srcId="{1F092380-A4A5-439A-9A14-461C66C9E153}" destId="{16A43A8F-44E7-472E-87FB-AB8B6640105D}" srcOrd="0" destOrd="0" presId="urn:microsoft.com/office/officeart/2005/8/layout/chevron1"/>
    <dgm:cxn modelId="{622B212C-2570-4C09-8DC4-B70261ACB1D9}" type="presOf" srcId="{731BDF4D-1F86-4980-A257-09DE4420AF5A}" destId="{EE52B0FD-51CF-4F64-B82E-B95C028AA2BB}" srcOrd="0" destOrd="0" presId="urn:microsoft.com/office/officeart/2005/8/layout/chevron1"/>
    <dgm:cxn modelId="{84456B2F-53B8-48EF-AA47-54D7118D7B51}" srcId="{731BDF4D-1F86-4980-A257-09DE4420AF5A}" destId="{1F092380-A4A5-439A-9A14-461C66C9E153}" srcOrd="3" destOrd="0" parTransId="{7DA2AF6E-1AA8-460D-8B26-E2E3332C81B2}" sibTransId="{7E679611-E11F-4CB8-B903-E4940A360B84}"/>
    <dgm:cxn modelId="{3CB3D741-6CF0-4BF7-8787-2C271EF5C490}" type="presOf" srcId="{8BA84369-509D-46A6-A160-46F416BE49B5}" destId="{C7D0E513-4CB3-4B52-A0E3-F20BD7B61CFF}" srcOrd="0" destOrd="0" presId="urn:microsoft.com/office/officeart/2005/8/layout/chevron1"/>
    <dgm:cxn modelId="{BC8AAE48-4C51-4D6F-BA7C-2997E6B526A1}" srcId="{731BDF4D-1F86-4980-A257-09DE4420AF5A}" destId="{9384497F-533F-430F-A781-0FAFA943519B}" srcOrd="5" destOrd="0" parTransId="{04D3B2EF-C9C5-4600-8885-3FCC01116716}" sibTransId="{C16578D5-F111-4C1E-8DAD-B5E6EB7FEC71}"/>
    <dgm:cxn modelId="{CFB16F4E-F330-4E88-99B8-0E0AB24F1AC8}" type="presOf" srcId="{473152B6-C37D-4981-8E83-A313A61ABD92}" destId="{30BB4A63-100D-493E-9AC3-7C802609B470}" srcOrd="0" destOrd="0" presId="urn:microsoft.com/office/officeart/2005/8/layout/chevron1"/>
    <dgm:cxn modelId="{95BEE850-3C45-408A-88A2-87B97AC1E5C5}" type="presOf" srcId="{100C9332-8C00-425F-AF03-01F772DED47F}" destId="{6293A051-8ED7-40BC-A24A-255161956B3C}" srcOrd="0" destOrd="0" presId="urn:microsoft.com/office/officeart/2005/8/layout/chevron1"/>
    <dgm:cxn modelId="{54733A53-FED2-48FF-AE84-8132BEECE8BC}" srcId="{731BDF4D-1F86-4980-A257-09DE4420AF5A}" destId="{8BA84369-509D-46A6-A160-46F416BE49B5}" srcOrd="1" destOrd="0" parTransId="{57CA1585-8E51-4D9F-AD46-D0CEAFF6AE2E}" sibTransId="{B29CA227-040E-45AC-9F91-C9DC744D5CF0}"/>
    <dgm:cxn modelId="{D22DCC53-F2BA-4554-B167-609AB2E33CA1}" srcId="{731BDF4D-1F86-4980-A257-09DE4420AF5A}" destId="{25E8AEBA-B8F4-4B2B-BBF3-588546F58EA0}" srcOrd="7" destOrd="0" parTransId="{999027B8-8DC8-4BD3-9CE3-CA3905CD9112}" sibTransId="{8B2CADD5-B85C-4E24-9540-8EC5BFF39A33}"/>
    <dgm:cxn modelId="{5DB6A36C-52FD-4249-808E-F247BCCE907D}" type="presOf" srcId="{25E8AEBA-B8F4-4B2B-BBF3-588546F58EA0}" destId="{67EE7576-E38C-468A-88F2-312B1C7A4D0B}" srcOrd="0" destOrd="0" presId="urn:microsoft.com/office/officeart/2005/8/layout/chevron1"/>
    <dgm:cxn modelId="{057CF0AB-F87B-4B59-A9D7-C2287C3C3A7F}" srcId="{731BDF4D-1F86-4980-A257-09DE4420AF5A}" destId="{473152B6-C37D-4981-8E83-A313A61ABD92}" srcOrd="2" destOrd="0" parTransId="{1637C740-5767-4381-B58E-89CE3C5E98C7}" sibTransId="{0287BE0A-F5A0-4841-9568-ED7E884D7B1B}"/>
    <dgm:cxn modelId="{3ED519C2-C4C2-483B-864B-375286D86078}" srcId="{731BDF4D-1F86-4980-A257-09DE4420AF5A}" destId="{34E8FF18-D5C3-4203-AB1A-E0DCABD42747}" srcOrd="0" destOrd="0" parTransId="{F3068679-451C-418B-9DE7-1C6EBA0835CC}" sibTransId="{68F7394D-AE2A-40C2-930F-6783231C46F0}"/>
    <dgm:cxn modelId="{947C3CD2-0C63-4BB5-97D8-D6DF436FDDB8}" type="presOf" srcId="{9384497F-533F-430F-A781-0FAFA943519B}" destId="{4F5C5BD0-001A-4FBB-9C24-66620BE999B8}" srcOrd="0" destOrd="0" presId="urn:microsoft.com/office/officeart/2005/8/layout/chevron1"/>
    <dgm:cxn modelId="{DD93FAD4-083B-4392-A72E-12D0B3BAE8F6}" srcId="{731BDF4D-1F86-4980-A257-09DE4420AF5A}" destId="{100C9332-8C00-425F-AF03-01F772DED47F}" srcOrd="6" destOrd="0" parTransId="{8C50A2C8-2F19-47FC-91D3-11B12F78C3D9}" sibTransId="{85530519-CD19-4718-B297-B46476372B8C}"/>
    <dgm:cxn modelId="{03C775DE-9321-4FA4-B3EC-867BEECAC0EB}" type="presOf" srcId="{B761CDEB-FE38-4036-A485-FFE8828BF5C2}" destId="{3BC9835C-889B-45D6-A163-4AA7329170C7}" srcOrd="0" destOrd="0" presId="urn:microsoft.com/office/officeart/2005/8/layout/chevron1"/>
    <dgm:cxn modelId="{F9CF94FD-7EF3-413E-BB9F-30E9EA7939C4}" type="presOf" srcId="{34E8FF18-D5C3-4203-AB1A-E0DCABD42747}" destId="{0F3A6854-FE96-44ED-B82B-CDAE7E2E090F}" srcOrd="0" destOrd="0" presId="urn:microsoft.com/office/officeart/2005/8/layout/chevron1"/>
    <dgm:cxn modelId="{329208B1-3887-4E8C-8B70-7DCB3520B04F}" type="presParOf" srcId="{EE52B0FD-51CF-4F64-B82E-B95C028AA2BB}" destId="{0F3A6854-FE96-44ED-B82B-CDAE7E2E090F}" srcOrd="0" destOrd="0" presId="urn:microsoft.com/office/officeart/2005/8/layout/chevron1"/>
    <dgm:cxn modelId="{7ECBFAF8-7BA3-4724-80FB-5A0B8853D2B3}" type="presParOf" srcId="{EE52B0FD-51CF-4F64-B82E-B95C028AA2BB}" destId="{B8AE0F7A-0B34-41CF-88D5-8DEE442C6461}" srcOrd="1" destOrd="0" presId="urn:microsoft.com/office/officeart/2005/8/layout/chevron1"/>
    <dgm:cxn modelId="{AC64D882-E018-4B5E-B452-206744FD592E}" type="presParOf" srcId="{EE52B0FD-51CF-4F64-B82E-B95C028AA2BB}" destId="{C7D0E513-4CB3-4B52-A0E3-F20BD7B61CFF}" srcOrd="2" destOrd="0" presId="urn:microsoft.com/office/officeart/2005/8/layout/chevron1"/>
    <dgm:cxn modelId="{E05C9C87-DFA0-42FB-85A7-876ECBE48887}" type="presParOf" srcId="{EE52B0FD-51CF-4F64-B82E-B95C028AA2BB}" destId="{6DC26627-76B3-4C30-AF96-9FFB8DBBBD14}" srcOrd="3" destOrd="0" presId="urn:microsoft.com/office/officeart/2005/8/layout/chevron1"/>
    <dgm:cxn modelId="{A2C0B181-51E5-435F-9214-5FF1171BC92F}" type="presParOf" srcId="{EE52B0FD-51CF-4F64-B82E-B95C028AA2BB}" destId="{30BB4A63-100D-493E-9AC3-7C802609B470}" srcOrd="4" destOrd="0" presId="urn:microsoft.com/office/officeart/2005/8/layout/chevron1"/>
    <dgm:cxn modelId="{64DF1C53-1445-4C88-B83C-69C2D9C86D14}" type="presParOf" srcId="{EE52B0FD-51CF-4F64-B82E-B95C028AA2BB}" destId="{1D8D9228-3E49-4800-8971-BD8C9429A5DF}" srcOrd="5" destOrd="0" presId="urn:microsoft.com/office/officeart/2005/8/layout/chevron1"/>
    <dgm:cxn modelId="{C3B188D1-83B5-4DEA-958F-322AB6A5660B}" type="presParOf" srcId="{EE52B0FD-51CF-4F64-B82E-B95C028AA2BB}" destId="{16A43A8F-44E7-472E-87FB-AB8B6640105D}" srcOrd="6" destOrd="0" presId="urn:microsoft.com/office/officeart/2005/8/layout/chevron1"/>
    <dgm:cxn modelId="{8BCC1F03-F9AC-43AB-A56C-F108E047CB79}" type="presParOf" srcId="{EE52B0FD-51CF-4F64-B82E-B95C028AA2BB}" destId="{CD1D9BC1-7189-456E-AAB5-6E070E7B50F4}" srcOrd="7" destOrd="0" presId="urn:microsoft.com/office/officeart/2005/8/layout/chevron1"/>
    <dgm:cxn modelId="{28F66982-C972-4F3D-AD5E-7255B1A3DF45}" type="presParOf" srcId="{EE52B0FD-51CF-4F64-B82E-B95C028AA2BB}" destId="{3BC9835C-889B-45D6-A163-4AA7329170C7}" srcOrd="8" destOrd="0" presId="urn:microsoft.com/office/officeart/2005/8/layout/chevron1"/>
    <dgm:cxn modelId="{8CB9291E-E9B9-4789-8BCD-ACEEEDDFBEAB}" type="presParOf" srcId="{EE52B0FD-51CF-4F64-B82E-B95C028AA2BB}" destId="{F14EAE50-A0BB-4626-B0B4-029205BAF0AB}" srcOrd="9" destOrd="0" presId="urn:microsoft.com/office/officeart/2005/8/layout/chevron1"/>
    <dgm:cxn modelId="{6D035AB4-EDBC-445B-944A-46143B19183E}" type="presParOf" srcId="{EE52B0FD-51CF-4F64-B82E-B95C028AA2BB}" destId="{4F5C5BD0-001A-4FBB-9C24-66620BE999B8}" srcOrd="10" destOrd="0" presId="urn:microsoft.com/office/officeart/2005/8/layout/chevron1"/>
    <dgm:cxn modelId="{9478A339-56E1-4120-AD3F-AA14A57EA46F}" type="presParOf" srcId="{EE52B0FD-51CF-4F64-B82E-B95C028AA2BB}" destId="{E1271167-6679-4888-B120-060E505D2255}" srcOrd="11" destOrd="0" presId="urn:microsoft.com/office/officeart/2005/8/layout/chevron1"/>
    <dgm:cxn modelId="{897A938C-B8E5-4707-8760-F5F2A0DDFEE4}" type="presParOf" srcId="{EE52B0FD-51CF-4F64-B82E-B95C028AA2BB}" destId="{6293A051-8ED7-40BC-A24A-255161956B3C}" srcOrd="12" destOrd="0" presId="urn:microsoft.com/office/officeart/2005/8/layout/chevron1"/>
    <dgm:cxn modelId="{E10F24FE-1E7D-468F-A933-1501C2C371CF}" type="presParOf" srcId="{EE52B0FD-51CF-4F64-B82E-B95C028AA2BB}" destId="{5C7F0833-F154-4D9C-83EE-AE13E2BDDD67}" srcOrd="13" destOrd="0" presId="urn:microsoft.com/office/officeart/2005/8/layout/chevron1"/>
    <dgm:cxn modelId="{D07F8DB6-38BB-4200-83C0-5D4757B00490}" type="presParOf" srcId="{EE52B0FD-51CF-4F64-B82E-B95C028AA2BB}" destId="{67EE7576-E38C-468A-88F2-312B1C7A4D0B}" srcOrd="14" destOrd="0" presId="urn:microsoft.com/office/officeart/2005/8/layout/chevron1"/>
  </dgm:cxnLst>
  <dgm:bg>
    <a:noFill/>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F3A6854-FE96-44ED-B82B-CDAE7E2E090F}">
      <dsp:nvSpPr>
        <dsp:cNvPr id="0" name=""/>
        <dsp:cNvSpPr/>
      </dsp:nvSpPr>
      <dsp:spPr>
        <a:xfrm>
          <a:off x="749" y="357943"/>
          <a:ext cx="1200861" cy="480344"/>
        </a:xfrm>
        <a:prstGeom prst="chevron">
          <a:avLst/>
        </a:prstGeom>
        <a:solidFill>
          <a:srgbClr val="16693F"/>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88950" rtl="0">
            <a:lnSpc>
              <a:spcPct val="90000"/>
            </a:lnSpc>
            <a:spcBef>
              <a:spcPct val="0"/>
            </a:spcBef>
            <a:spcAft>
              <a:spcPct val="35000"/>
            </a:spcAft>
            <a:buNone/>
          </a:pPr>
          <a:r>
            <a:rPr lang="en-US" sz="1100" kern="1200"/>
            <a:t>v1  </a:t>
          </a:r>
          <a:r>
            <a:rPr lang="en-US" sz="1100" kern="1200">
              <a:latin typeface="Arial"/>
            </a:rPr>
            <a:t>  </a:t>
          </a:r>
          <a:r>
            <a:rPr lang="en-US" sz="1100" kern="1200"/>
            <a:t>(2014-16)</a:t>
          </a:r>
        </a:p>
      </dsp:txBody>
      <dsp:txXfrm>
        <a:off x="240921" y="357943"/>
        <a:ext cx="720517" cy="480344"/>
      </dsp:txXfrm>
    </dsp:sp>
    <dsp:sp modelId="{C7D0E513-4CB3-4B52-A0E3-F20BD7B61CFF}">
      <dsp:nvSpPr>
        <dsp:cNvPr id="0" name=""/>
        <dsp:cNvSpPr/>
      </dsp:nvSpPr>
      <dsp:spPr>
        <a:xfrm>
          <a:off x="1081524" y="357943"/>
          <a:ext cx="1200861" cy="480344"/>
        </a:xfrm>
        <a:prstGeom prst="chevron">
          <a:avLst/>
        </a:prstGeom>
        <a:solidFill>
          <a:srgbClr val="DFEBE5"/>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88950">
            <a:lnSpc>
              <a:spcPct val="90000"/>
            </a:lnSpc>
            <a:spcBef>
              <a:spcPct val="0"/>
            </a:spcBef>
            <a:spcAft>
              <a:spcPct val="35000"/>
            </a:spcAft>
            <a:buNone/>
          </a:pPr>
          <a:r>
            <a:rPr lang="en-US" sz="1100" kern="1200">
              <a:solidFill>
                <a:schemeClr val="tx1"/>
              </a:solidFill>
            </a:rPr>
            <a:t>v2   (2016-18)</a:t>
          </a:r>
        </a:p>
      </dsp:txBody>
      <dsp:txXfrm>
        <a:off x="1321696" y="357943"/>
        <a:ext cx="720517" cy="480344"/>
      </dsp:txXfrm>
    </dsp:sp>
    <dsp:sp modelId="{30BB4A63-100D-493E-9AC3-7C802609B470}">
      <dsp:nvSpPr>
        <dsp:cNvPr id="0" name=""/>
        <dsp:cNvSpPr/>
      </dsp:nvSpPr>
      <dsp:spPr>
        <a:xfrm>
          <a:off x="2162300" y="357943"/>
          <a:ext cx="1200861" cy="480344"/>
        </a:xfrm>
        <a:prstGeom prst="chevron">
          <a:avLst/>
        </a:prstGeom>
        <a:solidFill>
          <a:srgbClr val="16693F"/>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88950">
            <a:lnSpc>
              <a:spcPct val="90000"/>
            </a:lnSpc>
            <a:spcBef>
              <a:spcPct val="0"/>
            </a:spcBef>
            <a:spcAft>
              <a:spcPct val="35000"/>
            </a:spcAft>
            <a:buNone/>
          </a:pPr>
          <a:r>
            <a:rPr lang="en-US" sz="1100" kern="1200"/>
            <a:t>v3   (2018)</a:t>
          </a:r>
        </a:p>
      </dsp:txBody>
      <dsp:txXfrm>
        <a:off x="2402472" y="357943"/>
        <a:ext cx="720517" cy="480344"/>
      </dsp:txXfrm>
    </dsp:sp>
    <dsp:sp modelId="{16A43A8F-44E7-472E-87FB-AB8B6640105D}">
      <dsp:nvSpPr>
        <dsp:cNvPr id="0" name=""/>
        <dsp:cNvSpPr/>
      </dsp:nvSpPr>
      <dsp:spPr>
        <a:xfrm>
          <a:off x="3243076" y="357943"/>
          <a:ext cx="1200861" cy="480344"/>
        </a:xfrm>
        <a:prstGeom prst="chevron">
          <a:avLst/>
        </a:prstGeom>
        <a:solidFill>
          <a:srgbClr val="DFEBE5"/>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88950">
            <a:lnSpc>
              <a:spcPct val="90000"/>
            </a:lnSpc>
            <a:spcBef>
              <a:spcPct val="0"/>
            </a:spcBef>
            <a:spcAft>
              <a:spcPct val="35000"/>
            </a:spcAft>
            <a:buNone/>
          </a:pPr>
          <a:r>
            <a:rPr lang="en-US" sz="1100" kern="1200">
              <a:solidFill>
                <a:schemeClr val="tx1"/>
              </a:solidFill>
            </a:rPr>
            <a:t>v4   (2019)</a:t>
          </a:r>
        </a:p>
      </dsp:txBody>
      <dsp:txXfrm>
        <a:off x="3483248" y="357943"/>
        <a:ext cx="720517" cy="480344"/>
      </dsp:txXfrm>
    </dsp:sp>
    <dsp:sp modelId="{3BC9835C-889B-45D6-A163-4AA7329170C7}">
      <dsp:nvSpPr>
        <dsp:cNvPr id="0" name=""/>
        <dsp:cNvSpPr/>
      </dsp:nvSpPr>
      <dsp:spPr>
        <a:xfrm>
          <a:off x="4323851" y="357943"/>
          <a:ext cx="1200861" cy="480344"/>
        </a:xfrm>
        <a:prstGeom prst="chevron">
          <a:avLst/>
        </a:prstGeom>
        <a:solidFill>
          <a:srgbClr val="16693F"/>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88950">
            <a:lnSpc>
              <a:spcPct val="90000"/>
            </a:lnSpc>
            <a:spcBef>
              <a:spcPct val="0"/>
            </a:spcBef>
            <a:spcAft>
              <a:spcPct val="35000"/>
            </a:spcAft>
            <a:buNone/>
          </a:pPr>
          <a:r>
            <a:rPr lang="en-US" sz="1100" kern="1200"/>
            <a:t>v5   (2019-22)</a:t>
          </a:r>
        </a:p>
      </dsp:txBody>
      <dsp:txXfrm>
        <a:off x="4564023" y="357943"/>
        <a:ext cx="720517" cy="480344"/>
      </dsp:txXfrm>
    </dsp:sp>
    <dsp:sp modelId="{4F5C5BD0-001A-4FBB-9C24-66620BE999B8}">
      <dsp:nvSpPr>
        <dsp:cNvPr id="0" name=""/>
        <dsp:cNvSpPr/>
      </dsp:nvSpPr>
      <dsp:spPr>
        <a:xfrm>
          <a:off x="5404627" y="357943"/>
          <a:ext cx="1200861" cy="480344"/>
        </a:xfrm>
        <a:prstGeom prst="chevron">
          <a:avLst/>
        </a:prstGeom>
        <a:solidFill>
          <a:srgbClr val="DFEBE5"/>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88950">
            <a:lnSpc>
              <a:spcPct val="90000"/>
            </a:lnSpc>
            <a:spcBef>
              <a:spcPct val="0"/>
            </a:spcBef>
            <a:spcAft>
              <a:spcPct val="35000"/>
            </a:spcAft>
            <a:buNone/>
          </a:pPr>
          <a:r>
            <a:rPr lang="en-US" sz="1100" kern="1200">
              <a:solidFill>
                <a:schemeClr val="tx1"/>
              </a:solidFill>
            </a:rPr>
            <a:t>v6   (2022-23)</a:t>
          </a:r>
        </a:p>
      </dsp:txBody>
      <dsp:txXfrm>
        <a:off x="5644799" y="357943"/>
        <a:ext cx="720517" cy="480344"/>
      </dsp:txXfrm>
    </dsp:sp>
    <dsp:sp modelId="{6293A051-8ED7-40BC-A24A-255161956B3C}">
      <dsp:nvSpPr>
        <dsp:cNvPr id="0" name=""/>
        <dsp:cNvSpPr/>
      </dsp:nvSpPr>
      <dsp:spPr>
        <a:xfrm>
          <a:off x="6485403" y="357943"/>
          <a:ext cx="1200861" cy="480344"/>
        </a:xfrm>
        <a:prstGeom prst="chevron">
          <a:avLst/>
        </a:prstGeom>
        <a:solidFill>
          <a:srgbClr val="16693F"/>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88950" rtl="0">
            <a:lnSpc>
              <a:spcPct val="90000"/>
            </a:lnSpc>
            <a:spcBef>
              <a:spcPct val="0"/>
            </a:spcBef>
            <a:spcAft>
              <a:spcPct val="35000"/>
            </a:spcAft>
            <a:buNone/>
          </a:pPr>
          <a:r>
            <a:rPr lang="en-US" sz="1100" kern="1200"/>
            <a:t>v7  </a:t>
          </a:r>
          <a:r>
            <a:rPr lang="en-US" sz="1100" kern="1200">
              <a:latin typeface="Arial"/>
            </a:rPr>
            <a:t> </a:t>
          </a:r>
          <a:r>
            <a:rPr lang="en-US" sz="1100" kern="1200"/>
            <a:t>(2023-26)</a:t>
          </a:r>
        </a:p>
      </dsp:txBody>
      <dsp:txXfrm>
        <a:off x="6725575" y="357943"/>
        <a:ext cx="720517" cy="480344"/>
      </dsp:txXfrm>
    </dsp:sp>
    <dsp:sp modelId="{67EE7576-E38C-468A-88F2-312B1C7A4D0B}">
      <dsp:nvSpPr>
        <dsp:cNvPr id="0" name=""/>
        <dsp:cNvSpPr/>
      </dsp:nvSpPr>
      <dsp:spPr>
        <a:xfrm>
          <a:off x="7566178" y="357943"/>
          <a:ext cx="1200861" cy="480344"/>
        </a:xfrm>
        <a:prstGeom prst="chevron">
          <a:avLst/>
        </a:prstGeom>
        <a:solidFill>
          <a:srgbClr val="DFEBE5"/>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88950">
            <a:lnSpc>
              <a:spcPct val="90000"/>
            </a:lnSpc>
            <a:spcBef>
              <a:spcPct val="0"/>
            </a:spcBef>
            <a:spcAft>
              <a:spcPct val="35000"/>
            </a:spcAft>
            <a:buNone/>
          </a:pPr>
          <a:r>
            <a:rPr lang="en-US" sz="1100" kern="1200">
              <a:solidFill>
                <a:schemeClr val="tx1"/>
              </a:solidFill>
            </a:rPr>
            <a:t>React (2025-26)</a:t>
          </a:r>
        </a:p>
      </dsp:txBody>
      <dsp:txXfrm>
        <a:off x="7806350" y="357943"/>
        <a:ext cx="720517" cy="480344"/>
      </dsp:txXfrm>
    </dsp:sp>
  </dsp:spTree>
</dsp:drawing>
</file>

<file path=ppt/diagrams/layout1.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2T04:52:54.008"/>
    </inkml:context>
    <inkml:brush xml:id="br0">
      <inkml:brushProperty name="width" value="0.05" units="cm"/>
      <inkml:brushProperty name="height" value="0.05" units="cm"/>
      <inkml:brushProperty name="color" value="#FFFFFF"/>
    </inkml:brush>
  </inkml:definitions>
  <inkml:trace contextRef="#ctx0" brushRef="#br0">1 1 24575,'0'0'0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0T16:31:22.488"/>
    </inkml:context>
    <inkml:brush xml:id="br0">
      <inkml:brushProperty name="width" value="0.05" units="cm"/>
      <inkml:brushProperty name="height" value="0.05" units="cm"/>
      <inkml:brushProperty name="color" value="#FFFFFF"/>
    </inkml:brush>
  </inkml:definitions>
  <inkml:trace contextRef="#ctx0" brushRef="#br0">13 26 24575,'-8'0'0,"3"-3"0,5-2 0,5 0 0,3-2 0,1 6 0,-1-3 0,0 4 0,1 0 0,-1 0 0,-3 0 0,-2 0 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0T16:31:22.489"/>
    </inkml:context>
    <inkml:brush xml:id="br0">
      <inkml:brushProperty name="width" value="0.05" units="cm"/>
      <inkml:brushProperty name="height" value="0.05" units="cm"/>
      <inkml:brushProperty name="color" value="#FFFFFF"/>
    </inkml:brush>
  </inkml:definitions>
  <inkml:trace contextRef="#ctx0" brushRef="#br0">2 54 24575,'9'-4'0,"9"-1"0,-2-1 0,3 2 0,14-2 0,-16 3 0,11 0 0,-15 1 0,-6 1 0,-5 1 0,-2-2 0,-5 2 0,-3 0 0,-9 0 0,-3 2 0,-1-1 0,1 3 0,12-4 0,0 2 0,8-2 0,8 0 0,8 0 0,4 0 0,2-2 0,-3 0 0,-8-1 0,-2-1 0,-9 4 0,-5-3 0,-3 0 0,-13 0 0,3 4 0,-9 0 0,8 5 0,2-3 0,9 1 0,4-2 0,11-2 0,5-2 0,5-1 0,-5-1 0,2 2 0,-10-1 0,-3 2 0,-6 0 0,-13 1 0,5 2 0,-17 0 0,16 0 0,-5 1 0,16-2 0,7 0 0,1-1 0,2 0 0,-2 0 0,0 0 0,0 0 0,-2 0 0,-2 0 0,-7 0 0,-2 0 0,-2 0 0,7 0 0,12 0 0,3-2 0,16-1 0,-7-2 0,9 2 0,-11 1 0,3 2 0,-8 0 0,-2 0 0,-7-2 0,0 2 0,-5-2 0,1 4 0,-5-2 0,-5 4 0,-2-2 0,-3 3 0,0 0 0,7-3 0,-2 0 0,9-2 0,0 0 0,11 0 0,9 0 0,13 0 0,0 0 0,-7 0 0,-11 0 0,-12 0 0,-3 0 0,-16 2 0,-1-1 0,-8 3 0,5-4 0,9 4 0,3-4 0,8 2 0,14-4 0,0-1 0,16 0 0,-2-2 0,-6 4 0,-2-3 0,-12 3 0,-5-2 0,-3 2 0,0-1 0,-2 0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a:extLst>
            <a:ext uri="{FF2B5EF4-FFF2-40B4-BE49-F238E27FC236}">
              <a16:creationId xmlns:a16="http://schemas.microsoft.com/office/drawing/2014/main" id="{916366E9-97A0-1249-5200-D0F7B1D2B214}"/>
            </a:ext>
          </a:extLst>
        </p:cNvPr>
        <p:cNvGrpSpPr/>
        <p:nvPr/>
      </p:nvGrpSpPr>
      <p:grpSpPr>
        <a:xfrm>
          <a:off x="0" y="0"/>
          <a:ext cx="0" cy="0"/>
          <a:chOff x="0" y="0"/>
          <a:chExt cx="0" cy="0"/>
        </a:xfrm>
      </p:grpSpPr>
      <p:sp>
        <p:nvSpPr>
          <p:cNvPr id="87" name="Google Shape;87;g3a179b1b18c_0_44:notes">
            <a:extLst>
              <a:ext uri="{FF2B5EF4-FFF2-40B4-BE49-F238E27FC236}">
                <a16:creationId xmlns:a16="http://schemas.microsoft.com/office/drawing/2014/main" id="{6B65AF39-65D3-B2C2-1A8D-53B82F3AA69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8" name="Google Shape;88;g3a179b1b18c_0_44:notes">
            <a:extLst>
              <a:ext uri="{FF2B5EF4-FFF2-40B4-BE49-F238E27FC236}">
                <a16:creationId xmlns:a16="http://schemas.microsoft.com/office/drawing/2014/main" id="{9803BF65-2944-8411-7602-87476815D9B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Maika</a:t>
            </a:r>
          </a:p>
          <a:p>
            <a:pPr marL="0" lvl="0" indent="0" algn="l" rtl="0">
              <a:spcBef>
                <a:spcPts val="0"/>
              </a:spcBef>
              <a:spcAft>
                <a:spcPts val="0"/>
              </a:spcAft>
              <a:buNone/>
            </a:pPr>
            <a:endParaRPr lang="en"/>
          </a:p>
        </p:txBody>
      </p:sp>
    </p:spTree>
    <p:extLst>
      <p:ext uri="{BB962C8B-B14F-4D97-AF65-F5344CB8AC3E}">
        <p14:creationId xmlns:p14="http://schemas.microsoft.com/office/powerpoint/2010/main" val="305689860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a:extLst>
            <a:ext uri="{FF2B5EF4-FFF2-40B4-BE49-F238E27FC236}">
              <a16:creationId xmlns:a16="http://schemas.microsoft.com/office/drawing/2014/main" id="{BA7EB711-1252-D092-B82D-483A4989D546}"/>
            </a:ext>
          </a:extLst>
        </p:cNvPr>
        <p:cNvGrpSpPr/>
        <p:nvPr/>
      </p:nvGrpSpPr>
      <p:grpSpPr>
        <a:xfrm>
          <a:off x="0" y="0"/>
          <a:ext cx="0" cy="0"/>
          <a:chOff x="0" y="0"/>
          <a:chExt cx="0" cy="0"/>
        </a:xfrm>
      </p:grpSpPr>
      <p:sp>
        <p:nvSpPr>
          <p:cNvPr id="87" name="Google Shape;87;g3a179b1b18c_0_44:notes">
            <a:extLst>
              <a:ext uri="{FF2B5EF4-FFF2-40B4-BE49-F238E27FC236}">
                <a16:creationId xmlns:a16="http://schemas.microsoft.com/office/drawing/2014/main" id="{20A6EF2E-C079-0332-2086-87A44A52C49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8" name="Google Shape;88;g3a179b1b18c_0_44:notes">
            <a:extLst>
              <a:ext uri="{FF2B5EF4-FFF2-40B4-BE49-F238E27FC236}">
                <a16:creationId xmlns:a16="http://schemas.microsoft.com/office/drawing/2014/main" id="{B175595D-93FF-AAEC-5745-1C1F31CADC7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Maika</a:t>
            </a:r>
          </a:p>
          <a:p>
            <a:pPr marL="0" lvl="0" indent="0" algn="l" rtl="0">
              <a:spcBef>
                <a:spcPts val="0"/>
              </a:spcBef>
              <a:spcAft>
                <a:spcPts val="0"/>
              </a:spcAft>
              <a:buNone/>
            </a:pPr>
            <a:endParaRPr lang="en"/>
          </a:p>
        </p:txBody>
      </p:sp>
    </p:spTree>
    <p:extLst>
      <p:ext uri="{BB962C8B-B14F-4D97-AF65-F5344CB8AC3E}">
        <p14:creationId xmlns:p14="http://schemas.microsoft.com/office/powerpoint/2010/main" val="20241344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Google Shape;87;g3a179b1b18c_0_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8" name="Google Shape;88;g3a179b1b18c_0_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Maika</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a:extLst>
            <a:ext uri="{FF2B5EF4-FFF2-40B4-BE49-F238E27FC236}">
              <a16:creationId xmlns:a16="http://schemas.microsoft.com/office/drawing/2014/main" id="{E6AED238-842B-58EF-9E55-BE14010035C6}"/>
            </a:ext>
          </a:extLst>
        </p:cNvPr>
        <p:cNvGrpSpPr/>
        <p:nvPr/>
      </p:nvGrpSpPr>
      <p:grpSpPr>
        <a:xfrm>
          <a:off x="0" y="0"/>
          <a:ext cx="0" cy="0"/>
          <a:chOff x="0" y="0"/>
          <a:chExt cx="0" cy="0"/>
        </a:xfrm>
      </p:grpSpPr>
      <p:sp>
        <p:nvSpPr>
          <p:cNvPr id="94" name="Google Shape;94;g3a179b1b18c_0_5:notes">
            <a:extLst>
              <a:ext uri="{FF2B5EF4-FFF2-40B4-BE49-F238E27FC236}">
                <a16:creationId xmlns:a16="http://schemas.microsoft.com/office/drawing/2014/main" id="{5F4FD838-5AFD-1ED9-BD46-3D74A22C67D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5" name="Google Shape;95;g3a179b1b18c_0_5:notes">
            <a:extLst>
              <a:ext uri="{FF2B5EF4-FFF2-40B4-BE49-F238E27FC236}">
                <a16:creationId xmlns:a16="http://schemas.microsoft.com/office/drawing/2014/main" id="{06F1B1F9-CFF8-1F36-1716-9548E260798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Maika: Each node represents a regulatory transcription factor and each edge is a regulatory relationship</a:t>
            </a:r>
          </a:p>
          <a:p>
            <a:pPr marL="0" lvl="0" indent="0" algn="l" rtl="0">
              <a:spcBef>
                <a:spcPts val="0"/>
              </a:spcBef>
              <a:spcAft>
                <a:spcPts val="0"/>
              </a:spcAft>
              <a:buNone/>
            </a:pPr>
            <a:endParaRPr lang="en-US"/>
          </a:p>
          <a:p>
            <a:pPr marL="0" lvl="0" indent="0" algn="l" rtl="0">
              <a:spcBef>
                <a:spcPts val="0"/>
              </a:spcBef>
              <a:spcAft>
                <a:spcPts val="0"/>
              </a:spcAft>
              <a:buNone/>
            </a:pPr>
            <a:endParaRPr/>
          </a:p>
        </p:txBody>
      </p:sp>
    </p:spTree>
    <p:extLst>
      <p:ext uri="{BB962C8B-B14F-4D97-AF65-F5344CB8AC3E}">
        <p14:creationId xmlns:p14="http://schemas.microsoft.com/office/powerpoint/2010/main" val="302202455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g3a179b1b18c_0_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4" name="Google Shape;104;g3a179b1b18c_0_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Maika: Nearly all cell functions occur because proteins bind to each other.  These physical interactions are called protein-protein interactions (PPI).  It might be useful to re-show your central model figure on one side and then highlight that a PPI is what happens when the proteins bind to each other.</a:t>
            </a:r>
          </a:p>
        </p:txBody>
      </p:sp>
    </p:spTree>
    <p:extLst>
      <p:ext uri="{BB962C8B-B14F-4D97-AF65-F5344CB8AC3E}">
        <p14:creationId xmlns:p14="http://schemas.microsoft.com/office/powerpoint/2010/main" val="173576368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a:t>Maika</a:t>
            </a:r>
          </a:p>
        </p:txBody>
      </p:sp>
    </p:spTree>
    <p:extLst>
      <p:ext uri="{BB962C8B-B14F-4D97-AF65-F5344CB8AC3E}">
        <p14:creationId xmlns:p14="http://schemas.microsoft.com/office/powerpoint/2010/main" val="50061697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ADBA5D-8D20-BCD6-6D32-B377F3817F8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95118CF-CA1F-2B3A-81AC-8789734A5CE1}"/>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B25871B5-3871-B577-2F4B-266FECE1D75B}"/>
              </a:ext>
            </a:extLst>
          </p:cNvPr>
          <p:cNvSpPr>
            <a:spLocks noGrp="1"/>
          </p:cNvSpPr>
          <p:nvPr>
            <p:ph type="body" idx="1"/>
          </p:nvPr>
        </p:nvSpPr>
        <p:spPr/>
        <p:txBody>
          <a:bodyPr/>
          <a:lstStyle/>
          <a:p>
            <a:r>
              <a:rPr lang="en-US"/>
              <a:t>Maika</a:t>
            </a:r>
          </a:p>
        </p:txBody>
      </p:sp>
    </p:spTree>
    <p:extLst>
      <p:ext uri="{BB962C8B-B14F-4D97-AF65-F5344CB8AC3E}">
        <p14:creationId xmlns:p14="http://schemas.microsoft.com/office/powerpoint/2010/main" val="68068103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a:t>Maika</a:t>
            </a:r>
          </a:p>
        </p:txBody>
      </p:sp>
    </p:spTree>
    <p:extLst>
      <p:ext uri="{BB962C8B-B14F-4D97-AF65-F5344CB8AC3E}">
        <p14:creationId xmlns:p14="http://schemas.microsoft.com/office/powerpoint/2010/main" val="73023503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a:t>Maika</a:t>
            </a:r>
          </a:p>
        </p:txBody>
      </p:sp>
    </p:spTree>
    <p:extLst>
      <p:ext uri="{BB962C8B-B14F-4D97-AF65-F5344CB8AC3E}">
        <p14:creationId xmlns:p14="http://schemas.microsoft.com/office/powerpoint/2010/main" val="190793714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a:t>Maika</a:t>
            </a:r>
          </a:p>
        </p:txBody>
      </p:sp>
    </p:spTree>
    <p:extLst>
      <p:ext uri="{BB962C8B-B14F-4D97-AF65-F5344CB8AC3E}">
        <p14:creationId xmlns:p14="http://schemas.microsoft.com/office/powerpoint/2010/main" val="88228305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a:extLst>
            <a:ext uri="{FF2B5EF4-FFF2-40B4-BE49-F238E27FC236}">
              <a16:creationId xmlns:a16="http://schemas.microsoft.com/office/drawing/2014/main" id="{C62E7D7E-3A9E-C719-2C8B-C581673BA391}"/>
            </a:ext>
          </a:extLst>
        </p:cNvPr>
        <p:cNvGrpSpPr/>
        <p:nvPr/>
      </p:nvGrpSpPr>
      <p:grpSpPr>
        <a:xfrm>
          <a:off x="0" y="0"/>
          <a:ext cx="0" cy="0"/>
          <a:chOff x="0" y="0"/>
          <a:chExt cx="0" cy="0"/>
        </a:xfrm>
      </p:grpSpPr>
      <p:sp>
        <p:nvSpPr>
          <p:cNvPr id="87" name="Google Shape;87;g3a179b1b18c_0_44:notes">
            <a:extLst>
              <a:ext uri="{FF2B5EF4-FFF2-40B4-BE49-F238E27FC236}">
                <a16:creationId xmlns:a16="http://schemas.microsoft.com/office/drawing/2014/main" id="{72EFB433-A7CB-AFAF-7A22-675E62CE10C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8" name="Google Shape;88;g3a179b1b18c_0_44:notes">
            <a:extLst>
              <a:ext uri="{FF2B5EF4-FFF2-40B4-BE49-F238E27FC236}">
                <a16:creationId xmlns:a16="http://schemas.microsoft.com/office/drawing/2014/main" id="{2820848B-972C-C436-9165-C04AD610027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Maika</a:t>
            </a:r>
          </a:p>
          <a:p>
            <a:pPr marL="0" lvl="0" indent="0" algn="l" rtl="0">
              <a:spcBef>
                <a:spcPts val="0"/>
              </a:spcBef>
              <a:spcAft>
                <a:spcPts val="0"/>
              </a:spcAft>
              <a:buNone/>
            </a:pPr>
            <a:endParaRPr lang="en"/>
          </a:p>
        </p:txBody>
      </p:sp>
    </p:spTree>
    <p:extLst>
      <p:ext uri="{BB962C8B-B14F-4D97-AF65-F5344CB8AC3E}">
        <p14:creationId xmlns:p14="http://schemas.microsoft.com/office/powerpoint/2010/main" val="145387153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58750" indent="0">
              <a:buNone/>
            </a:pPr>
            <a:r>
              <a:rPr lang="en-US"/>
              <a:t>Cecilia</a:t>
            </a:r>
          </a:p>
        </p:txBody>
      </p:sp>
    </p:spTree>
    <p:extLst>
      <p:ext uri="{BB962C8B-B14F-4D97-AF65-F5344CB8AC3E}">
        <p14:creationId xmlns:p14="http://schemas.microsoft.com/office/powerpoint/2010/main" val="93630416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49866B-713E-F8D6-897A-4B000453C15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5E6DA6A-F748-D262-4B42-5D4078A96235}"/>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19A25EAB-4169-53EC-34E4-AF607A394035}"/>
              </a:ext>
            </a:extLst>
          </p:cNvPr>
          <p:cNvSpPr>
            <a:spLocks noGrp="1"/>
          </p:cNvSpPr>
          <p:nvPr>
            <p:ph type="body" idx="1"/>
          </p:nvPr>
        </p:nvSpPr>
        <p:spPr/>
        <p:txBody>
          <a:bodyPr/>
          <a:lstStyle/>
          <a:p>
            <a:pPr marL="0" indent="0">
              <a:buFont typeface="Arial,Sans-Serif"/>
              <a:buNone/>
            </a:pPr>
            <a:r>
              <a:rPr lang="en-US"/>
              <a:t>Cecilia</a:t>
            </a:r>
          </a:p>
          <a:p>
            <a:pPr marL="228600" indent="-228600">
              <a:buFont typeface="Arial,Sans-Serif"/>
              <a:buChar char="•"/>
            </a:pPr>
            <a:r>
              <a:rPr lang="en-US"/>
              <a:t>we have a classic app that started development in 2016</a:t>
            </a:r>
          </a:p>
          <a:p>
            <a:pPr marL="228600" marR="0" lvl="0" indent="-228600" algn="l" defTabSz="914400" rtl="0" eaLnBrk="1" fontAlgn="auto" latinLnBrk="0" hangingPunct="1">
              <a:lnSpc>
                <a:spcPct val="100000"/>
              </a:lnSpc>
              <a:spcBef>
                <a:spcPts val="0"/>
              </a:spcBef>
              <a:spcAft>
                <a:spcPts val="0"/>
              </a:spcAft>
              <a:buClr>
                <a:srgbClr val="000000"/>
              </a:buClr>
              <a:buSzPts val="1100"/>
              <a:buFont typeface="Arial,Sans-Serif"/>
              <a:buChar char="•"/>
              <a:tabLst/>
              <a:defRPr/>
            </a:pPr>
            <a:r>
              <a:rPr lang="en-US" sz="1100" b="1">
                <a:solidFill>
                  <a:srgbClr val="16693F"/>
                </a:solidFill>
                <a:ea typeface="Sans Serif Collection"/>
                <a:cs typeface="Sans Serif Collection"/>
              </a:rPr>
              <a:t>uses jQuery/Bootstrap/Pug framework</a:t>
            </a:r>
            <a:endParaRPr lang="en-US" sz="1100" b="0">
              <a:solidFill>
                <a:srgbClr val="16693F"/>
              </a:solidFill>
              <a:ea typeface="Sans Serif Collection"/>
              <a:cs typeface="Sans Serif Collection"/>
            </a:endParaRPr>
          </a:p>
          <a:p>
            <a:pPr marL="228600" marR="0" lvl="0" indent="-228600" algn="l" defTabSz="914400" rtl="0" eaLnBrk="1" fontAlgn="auto" latinLnBrk="0" hangingPunct="1">
              <a:lnSpc>
                <a:spcPct val="100000"/>
              </a:lnSpc>
              <a:spcBef>
                <a:spcPts val="0"/>
              </a:spcBef>
              <a:spcAft>
                <a:spcPts val="0"/>
              </a:spcAft>
              <a:buClr>
                <a:srgbClr val="000000"/>
              </a:buClr>
              <a:buSzPts val="1100"/>
              <a:buFont typeface="Arial,Sans-Serif"/>
              <a:buChar char="•"/>
              <a:tabLst/>
              <a:defRPr/>
            </a:pPr>
            <a:r>
              <a:rPr lang="en-US" sz="1100" b="0">
                <a:solidFill>
                  <a:srgbClr val="16693F"/>
                </a:solidFill>
                <a:ea typeface="Sans Serif Collection"/>
                <a:cs typeface="Sans Serif Collection"/>
              </a:rPr>
              <a:t>pug: DOM </a:t>
            </a:r>
            <a:r>
              <a:rPr lang="en-US" sz="1100" b="0" err="1">
                <a:solidFill>
                  <a:srgbClr val="16693F"/>
                </a:solidFill>
                <a:ea typeface="Sans Serif Collection"/>
                <a:cs typeface="Sans Serif Collection"/>
              </a:rPr>
              <a:t>strucutre</a:t>
            </a:r>
            <a:r>
              <a:rPr lang="en-US" sz="1100" b="0">
                <a:solidFill>
                  <a:srgbClr val="16693F"/>
                </a:solidFill>
                <a:ea typeface="Sans Serif Collection"/>
                <a:cs typeface="Sans Serif Collection"/>
              </a:rPr>
              <a:t>, contains all elements</a:t>
            </a:r>
          </a:p>
          <a:p>
            <a:pPr marL="685800" marR="0" lvl="1" indent="-228600" algn="l" defTabSz="914400" rtl="0" eaLnBrk="1" fontAlgn="auto" latinLnBrk="0" hangingPunct="1">
              <a:lnSpc>
                <a:spcPct val="100000"/>
              </a:lnSpc>
              <a:spcBef>
                <a:spcPts val="0"/>
              </a:spcBef>
              <a:spcAft>
                <a:spcPts val="0"/>
              </a:spcAft>
              <a:buClr>
                <a:srgbClr val="000000"/>
              </a:buClr>
              <a:buSzPts val="1100"/>
              <a:buFont typeface="Arial,Sans-Serif"/>
              <a:buChar char="•"/>
              <a:tabLst/>
              <a:defRPr/>
            </a:pPr>
            <a:r>
              <a:rPr lang="en-US"/>
              <a:t>pug is static: pug is a template, generates HTML and once </a:t>
            </a:r>
            <a:r>
              <a:rPr lang="en-US" err="1"/>
              <a:t>teh</a:t>
            </a:r>
            <a:r>
              <a:rPr lang="en-US"/>
              <a:t> page loads, the template is gone and any updates are done through JS or jQuery</a:t>
            </a:r>
            <a:endParaRPr lang="en-US" sz="1100" b="0">
              <a:solidFill>
                <a:srgbClr val="16693F"/>
              </a:solidFill>
              <a:ea typeface="Sans Serif Collection"/>
              <a:cs typeface="Sans Serif Collection"/>
            </a:endParaRPr>
          </a:p>
          <a:p>
            <a:pPr marL="228600" marR="0" lvl="0" indent="-228600" algn="l" defTabSz="914400" rtl="0" eaLnBrk="1" fontAlgn="auto" latinLnBrk="0" hangingPunct="1">
              <a:lnSpc>
                <a:spcPct val="100000"/>
              </a:lnSpc>
              <a:spcBef>
                <a:spcPts val="0"/>
              </a:spcBef>
              <a:spcAft>
                <a:spcPts val="0"/>
              </a:spcAft>
              <a:buClr>
                <a:srgbClr val="000000"/>
              </a:buClr>
              <a:buSzPts val="1100"/>
              <a:buFont typeface="Arial,Sans-Serif"/>
              <a:buChar char="•"/>
              <a:tabLst/>
              <a:defRPr/>
            </a:pPr>
            <a:r>
              <a:rPr lang="en-US" sz="1100" b="0">
                <a:solidFill>
                  <a:srgbClr val="16693F"/>
                </a:solidFill>
                <a:ea typeface="Sans Serif Collection"/>
                <a:cs typeface="Sans Serif Collection"/>
              </a:rPr>
              <a:t>jQuery: allows you to access those elements and change them</a:t>
            </a:r>
          </a:p>
          <a:p>
            <a:pPr marL="228600" marR="0" lvl="0" indent="-228600" algn="l" defTabSz="914400" rtl="0" eaLnBrk="1" fontAlgn="auto" latinLnBrk="0" hangingPunct="1">
              <a:lnSpc>
                <a:spcPct val="100000"/>
              </a:lnSpc>
              <a:spcBef>
                <a:spcPts val="0"/>
              </a:spcBef>
              <a:spcAft>
                <a:spcPts val="0"/>
              </a:spcAft>
              <a:buClr>
                <a:srgbClr val="000000"/>
              </a:buClr>
              <a:buSzPts val="1100"/>
              <a:buFont typeface="Arial,Sans-Serif"/>
              <a:buChar char="•"/>
              <a:tabLst/>
              <a:defRPr/>
            </a:pPr>
            <a:r>
              <a:rPr lang="en-US" sz="1100" b="0">
                <a:solidFill>
                  <a:srgbClr val="16693F"/>
                </a:solidFill>
                <a:ea typeface="Sans Serif Collection"/>
                <a:cs typeface="Sans Serif Collection"/>
              </a:rPr>
              <a:t>Bootstrap: style the page, </a:t>
            </a:r>
          </a:p>
          <a:p>
            <a:pPr marL="228600" marR="0" lvl="0" indent="-228600" algn="l" defTabSz="914400" rtl="0" eaLnBrk="1" fontAlgn="auto" latinLnBrk="0" hangingPunct="1">
              <a:lnSpc>
                <a:spcPct val="100000"/>
              </a:lnSpc>
              <a:spcBef>
                <a:spcPts val="0"/>
              </a:spcBef>
              <a:spcAft>
                <a:spcPts val="0"/>
              </a:spcAft>
              <a:buClr>
                <a:srgbClr val="000000"/>
              </a:buClr>
              <a:buSzPts val="1100"/>
              <a:buFont typeface="Arial,Sans-Serif"/>
              <a:buChar char="•"/>
              <a:tabLst/>
              <a:defRPr/>
            </a:pPr>
            <a:endParaRPr lang="en-US" sz="1100" b="0">
              <a:solidFill>
                <a:srgbClr val="16693F"/>
              </a:solidFill>
              <a:ea typeface="Sans Serif Collection"/>
              <a:cs typeface="Sans Serif Collection"/>
            </a:endParaRPr>
          </a:p>
          <a:p>
            <a:pPr marL="228600" marR="0" lvl="0" indent="-228600" algn="l" defTabSz="914400" rtl="0" eaLnBrk="1" fontAlgn="auto" latinLnBrk="0" hangingPunct="1">
              <a:lnSpc>
                <a:spcPct val="100000"/>
              </a:lnSpc>
              <a:spcBef>
                <a:spcPts val="0"/>
              </a:spcBef>
              <a:spcAft>
                <a:spcPts val="0"/>
              </a:spcAft>
              <a:buClr>
                <a:srgbClr val="000000"/>
              </a:buClr>
              <a:buSzPts val="1100"/>
              <a:buFont typeface="Arial,Sans-Serif"/>
              <a:buChar char="•"/>
              <a:tabLst/>
              <a:defRPr/>
            </a:pPr>
            <a:endParaRPr lang="en-US" sz="1100" b="0">
              <a:solidFill>
                <a:srgbClr val="16693F"/>
              </a:solidFill>
              <a:ea typeface="Sans Serif Collection"/>
              <a:cs typeface="Sans Serif Collection"/>
            </a:endParaRPr>
          </a:p>
          <a:p>
            <a:pPr marL="228600" marR="0" lvl="0" indent="-228600" algn="l" defTabSz="914400" rtl="0" eaLnBrk="1" fontAlgn="auto" latinLnBrk="0" hangingPunct="1">
              <a:lnSpc>
                <a:spcPct val="100000"/>
              </a:lnSpc>
              <a:spcBef>
                <a:spcPts val="0"/>
              </a:spcBef>
              <a:spcAft>
                <a:spcPts val="0"/>
              </a:spcAft>
              <a:buClr>
                <a:srgbClr val="000000"/>
              </a:buClr>
              <a:buSzPts val="1100"/>
              <a:buFont typeface="Arial,Sans-Serif"/>
              <a:buChar char="•"/>
              <a:tabLst/>
              <a:defRPr/>
            </a:pPr>
            <a:r>
              <a:rPr lang="en-US" sz="1100" b="1">
                <a:solidFill>
                  <a:srgbClr val="16693F"/>
                </a:solidFill>
                <a:ea typeface="Sans Serif Collection"/>
                <a:cs typeface="Sans Serif Collection"/>
              </a:rPr>
              <a:t>Inspiration for migration away from jQuery/Bootstrap/Pug framework</a:t>
            </a:r>
            <a:endParaRPr lang="en-US"/>
          </a:p>
          <a:p>
            <a:pPr marL="228600" indent="-228600">
              <a:buFont typeface="Arial,Sans-Serif"/>
              <a:buChar char="•"/>
            </a:pPr>
            <a:r>
              <a:rPr lang="en-US"/>
              <a:t>The way old web app is built is no longer industry standard way to develop webapps for a reason</a:t>
            </a:r>
          </a:p>
          <a:p>
            <a:pPr marL="685800" marR="0" lvl="1" indent="-228600" algn="l" defTabSz="914400" rtl="0" eaLnBrk="1" fontAlgn="auto" latinLnBrk="0" hangingPunct="1">
              <a:lnSpc>
                <a:spcPct val="100000"/>
              </a:lnSpc>
              <a:spcBef>
                <a:spcPts val="0"/>
              </a:spcBef>
              <a:spcAft>
                <a:spcPts val="0"/>
              </a:spcAft>
              <a:buClr>
                <a:srgbClr val="000000"/>
              </a:buClr>
              <a:buSzPts val="1100"/>
              <a:buFont typeface="Arial,Sans-Serif"/>
              <a:buChar char="•"/>
              <a:tabLst/>
              <a:defRPr/>
            </a:pPr>
            <a:r>
              <a:rPr lang="en-US"/>
              <a:t>jQuery imperative: a lot of manual updates dedicating to finding elements, removing a class, or or appending text, and it can be hard to keep these updates in sync</a:t>
            </a:r>
          </a:p>
          <a:p>
            <a:pPr marL="1143000" marR="0" lvl="2" indent="-228600" algn="l" defTabSz="914400" rtl="0" eaLnBrk="1" fontAlgn="auto" latinLnBrk="0" hangingPunct="1">
              <a:lnSpc>
                <a:spcPct val="100000"/>
              </a:lnSpc>
              <a:spcBef>
                <a:spcPts val="0"/>
              </a:spcBef>
              <a:spcAft>
                <a:spcPts val="0"/>
              </a:spcAft>
              <a:buClr>
                <a:srgbClr val="000000"/>
              </a:buClr>
              <a:buSzPts val="1100"/>
              <a:buFont typeface="Arial,Sans-Serif"/>
              <a:buChar char="•"/>
              <a:tabLst/>
              <a:defRPr/>
            </a:pPr>
            <a:r>
              <a:rPr lang="en-US"/>
              <a:t>have to put out listeners to see when different values are updated, which leads to code redundancy</a:t>
            </a:r>
          </a:p>
          <a:p>
            <a:pPr marL="685800" marR="0" lvl="1" indent="-228600" algn="l" defTabSz="914400" rtl="0" eaLnBrk="1" fontAlgn="auto" latinLnBrk="0" hangingPunct="1">
              <a:lnSpc>
                <a:spcPct val="100000"/>
              </a:lnSpc>
              <a:spcBef>
                <a:spcPts val="0"/>
              </a:spcBef>
              <a:spcAft>
                <a:spcPts val="0"/>
              </a:spcAft>
              <a:buClr>
                <a:srgbClr val="000000"/>
              </a:buClr>
              <a:buSzPts val="1100"/>
              <a:buFont typeface="Arial,Sans-Serif"/>
              <a:buChar char="•"/>
              <a:tabLst/>
              <a:defRPr/>
            </a:pPr>
            <a:r>
              <a:rPr lang="en-US"/>
              <a:t>jQuery manual tracking: no built-in way to store data, have to use data </a:t>
            </a:r>
            <a:r>
              <a:rPr lang="en-US" err="1"/>
              <a:t>attirbutes</a:t>
            </a:r>
            <a:r>
              <a:rPr lang="en-US"/>
              <a:t>, which makes it hard to share data across app</a:t>
            </a:r>
          </a:p>
          <a:p>
            <a:pPr marL="685800" marR="0" lvl="1" indent="-228600" algn="l" defTabSz="914400" rtl="0" eaLnBrk="1" fontAlgn="auto" latinLnBrk="0" hangingPunct="1">
              <a:lnSpc>
                <a:spcPct val="100000"/>
              </a:lnSpc>
              <a:spcBef>
                <a:spcPts val="0"/>
              </a:spcBef>
              <a:spcAft>
                <a:spcPts val="0"/>
              </a:spcAft>
              <a:buClr>
                <a:srgbClr val="000000"/>
              </a:buClr>
              <a:buSzPts val="1100"/>
              <a:buFont typeface="Arial,Sans-Serif"/>
              <a:buChar char="•"/>
              <a:tabLst/>
              <a:defRPr/>
            </a:pPr>
            <a:r>
              <a:rPr lang="en-US"/>
              <a:t>pug is static: since pug is just a template, any updates are done through JS or jQuery requiring more work on developer end</a:t>
            </a:r>
          </a:p>
          <a:p>
            <a:pPr marL="685800" marR="0" lvl="1" indent="-228600" algn="l" defTabSz="914400" rtl="0" eaLnBrk="1" fontAlgn="auto" latinLnBrk="0" hangingPunct="1">
              <a:lnSpc>
                <a:spcPct val="100000"/>
              </a:lnSpc>
              <a:spcBef>
                <a:spcPts val="0"/>
              </a:spcBef>
              <a:spcAft>
                <a:spcPts val="0"/>
              </a:spcAft>
              <a:buClr>
                <a:srgbClr val="000000"/>
              </a:buClr>
              <a:buSzPts val="1100"/>
              <a:buFont typeface="Arial,Sans-Serif"/>
              <a:buChar char="•"/>
              <a:tabLst/>
              <a:defRPr/>
            </a:pPr>
            <a:r>
              <a:rPr lang="en-US"/>
              <a:t>(a lot of code because of this, harder to understand code and isolate issues)</a:t>
            </a:r>
          </a:p>
          <a:p>
            <a:pPr marL="685800" lvl="1" indent="-228600">
              <a:buFont typeface="Arial,Sans-Serif"/>
              <a:buChar char="•"/>
            </a:pPr>
            <a:endParaRPr lang="en-US"/>
          </a:p>
          <a:p>
            <a:pPr marL="228600" marR="0" lvl="0" indent="-228600" algn="l" defTabSz="914400" rtl="0" eaLnBrk="1" fontAlgn="auto" latinLnBrk="0" hangingPunct="1">
              <a:lnSpc>
                <a:spcPct val="100000"/>
              </a:lnSpc>
              <a:spcBef>
                <a:spcPts val="0"/>
              </a:spcBef>
              <a:spcAft>
                <a:spcPts val="0"/>
              </a:spcAft>
              <a:buClr>
                <a:srgbClr val="000000"/>
              </a:buClr>
              <a:buSzPts val="1100"/>
              <a:buFont typeface="Arial,Sans-Serif"/>
              <a:buChar char="•"/>
              <a:tabLst/>
              <a:defRPr/>
            </a:pPr>
            <a:endParaRPr lang="en-US"/>
          </a:p>
          <a:p>
            <a:pPr marL="228600" indent="-228600">
              <a:buFont typeface="Arial,Sans-Serif"/>
              <a:buChar char="•"/>
            </a:pPr>
            <a:endParaRPr lang="en-US"/>
          </a:p>
          <a:p>
            <a:pPr marL="228600" indent="-228600">
              <a:buFont typeface="Arial,Sans-Serif"/>
              <a:buChar char="•"/>
            </a:pPr>
            <a:endParaRPr lang="en-US"/>
          </a:p>
        </p:txBody>
      </p:sp>
    </p:spTree>
    <p:extLst>
      <p:ext uri="{BB962C8B-B14F-4D97-AF65-F5344CB8AC3E}">
        <p14:creationId xmlns:p14="http://schemas.microsoft.com/office/powerpoint/2010/main" val="168661314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3C3651-2B8F-253E-B317-F1509DDA02D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14955E5-9442-D61B-D4DC-9AE7AE763640}"/>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4F007FBD-0916-3428-E0F7-CDB161F976E9}"/>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Sans-Serif"/>
              <a:buNone/>
              <a:tabLst/>
              <a:defRPr/>
            </a:pPr>
            <a:r>
              <a:rPr lang="en-US"/>
              <a:t>Cecilia</a:t>
            </a:r>
          </a:p>
          <a:p>
            <a:pPr marL="228600" indent="-228600">
              <a:buFont typeface="Arial,Sans-Serif"/>
              <a:buChar char="•"/>
            </a:pPr>
            <a:r>
              <a:rPr lang="en-US"/>
              <a:t>React allows UI to be function of current data, or state</a:t>
            </a:r>
          </a:p>
          <a:p>
            <a:pPr marL="685800" lvl="1" indent="-228600">
              <a:buFont typeface="Arial,Sans-Serif"/>
              <a:buChar char="•"/>
            </a:pPr>
            <a:r>
              <a:rPr lang="en-US"/>
              <a:t>react declarative: when data changes, </a:t>
            </a:r>
            <a:r>
              <a:rPr lang="en-US" err="1"/>
              <a:t>teh</a:t>
            </a:r>
            <a:r>
              <a:rPr lang="en-US"/>
              <a:t> web app automatically calculates the most efficient way to update the screen without manual manipulation of DOM</a:t>
            </a:r>
          </a:p>
          <a:p>
            <a:pPr marL="685800" lvl="1" indent="-228600">
              <a:buFont typeface="Arial,Sans-Serif"/>
              <a:buChar char="•"/>
            </a:pPr>
            <a:r>
              <a:rPr lang="en-US"/>
              <a:t>single source of truth in React: react components manage internal state and data flows between parent and child elements easily. when a value changes in one place, it changes everywhere</a:t>
            </a:r>
          </a:p>
          <a:p>
            <a:pPr marL="685800" lvl="1" indent="-228600">
              <a:buFont typeface="Arial,Sans-Serif"/>
              <a:buChar char="•"/>
            </a:pPr>
            <a:r>
              <a:rPr lang="en-US"/>
              <a:t>Grommet: pre-built components that are modular and can be easily reused </a:t>
            </a:r>
          </a:p>
          <a:p>
            <a:pPr marL="685800" lvl="1" indent="-228600">
              <a:buFont typeface="Arial,Sans-Serif"/>
              <a:buChar char="•"/>
            </a:pPr>
            <a:r>
              <a:rPr lang="en-US"/>
              <a:t>(can mention this)</a:t>
            </a:r>
          </a:p>
          <a:p>
            <a:pPr marL="1143000" lvl="2" indent="-228600">
              <a:buFont typeface="Arial,Sans-Serif"/>
              <a:buChar char="•"/>
            </a:pPr>
            <a:r>
              <a:rPr lang="en-US"/>
              <a:t>React is current industry standard for front-end development</a:t>
            </a:r>
          </a:p>
          <a:p>
            <a:pPr marL="1143000" lvl="2" indent="-228600">
              <a:buFont typeface="Arial,Sans-Serif"/>
              <a:buChar char="•"/>
            </a:pPr>
            <a:r>
              <a:rPr lang="en-US"/>
              <a:t>React is the framework that we are choosing because allows code to be divided into components</a:t>
            </a:r>
          </a:p>
          <a:p>
            <a:pPr marL="1600200" lvl="3" indent="-228600">
              <a:buFont typeface="Courier New,monospace"/>
              <a:buChar char="o"/>
            </a:pPr>
            <a:r>
              <a:rPr lang="en-US"/>
              <a:t>This increases maintainability of code since makes different parts of code more easily reusable</a:t>
            </a:r>
          </a:p>
          <a:p>
            <a:pPr marL="228600" indent="-228600">
              <a:buFont typeface="Arial,Sans-Serif"/>
              <a:buChar char="•"/>
            </a:pPr>
            <a:endParaRPr lang="en-US"/>
          </a:p>
        </p:txBody>
      </p:sp>
    </p:spTree>
    <p:extLst>
      <p:ext uri="{BB962C8B-B14F-4D97-AF65-F5344CB8AC3E}">
        <p14:creationId xmlns:p14="http://schemas.microsoft.com/office/powerpoint/2010/main" val="76587459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D5BF69-0FB5-7130-D677-FA21B6A9DB8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9C814C0-5D83-C685-759C-0C2D7254E06A}"/>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DF15D47B-ECD2-B7D8-9B2E-42C7200D6DD0}"/>
              </a:ext>
            </a:extLst>
          </p:cNvPr>
          <p:cNvSpPr>
            <a:spLocks noGrp="1"/>
          </p:cNvSpPr>
          <p:nvPr>
            <p:ph type="body" idx="1"/>
          </p:nvPr>
        </p:nvSpPr>
        <p:spPr/>
        <p:txBody>
          <a:bodyPr/>
          <a:lstStyle/>
          <a:p>
            <a:pPr marL="228600" indent="-228600">
              <a:buFont typeface="Arial,Sans-Serif"/>
              <a:buChar char="•"/>
            </a:pPr>
            <a:r>
              <a:rPr lang="en-US"/>
              <a:t>Cecilia</a:t>
            </a:r>
          </a:p>
          <a:p>
            <a:pPr marL="228600" indent="-228600">
              <a:buFont typeface="Arial,Sans-Serif"/>
              <a:buChar char="•"/>
            </a:pPr>
            <a:r>
              <a:rPr lang="en-US"/>
              <a:t>can display graphs and demos</a:t>
            </a:r>
          </a:p>
        </p:txBody>
      </p:sp>
    </p:spTree>
    <p:extLst>
      <p:ext uri="{BB962C8B-B14F-4D97-AF65-F5344CB8AC3E}">
        <p14:creationId xmlns:p14="http://schemas.microsoft.com/office/powerpoint/2010/main" val="43846381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228600" indent="-228600">
              <a:buFont typeface="Arial,Sans-Serif"/>
              <a:buChar char="•"/>
            </a:pPr>
            <a:r>
              <a:rPr lang="en-US"/>
              <a:t>Cecilia</a:t>
            </a:r>
          </a:p>
          <a:p>
            <a:pPr marL="228600" indent="-228600">
              <a:buFont typeface="Arial,Sans-Serif"/>
              <a:buChar char="•"/>
            </a:pPr>
            <a:r>
              <a:rPr lang="en-US"/>
              <a:t>State management and component structure allows for more complex UI manipulation</a:t>
            </a:r>
          </a:p>
          <a:p>
            <a:pPr marL="685800" lvl="1" indent="-228600">
              <a:buFont typeface="Arial,Sans-Serif"/>
              <a:buChar char="•"/>
            </a:pPr>
            <a:r>
              <a:rPr lang="en-US"/>
              <a:t>easier to pass value across the app, and any changes made to a variable in one place in the app can cause a re-render of the graph, see updates immediately without any extra work</a:t>
            </a:r>
          </a:p>
          <a:p>
            <a:pPr marL="228600" indent="-228600">
              <a:buFont typeface="Arial,Sans-Serif"/>
              <a:buChar char="•"/>
            </a:pPr>
            <a:r>
              <a:rPr lang="en-US"/>
              <a:t>Also easier to enhance user interaction</a:t>
            </a:r>
          </a:p>
          <a:p>
            <a:pPr marL="685800" lvl="1" indent="-228600">
              <a:buFont typeface="Courier New,monospace"/>
              <a:buChar char="o"/>
            </a:pPr>
            <a:r>
              <a:rPr lang="en-US"/>
              <a:t>Can easily hide or show panels without too much extra work (because of state variables)</a:t>
            </a:r>
          </a:p>
          <a:p>
            <a:pPr marL="0" indent="0">
              <a:buNone/>
            </a:pPr>
            <a:endParaRPr lang="en-US"/>
          </a:p>
          <a:p>
            <a:endParaRPr lang="en-US"/>
          </a:p>
        </p:txBody>
      </p:sp>
    </p:spTree>
    <p:extLst>
      <p:ext uri="{BB962C8B-B14F-4D97-AF65-F5344CB8AC3E}">
        <p14:creationId xmlns:p14="http://schemas.microsoft.com/office/powerpoint/2010/main" val="199507286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F2AB2B-A856-6EC3-B5BF-EE1B20E497B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258DCF2-8DCB-E5EA-624A-CC48656EE69E}"/>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82DD7A33-A4D0-A66D-DAF6-C3A6DDE3B2D7}"/>
              </a:ext>
            </a:extLst>
          </p:cNvPr>
          <p:cNvSpPr>
            <a:spLocks noGrp="1"/>
          </p:cNvSpPr>
          <p:nvPr>
            <p:ph type="body" idx="1"/>
          </p:nvPr>
        </p:nvSpPr>
        <p:spPr/>
        <p:txBody>
          <a:bodyPr/>
          <a:lstStyle/>
          <a:p>
            <a:pPr marL="228600" indent="-228600">
              <a:buFont typeface="Arial,Sans-Serif"/>
              <a:buChar char="•"/>
            </a:pPr>
            <a:r>
              <a:rPr lang="en-US"/>
              <a:t>we had a bug in classic where the arrowhead for the edge was too far to one side of the node, and this was fixed in react code over</a:t>
            </a:r>
          </a:p>
          <a:p>
            <a:pPr marL="228600" indent="-228600">
              <a:buFont typeface="Arial,Sans-Serif"/>
              <a:buChar char="•"/>
            </a:pPr>
            <a:r>
              <a:rPr lang="en-US"/>
              <a:t>illustrates that benefit to migrating code over, although it may require time and effort, can allow for improvements of app and resolution of long-standing bug issues</a:t>
            </a:r>
          </a:p>
          <a:p>
            <a:pPr marL="228600" indent="-228600">
              <a:buFont typeface="Arial,Sans-Serif"/>
              <a:buChar char="•"/>
            </a:pPr>
            <a:endParaRPr lang="en-US"/>
          </a:p>
        </p:txBody>
      </p:sp>
    </p:spTree>
    <p:extLst>
      <p:ext uri="{BB962C8B-B14F-4D97-AF65-F5344CB8AC3E}">
        <p14:creationId xmlns:p14="http://schemas.microsoft.com/office/powerpoint/2010/main" val="415641518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FABE9F-14B4-6614-A3FE-3BDCE5C54DC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E0C9788-E3C8-437D-175E-3CE5D0251202}"/>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2CF3B8D0-DE54-C1E9-6325-F0B40AB78BBC}"/>
              </a:ext>
            </a:extLst>
          </p:cNvPr>
          <p:cNvSpPr>
            <a:spLocks noGrp="1"/>
          </p:cNvSpPr>
          <p:nvPr>
            <p:ph type="body" idx="1"/>
          </p:nvPr>
        </p:nvSpPr>
        <p:spPr/>
        <p:txBody>
          <a:bodyPr/>
          <a:lstStyle/>
          <a:p>
            <a:pPr marL="158750" indent="0">
              <a:buNone/>
            </a:pPr>
            <a:r>
              <a:rPr lang="en-US"/>
              <a:t>Cecilia</a:t>
            </a:r>
          </a:p>
        </p:txBody>
      </p:sp>
    </p:spTree>
    <p:extLst>
      <p:ext uri="{BB962C8B-B14F-4D97-AF65-F5344CB8AC3E}">
        <p14:creationId xmlns:p14="http://schemas.microsoft.com/office/powerpoint/2010/main" val="352199581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3A9FAE-587E-718A-5BAF-A73A387CF49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B20B173-B71B-A5A0-3870-26838769D524}"/>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60D93B78-98FA-F736-0C1B-0D1F6A0E01FC}"/>
              </a:ext>
            </a:extLst>
          </p:cNvPr>
          <p:cNvSpPr>
            <a:spLocks noGrp="1"/>
          </p:cNvSpPr>
          <p:nvPr>
            <p:ph type="body" idx="1"/>
          </p:nvPr>
        </p:nvSpPr>
        <p:spPr/>
        <p:txBody>
          <a:bodyPr/>
          <a:lstStyle/>
          <a:p>
            <a:pPr marL="158750" indent="0">
              <a:buNone/>
            </a:pPr>
            <a:r>
              <a:rPr lang="en-US"/>
              <a:t>Cecilia</a:t>
            </a:r>
          </a:p>
        </p:txBody>
      </p:sp>
    </p:spTree>
    <p:extLst>
      <p:ext uri="{BB962C8B-B14F-4D97-AF65-F5344CB8AC3E}">
        <p14:creationId xmlns:p14="http://schemas.microsoft.com/office/powerpoint/2010/main" val="414582861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a:extLst>
            <a:ext uri="{FF2B5EF4-FFF2-40B4-BE49-F238E27FC236}">
              <a16:creationId xmlns:a16="http://schemas.microsoft.com/office/drawing/2014/main" id="{7A86AF25-9DB1-6586-D7E2-DCBDDC6EB68E}"/>
            </a:ext>
          </a:extLst>
        </p:cNvPr>
        <p:cNvGrpSpPr/>
        <p:nvPr/>
      </p:nvGrpSpPr>
      <p:grpSpPr>
        <a:xfrm>
          <a:off x="0" y="0"/>
          <a:ext cx="0" cy="0"/>
          <a:chOff x="0" y="0"/>
          <a:chExt cx="0" cy="0"/>
        </a:xfrm>
      </p:grpSpPr>
      <p:sp>
        <p:nvSpPr>
          <p:cNvPr id="87" name="Google Shape;87;g3a179b1b18c_0_44:notes">
            <a:extLst>
              <a:ext uri="{FF2B5EF4-FFF2-40B4-BE49-F238E27FC236}">
                <a16:creationId xmlns:a16="http://schemas.microsoft.com/office/drawing/2014/main" id="{4C429F62-EB8E-AC35-3901-5FDF4576F05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8" name="Google Shape;88;g3a179b1b18c_0_44:notes">
            <a:extLst>
              <a:ext uri="{FF2B5EF4-FFF2-40B4-BE49-F238E27FC236}">
                <a16:creationId xmlns:a16="http://schemas.microsoft.com/office/drawing/2014/main" id="{579FA321-BA5C-AC87-CFFA-E766A5762C5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Maika</a:t>
            </a:r>
          </a:p>
          <a:p>
            <a:pPr marL="0" lvl="0" indent="0" algn="l" rtl="0">
              <a:spcBef>
                <a:spcPts val="0"/>
              </a:spcBef>
              <a:spcAft>
                <a:spcPts val="0"/>
              </a:spcAft>
              <a:buNone/>
            </a:pPr>
            <a:endParaRPr lang="en"/>
          </a:p>
        </p:txBody>
      </p:sp>
    </p:spTree>
    <p:extLst>
      <p:ext uri="{BB962C8B-B14F-4D97-AF65-F5344CB8AC3E}">
        <p14:creationId xmlns:p14="http://schemas.microsoft.com/office/powerpoint/2010/main" val="427163331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E42F06-FF49-B801-80C5-26964FC36F7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906BAD-A193-6163-6F65-A071B86175B7}"/>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96325423-BED6-B884-4FF9-75529CB8487D}"/>
              </a:ext>
            </a:extLst>
          </p:cNvPr>
          <p:cNvSpPr>
            <a:spLocks noGrp="1"/>
          </p:cNvSpPr>
          <p:nvPr>
            <p:ph type="body" idx="1"/>
          </p:nvPr>
        </p:nvSpPr>
        <p:spPr/>
        <p:txBody>
          <a:bodyPr/>
          <a:lstStyle/>
          <a:p>
            <a:pPr marL="158750" indent="0">
              <a:buNone/>
            </a:pPr>
            <a:r>
              <a:rPr lang="en-US"/>
              <a:t>Maika</a:t>
            </a:r>
          </a:p>
        </p:txBody>
      </p:sp>
    </p:spTree>
    <p:extLst>
      <p:ext uri="{BB962C8B-B14F-4D97-AF65-F5344CB8AC3E}">
        <p14:creationId xmlns:p14="http://schemas.microsoft.com/office/powerpoint/2010/main" val="133519983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E5EEA5-A140-CA46-CF34-95C0DF05C5E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27998D8-59FC-75F9-8A06-B9F0DB0D47A5}"/>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41DC8416-0D44-9DAA-890C-C21E9A2AD9F8}"/>
              </a:ext>
            </a:extLst>
          </p:cNvPr>
          <p:cNvSpPr>
            <a:spLocks noGrp="1"/>
          </p:cNvSpPr>
          <p:nvPr>
            <p:ph type="body" idx="1"/>
          </p:nvPr>
        </p:nvSpPr>
        <p:spPr/>
        <p:txBody>
          <a:bodyPr/>
          <a:lstStyle/>
          <a:p>
            <a:pPr marL="158750" indent="0">
              <a:buNone/>
            </a:pPr>
            <a:r>
              <a:rPr lang="en-US"/>
              <a:t>Maika</a:t>
            </a:r>
          </a:p>
        </p:txBody>
      </p:sp>
    </p:spTree>
    <p:extLst>
      <p:ext uri="{BB962C8B-B14F-4D97-AF65-F5344CB8AC3E}">
        <p14:creationId xmlns:p14="http://schemas.microsoft.com/office/powerpoint/2010/main" val="58171386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52A47B-C644-9338-89F0-D2DEA3649B2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A383607-9332-E456-5E51-3C81A9309B9A}"/>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D432F4C5-68A7-8A3D-7F48-56FD5FF77C4A}"/>
              </a:ext>
            </a:extLst>
          </p:cNvPr>
          <p:cNvSpPr>
            <a:spLocks noGrp="1"/>
          </p:cNvSpPr>
          <p:nvPr>
            <p:ph type="body" idx="1"/>
          </p:nvPr>
        </p:nvSpPr>
        <p:spPr/>
        <p:txBody>
          <a:bodyPr/>
          <a:lstStyle/>
          <a:p>
            <a:pPr marL="158750" indent="0">
              <a:buNone/>
            </a:pPr>
            <a:r>
              <a:rPr lang="en-US"/>
              <a:t>Maika</a:t>
            </a:r>
          </a:p>
        </p:txBody>
      </p:sp>
    </p:spTree>
    <p:extLst>
      <p:ext uri="{BB962C8B-B14F-4D97-AF65-F5344CB8AC3E}">
        <p14:creationId xmlns:p14="http://schemas.microsoft.com/office/powerpoint/2010/main" val="29001321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a:extLst>
            <a:ext uri="{FF2B5EF4-FFF2-40B4-BE49-F238E27FC236}">
              <a16:creationId xmlns:a16="http://schemas.microsoft.com/office/drawing/2014/main" id="{0D9C4FAF-F91C-F32B-C980-0AB840C7FA9D}"/>
            </a:ext>
          </a:extLst>
        </p:cNvPr>
        <p:cNvGrpSpPr/>
        <p:nvPr/>
      </p:nvGrpSpPr>
      <p:grpSpPr>
        <a:xfrm>
          <a:off x="0" y="0"/>
          <a:ext cx="0" cy="0"/>
          <a:chOff x="0" y="0"/>
          <a:chExt cx="0" cy="0"/>
        </a:xfrm>
      </p:grpSpPr>
      <p:sp>
        <p:nvSpPr>
          <p:cNvPr id="87" name="Google Shape;87;g3a179b1b18c_0_44:notes">
            <a:extLst>
              <a:ext uri="{FF2B5EF4-FFF2-40B4-BE49-F238E27FC236}">
                <a16:creationId xmlns:a16="http://schemas.microsoft.com/office/drawing/2014/main" id="{35C9AEE9-0068-BF87-0990-ECC6405ECB1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8" name="Google Shape;88;g3a179b1b18c_0_44:notes">
            <a:extLst>
              <a:ext uri="{FF2B5EF4-FFF2-40B4-BE49-F238E27FC236}">
                <a16:creationId xmlns:a16="http://schemas.microsoft.com/office/drawing/2014/main" id="{E67453BF-4EC3-587E-D99A-0BF36F89200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Maika</a:t>
            </a:r>
          </a:p>
          <a:p>
            <a:pPr marL="0" lvl="0" indent="0" algn="l" rtl="0">
              <a:spcBef>
                <a:spcPts val="0"/>
              </a:spcBef>
              <a:spcAft>
                <a:spcPts val="0"/>
              </a:spcAft>
              <a:buNone/>
            </a:pPr>
            <a:endParaRPr lang="en"/>
          </a:p>
        </p:txBody>
      </p:sp>
    </p:spTree>
    <p:extLst>
      <p:ext uri="{BB962C8B-B14F-4D97-AF65-F5344CB8AC3E}">
        <p14:creationId xmlns:p14="http://schemas.microsoft.com/office/powerpoint/2010/main" val="280727047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0B42EA-0663-12FF-084B-1AF3F66855F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30C61D2-D650-1E46-D391-F0B022C71C32}"/>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7417A202-4896-4350-2033-765272030AB0}"/>
              </a:ext>
            </a:extLst>
          </p:cNvPr>
          <p:cNvSpPr>
            <a:spLocks noGrp="1"/>
          </p:cNvSpPr>
          <p:nvPr>
            <p:ph type="body" idx="1"/>
          </p:nvPr>
        </p:nvSpPr>
        <p:spPr/>
        <p:txBody>
          <a:bodyPr/>
          <a:lstStyle/>
          <a:p>
            <a:pPr marL="0" indent="0">
              <a:buFont typeface="Arial" panose="020B0604020202020204" pitchFamily="34" charset="0"/>
              <a:buNone/>
            </a:pPr>
            <a:r>
              <a:rPr lang="en-US" sz="1100">
                <a:solidFill>
                  <a:schemeClr val="tx1"/>
                </a:solidFill>
              </a:rPr>
              <a:t>Cecilia</a:t>
            </a:r>
          </a:p>
          <a:p>
            <a:pPr marL="285750" indent="-285750">
              <a:buFont typeface="Arial" panose="020B0604020202020204" pitchFamily="34" charset="0"/>
              <a:buChar char="•"/>
            </a:pPr>
            <a:r>
              <a:rPr lang="en-US" sz="1100">
                <a:solidFill>
                  <a:schemeClr val="tx1"/>
                </a:solidFill>
              </a:rPr>
              <a:t>Improved code readability and state-management</a:t>
            </a:r>
          </a:p>
          <a:p>
            <a:pPr marL="742950" lvl="1" indent="-285750">
              <a:buFont typeface="Arial" panose="020B0604020202020204" pitchFamily="34" charset="0"/>
              <a:buChar char="•"/>
            </a:pPr>
            <a:r>
              <a:rPr lang="en-US" sz="1100">
                <a:solidFill>
                  <a:schemeClr val="tx1"/>
                </a:solidFill>
              </a:rPr>
              <a:t>code is more modular because of the nature of component behavior</a:t>
            </a:r>
          </a:p>
          <a:p>
            <a:pPr marL="285750" lvl="0" indent="-285750">
              <a:buFont typeface="Arial" panose="020B0604020202020204" pitchFamily="34" charset="0"/>
              <a:buChar char="•"/>
            </a:pPr>
            <a:r>
              <a:rPr lang="en-US" sz="1100">
                <a:solidFill>
                  <a:schemeClr val="tx1"/>
                </a:solidFill>
              </a:rPr>
              <a:t>migrated testing framework over to </a:t>
            </a:r>
            <a:r>
              <a:rPr lang="en-US" sz="1100" err="1">
                <a:solidFill>
                  <a:schemeClr val="tx1"/>
                </a:solidFill>
              </a:rPr>
              <a:t>vitest</a:t>
            </a:r>
            <a:r>
              <a:rPr lang="en-US" sz="1100">
                <a:solidFill>
                  <a:schemeClr val="tx1"/>
                </a:solidFill>
              </a:rPr>
              <a:t> because it is built-in framework for </a:t>
            </a:r>
            <a:r>
              <a:rPr lang="en-US" sz="1100" err="1">
                <a:solidFill>
                  <a:schemeClr val="tx1"/>
                </a:solidFill>
              </a:rPr>
              <a:t>vite</a:t>
            </a:r>
            <a:r>
              <a:rPr lang="en-US" sz="1100">
                <a:solidFill>
                  <a:schemeClr val="tx1"/>
                </a:solidFill>
              </a:rPr>
              <a:t>, which allows us to create optimized builds of web app for development and release to production. in Classic just use Node.js</a:t>
            </a:r>
          </a:p>
          <a:p>
            <a:pPr marL="285750" indent="-285750">
              <a:buFont typeface="Arial" panose="020B0604020202020204" pitchFamily="34" charset="0"/>
              <a:buChar char="•"/>
            </a:pPr>
            <a:r>
              <a:rPr lang="en-US" sz="1100">
                <a:solidFill>
                  <a:schemeClr val="tx1"/>
                </a:solidFill>
              </a:rPr>
              <a:t>Advanced interactive features</a:t>
            </a:r>
          </a:p>
          <a:p>
            <a:pPr marL="285750" indent="-285750">
              <a:buFont typeface="Arial" panose="020B0604020202020204" pitchFamily="34" charset="0"/>
              <a:buChar char="•"/>
            </a:pPr>
            <a:r>
              <a:rPr lang="en-US" sz="1100">
                <a:solidFill>
                  <a:schemeClr val="tx1"/>
                </a:solidFill>
              </a:rPr>
              <a:t>GRNsight positioned to continue expanding functionality as new visualization needs arise</a:t>
            </a:r>
          </a:p>
        </p:txBody>
      </p:sp>
    </p:spTree>
    <p:extLst>
      <p:ext uri="{BB962C8B-B14F-4D97-AF65-F5344CB8AC3E}">
        <p14:creationId xmlns:p14="http://schemas.microsoft.com/office/powerpoint/2010/main" val="403154634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E7308A-6F8E-8080-CAB7-78F12F79039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541730F-AA7D-6B77-1545-DB49279A5790}"/>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BE8F9F69-6E92-756B-0C73-D39227A58757}"/>
              </a:ext>
            </a:extLst>
          </p:cNvPr>
          <p:cNvSpPr>
            <a:spLocks noGrp="1"/>
          </p:cNvSpPr>
          <p:nvPr>
            <p:ph type="body" idx="1"/>
          </p:nvPr>
        </p:nvSpPr>
        <p:spPr/>
        <p:txBody>
          <a:bodyPr/>
          <a:lstStyle/>
          <a:p>
            <a:pPr marL="285750" indent="-285750">
              <a:buFont typeface="Arial" panose="020B0604020202020204" pitchFamily="34" charset="0"/>
              <a:buChar char="•"/>
            </a:pPr>
            <a:r>
              <a:rPr lang="en-US" sz="1100">
                <a:solidFill>
                  <a:schemeClr val="tx1"/>
                </a:solidFill>
              </a:rPr>
              <a:t>Maika</a:t>
            </a:r>
          </a:p>
        </p:txBody>
      </p:sp>
    </p:spTree>
    <p:extLst>
      <p:ext uri="{BB962C8B-B14F-4D97-AF65-F5344CB8AC3E}">
        <p14:creationId xmlns:p14="http://schemas.microsoft.com/office/powerpoint/2010/main" val="216731825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63AF5A-38CB-E1AB-21FC-DB85969B19C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BF6514C-BE5F-FCB8-F8BA-CC8C8AE98CBB}"/>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0010E6F2-34B8-40CE-7AB8-7ADECF9355B3}"/>
              </a:ext>
            </a:extLst>
          </p:cNvPr>
          <p:cNvSpPr>
            <a:spLocks noGrp="1"/>
          </p:cNvSpPr>
          <p:nvPr>
            <p:ph type="body" idx="1"/>
          </p:nvPr>
        </p:nvSpPr>
        <p:spPr/>
        <p:txBody>
          <a:bodyPr/>
          <a:lstStyle/>
          <a:p>
            <a:pPr marL="158750" indent="0">
              <a:buNone/>
            </a:pPr>
            <a:r>
              <a:rPr lang="en-US"/>
              <a:t>Cecilia</a:t>
            </a:r>
          </a:p>
          <a:p>
            <a:pPr marL="158750" indent="0">
              <a:buNone/>
            </a:pPr>
            <a:endParaRPr lang="en-US"/>
          </a:p>
        </p:txBody>
      </p:sp>
    </p:spTree>
    <p:extLst>
      <p:ext uri="{BB962C8B-B14F-4D97-AF65-F5344CB8AC3E}">
        <p14:creationId xmlns:p14="http://schemas.microsoft.com/office/powerpoint/2010/main" val="410606873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a:extLst>
            <a:ext uri="{FF2B5EF4-FFF2-40B4-BE49-F238E27FC236}">
              <a16:creationId xmlns:a16="http://schemas.microsoft.com/office/drawing/2014/main" id="{6F5F450A-F9B8-CBD1-344F-86261534477D}"/>
            </a:ext>
          </a:extLst>
        </p:cNvPr>
        <p:cNvGrpSpPr/>
        <p:nvPr/>
      </p:nvGrpSpPr>
      <p:grpSpPr>
        <a:xfrm>
          <a:off x="0" y="0"/>
          <a:ext cx="0" cy="0"/>
          <a:chOff x="0" y="0"/>
          <a:chExt cx="0" cy="0"/>
        </a:xfrm>
      </p:grpSpPr>
      <p:sp>
        <p:nvSpPr>
          <p:cNvPr id="87" name="Google Shape;87;g3a179b1b18c_0_44:notes">
            <a:extLst>
              <a:ext uri="{FF2B5EF4-FFF2-40B4-BE49-F238E27FC236}">
                <a16:creationId xmlns:a16="http://schemas.microsoft.com/office/drawing/2014/main" id="{C417137F-2C63-5FF1-2F53-45791430BC9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8" name="Google Shape;88;g3a179b1b18c_0_44:notes">
            <a:extLst>
              <a:ext uri="{FF2B5EF4-FFF2-40B4-BE49-F238E27FC236}">
                <a16:creationId xmlns:a16="http://schemas.microsoft.com/office/drawing/2014/main" id="{AB791E01-E53C-3F3E-CAE2-19AB3174402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Cecilia</a:t>
            </a:r>
          </a:p>
        </p:txBody>
      </p:sp>
    </p:spTree>
    <p:extLst>
      <p:ext uri="{BB962C8B-B14F-4D97-AF65-F5344CB8AC3E}">
        <p14:creationId xmlns:p14="http://schemas.microsoft.com/office/powerpoint/2010/main" val="176469691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a:t>Maybe make this one less complex?</a:t>
            </a:r>
          </a:p>
        </p:txBody>
      </p:sp>
    </p:spTree>
    <p:extLst>
      <p:ext uri="{BB962C8B-B14F-4D97-AF65-F5344CB8AC3E}">
        <p14:creationId xmlns:p14="http://schemas.microsoft.com/office/powerpoint/2010/main" val="72334741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9"/>
        <p:cNvGrpSpPr/>
        <p:nvPr/>
      </p:nvGrpSpPr>
      <p:grpSpPr>
        <a:xfrm>
          <a:off x="0" y="0"/>
          <a:ext cx="0" cy="0"/>
          <a:chOff x="0" y="0"/>
          <a:chExt cx="0" cy="0"/>
        </a:xfrm>
      </p:grpSpPr>
      <p:sp>
        <p:nvSpPr>
          <p:cNvPr id="290" name="Google Shape;290;g3a179b1b18c_0_15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1" name="Google Shape;291;g3a179b1b18c_0_15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In the slides I provide, there is a QR code for GRNsight and the picture of you all from the LMU URS last Spring.</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3">
          <a:extLst>
            <a:ext uri="{FF2B5EF4-FFF2-40B4-BE49-F238E27FC236}">
              <a16:creationId xmlns:a16="http://schemas.microsoft.com/office/drawing/2014/main" id="{8BA7F81B-5DC8-736E-2703-E9CA2919BA56}"/>
            </a:ext>
          </a:extLst>
        </p:cNvPr>
        <p:cNvGrpSpPr/>
        <p:nvPr/>
      </p:nvGrpSpPr>
      <p:grpSpPr>
        <a:xfrm>
          <a:off x="0" y="0"/>
          <a:ext cx="0" cy="0"/>
          <a:chOff x="0" y="0"/>
          <a:chExt cx="0" cy="0"/>
        </a:xfrm>
      </p:grpSpPr>
      <p:sp>
        <p:nvSpPr>
          <p:cNvPr id="284" name="Google Shape;284;g3a179b1b18c_0_149:notes">
            <a:extLst>
              <a:ext uri="{FF2B5EF4-FFF2-40B4-BE49-F238E27FC236}">
                <a16:creationId xmlns:a16="http://schemas.microsoft.com/office/drawing/2014/main" id="{6E741720-8874-A0FC-7DD3-97055EDE9B8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5" name="Google Shape;285;g3a179b1b18c_0_149:notes">
            <a:extLst>
              <a:ext uri="{FF2B5EF4-FFF2-40B4-BE49-F238E27FC236}">
                <a16:creationId xmlns:a16="http://schemas.microsoft.com/office/drawing/2014/main" id="{C3103349-48E0-6366-48DA-28785996561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29579831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slid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 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 and two 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 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 column 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 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 title and 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 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microsoft.com/office/2018/10/relationships/comments" Target="../comments/modernComment_100_0.xml"/><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microsoft.com/office/2018/10/relationships/comments" Target="../comments/modernComment_2D0_5E8B825C.xml"/><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microsoft.com/office/2018/10/relationships/comments" Target="../comments/modernComment_258_1E751F0B.xml"/><Relationship Id="rId2" Type="http://schemas.openxmlformats.org/officeDocument/2006/relationships/notesSlide" Target="../notesSlides/notesSlide5.xml"/><Relationship Id="rId1" Type="http://schemas.openxmlformats.org/officeDocument/2006/relationships/slideLayout" Target="../slideLayouts/slideLayout3.xml"/><Relationship Id="rId5" Type="http://schemas.openxmlformats.org/officeDocument/2006/relationships/image" Target="../media/image4.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microsoft.com/office/2018/10/relationships/comments" Target="../comments/modernComment_2C4_D61B073F.xml"/><Relationship Id="rId2" Type="http://schemas.openxmlformats.org/officeDocument/2006/relationships/notesSlide" Target="../notesSlides/notesSlide6.xml"/><Relationship Id="rId1" Type="http://schemas.openxmlformats.org/officeDocument/2006/relationships/slideLayout" Target="../slideLayouts/slideLayout3.xml"/><Relationship Id="rId5" Type="http://schemas.openxmlformats.org/officeDocument/2006/relationships/image" Target="../media/image6.png"/><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microsoft.com/office/2018/10/relationships/comments" Target="../comments/modernComment_319_63EA6C93.xml"/><Relationship Id="rId2" Type="http://schemas.openxmlformats.org/officeDocument/2006/relationships/notesSlide" Target="../notesSlides/notesSlide7.xml"/><Relationship Id="rId1" Type="http://schemas.openxmlformats.org/officeDocument/2006/relationships/slideLayout" Target="../slideLayouts/slideLayout11.xml"/><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11.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jpeg"/></Relationships>
</file>

<file path=ppt/slides/_rels/slide9.xml.rels><?xml version="1.0" encoding="UTF-8" standalone="yes"?>
<Relationships xmlns="http://schemas.openxmlformats.org/package/2006/relationships"><Relationship Id="rId8" Type="http://schemas.openxmlformats.org/officeDocument/2006/relationships/image" Target="../media/image15.png"/><Relationship Id="rId13" Type="http://schemas.openxmlformats.org/officeDocument/2006/relationships/image" Target="../media/image12.png"/><Relationship Id="rId3" Type="http://schemas.openxmlformats.org/officeDocument/2006/relationships/image" Target="../media/image8.png"/><Relationship Id="rId7" Type="http://schemas.openxmlformats.org/officeDocument/2006/relationships/image" Target="../media/image14.png"/><Relationship Id="rId12" Type="http://schemas.openxmlformats.org/officeDocument/2006/relationships/image" Target="../media/image19.png"/><Relationship Id="rId2" Type="http://schemas.openxmlformats.org/officeDocument/2006/relationships/notesSlide" Target="../notesSlides/notesSlide9.xml"/><Relationship Id="rId16" Type="http://schemas.openxmlformats.org/officeDocument/2006/relationships/image" Target="../media/image21.png"/><Relationship Id="rId1" Type="http://schemas.openxmlformats.org/officeDocument/2006/relationships/slideLayout" Target="../slideLayouts/slideLayout11.xml"/><Relationship Id="rId6" Type="http://schemas.openxmlformats.org/officeDocument/2006/relationships/image" Target="../media/image11.png"/><Relationship Id="rId11" Type="http://schemas.openxmlformats.org/officeDocument/2006/relationships/image" Target="../media/image18.png"/><Relationship Id="rId5" Type="http://schemas.openxmlformats.org/officeDocument/2006/relationships/image" Target="../media/image10.png"/><Relationship Id="rId15" Type="http://schemas.openxmlformats.org/officeDocument/2006/relationships/image" Target="../media/image13.png"/><Relationship Id="rId10" Type="http://schemas.openxmlformats.org/officeDocument/2006/relationships/image" Target="../media/image17.png"/><Relationship Id="rId4" Type="http://schemas.openxmlformats.org/officeDocument/2006/relationships/image" Target="../media/image9.jpeg"/><Relationship Id="rId9" Type="http://schemas.openxmlformats.org/officeDocument/2006/relationships/image" Target="../media/image16.png"/><Relationship Id="rId14" Type="http://schemas.openxmlformats.org/officeDocument/2006/relationships/image" Target="../media/image20.png"/></Relationships>
</file>

<file path=ppt/slides/_rels/slide10.xml.rels><?xml version="1.0" encoding="UTF-8" standalone="yes"?>
<Relationships xmlns="http://schemas.openxmlformats.org/package/2006/relationships"><Relationship Id="rId8" Type="http://schemas.openxmlformats.org/officeDocument/2006/relationships/image" Target="../media/image14.png"/><Relationship Id="rId13" Type="http://schemas.openxmlformats.org/officeDocument/2006/relationships/image" Target="../media/image19.png"/><Relationship Id="rId18" Type="http://schemas.openxmlformats.org/officeDocument/2006/relationships/image" Target="../media/image23.jpeg"/><Relationship Id="rId3" Type="http://schemas.openxmlformats.org/officeDocument/2006/relationships/image" Target="../media/image8.png"/><Relationship Id="rId7" Type="http://schemas.openxmlformats.org/officeDocument/2006/relationships/image" Target="../media/image11.png"/><Relationship Id="rId12" Type="http://schemas.openxmlformats.org/officeDocument/2006/relationships/image" Target="../media/image18.png"/><Relationship Id="rId17" Type="http://schemas.openxmlformats.org/officeDocument/2006/relationships/image" Target="../media/image21.png"/><Relationship Id="rId2" Type="http://schemas.openxmlformats.org/officeDocument/2006/relationships/notesSlide" Target="../notesSlides/notesSlide10.xml"/><Relationship Id="rId16" Type="http://schemas.openxmlformats.org/officeDocument/2006/relationships/image" Target="../media/image13.png"/><Relationship Id="rId1" Type="http://schemas.openxmlformats.org/officeDocument/2006/relationships/slideLayout" Target="../slideLayouts/slideLayout11.xml"/><Relationship Id="rId6" Type="http://schemas.openxmlformats.org/officeDocument/2006/relationships/image" Target="../media/image10.png"/><Relationship Id="rId11" Type="http://schemas.openxmlformats.org/officeDocument/2006/relationships/image" Target="../media/image17.png"/><Relationship Id="rId5" Type="http://schemas.openxmlformats.org/officeDocument/2006/relationships/image" Target="../media/image9.jpeg"/><Relationship Id="rId15" Type="http://schemas.openxmlformats.org/officeDocument/2006/relationships/image" Target="../media/image20.png"/><Relationship Id="rId10" Type="http://schemas.openxmlformats.org/officeDocument/2006/relationships/image" Target="../media/image16.png"/><Relationship Id="rId4" Type="http://schemas.openxmlformats.org/officeDocument/2006/relationships/image" Target="../media/image22.emf"/><Relationship Id="rId9" Type="http://schemas.openxmlformats.org/officeDocument/2006/relationships/image" Target="../media/image15.png"/><Relationship Id="rId14" Type="http://schemas.openxmlformats.org/officeDocument/2006/relationships/image" Target="../media/image12.png"/></Relationships>
</file>

<file path=ppt/slides/_rels/slide11.xml.rels><?xml version="1.0" encoding="UTF-8" standalone="yes"?>
<Relationships xmlns="http://schemas.openxmlformats.org/package/2006/relationships"><Relationship Id="rId8" Type="http://schemas.openxmlformats.org/officeDocument/2006/relationships/image" Target="../media/image11.png"/><Relationship Id="rId13" Type="http://schemas.openxmlformats.org/officeDocument/2006/relationships/image" Target="../media/image18.png"/><Relationship Id="rId18" Type="http://schemas.openxmlformats.org/officeDocument/2006/relationships/image" Target="../media/image21.png"/><Relationship Id="rId3" Type="http://schemas.openxmlformats.org/officeDocument/2006/relationships/image" Target="../media/image8.png"/><Relationship Id="rId7" Type="http://schemas.openxmlformats.org/officeDocument/2006/relationships/image" Target="../media/image10.png"/><Relationship Id="rId12" Type="http://schemas.openxmlformats.org/officeDocument/2006/relationships/image" Target="../media/image17.png"/><Relationship Id="rId17" Type="http://schemas.openxmlformats.org/officeDocument/2006/relationships/image" Target="../media/image13.png"/><Relationship Id="rId2" Type="http://schemas.openxmlformats.org/officeDocument/2006/relationships/notesSlide" Target="../notesSlides/notesSlide11.xml"/><Relationship Id="rId16" Type="http://schemas.openxmlformats.org/officeDocument/2006/relationships/image" Target="../media/image20.png"/><Relationship Id="rId1" Type="http://schemas.openxmlformats.org/officeDocument/2006/relationships/slideLayout" Target="../slideLayouts/slideLayout11.xml"/><Relationship Id="rId6" Type="http://schemas.openxmlformats.org/officeDocument/2006/relationships/image" Target="../media/image9.jpeg"/><Relationship Id="rId11" Type="http://schemas.openxmlformats.org/officeDocument/2006/relationships/image" Target="../media/image16.png"/><Relationship Id="rId5" Type="http://schemas.openxmlformats.org/officeDocument/2006/relationships/image" Target="../media/image22.emf"/><Relationship Id="rId15" Type="http://schemas.openxmlformats.org/officeDocument/2006/relationships/image" Target="../media/image12.png"/><Relationship Id="rId10" Type="http://schemas.openxmlformats.org/officeDocument/2006/relationships/image" Target="../media/image15.png"/><Relationship Id="rId19" Type="http://schemas.openxmlformats.org/officeDocument/2006/relationships/image" Target="../media/image23.jpeg"/><Relationship Id="rId4" Type="http://schemas.openxmlformats.org/officeDocument/2006/relationships/image" Target="../media/image24.png"/><Relationship Id="rId9" Type="http://schemas.openxmlformats.org/officeDocument/2006/relationships/image" Target="../media/image14.png"/><Relationship Id="rId14" Type="http://schemas.openxmlformats.org/officeDocument/2006/relationships/image" Target="../media/image19.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microsoft.com/office/2018/10/relationships/comments" Target="../comments/modernComment_31B_4B301005.xml"/><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25.svg"/></Relationships>
</file>

<file path=ppt/slides/_rels/slide14.xml.rels><?xml version="1.0" encoding="UTF-8" standalone="yes"?>
<Relationships xmlns="http://schemas.openxmlformats.org/package/2006/relationships"><Relationship Id="rId8" Type="http://schemas.openxmlformats.org/officeDocument/2006/relationships/image" Target="../media/image30.png"/><Relationship Id="rId3" Type="http://schemas.microsoft.com/office/2018/10/relationships/comments" Target="../comments/modernComment_30F_C392BF34.xml"/><Relationship Id="rId7" Type="http://schemas.openxmlformats.org/officeDocument/2006/relationships/image" Target="../media/image29.png"/><Relationship Id="rId2" Type="http://schemas.openxmlformats.org/officeDocument/2006/relationships/notesSlide" Target="../notesSlides/notesSlide14.xml"/><Relationship Id="rId1" Type="http://schemas.openxmlformats.org/officeDocument/2006/relationships/slideLayout" Target="../slideLayouts/slideLayout11.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s>
</file>

<file path=ppt/slides/_rels/slide15.xml.rels><?xml version="1.0" encoding="UTF-8" standalone="yes"?>
<Relationships xmlns="http://schemas.openxmlformats.org/package/2006/relationships"><Relationship Id="rId8" Type="http://schemas.openxmlformats.org/officeDocument/2006/relationships/image" Target="../media/image34.png"/><Relationship Id="rId3" Type="http://schemas.microsoft.com/office/2018/10/relationships/comments" Target="../comments/modernComment_31C_CF54D9F3.xml"/><Relationship Id="rId7" Type="http://schemas.openxmlformats.org/officeDocument/2006/relationships/image" Target="../media/image33.png"/><Relationship Id="rId2" Type="http://schemas.openxmlformats.org/officeDocument/2006/relationships/notesSlide" Target="../notesSlides/notesSlide15.xml"/><Relationship Id="rId1" Type="http://schemas.openxmlformats.org/officeDocument/2006/relationships/slideLayout" Target="../slideLayouts/slideLayout11.xml"/><Relationship Id="rId6" Type="http://schemas.openxmlformats.org/officeDocument/2006/relationships/image" Target="../media/image29.png"/><Relationship Id="rId5" Type="http://schemas.openxmlformats.org/officeDocument/2006/relationships/image" Target="../media/image32.png"/><Relationship Id="rId10" Type="http://schemas.openxmlformats.org/officeDocument/2006/relationships/image" Target="../media/image30.png"/><Relationship Id="rId4" Type="http://schemas.openxmlformats.org/officeDocument/2006/relationships/image" Target="../media/image31.png"/><Relationship Id="rId9" Type="http://schemas.openxmlformats.org/officeDocument/2006/relationships/image" Target="../media/image35.png"/></Relationships>
</file>

<file path=ppt/slides/_rels/slide16.xml.rels><?xml version="1.0" encoding="UTF-8" standalone="yes"?>
<Relationships xmlns="http://schemas.openxmlformats.org/package/2006/relationships"><Relationship Id="rId3" Type="http://schemas.microsoft.com/office/2018/10/relationships/comments" Target="../comments/modernComment_2F2_6AF67446.xml"/><Relationship Id="rId2" Type="http://schemas.openxmlformats.org/officeDocument/2006/relationships/notesSlide" Target="../notesSlides/notesSlide16.xml"/><Relationship Id="rId1" Type="http://schemas.openxmlformats.org/officeDocument/2006/relationships/slideLayout" Target="../slideLayouts/slideLayout11.xml"/><Relationship Id="rId5" Type="http://schemas.openxmlformats.org/officeDocument/2006/relationships/hyperlink" Target="https://dondi.github.io/GRNsight/react-thesis-4081/" TargetMode="External"/><Relationship Id="rId4" Type="http://schemas.openxmlformats.org/officeDocument/2006/relationships/image" Target="../media/image36.png"/></Relationships>
</file>

<file path=ppt/slides/_rels/slide17.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7.xml"/><Relationship Id="rId1" Type="http://schemas.openxmlformats.org/officeDocument/2006/relationships/slideLayout" Target="../slideLayouts/slideLayout11.xml"/><Relationship Id="rId5" Type="http://schemas.openxmlformats.org/officeDocument/2006/relationships/image" Target="../media/image39.png"/><Relationship Id="rId4" Type="http://schemas.openxmlformats.org/officeDocument/2006/relationships/image" Target="../media/image38.png"/></Relationships>
</file>

<file path=ppt/slides/_rels/slide18.xml.rels><?xml version="1.0" encoding="UTF-8" standalone="yes"?>
<Relationships xmlns="http://schemas.openxmlformats.org/package/2006/relationships"><Relationship Id="rId3" Type="http://schemas.microsoft.com/office/2018/10/relationships/comments" Target="../comments/modernComment_311_D3DD0C6A.xml"/><Relationship Id="rId2" Type="http://schemas.openxmlformats.org/officeDocument/2006/relationships/notesSlide" Target="../notesSlides/notesSlide18.xml"/><Relationship Id="rId1" Type="http://schemas.openxmlformats.org/officeDocument/2006/relationships/slideLayout" Target="../slideLayouts/slideLayout11.xml"/><Relationship Id="rId5" Type="http://schemas.openxmlformats.org/officeDocument/2006/relationships/image" Target="../media/image41.png"/><Relationship Id="rId4" Type="http://schemas.openxmlformats.org/officeDocument/2006/relationships/image" Target="../media/image40.png"/></Relationships>
</file>

<file path=ppt/slides/_rels/slide19.xml.rels><?xml version="1.0" encoding="UTF-8" standalone="yes"?>
<Relationships xmlns="http://schemas.openxmlformats.org/package/2006/relationships"><Relationship Id="rId3" Type="http://schemas.microsoft.com/office/2018/10/relationships/comments" Target="../comments/modernComment_30B_96DADEE6.xml"/><Relationship Id="rId2" Type="http://schemas.openxmlformats.org/officeDocument/2006/relationships/notesSlide" Target="../notesSlides/notesSlide19.xml"/><Relationship Id="rId1" Type="http://schemas.openxmlformats.org/officeDocument/2006/relationships/slideLayout" Target="../slideLayouts/slideLayout11.xml"/><Relationship Id="rId6" Type="http://schemas.openxmlformats.org/officeDocument/2006/relationships/image" Target="../media/image44.png"/><Relationship Id="rId5" Type="http://schemas.openxmlformats.org/officeDocument/2006/relationships/image" Target="../media/image43.svg"/><Relationship Id="rId4" Type="http://schemas.openxmlformats.org/officeDocument/2006/relationships/image" Target="../media/image42.png"/></Relationships>
</file>

<file path=ppt/slides/_rels/slide20.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20.xml"/><Relationship Id="rId1" Type="http://schemas.openxmlformats.org/officeDocument/2006/relationships/slideLayout" Target="../slideLayouts/slideLayout11.xml"/><Relationship Id="rId5" Type="http://schemas.openxmlformats.org/officeDocument/2006/relationships/image" Target="../media/image45.png"/><Relationship Id="rId4" Type="http://schemas.openxmlformats.org/officeDocument/2006/relationships/image" Target="../media/image43.sv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microsoft.com/office/2018/10/relationships/comments" Target="../comments/modernComment_302_84D32728.xml"/><Relationship Id="rId2" Type="http://schemas.openxmlformats.org/officeDocument/2006/relationships/notesSlide" Target="../notesSlides/notesSlide22.xml"/><Relationship Id="rId1" Type="http://schemas.openxmlformats.org/officeDocument/2006/relationships/slideLayout" Target="../slideLayouts/slideLayout11.xml"/><Relationship Id="rId6" Type="http://schemas.openxmlformats.org/officeDocument/2006/relationships/image" Target="../media/image46.png"/><Relationship Id="rId5" Type="http://schemas.openxmlformats.org/officeDocument/2006/relationships/image" Target="../media/image11.png"/><Relationship Id="rId4" Type="http://schemas.openxmlformats.org/officeDocument/2006/relationships/image" Target="../media/image10.png"/></Relationships>
</file>

<file path=ppt/slides/_rels/slide23.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23.xml"/><Relationship Id="rId1" Type="http://schemas.openxmlformats.org/officeDocument/2006/relationships/slideLayout" Target="../slideLayouts/slideLayout11.xml"/></Relationships>
</file>

<file path=ppt/slides/_rels/slide24.xml.rels><?xml version="1.0" encoding="UTF-8" standalone="yes"?>
<Relationships xmlns="http://schemas.openxmlformats.org/package/2006/relationships"><Relationship Id="rId3" Type="http://schemas.microsoft.com/office/2018/10/relationships/comments" Target="../comments/modernComment_321_50ADC7EC.xml"/><Relationship Id="rId2" Type="http://schemas.openxmlformats.org/officeDocument/2006/relationships/notesSlide" Target="../notesSlides/notesSlide24.xml"/><Relationship Id="rId1" Type="http://schemas.openxmlformats.org/officeDocument/2006/relationships/slideLayout" Target="../slideLayouts/slideLayout11.xml"/><Relationship Id="rId4" Type="http://schemas.openxmlformats.org/officeDocument/2006/relationships/image" Target="../media/image48.sv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8" Type="http://schemas.openxmlformats.org/officeDocument/2006/relationships/image" Target="../media/image52.png"/><Relationship Id="rId13" Type="http://schemas.openxmlformats.org/officeDocument/2006/relationships/image" Target="../media/image55.png"/><Relationship Id="rId18" Type="http://schemas.microsoft.com/office/2007/relationships/hdphoto" Target="../media/hdphoto2.wdp"/><Relationship Id="rId3" Type="http://schemas.microsoft.com/office/2018/10/relationships/comments" Target="../comments/modernComment_2F1_574EDDBE.xml"/><Relationship Id="rId21" Type="http://schemas.openxmlformats.org/officeDocument/2006/relationships/image" Target="../media/image62.png"/><Relationship Id="rId7" Type="http://schemas.openxmlformats.org/officeDocument/2006/relationships/image" Target="../media/image51.png"/><Relationship Id="rId12" Type="http://schemas.microsoft.com/office/2007/relationships/hdphoto" Target="../media/hdphoto1.wdp"/><Relationship Id="rId17" Type="http://schemas.openxmlformats.org/officeDocument/2006/relationships/image" Target="../media/image59.png"/><Relationship Id="rId2" Type="http://schemas.openxmlformats.org/officeDocument/2006/relationships/notesSlide" Target="../notesSlides/notesSlide26.xml"/><Relationship Id="rId16" Type="http://schemas.openxmlformats.org/officeDocument/2006/relationships/image" Target="../media/image58.png"/><Relationship Id="rId20" Type="http://schemas.openxmlformats.org/officeDocument/2006/relationships/image" Target="../media/image61.png"/><Relationship Id="rId1" Type="http://schemas.openxmlformats.org/officeDocument/2006/relationships/slideLayout" Target="../slideLayouts/slideLayout11.xml"/><Relationship Id="rId6" Type="http://schemas.openxmlformats.org/officeDocument/2006/relationships/image" Target="../media/image50.png"/><Relationship Id="rId11" Type="http://schemas.openxmlformats.org/officeDocument/2006/relationships/image" Target="../media/image54.png"/><Relationship Id="rId5" Type="http://schemas.openxmlformats.org/officeDocument/2006/relationships/image" Target="../media/image31.png"/><Relationship Id="rId15" Type="http://schemas.openxmlformats.org/officeDocument/2006/relationships/image" Target="../media/image57.png"/><Relationship Id="rId10" Type="http://schemas.openxmlformats.org/officeDocument/2006/relationships/image" Target="../media/image32.png"/><Relationship Id="rId19" Type="http://schemas.openxmlformats.org/officeDocument/2006/relationships/image" Target="../media/image60.png"/><Relationship Id="rId4" Type="http://schemas.openxmlformats.org/officeDocument/2006/relationships/image" Target="../media/image49.png"/><Relationship Id="rId9" Type="http://schemas.openxmlformats.org/officeDocument/2006/relationships/image" Target="../media/image53.png"/><Relationship Id="rId14" Type="http://schemas.openxmlformats.org/officeDocument/2006/relationships/image" Target="../media/image56.png"/></Relationships>
</file>

<file path=ppt/slides/_rels/slide27.xml.rels><?xml version="1.0" encoding="UTF-8" standalone="yes"?>
<Relationships xmlns="http://schemas.openxmlformats.org/package/2006/relationships"><Relationship Id="rId3" Type="http://schemas.microsoft.com/office/2018/10/relationships/comments" Target="../comments/modernComment_325_782738F9.xml"/><Relationship Id="rId2" Type="http://schemas.openxmlformats.org/officeDocument/2006/relationships/notesSlide" Target="../notesSlides/notesSlide27.xml"/><Relationship Id="rId1" Type="http://schemas.openxmlformats.org/officeDocument/2006/relationships/slideLayout" Target="../slideLayouts/slideLayout11.xml"/><Relationship Id="rId5" Type="http://schemas.openxmlformats.org/officeDocument/2006/relationships/image" Target="../media/image64.svg"/><Relationship Id="rId4" Type="http://schemas.openxmlformats.org/officeDocument/2006/relationships/image" Target="../media/image63.svg"/></Relationships>
</file>

<file path=ppt/slides/_rels/slide28.xml.rels><?xml version="1.0" encoding="UTF-8" standalone="yes"?>
<Relationships xmlns="http://schemas.openxmlformats.org/package/2006/relationships"><Relationship Id="rId8" Type="http://schemas.openxmlformats.org/officeDocument/2006/relationships/customXml" Target="../ink/ink2.xml"/><Relationship Id="rId13" Type="http://schemas.openxmlformats.org/officeDocument/2006/relationships/image" Target="../media/image71.png"/><Relationship Id="rId3" Type="http://schemas.microsoft.com/office/2018/10/relationships/comments" Target="../comments/modernComment_2FB_B78DD850.xml"/><Relationship Id="rId7" Type="http://schemas.openxmlformats.org/officeDocument/2006/relationships/image" Target="../media/image66.svg"/><Relationship Id="rId12" Type="http://schemas.openxmlformats.org/officeDocument/2006/relationships/customXml" Target="../ink/ink3.xml"/><Relationship Id="rId2" Type="http://schemas.openxmlformats.org/officeDocument/2006/relationships/notesSlide" Target="../notesSlides/notesSlide28.xml"/><Relationship Id="rId16" Type="http://schemas.openxmlformats.org/officeDocument/2006/relationships/image" Target="../media/image68.svg"/><Relationship Id="rId1" Type="http://schemas.openxmlformats.org/officeDocument/2006/relationships/slideLayout" Target="../slideLayouts/slideLayout11.xml"/><Relationship Id="rId6" Type="http://schemas.openxmlformats.org/officeDocument/2006/relationships/image" Target="../media/image65.svg"/><Relationship Id="rId11" Type="http://schemas.openxmlformats.org/officeDocument/2006/relationships/image" Target="../media/image70.png"/><Relationship Id="rId5" Type="http://schemas.openxmlformats.org/officeDocument/2006/relationships/image" Target="../media/image66.png"/><Relationship Id="rId15" Type="http://schemas.openxmlformats.org/officeDocument/2006/relationships/image" Target="../media/image48.svg"/><Relationship Id="rId4" Type="http://schemas.openxmlformats.org/officeDocument/2006/relationships/customXml" Target="../ink/ink1.xml"/><Relationship Id="rId14" Type="http://schemas.openxmlformats.org/officeDocument/2006/relationships/image" Target="../media/image67.svg"/></Relationships>
</file>

<file path=ppt/slides/_rels/slide29.xml.rels><?xml version="1.0" encoding="UTF-8" standalone="yes"?>
<Relationships xmlns="http://schemas.openxmlformats.org/package/2006/relationships"><Relationship Id="rId3" Type="http://schemas.microsoft.com/office/2018/10/relationships/comments" Target="../comments/modernComment_306_2A18244F.xml"/><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8" Type="http://schemas.microsoft.com/office/2007/relationships/diagramDrawing" Target="../diagrams/drawing1.xml"/><Relationship Id="rId3" Type="http://schemas.microsoft.com/office/2018/10/relationships/comments" Target="../comments/modernComment_31A_B1B7C430.xml"/><Relationship Id="rId7" Type="http://schemas.openxmlformats.org/officeDocument/2006/relationships/diagramColors" Target="../diagrams/colors1.xml"/><Relationship Id="rId2" Type="http://schemas.openxmlformats.org/officeDocument/2006/relationships/notesSlide" Target="../notesSlides/notesSlide30.xml"/><Relationship Id="rId1" Type="http://schemas.openxmlformats.org/officeDocument/2006/relationships/slideLayout" Target="../slideLayouts/slideLayout1.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 Id="rId9" Type="http://schemas.openxmlformats.org/officeDocument/2006/relationships/image" Target="../media/image69.png"/></Relationships>
</file>

<file path=ppt/slides/_rels/slide31.xml.rels><?xml version="1.0" encoding="UTF-8" standalone="yes"?>
<Relationships xmlns="http://schemas.openxmlformats.org/package/2006/relationships"><Relationship Id="rId3" Type="http://schemas.microsoft.com/office/2018/10/relationships/comments" Target="../comments/modernComment_119_0.xml"/><Relationship Id="rId7" Type="http://schemas.openxmlformats.org/officeDocument/2006/relationships/image" Target="../media/image75.jpeg"/><Relationship Id="rId2" Type="http://schemas.openxmlformats.org/officeDocument/2006/relationships/notesSlide" Target="../notesSlides/notesSlide31.xml"/><Relationship Id="rId1" Type="http://schemas.openxmlformats.org/officeDocument/2006/relationships/slideLayout" Target="../slideLayouts/slideLayout5.xml"/><Relationship Id="rId6" Type="http://schemas.openxmlformats.org/officeDocument/2006/relationships/image" Target="../media/image74.png"/><Relationship Id="rId5" Type="http://schemas.openxmlformats.org/officeDocument/2006/relationships/image" Target="../media/image73.png"/><Relationship Id="rId4" Type="http://schemas.openxmlformats.org/officeDocument/2006/relationships/image" Target="../media/image72.png"/></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p13"/>
          <p:cNvSpPr txBox="1">
            <a:spLocks noGrp="1"/>
          </p:cNvSpPr>
          <p:nvPr>
            <p:ph type="ctrTitle"/>
          </p:nvPr>
        </p:nvSpPr>
        <p:spPr>
          <a:xfrm>
            <a:off x="311700" y="339150"/>
            <a:ext cx="8520600" cy="2232600"/>
          </a:xfrm>
          <a:prstGeom prst="rect">
            <a:avLst/>
          </a:prstGeom>
        </p:spPr>
        <p:txBody>
          <a:bodyPr spcFirstLastPara="1" wrap="square" lIns="91425" tIns="91425" rIns="91425" bIns="91425" anchor="t" anchorCtr="0">
            <a:normAutofit/>
          </a:bodyPr>
          <a:lstStyle/>
          <a:p>
            <a:pPr algn="l"/>
            <a:r>
              <a:rPr lang="en" sz="2800" dirty="0">
                <a:solidFill>
                  <a:srgbClr val="16693F"/>
                </a:solidFill>
              </a:rPr>
              <a:t>Major Code and Data Migrations for </a:t>
            </a:r>
            <a:r>
              <a:rPr lang="en" sz="2800" dirty="0" err="1">
                <a:solidFill>
                  <a:srgbClr val="16693F"/>
                </a:solidFill>
              </a:rPr>
              <a:t>GRNsight</a:t>
            </a:r>
            <a:r>
              <a:rPr lang="en" sz="2800" dirty="0">
                <a:solidFill>
                  <a:srgbClr val="16693F"/>
                </a:solidFill>
              </a:rPr>
              <a:t>, a Web Application for Visualizing Gene Regulatory and Protein-Protein Interaction Network Models</a:t>
            </a:r>
            <a:endParaRPr lang="en-US" sz="2800" dirty="0"/>
          </a:p>
        </p:txBody>
      </p:sp>
      <p:sp>
        <p:nvSpPr>
          <p:cNvPr id="55" name="Google Shape;55;p13"/>
          <p:cNvSpPr txBox="1">
            <a:spLocks noGrp="1"/>
          </p:cNvSpPr>
          <p:nvPr>
            <p:ph type="subTitle" idx="1"/>
          </p:nvPr>
        </p:nvSpPr>
        <p:spPr>
          <a:xfrm>
            <a:off x="311700" y="2601191"/>
            <a:ext cx="8520600" cy="1265700"/>
          </a:xfrm>
          <a:prstGeom prst="rect">
            <a:avLst/>
          </a:prstGeom>
        </p:spPr>
        <p:txBody>
          <a:bodyPr spcFirstLastPara="1" wrap="square" lIns="91425" tIns="91425" rIns="91425" bIns="91425" anchor="t" anchorCtr="0">
            <a:noAutofit/>
          </a:bodyPr>
          <a:lstStyle/>
          <a:p>
            <a:pPr marL="0" indent="0" algn="l">
              <a:lnSpc>
                <a:spcPct val="115000"/>
              </a:lnSpc>
              <a:buSzPts val="605"/>
            </a:pPr>
            <a:r>
              <a:rPr lang="en" sz="2200" b="1">
                <a:solidFill>
                  <a:schemeClr val="tx1"/>
                </a:solidFill>
              </a:rPr>
              <a:t>Cecilia Zaragoza &amp; Ngoc Kim Ngan Tran</a:t>
            </a:r>
            <a:endParaRPr sz="2200" b="1">
              <a:solidFill>
                <a:schemeClr val="tx1"/>
              </a:solidFill>
            </a:endParaRPr>
          </a:p>
          <a:p>
            <a:pPr marL="0" lvl="0" indent="0" algn="l" rtl="0">
              <a:lnSpc>
                <a:spcPct val="115000"/>
              </a:lnSpc>
              <a:spcBef>
                <a:spcPts val="0"/>
              </a:spcBef>
              <a:spcAft>
                <a:spcPts val="0"/>
              </a:spcAft>
              <a:buSzPts val="605"/>
              <a:buNone/>
            </a:pPr>
            <a:r>
              <a:rPr lang="en" sz="2200" b="1">
                <a:solidFill>
                  <a:schemeClr val="tx1"/>
                </a:solidFill>
              </a:rPr>
              <a:t>Department of Computer Science</a:t>
            </a:r>
            <a:endParaRPr sz="2200" b="1">
              <a:solidFill>
                <a:schemeClr val="tx1"/>
              </a:solidFill>
            </a:endParaRPr>
          </a:p>
          <a:p>
            <a:pPr marL="0" lvl="0" indent="0" algn="l" rtl="0">
              <a:lnSpc>
                <a:spcPct val="115000"/>
              </a:lnSpc>
              <a:spcBef>
                <a:spcPts val="0"/>
              </a:spcBef>
              <a:spcAft>
                <a:spcPts val="0"/>
              </a:spcAft>
              <a:buSzPts val="605"/>
              <a:buNone/>
            </a:pPr>
            <a:r>
              <a:rPr lang="en" sz="2200" b="1">
                <a:solidFill>
                  <a:schemeClr val="tx1"/>
                </a:solidFill>
              </a:rPr>
              <a:t>Loyola Marymount University</a:t>
            </a:r>
            <a:endParaRPr sz="2200" b="1">
              <a:solidFill>
                <a:schemeClr val="tx1"/>
              </a:solidFill>
            </a:endParaRPr>
          </a:p>
        </p:txBody>
      </p:sp>
      <p:sp>
        <p:nvSpPr>
          <p:cNvPr id="56" name="Google Shape;56;p13"/>
          <p:cNvSpPr txBox="1">
            <a:spLocks noGrp="1"/>
          </p:cNvSpPr>
          <p:nvPr>
            <p:ph type="subTitle" idx="1"/>
          </p:nvPr>
        </p:nvSpPr>
        <p:spPr>
          <a:xfrm>
            <a:off x="311700" y="4075250"/>
            <a:ext cx="5058900" cy="792600"/>
          </a:xfrm>
          <a:prstGeom prst="rect">
            <a:avLst/>
          </a:prstGeom>
        </p:spPr>
        <p:txBody>
          <a:bodyPr spcFirstLastPara="1" wrap="square" lIns="91425" tIns="91425" rIns="91425" bIns="91425" anchor="t" anchorCtr="0">
            <a:noAutofit/>
          </a:bodyPr>
          <a:lstStyle/>
          <a:p>
            <a:pPr marL="0" indent="0" algn="l">
              <a:lnSpc>
                <a:spcPct val="80000"/>
              </a:lnSpc>
              <a:buSzPts val="605"/>
            </a:pPr>
            <a:r>
              <a:rPr lang="en" sz="1600" b="1">
                <a:solidFill>
                  <a:schemeClr val="tx1"/>
                </a:solidFill>
              </a:rPr>
              <a:t>LMU Undergraduate Symposium</a:t>
            </a:r>
          </a:p>
          <a:p>
            <a:pPr marL="0" indent="0" algn="l">
              <a:lnSpc>
                <a:spcPct val="80000"/>
              </a:lnSpc>
              <a:buSzPts val="605"/>
            </a:pPr>
            <a:r>
              <a:rPr lang="en" sz="1600" b="1">
                <a:solidFill>
                  <a:schemeClr val="tx1"/>
                </a:solidFill>
              </a:rPr>
              <a:t>March 20, 2026</a:t>
            </a:r>
            <a:endParaRPr sz="1600" b="1">
              <a:solidFill>
                <a:schemeClr val="tx1"/>
              </a:solidFill>
            </a:endParaRPr>
          </a:p>
        </p:txBody>
      </p:sp>
      <p:cxnSp>
        <p:nvCxnSpPr>
          <p:cNvPr id="57" name="Google Shape;57;p13"/>
          <p:cNvCxnSpPr/>
          <p:nvPr/>
        </p:nvCxnSpPr>
        <p:spPr>
          <a:xfrm rot="10800000" flipH="1">
            <a:off x="321900" y="2002297"/>
            <a:ext cx="8510400" cy="64800"/>
          </a:xfrm>
          <a:prstGeom prst="straightConnector1">
            <a:avLst/>
          </a:prstGeom>
          <a:noFill/>
          <a:ln w="9525" cap="flat" cmpd="sng">
            <a:solidFill>
              <a:srgbClr val="16693F"/>
            </a:solidFill>
            <a:prstDash val="solid"/>
            <a:round/>
            <a:headEnd type="none" w="med" len="med"/>
            <a:tailEnd type="none" w="med" len="med"/>
          </a:ln>
        </p:spPr>
      </p:cxnSp>
      <p:pic>
        <p:nvPicPr>
          <p:cNvPr id="58" name="Google Shape;58;p13"/>
          <p:cNvPicPr preferRelativeResize="0"/>
          <p:nvPr/>
        </p:nvPicPr>
        <p:blipFill>
          <a:blip r:embed="rId4">
            <a:alphaModFix/>
          </a:blip>
          <a:stretch>
            <a:fillRect/>
          </a:stretch>
        </p:blipFill>
        <p:spPr>
          <a:xfrm>
            <a:off x="5807288" y="3896332"/>
            <a:ext cx="3336712" cy="1150434"/>
          </a:xfrm>
          <a:prstGeom prst="rect">
            <a:avLst/>
          </a:prstGeom>
          <a:noFill/>
          <a:ln>
            <a:noFill/>
          </a:ln>
        </p:spPr>
      </p:pic>
    </p:spTree>
  </p:cSld>
  <p:clrMapOvr>
    <a:masterClrMapping/>
  </p:clrMapOvr>
  <p:extLst>
    <p:ext uri="{6950BFC3-D8DA-4A85-94F7-54DA5524770B}">
      <p188:commentRel xmlns:p188="http://schemas.microsoft.com/office/powerpoint/2018/8/main" r:id="rId3"/>
    </p:ext>
  </p:extLs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9">
          <a:extLst>
            <a:ext uri="{FF2B5EF4-FFF2-40B4-BE49-F238E27FC236}">
              <a16:creationId xmlns:a16="http://schemas.microsoft.com/office/drawing/2014/main" id="{9ADEE1D6-85C5-C5BE-2415-1443EFDC58EC}"/>
            </a:ext>
          </a:extLst>
        </p:cNvPr>
        <p:cNvGrpSpPr/>
        <p:nvPr/>
      </p:nvGrpSpPr>
      <p:grpSpPr>
        <a:xfrm>
          <a:off x="0" y="0"/>
          <a:ext cx="0" cy="0"/>
          <a:chOff x="0" y="0"/>
          <a:chExt cx="0" cy="0"/>
        </a:xfrm>
      </p:grpSpPr>
      <p:sp>
        <p:nvSpPr>
          <p:cNvPr id="90" name="Google Shape;90;p15">
            <a:extLst>
              <a:ext uri="{FF2B5EF4-FFF2-40B4-BE49-F238E27FC236}">
                <a16:creationId xmlns:a16="http://schemas.microsoft.com/office/drawing/2014/main" id="{9A3447B5-F611-380D-A7E3-8D4074165538}"/>
              </a:ext>
            </a:extLst>
          </p:cNvPr>
          <p:cNvSpPr txBox="1">
            <a:spLocks noGrp="1"/>
          </p:cNvSpPr>
          <p:nvPr>
            <p:ph type="title"/>
          </p:nvPr>
        </p:nvSpPr>
        <p:spPr>
          <a:xfrm>
            <a:off x="296527" y="182034"/>
            <a:ext cx="8520600" cy="810403"/>
          </a:xfrm>
          <a:prstGeom prst="rect">
            <a:avLst/>
          </a:prstGeom>
        </p:spPr>
        <p:txBody>
          <a:bodyPr spcFirstLastPara="1" wrap="square" lIns="91425" tIns="91425" rIns="91425" bIns="91425" anchor="t" anchorCtr="0">
            <a:noAutofit/>
          </a:bodyPr>
          <a:lstStyle/>
          <a:p>
            <a:r>
              <a:rPr lang="en" sz="2000" b="1">
                <a:solidFill>
                  <a:srgbClr val="16693F"/>
                </a:solidFill>
              </a:rPr>
              <a:t>Outline</a:t>
            </a:r>
          </a:p>
        </p:txBody>
      </p:sp>
      <p:sp>
        <p:nvSpPr>
          <p:cNvPr id="3" name="Text Placeholder 2">
            <a:extLst>
              <a:ext uri="{FF2B5EF4-FFF2-40B4-BE49-F238E27FC236}">
                <a16:creationId xmlns:a16="http://schemas.microsoft.com/office/drawing/2014/main" id="{228BC5C5-2DDD-89A7-4CEA-14F1FB5AAA72}"/>
              </a:ext>
            </a:extLst>
          </p:cNvPr>
          <p:cNvSpPr>
            <a:spLocks noGrp="1"/>
          </p:cNvSpPr>
          <p:nvPr>
            <p:ph type="body" idx="1"/>
          </p:nvPr>
        </p:nvSpPr>
        <p:spPr>
          <a:xfrm>
            <a:off x="297293" y="585777"/>
            <a:ext cx="8285598" cy="4372102"/>
          </a:xfrm>
        </p:spPr>
        <p:txBody>
          <a:bodyPr>
            <a:normAutofit/>
          </a:bodyPr>
          <a:lstStyle/>
          <a:p>
            <a:pPr>
              <a:lnSpc>
                <a:spcPct val="114999"/>
              </a:lnSpc>
            </a:pPr>
            <a:r>
              <a:rPr lang="en-US" err="1">
                <a:solidFill>
                  <a:schemeClr val="tx1"/>
                </a:solidFill>
              </a:rPr>
              <a:t>GRNsight</a:t>
            </a:r>
            <a:r>
              <a:rPr lang="en-US">
                <a:solidFill>
                  <a:schemeClr val="tx1"/>
                </a:solidFill>
              </a:rPr>
              <a:t> is an open-source tool that allows for easier visualization </a:t>
            </a:r>
          </a:p>
          <a:p>
            <a:pPr marL="114300" indent="0">
              <a:lnSpc>
                <a:spcPct val="114999"/>
              </a:lnSpc>
              <a:buNone/>
            </a:pPr>
            <a:r>
              <a:rPr lang="en-US">
                <a:solidFill>
                  <a:schemeClr val="tx1"/>
                </a:solidFill>
              </a:rPr>
              <a:t>     of Gene Regulatory Network (GRN) and Protein Protein Interactions (PPI).</a:t>
            </a:r>
          </a:p>
          <a:p>
            <a:pPr>
              <a:lnSpc>
                <a:spcPct val="114999"/>
              </a:lnSpc>
            </a:pPr>
            <a:r>
              <a:rPr lang="en-US" err="1">
                <a:solidFill>
                  <a:schemeClr val="tx1"/>
                </a:solidFill>
              </a:rPr>
              <a:t>GRNsight</a:t>
            </a:r>
            <a:r>
              <a:rPr lang="en-US">
                <a:solidFill>
                  <a:schemeClr val="tx1"/>
                </a:solidFill>
              </a:rPr>
              <a:t> has migrated from JavaScript frontend to React Vite and Grommet UI.</a:t>
            </a:r>
          </a:p>
          <a:p>
            <a:pPr>
              <a:lnSpc>
                <a:spcPct val="114999"/>
              </a:lnSpc>
            </a:pPr>
            <a:r>
              <a:rPr lang="en-US">
                <a:solidFill>
                  <a:schemeClr val="tx1"/>
                </a:solidFill>
              </a:rPr>
              <a:t>We transitioned our primary data source from </a:t>
            </a:r>
            <a:r>
              <a:rPr lang="en-US" err="1">
                <a:solidFill>
                  <a:schemeClr val="tx1"/>
                </a:solidFill>
              </a:rPr>
              <a:t>YeastMine</a:t>
            </a:r>
            <a:r>
              <a:rPr lang="en-US">
                <a:solidFill>
                  <a:schemeClr val="tx1"/>
                </a:solidFill>
              </a:rPr>
              <a:t> to </a:t>
            </a:r>
            <a:r>
              <a:rPr lang="en-US" err="1">
                <a:solidFill>
                  <a:schemeClr val="tx1"/>
                </a:solidFill>
              </a:rPr>
              <a:t>AllianceMine</a:t>
            </a:r>
            <a:r>
              <a:rPr lang="en-US">
                <a:solidFill>
                  <a:schemeClr val="tx1"/>
                </a:solidFill>
              </a:rPr>
              <a:t>.</a:t>
            </a:r>
          </a:p>
          <a:p>
            <a:pPr>
              <a:lnSpc>
                <a:spcPct val="114999"/>
              </a:lnSpc>
            </a:pPr>
            <a:r>
              <a:rPr lang="en-US">
                <a:solidFill>
                  <a:schemeClr val="tx1"/>
                </a:solidFill>
              </a:rPr>
              <a:t>We re-engineered database pipeline into a modular architectural pattern.</a:t>
            </a:r>
            <a:r>
              <a:rPr lang="en-US"/>
              <a:t> </a:t>
            </a:r>
          </a:p>
          <a:p>
            <a:pPr>
              <a:lnSpc>
                <a:spcPct val="114999"/>
              </a:lnSpc>
            </a:pPr>
            <a:r>
              <a:rPr lang="en-US">
                <a:solidFill>
                  <a:schemeClr val="tx1"/>
                </a:solidFill>
              </a:rPr>
              <a:t>The primary goal of this modernization is to provide a faster, more scalable, and intuitive platform for biological network visualization.</a:t>
            </a:r>
          </a:p>
        </p:txBody>
      </p:sp>
    </p:spTree>
    <p:extLst>
      <p:ext uri="{BB962C8B-B14F-4D97-AF65-F5344CB8AC3E}">
        <p14:creationId xmlns:p14="http://schemas.microsoft.com/office/powerpoint/2010/main" val="1586201180"/>
      </p:ext>
    </p:extLst>
  </p:cSld>
  <p:clrMapOvr>
    <a:masterClrMapping/>
  </p:clrMapOvr>
  <p:extLst>
    <p:ext uri="{6950BFC3-D8DA-4A85-94F7-54DA5524770B}">
      <p188:commentRel xmlns:p188="http://schemas.microsoft.com/office/powerpoint/2018/8/main" r:id="rId3"/>
    </p:ext>
  </p:extLs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89">
          <a:extLst>
            <a:ext uri="{FF2B5EF4-FFF2-40B4-BE49-F238E27FC236}">
              <a16:creationId xmlns:a16="http://schemas.microsoft.com/office/drawing/2014/main" id="{CC7C8FB8-9871-EEAD-FCD8-284E0DCFF504}"/>
            </a:ext>
          </a:extLst>
        </p:cNvPr>
        <p:cNvGrpSpPr/>
        <p:nvPr/>
      </p:nvGrpSpPr>
      <p:grpSpPr>
        <a:xfrm>
          <a:off x="0" y="0"/>
          <a:ext cx="0" cy="0"/>
          <a:chOff x="0" y="0"/>
          <a:chExt cx="0" cy="0"/>
        </a:xfrm>
      </p:grpSpPr>
      <p:sp>
        <p:nvSpPr>
          <p:cNvPr id="90" name="Google Shape;90;p15">
            <a:extLst>
              <a:ext uri="{FF2B5EF4-FFF2-40B4-BE49-F238E27FC236}">
                <a16:creationId xmlns:a16="http://schemas.microsoft.com/office/drawing/2014/main" id="{8E121662-52DB-5FAF-1A1B-B22555DA6292}"/>
              </a:ext>
            </a:extLst>
          </p:cNvPr>
          <p:cNvSpPr txBox="1">
            <a:spLocks noGrp="1"/>
          </p:cNvSpPr>
          <p:nvPr>
            <p:ph type="title"/>
          </p:nvPr>
        </p:nvSpPr>
        <p:spPr>
          <a:xfrm>
            <a:off x="296527" y="182034"/>
            <a:ext cx="8520600" cy="810403"/>
          </a:xfrm>
          <a:prstGeom prst="rect">
            <a:avLst/>
          </a:prstGeom>
        </p:spPr>
        <p:txBody>
          <a:bodyPr spcFirstLastPara="1" wrap="square" lIns="91425" tIns="91425" rIns="91425" bIns="91425" anchor="t" anchorCtr="0">
            <a:noAutofit/>
          </a:bodyPr>
          <a:lstStyle/>
          <a:p>
            <a:r>
              <a:rPr lang="en" sz="2000" b="1">
                <a:solidFill>
                  <a:srgbClr val="16693F"/>
                </a:solidFill>
              </a:rPr>
              <a:t>Outline</a:t>
            </a:r>
          </a:p>
        </p:txBody>
      </p:sp>
      <p:sp>
        <p:nvSpPr>
          <p:cNvPr id="3" name="Text Placeholder 2">
            <a:extLst>
              <a:ext uri="{FF2B5EF4-FFF2-40B4-BE49-F238E27FC236}">
                <a16:creationId xmlns:a16="http://schemas.microsoft.com/office/drawing/2014/main" id="{2E7AC637-191D-9E93-F5CE-DA7AA5C1FE42}"/>
              </a:ext>
            </a:extLst>
          </p:cNvPr>
          <p:cNvSpPr>
            <a:spLocks noGrp="1"/>
          </p:cNvSpPr>
          <p:nvPr>
            <p:ph type="body" idx="1"/>
          </p:nvPr>
        </p:nvSpPr>
        <p:spPr>
          <a:xfrm>
            <a:off x="297293" y="585777"/>
            <a:ext cx="8195543" cy="4372102"/>
          </a:xfrm>
        </p:spPr>
        <p:txBody>
          <a:bodyPr>
            <a:normAutofit/>
          </a:bodyPr>
          <a:lstStyle/>
          <a:p>
            <a:pPr>
              <a:lnSpc>
                <a:spcPct val="114999"/>
              </a:lnSpc>
            </a:pPr>
            <a:r>
              <a:rPr lang="en-US" err="1">
                <a:solidFill>
                  <a:schemeClr val="tx1"/>
                </a:solidFill>
              </a:rPr>
              <a:t>GRNsight</a:t>
            </a:r>
            <a:r>
              <a:rPr lang="en-US">
                <a:solidFill>
                  <a:schemeClr val="tx1"/>
                </a:solidFill>
              </a:rPr>
              <a:t> is an open-source tool that allows for easier visualization </a:t>
            </a:r>
          </a:p>
          <a:p>
            <a:pPr marL="114300" indent="0">
              <a:lnSpc>
                <a:spcPct val="114999"/>
              </a:lnSpc>
              <a:buNone/>
            </a:pPr>
            <a:r>
              <a:rPr lang="en-US">
                <a:solidFill>
                  <a:schemeClr val="tx1"/>
                </a:solidFill>
              </a:rPr>
              <a:t>     of Gene Regulatory Network (GRN) and Protein Protein Interactions (PPI).</a:t>
            </a:r>
          </a:p>
          <a:p>
            <a:pPr>
              <a:lnSpc>
                <a:spcPct val="114999"/>
              </a:lnSpc>
            </a:pPr>
            <a:r>
              <a:rPr lang="en-US" err="1">
                <a:solidFill>
                  <a:schemeClr val="bg2">
                    <a:lumMod val="40000"/>
                    <a:lumOff val="60000"/>
                  </a:schemeClr>
                </a:solidFill>
              </a:rPr>
              <a:t>GRNsight</a:t>
            </a:r>
            <a:r>
              <a:rPr lang="en-US">
                <a:solidFill>
                  <a:schemeClr val="bg2">
                    <a:lumMod val="40000"/>
                    <a:lumOff val="60000"/>
                  </a:schemeClr>
                </a:solidFill>
              </a:rPr>
              <a:t> has migrated from JavaScript frontend to React Vite and Grommet UI.</a:t>
            </a:r>
          </a:p>
          <a:p>
            <a:pPr>
              <a:lnSpc>
                <a:spcPct val="114999"/>
              </a:lnSpc>
            </a:pPr>
            <a:r>
              <a:rPr lang="en-US">
                <a:solidFill>
                  <a:schemeClr val="bg2">
                    <a:lumMod val="40000"/>
                    <a:lumOff val="60000"/>
                  </a:schemeClr>
                </a:solidFill>
              </a:rPr>
              <a:t>We transitioned our primary data source from </a:t>
            </a:r>
            <a:r>
              <a:rPr lang="en-US" err="1">
                <a:solidFill>
                  <a:schemeClr val="bg2">
                    <a:lumMod val="40000"/>
                    <a:lumOff val="60000"/>
                  </a:schemeClr>
                </a:solidFill>
              </a:rPr>
              <a:t>YeastMine</a:t>
            </a:r>
            <a:r>
              <a:rPr lang="en-US">
                <a:solidFill>
                  <a:schemeClr val="bg2">
                    <a:lumMod val="40000"/>
                    <a:lumOff val="60000"/>
                  </a:schemeClr>
                </a:solidFill>
              </a:rPr>
              <a:t> to </a:t>
            </a:r>
            <a:r>
              <a:rPr lang="en-US" err="1">
                <a:solidFill>
                  <a:schemeClr val="bg2">
                    <a:lumMod val="40000"/>
                    <a:lumOff val="60000"/>
                  </a:schemeClr>
                </a:solidFill>
              </a:rPr>
              <a:t>AllianceMine</a:t>
            </a:r>
            <a:r>
              <a:rPr lang="en-US">
                <a:solidFill>
                  <a:schemeClr val="bg2">
                    <a:lumMod val="40000"/>
                    <a:lumOff val="60000"/>
                  </a:schemeClr>
                </a:solidFill>
              </a:rPr>
              <a:t>.</a:t>
            </a:r>
          </a:p>
          <a:p>
            <a:pPr>
              <a:lnSpc>
                <a:spcPct val="114999"/>
              </a:lnSpc>
            </a:pPr>
            <a:r>
              <a:rPr lang="en-US">
                <a:solidFill>
                  <a:schemeClr val="bg2">
                    <a:lumMod val="40000"/>
                    <a:lumOff val="60000"/>
                  </a:schemeClr>
                </a:solidFill>
              </a:rPr>
              <a:t>We re-engineered database pipeline into a modular architectural pattern. </a:t>
            </a:r>
          </a:p>
          <a:p>
            <a:pPr>
              <a:lnSpc>
                <a:spcPct val="114999"/>
              </a:lnSpc>
            </a:pPr>
            <a:r>
              <a:rPr lang="en-US">
                <a:solidFill>
                  <a:schemeClr val="bg2">
                    <a:lumMod val="40000"/>
                    <a:lumOff val="60000"/>
                  </a:schemeClr>
                </a:solidFill>
              </a:rPr>
              <a:t>The primary goal of this modernization is to provide a faster, more scalable, and intuitive platform for biological network visualization</a:t>
            </a:r>
            <a:r>
              <a:rPr lang="en-US">
                <a:solidFill>
                  <a:schemeClr val="tx1"/>
                </a:solidFill>
              </a:rPr>
              <a:t>.</a:t>
            </a:r>
          </a:p>
        </p:txBody>
      </p:sp>
    </p:spTree>
    <p:extLst>
      <p:ext uri="{BB962C8B-B14F-4D97-AF65-F5344CB8AC3E}">
        <p14:creationId xmlns:p14="http://schemas.microsoft.com/office/powerpoint/2010/main" val="71481215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Google Shape;90;p15"/>
          <p:cNvSpPr txBox="1">
            <a:spLocks noGrp="1"/>
          </p:cNvSpPr>
          <p:nvPr>
            <p:ph type="title"/>
          </p:nvPr>
        </p:nvSpPr>
        <p:spPr>
          <a:xfrm>
            <a:off x="296527" y="182034"/>
            <a:ext cx="8520600" cy="810403"/>
          </a:xfrm>
          <a:prstGeom prst="rect">
            <a:avLst/>
          </a:prstGeom>
        </p:spPr>
        <p:txBody>
          <a:bodyPr spcFirstLastPara="1" wrap="square" lIns="91425" tIns="91425" rIns="91425" bIns="91425" anchor="t" anchorCtr="0">
            <a:noAutofit/>
          </a:bodyPr>
          <a:lstStyle/>
          <a:p>
            <a:r>
              <a:rPr lang="en" sz="2000" b="1">
                <a:solidFill>
                  <a:srgbClr val="16693F"/>
                </a:solidFill>
              </a:rPr>
              <a:t>Gene expression is the flow of information in a cell from </a:t>
            </a:r>
            <a:br>
              <a:rPr lang="en" sz="2000" b="1">
                <a:solidFill>
                  <a:srgbClr val="16693F"/>
                </a:solidFill>
              </a:rPr>
            </a:br>
            <a:r>
              <a:rPr lang="en" sz="2000" b="1">
                <a:solidFill>
                  <a:srgbClr val="16693F"/>
                </a:solidFill>
              </a:rPr>
              <a:t>DNA to RNA to protein</a:t>
            </a:r>
          </a:p>
        </p:txBody>
      </p:sp>
      <p:sp>
        <p:nvSpPr>
          <p:cNvPr id="91" name="Google Shape;91;p15"/>
          <p:cNvSpPr txBox="1">
            <a:spLocks noGrp="1"/>
          </p:cNvSpPr>
          <p:nvPr>
            <p:ph type="body" idx="1"/>
          </p:nvPr>
        </p:nvSpPr>
        <p:spPr>
          <a:xfrm>
            <a:off x="2992253" y="4686786"/>
            <a:ext cx="3129148" cy="373539"/>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800"/>
              <a:t>Image from Dr. Surat P, Ph.D. on AZO Life Sciences</a:t>
            </a:r>
            <a:endParaRPr lang="en-US" sz="800"/>
          </a:p>
        </p:txBody>
      </p:sp>
      <p:pic>
        <p:nvPicPr>
          <p:cNvPr id="92" name="Google Shape;92;p15"/>
          <p:cNvPicPr preferRelativeResize="0"/>
          <p:nvPr/>
        </p:nvPicPr>
        <p:blipFill rotWithShape="1">
          <a:blip r:embed="rId3" cstate="hqprint">
            <a:alphaModFix/>
            <a:extLst>
              <a:ext uri="{28A0092B-C50C-407E-A947-70E740481C1C}">
                <a14:useLocalDpi xmlns:a14="http://schemas.microsoft.com/office/drawing/2010/main"/>
              </a:ext>
            </a:extLst>
          </a:blip>
          <a:srcRect/>
          <a:stretch/>
        </p:blipFill>
        <p:spPr>
          <a:xfrm>
            <a:off x="2749355" y="992437"/>
            <a:ext cx="3645289" cy="3694349"/>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96">
          <a:extLst>
            <a:ext uri="{FF2B5EF4-FFF2-40B4-BE49-F238E27FC236}">
              <a16:creationId xmlns:a16="http://schemas.microsoft.com/office/drawing/2014/main" id="{CB7C7E88-9A16-B577-C1A1-B19578486285}"/>
            </a:ext>
          </a:extLst>
        </p:cNvPr>
        <p:cNvGrpSpPr/>
        <p:nvPr/>
      </p:nvGrpSpPr>
      <p:grpSpPr>
        <a:xfrm>
          <a:off x="0" y="0"/>
          <a:ext cx="0" cy="0"/>
          <a:chOff x="0" y="0"/>
          <a:chExt cx="0" cy="0"/>
        </a:xfrm>
      </p:grpSpPr>
      <p:sp>
        <p:nvSpPr>
          <p:cNvPr id="97" name="Google Shape;97;p16">
            <a:extLst>
              <a:ext uri="{FF2B5EF4-FFF2-40B4-BE49-F238E27FC236}">
                <a16:creationId xmlns:a16="http://schemas.microsoft.com/office/drawing/2014/main" id="{9127F714-9623-52C7-82D8-0F9E3F47D082}"/>
              </a:ext>
            </a:extLst>
          </p:cNvPr>
          <p:cNvSpPr txBox="1">
            <a:spLocks noGrp="1"/>
          </p:cNvSpPr>
          <p:nvPr>
            <p:ph type="title"/>
          </p:nvPr>
        </p:nvSpPr>
        <p:spPr>
          <a:xfrm>
            <a:off x="311700" y="119332"/>
            <a:ext cx="8520600" cy="1079675"/>
          </a:xfrm>
          <a:prstGeom prst="rect">
            <a:avLst/>
          </a:prstGeom>
        </p:spPr>
        <p:txBody>
          <a:bodyPr spcFirstLastPara="1" wrap="square" lIns="91425" tIns="91425" rIns="91425" bIns="91425" anchor="t" anchorCtr="0">
            <a:noAutofit/>
          </a:bodyPr>
          <a:lstStyle/>
          <a:p>
            <a:r>
              <a:rPr lang="en" sz="2000" b="1">
                <a:solidFill>
                  <a:srgbClr val="16693F"/>
                </a:solidFill>
              </a:rPr>
              <a:t>A Gene Regulatory Network (GRN) </a:t>
            </a:r>
            <a:r>
              <a:rPr lang="en-US" sz="2000" b="1">
                <a:solidFill>
                  <a:srgbClr val="16693F"/>
                </a:solidFill>
              </a:rPr>
              <a:t>consists of genes, transcription factors and the regulatory connections between them which govern the level of expression of mRNA and protein from genes</a:t>
            </a:r>
            <a:br>
              <a:rPr lang="en-US" sz="2000" b="1">
                <a:solidFill>
                  <a:srgbClr val="16693F"/>
                </a:solidFill>
              </a:rPr>
            </a:br>
            <a:endParaRPr sz="2000" b="1">
              <a:solidFill>
                <a:srgbClr val="16693F"/>
              </a:solidFill>
            </a:endParaRPr>
          </a:p>
        </p:txBody>
      </p:sp>
      <p:pic>
        <p:nvPicPr>
          <p:cNvPr id="101" name="Google Shape;101;p16">
            <a:extLst>
              <a:ext uri="{FF2B5EF4-FFF2-40B4-BE49-F238E27FC236}">
                <a16:creationId xmlns:a16="http://schemas.microsoft.com/office/drawing/2014/main" id="{BEFDBD2E-419E-463C-3E64-352695E0BEFB}"/>
              </a:ext>
            </a:extLst>
          </p:cNvPr>
          <p:cNvPicPr preferRelativeResize="0"/>
          <p:nvPr/>
        </p:nvPicPr>
        <p:blipFill>
          <a:blip r:embed="rId4">
            <a:alphaModFix/>
          </a:blip>
          <a:stretch>
            <a:fillRect/>
          </a:stretch>
        </p:blipFill>
        <p:spPr>
          <a:xfrm rot="16200000">
            <a:off x="920329" y="2079079"/>
            <a:ext cx="2065262" cy="2177256"/>
          </a:xfrm>
          <a:prstGeom prst="rect">
            <a:avLst/>
          </a:prstGeom>
          <a:noFill/>
          <a:ln>
            <a:noFill/>
          </a:ln>
        </p:spPr>
      </p:pic>
      <p:pic>
        <p:nvPicPr>
          <p:cNvPr id="4" name="Picture 3" descr="A diagram of a network&#10;&#10;AI-generated content may be incorrect.">
            <a:extLst>
              <a:ext uri="{FF2B5EF4-FFF2-40B4-BE49-F238E27FC236}">
                <a16:creationId xmlns:a16="http://schemas.microsoft.com/office/drawing/2014/main" id="{8B0ED472-01BC-C3DD-4161-CFCA80B82A07}"/>
              </a:ext>
            </a:extLst>
          </p:cNvPr>
          <p:cNvPicPr>
            <a:picLocks noChangeAspect="1"/>
          </p:cNvPicPr>
          <p:nvPr/>
        </p:nvPicPr>
        <p:blipFill>
          <a:blip r:embed="rId5" cstate="hqprint">
            <a:extLst>
              <a:ext uri="{28A0092B-C50C-407E-A947-70E740481C1C}">
                <a14:useLocalDpi xmlns:a14="http://schemas.microsoft.com/office/drawing/2010/main"/>
              </a:ext>
            </a:extLst>
          </a:blip>
          <a:srcRect t="-136"/>
          <a:stretch>
            <a:fillRect/>
          </a:stretch>
        </p:blipFill>
        <p:spPr>
          <a:xfrm>
            <a:off x="4795298" y="1368527"/>
            <a:ext cx="3756881" cy="2697956"/>
          </a:xfrm>
          <a:prstGeom prst="rect">
            <a:avLst/>
          </a:prstGeom>
        </p:spPr>
      </p:pic>
      <p:sp>
        <p:nvSpPr>
          <p:cNvPr id="2" name="TextBox 1">
            <a:extLst>
              <a:ext uri="{FF2B5EF4-FFF2-40B4-BE49-F238E27FC236}">
                <a16:creationId xmlns:a16="http://schemas.microsoft.com/office/drawing/2014/main" id="{AEC869DA-B307-216E-F3FA-69641F55F356}"/>
              </a:ext>
            </a:extLst>
          </p:cNvPr>
          <p:cNvSpPr txBox="1"/>
          <p:nvPr/>
        </p:nvSpPr>
        <p:spPr>
          <a:xfrm>
            <a:off x="622910" y="4233564"/>
            <a:ext cx="2660100" cy="338554"/>
          </a:xfrm>
          <a:prstGeom prst="rect">
            <a:avLst/>
          </a:prstGeom>
          <a:noFill/>
        </p:spPr>
        <p:txBody>
          <a:bodyPr wrap="square">
            <a:spAutoFit/>
          </a:bodyPr>
          <a:lstStyle/>
          <a:p>
            <a:pPr algn="ctr" rtl="0">
              <a:buNone/>
            </a:pPr>
            <a:r>
              <a:rPr lang="en-US" sz="800" b="0" i="0" u="none" strike="noStrike">
                <a:solidFill>
                  <a:srgbClr val="595959"/>
                </a:solidFill>
                <a:effectLst/>
                <a:latin typeface="Arial" panose="020B0604020202020204" pitchFamily="34" charset="0"/>
              </a:rPr>
              <a:t>“PDB101: Molecule of the Month: Vitamin D receptor,” RCSB: PDB-101. https://pdb101.rcsb.org/</a:t>
            </a:r>
            <a:r>
              <a:rPr lang="en-US" sz="800" b="0" i="0" u="none" strike="noStrike" err="1">
                <a:solidFill>
                  <a:srgbClr val="595959"/>
                </a:solidFill>
                <a:effectLst/>
                <a:latin typeface="Arial" panose="020B0604020202020204" pitchFamily="34" charset="0"/>
              </a:rPr>
              <a:t>motm</a:t>
            </a:r>
            <a:r>
              <a:rPr lang="en-US" sz="800" b="0" i="0" u="none" strike="noStrike">
                <a:solidFill>
                  <a:srgbClr val="595959"/>
                </a:solidFill>
                <a:effectLst/>
                <a:latin typeface="Arial" panose="020B0604020202020204" pitchFamily="34" charset="0"/>
              </a:rPr>
              <a:t>/155</a:t>
            </a:r>
            <a:endParaRPr lang="en-US" sz="800" b="0">
              <a:effectLst/>
            </a:endParaRPr>
          </a:p>
        </p:txBody>
      </p:sp>
      <p:sp>
        <p:nvSpPr>
          <p:cNvPr id="5" name="TextBox 4">
            <a:extLst>
              <a:ext uri="{FF2B5EF4-FFF2-40B4-BE49-F238E27FC236}">
                <a16:creationId xmlns:a16="http://schemas.microsoft.com/office/drawing/2014/main" id="{35D3238B-E432-A156-1E86-27D4877E4F30}"/>
              </a:ext>
            </a:extLst>
          </p:cNvPr>
          <p:cNvSpPr txBox="1"/>
          <p:nvPr/>
        </p:nvSpPr>
        <p:spPr>
          <a:xfrm>
            <a:off x="414576" y="1362937"/>
            <a:ext cx="3076769" cy="738664"/>
          </a:xfrm>
          <a:prstGeom prst="rect">
            <a:avLst/>
          </a:prstGeom>
          <a:noFill/>
        </p:spPr>
        <p:txBody>
          <a:bodyPr wrap="square">
            <a:spAutoFit/>
          </a:bodyPr>
          <a:lstStyle/>
          <a:p>
            <a:pPr algn="ctr" rtl="0">
              <a:buNone/>
            </a:pPr>
            <a:r>
              <a:rPr lang="en-US" b="0" i="0" u="none" strike="noStrike">
                <a:solidFill>
                  <a:schemeClr val="tx1"/>
                </a:solidFill>
                <a:effectLst/>
                <a:latin typeface="Arial" panose="020B0604020202020204" pitchFamily="34" charset="0"/>
              </a:rPr>
              <a:t>Regulatory Transcription Factors bind to DNA and turn on (activate) or turn off (repress) gene expression</a:t>
            </a:r>
            <a:endParaRPr lang="en-US" b="0">
              <a:solidFill>
                <a:schemeClr val="tx1"/>
              </a:solidFill>
              <a:effectLst/>
            </a:endParaRPr>
          </a:p>
        </p:txBody>
      </p:sp>
      <p:sp>
        <p:nvSpPr>
          <p:cNvPr id="6" name="TextBox 5">
            <a:extLst>
              <a:ext uri="{FF2B5EF4-FFF2-40B4-BE49-F238E27FC236}">
                <a16:creationId xmlns:a16="http://schemas.microsoft.com/office/drawing/2014/main" id="{C015C06F-B2B9-402F-CD00-1C64A82FFA6F}"/>
              </a:ext>
            </a:extLst>
          </p:cNvPr>
          <p:cNvSpPr txBox="1"/>
          <p:nvPr/>
        </p:nvSpPr>
        <p:spPr>
          <a:xfrm>
            <a:off x="5610030" y="4066483"/>
            <a:ext cx="2911059" cy="461665"/>
          </a:xfrm>
          <a:prstGeom prst="rect">
            <a:avLst/>
          </a:prstGeom>
          <a:noFill/>
        </p:spPr>
        <p:txBody>
          <a:bodyPr wrap="square">
            <a:spAutoFit/>
          </a:bodyPr>
          <a:lstStyle/>
          <a:p>
            <a:pPr marL="171450" indent="-171450" rtl="0">
              <a:buFont typeface="Arial" panose="020B0604020202020204" pitchFamily="34" charset="0"/>
              <a:buChar char="•"/>
            </a:pPr>
            <a:r>
              <a:rPr lang="en-US" sz="1200">
                <a:solidFill>
                  <a:schemeClr val="tx1"/>
                </a:solidFill>
                <a:latin typeface="Arial" panose="020B0604020202020204" pitchFamily="34" charset="0"/>
              </a:rPr>
              <a:t>Node = transcription factor / gene</a:t>
            </a:r>
          </a:p>
          <a:p>
            <a:pPr marL="171450" indent="-171450" rtl="0">
              <a:buFont typeface="Arial" panose="020B0604020202020204" pitchFamily="34" charset="0"/>
              <a:buChar char="•"/>
            </a:pPr>
            <a:r>
              <a:rPr lang="en-US" sz="1200" b="0">
                <a:solidFill>
                  <a:schemeClr val="tx1"/>
                </a:solidFill>
                <a:effectLst/>
                <a:latin typeface="Arial" panose="020B0604020202020204" pitchFamily="34" charset="0"/>
              </a:rPr>
              <a:t>Arrow edge = regulatory relationship</a:t>
            </a:r>
            <a:endParaRPr lang="en-US" sz="1200" b="0">
              <a:solidFill>
                <a:schemeClr val="tx1"/>
              </a:solidFill>
              <a:effectLst/>
            </a:endParaRPr>
          </a:p>
        </p:txBody>
      </p:sp>
    </p:spTree>
    <p:extLst>
      <p:ext uri="{BB962C8B-B14F-4D97-AF65-F5344CB8AC3E}">
        <p14:creationId xmlns:p14="http://schemas.microsoft.com/office/powerpoint/2010/main" val="510992139"/>
      </p:ext>
    </p:extLst>
  </p:cSld>
  <p:clrMapOvr>
    <a:masterClrMapping/>
  </p:clrMapOvr>
  <p:extLst>
    <p:ext uri="{6950BFC3-D8DA-4A85-94F7-54DA5524770B}">
      <p188:commentRel xmlns:p188="http://schemas.microsoft.com/office/powerpoint/2018/8/main" r:id="rId3"/>
    </p:ext>
  </p:extLs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5"/>
        <p:cNvGrpSpPr/>
        <p:nvPr/>
      </p:nvGrpSpPr>
      <p:grpSpPr>
        <a:xfrm>
          <a:off x="0" y="0"/>
          <a:ext cx="0" cy="0"/>
          <a:chOff x="0" y="0"/>
          <a:chExt cx="0" cy="0"/>
        </a:xfrm>
      </p:grpSpPr>
      <p:sp>
        <p:nvSpPr>
          <p:cNvPr id="106" name="Google Shape;106;p17"/>
          <p:cNvSpPr txBox="1">
            <a:spLocks noGrp="1"/>
          </p:cNvSpPr>
          <p:nvPr>
            <p:ph type="title"/>
          </p:nvPr>
        </p:nvSpPr>
        <p:spPr>
          <a:xfrm>
            <a:off x="311700" y="91063"/>
            <a:ext cx="8520600" cy="783086"/>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2000" b="1">
                <a:solidFill>
                  <a:srgbClr val="16693F"/>
                </a:solidFill>
              </a:rPr>
              <a:t>Protein-Protein Interactions refer to physical interactions of proteins binding to each other - the basis of nearly all cell functions</a:t>
            </a:r>
          </a:p>
        </p:txBody>
      </p:sp>
      <p:pic>
        <p:nvPicPr>
          <p:cNvPr id="108" name="Google Shape;108;p17"/>
          <p:cNvPicPr preferRelativeResize="0"/>
          <p:nvPr/>
        </p:nvPicPr>
        <p:blipFill>
          <a:blip r:embed="rId4">
            <a:alphaModFix/>
          </a:blip>
          <a:stretch>
            <a:fillRect/>
          </a:stretch>
        </p:blipFill>
        <p:spPr>
          <a:xfrm>
            <a:off x="311700" y="1398215"/>
            <a:ext cx="3323256" cy="2760300"/>
          </a:xfrm>
          <a:prstGeom prst="rect">
            <a:avLst/>
          </a:prstGeom>
          <a:noFill/>
          <a:ln>
            <a:noFill/>
          </a:ln>
        </p:spPr>
      </p:pic>
      <p:sp>
        <p:nvSpPr>
          <p:cNvPr id="3" name="TextBox 2">
            <a:extLst>
              <a:ext uri="{FF2B5EF4-FFF2-40B4-BE49-F238E27FC236}">
                <a16:creationId xmlns:a16="http://schemas.microsoft.com/office/drawing/2014/main" id="{956AB2D0-090F-AD0B-9EBD-26317DF536B7}"/>
              </a:ext>
            </a:extLst>
          </p:cNvPr>
          <p:cNvSpPr txBox="1"/>
          <p:nvPr/>
        </p:nvSpPr>
        <p:spPr>
          <a:xfrm>
            <a:off x="164403" y="4255892"/>
            <a:ext cx="3677479" cy="338554"/>
          </a:xfrm>
          <a:prstGeom prst="rect">
            <a:avLst/>
          </a:prstGeom>
          <a:noFill/>
        </p:spPr>
        <p:txBody>
          <a:bodyPr wrap="square">
            <a:spAutoFit/>
          </a:bodyPr>
          <a:lstStyle/>
          <a:p>
            <a:pPr algn="ctr" rtl="0">
              <a:buNone/>
            </a:pPr>
            <a:r>
              <a:rPr lang="en-US" sz="800" b="0" i="0" u="none" strike="noStrike">
                <a:solidFill>
                  <a:srgbClr val="595959"/>
                </a:solidFill>
                <a:effectLst/>
                <a:latin typeface="Arial" panose="020B0604020202020204" pitchFamily="34" charset="0"/>
              </a:rPr>
              <a:t>“PDB101: Molecule of the Month: Cyclin and cyclin-dependent kinase,” RCSB: PDB-101. https://pdb101.rcsb.org/</a:t>
            </a:r>
            <a:r>
              <a:rPr lang="en-US" sz="800" b="0" i="0" u="none" strike="noStrike" err="1">
                <a:solidFill>
                  <a:srgbClr val="595959"/>
                </a:solidFill>
                <a:effectLst/>
                <a:latin typeface="Arial" panose="020B0604020202020204" pitchFamily="34" charset="0"/>
              </a:rPr>
              <a:t>motm</a:t>
            </a:r>
            <a:r>
              <a:rPr lang="en-US" sz="800" b="0" i="0" u="none" strike="noStrike">
                <a:solidFill>
                  <a:srgbClr val="595959"/>
                </a:solidFill>
                <a:effectLst/>
                <a:latin typeface="Arial" panose="020B0604020202020204" pitchFamily="34" charset="0"/>
              </a:rPr>
              <a:t>/236</a:t>
            </a:r>
            <a:endParaRPr lang="en-US" sz="800" b="0">
              <a:effectLst/>
            </a:endParaRPr>
          </a:p>
        </p:txBody>
      </p:sp>
      <p:pic>
        <p:nvPicPr>
          <p:cNvPr id="7" name="Picture 6">
            <a:extLst>
              <a:ext uri="{FF2B5EF4-FFF2-40B4-BE49-F238E27FC236}">
                <a16:creationId xmlns:a16="http://schemas.microsoft.com/office/drawing/2014/main" id="{EA28F3DB-AEAB-2429-F159-97FC84C9F8B2}"/>
              </a:ext>
            </a:extLst>
          </p:cNvPr>
          <p:cNvPicPr>
            <a:picLocks noChangeAspect="1"/>
          </p:cNvPicPr>
          <p:nvPr/>
        </p:nvPicPr>
        <p:blipFill>
          <a:blip r:embed="rId5"/>
          <a:stretch>
            <a:fillRect/>
          </a:stretch>
        </p:blipFill>
        <p:spPr>
          <a:xfrm>
            <a:off x="4308764" y="1281539"/>
            <a:ext cx="4609837" cy="2680861"/>
          </a:xfrm>
          <a:prstGeom prst="rect">
            <a:avLst/>
          </a:prstGeom>
        </p:spPr>
      </p:pic>
      <p:sp>
        <p:nvSpPr>
          <p:cNvPr id="8" name="TextBox 7">
            <a:extLst>
              <a:ext uri="{FF2B5EF4-FFF2-40B4-BE49-F238E27FC236}">
                <a16:creationId xmlns:a16="http://schemas.microsoft.com/office/drawing/2014/main" id="{08AEFF47-E7D6-DB6A-4800-BC84A5FBD0C3}"/>
              </a:ext>
            </a:extLst>
          </p:cNvPr>
          <p:cNvSpPr txBox="1"/>
          <p:nvPr/>
        </p:nvSpPr>
        <p:spPr>
          <a:xfrm>
            <a:off x="5840760" y="4080337"/>
            <a:ext cx="2319037" cy="461665"/>
          </a:xfrm>
          <a:prstGeom prst="rect">
            <a:avLst/>
          </a:prstGeom>
          <a:noFill/>
        </p:spPr>
        <p:txBody>
          <a:bodyPr wrap="square">
            <a:spAutoFit/>
          </a:bodyPr>
          <a:lstStyle/>
          <a:p>
            <a:pPr marL="171450" indent="-171450" rtl="0">
              <a:buFont typeface="Arial" panose="020B0604020202020204" pitchFamily="34" charset="0"/>
              <a:buChar char="•"/>
            </a:pPr>
            <a:r>
              <a:rPr lang="en-US" sz="1200">
                <a:solidFill>
                  <a:schemeClr val="tx1"/>
                </a:solidFill>
                <a:latin typeface="Arial" panose="020B0604020202020204" pitchFamily="34" charset="0"/>
              </a:rPr>
              <a:t>Node = proteins</a:t>
            </a:r>
          </a:p>
          <a:p>
            <a:pPr marL="171450" indent="-171450" rtl="0">
              <a:buFont typeface="Arial" panose="020B0604020202020204" pitchFamily="34" charset="0"/>
              <a:buChar char="•"/>
            </a:pPr>
            <a:r>
              <a:rPr lang="en-US" sz="1200">
                <a:solidFill>
                  <a:schemeClr val="tx1"/>
                </a:solidFill>
                <a:latin typeface="Arial" panose="020B0604020202020204" pitchFamily="34" charset="0"/>
              </a:rPr>
              <a:t>Edge</a:t>
            </a:r>
            <a:r>
              <a:rPr lang="en-US" sz="1200" b="0">
                <a:solidFill>
                  <a:schemeClr val="tx1"/>
                </a:solidFill>
                <a:effectLst/>
                <a:latin typeface="Arial" panose="020B0604020202020204" pitchFamily="34" charset="0"/>
              </a:rPr>
              <a:t> = binding relationship</a:t>
            </a:r>
            <a:endParaRPr lang="en-US" sz="1200" b="0">
              <a:solidFill>
                <a:schemeClr val="tx1"/>
              </a:solidFill>
              <a:effectLst/>
            </a:endParaRPr>
          </a:p>
        </p:txBody>
      </p:sp>
    </p:spTree>
    <p:extLst>
      <p:ext uri="{BB962C8B-B14F-4D97-AF65-F5344CB8AC3E}">
        <p14:creationId xmlns:p14="http://schemas.microsoft.com/office/powerpoint/2010/main" val="3592095551"/>
      </p:ext>
    </p:extLst>
  </p:cSld>
  <p:clrMapOvr>
    <a:masterClrMapping/>
  </p:clrMapOvr>
  <p:extLst>
    <p:ext uri="{6950BFC3-D8DA-4A85-94F7-54DA5524770B}">
      <p188:commentRel xmlns:p188="http://schemas.microsoft.com/office/powerpoint/2018/8/main" r:id="rId3"/>
    </p:ext>
  </p:extLs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B1EEB7DD-58E5-4B79-DEDA-D8960FE865A0}"/>
              </a:ext>
            </a:extLst>
          </p:cNvPr>
          <p:cNvSpPr txBox="1">
            <a:spLocks/>
          </p:cNvSpPr>
          <p:nvPr/>
        </p:nvSpPr>
        <p:spPr>
          <a:xfrm>
            <a:off x="375047" y="95541"/>
            <a:ext cx="8393906" cy="662990"/>
          </a:xfrm>
          <a:prstGeom prst="rect">
            <a:avLst/>
          </a:prstGeom>
          <a:noFill/>
          <a:ln>
            <a:noFill/>
          </a:ln>
        </p:spPr>
        <p:txBody>
          <a:bodyPr lIns="68569" tIns="68569" rIns="68569" bIns="68569" anchor="ctr" anchorCtr="0">
            <a:no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r>
              <a:rPr lang="en-US" sz="2400" b="1" err="1">
                <a:solidFill>
                  <a:srgbClr val="16693F"/>
                </a:solidFill>
              </a:rPr>
              <a:t>GRNsight</a:t>
            </a:r>
            <a:r>
              <a:rPr lang="en-US" sz="2400" b="1">
                <a:solidFill>
                  <a:srgbClr val="16693F"/>
                </a:solidFill>
              </a:rPr>
              <a:t> is an integral part of a data analysis workflow for biologists who model GRNs</a:t>
            </a:r>
          </a:p>
        </p:txBody>
      </p:sp>
      <p:pic>
        <p:nvPicPr>
          <p:cNvPr id="3" name="Picture 2">
            <a:extLst>
              <a:ext uri="{FF2B5EF4-FFF2-40B4-BE49-F238E27FC236}">
                <a16:creationId xmlns:a16="http://schemas.microsoft.com/office/drawing/2014/main" id="{2CD5E75C-2013-3AA3-CBE4-5CAC23902025}"/>
              </a:ext>
            </a:extLst>
          </p:cNvPr>
          <p:cNvPicPr>
            <a:picLocks noChangeAspect="1"/>
          </p:cNvPicPr>
          <p:nvPr/>
        </p:nvPicPr>
        <p:blipFill>
          <a:blip r:embed="rId4"/>
          <a:stretch>
            <a:fillRect/>
          </a:stretch>
        </p:blipFill>
        <p:spPr>
          <a:xfrm>
            <a:off x="1298863" y="890502"/>
            <a:ext cx="6546273" cy="4157457"/>
          </a:xfrm>
          <a:prstGeom prst="rect">
            <a:avLst/>
          </a:prstGeom>
        </p:spPr>
      </p:pic>
    </p:spTree>
    <p:extLst>
      <p:ext uri="{BB962C8B-B14F-4D97-AF65-F5344CB8AC3E}">
        <p14:creationId xmlns:p14="http://schemas.microsoft.com/office/powerpoint/2010/main" val="1676307603"/>
      </p:ext>
    </p:extLst>
  </p:cSld>
  <p:clrMapOvr>
    <a:masterClrMapping/>
  </p:clrMapOvr>
  <p:extLst>
    <p:ext uri="{6950BFC3-D8DA-4A85-94F7-54DA5524770B}">
      <p188:commentRel xmlns:p188="http://schemas.microsoft.com/office/powerpoint/2018/8/main" r:id="rId3"/>
    </p:ext>
  </p:extLs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6EDA4D-8BE8-5A86-0D44-5FD1A3837FD2}"/>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93D23B39-2E4C-C9C8-7908-FBE73ED5ADF2}"/>
              </a:ext>
            </a:extLst>
          </p:cNvPr>
          <p:cNvSpPr txBox="1">
            <a:spLocks/>
          </p:cNvSpPr>
          <p:nvPr/>
        </p:nvSpPr>
        <p:spPr>
          <a:xfrm>
            <a:off x="375047" y="95541"/>
            <a:ext cx="8393906" cy="662990"/>
          </a:xfrm>
          <a:prstGeom prst="rect">
            <a:avLst/>
          </a:prstGeom>
          <a:noFill/>
          <a:ln>
            <a:noFill/>
          </a:ln>
        </p:spPr>
        <p:txBody>
          <a:bodyPr lIns="68569" tIns="68569" rIns="68569" bIns="68569" anchor="ctr" anchorCtr="0">
            <a:no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r>
              <a:rPr lang="en-US" sz="2400" b="1" err="1">
                <a:solidFill>
                  <a:srgbClr val="16693F"/>
                </a:solidFill>
              </a:rPr>
              <a:t>GRNsight</a:t>
            </a:r>
            <a:r>
              <a:rPr lang="en-US" sz="2400" b="1">
                <a:solidFill>
                  <a:srgbClr val="16693F"/>
                </a:solidFill>
              </a:rPr>
              <a:t> is an integral part of a data analysis workflow for biologists who model GRNs</a:t>
            </a:r>
          </a:p>
        </p:txBody>
      </p:sp>
      <p:pic>
        <p:nvPicPr>
          <p:cNvPr id="25" name="Picture 24">
            <a:extLst>
              <a:ext uri="{FF2B5EF4-FFF2-40B4-BE49-F238E27FC236}">
                <a16:creationId xmlns:a16="http://schemas.microsoft.com/office/drawing/2014/main" id="{D65BB453-897E-4368-ED50-0ACA45F52310}"/>
              </a:ext>
            </a:extLst>
          </p:cNvPr>
          <p:cNvPicPr>
            <a:picLocks noChangeAspect="1"/>
          </p:cNvPicPr>
          <p:nvPr/>
        </p:nvPicPr>
        <p:blipFill>
          <a:blip r:embed="rId3" cstate="hqprint">
            <a:extLst>
              <a:ext uri="{28A0092B-C50C-407E-A947-70E740481C1C}">
                <a14:useLocalDpi xmlns:a14="http://schemas.microsoft.com/office/drawing/2010/main"/>
              </a:ext>
            </a:extLst>
          </a:blip>
          <a:srcRect t="-2516"/>
          <a:stretch>
            <a:fillRect/>
          </a:stretch>
        </p:blipFill>
        <p:spPr>
          <a:xfrm>
            <a:off x="310223" y="831949"/>
            <a:ext cx="2729209" cy="1661553"/>
          </a:xfrm>
          <a:prstGeom prst="rect">
            <a:avLst/>
          </a:prstGeom>
        </p:spPr>
      </p:pic>
      <p:grpSp>
        <p:nvGrpSpPr>
          <p:cNvPr id="56" name="Group 55">
            <a:extLst>
              <a:ext uri="{FF2B5EF4-FFF2-40B4-BE49-F238E27FC236}">
                <a16:creationId xmlns:a16="http://schemas.microsoft.com/office/drawing/2014/main" id="{6533F68D-322F-C551-AC4D-CE0233699094}"/>
              </a:ext>
            </a:extLst>
          </p:cNvPr>
          <p:cNvGrpSpPr/>
          <p:nvPr/>
        </p:nvGrpSpPr>
        <p:grpSpPr>
          <a:xfrm>
            <a:off x="298848" y="2579270"/>
            <a:ext cx="1106008" cy="575789"/>
            <a:chOff x="398464" y="3439026"/>
            <a:chExt cx="1474677" cy="767719"/>
          </a:xfrm>
        </p:grpSpPr>
        <p:pic>
          <p:nvPicPr>
            <p:cNvPr id="23" name="Picture 22">
              <a:extLst>
                <a:ext uri="{FF2B5EF4-FFF2-40B4-BE49-F238E27FC236}">
                  <a16:creationId xmlns:a16="http://schemas.microsoft.com/office/drawing/2014/main" id="{20FA9CC7-BD65-63C0-8E43-E6D3C42CC0BA}"/>
                </a:ext>
              </a:extLst>
            </p:cNvPr>
            <p:cNvPicPr>
              <a:picLocks noChangeAspect="1"/>
            </p:cNvPicPr>
            <p:nvPr/>
          </p:nvPicPr>
          <p:blipFill>
            <a:blip r:embed="rId4">
              <a:extLst>
                <a:ext uri="{28A0092B-C50C-407E-A947-70E740481C1C}">
                  <a14:useLocalDpi xmlns:a14="http://schemas.microsoft.com/office/drawing/2010/main"/>
                </a:ext>
              </a:extLst>
            </a:blip>
            <a:stretch>
              <a:fillRect/>
            </a:stretch>
          </p:blipFill>
          <p:spPr>
            <a:xfrm>
              <a:off x="620742" y="3439026"/>
              <a:ext cx="1252399" cy="319996"/>
            </a:xfrm>
            <a:prstGeom prst="rect">
              <a:avLst/>
            </a:prstGeom>
          </p:spPr>
        </p:pic>
        <p:grpSp>
          <p:nvGrpSpPr>
            <p:cNvPr id="55" name="Group 54">
              <a:extLst>
                <a:ext uri="{FF2B5EF4-FFF2-40B4-BE49-F238E27FC236}">
                  <a16:creationId xmlns:a16="http://schemas.microsoft.com/office/drawing/2014/main" id="{A35756A5-1EFE-BA1A-6785-70FCD8806C8B}"/>
                </a:ext>
              </a:extLst>
            </p:cNvPr>
            <p:cNvGrpSpPr/>
            <p:nvPr/>
          </p:nvGrpSpPr>
          <p:grpSpPr>
            <a:xfrm>
              <a:off x="398464" y="3872588"/>
              <a:ext cx="1474677" cy="334157"/>
              <a:chOff x="398464" y="3872588"/>
              <a:chExt cx="1474677" cy="334157"/>
            </a:xfrm>
          </p:grpSpPr>
          <p:pic>
            <p:nvPicPr>
              <p:cNvPr id="30" name="Picture 29">
                <a:extLst>
                  <a:ext uri="{FF2B5EF4-FFF2-40B4-BE49-F238E27FC236}">
                    <a16:creationId xmlns:a16="http://schemas.microsoft.com/office/drawing/2014/main" id="{B49B4D54-3702-7FE8-4D9E-9C8C0FD52B2F}"/>
                  </a:ext>
                </a:extLst>
              </p:cNvPr>
              <p:cNvPicPr>
                <a:picLocks noChangeAspect="1"/>
              </p:cNvPicPr>
              <p:nvPr/>
            </p:nvPicPr>
            <p:blipFill>
              <a:blip r:embed="rId5" cstate="hqprint">
                <a:extLst>
                  <a:ext uri="{28A0092B-C50C-407E-A947-70E740481C1C}">
                    <a14:useLocalDpi xmlns:a14="http://schemas.microsoft.com/office/drawing/2010/main"/>
                  </a:ext>
                </a:extLst>
              </a:blip>
              <a:srcRect/>
              <a:stretch>
                <a:fillRect/>
              </a:stretch>
            </p:blipFill>
            <p:spPr>
              <a:xfrm>
                <a:off x="398464" y="3872588"/>
                <a:ext cx="744054" cy="334157"/>
              </a:xfrm>
              <a:prstGeom prst="rect">
                <a:avLst/>
              </a:prstGeom>
            </p:spPr>
          </p:pic>
          <p:pic>
            <p:nvPicPr>
              <p:cNvPr id="32" name="Picture 31">
                <a:extLst>
                  <a:ext uri="{FF2B5EF4-FFF2-40B4-BE49-F238E27FC236}">
                    <a16:creationId xmlns:a16="http://schemas.microsoft.com/office/drawing/2014/main" id="{5D9AA619-C0C8-87EB-5F45-877483B98063}"/>
                  </a:ext>
                </a:extLst>
              </p:cNvPr>
              <p:cNvPicPr>
                <a:picLocks noChangeAspect="1"/>
              </p:cNvPicPr>
              <p:nvPr/>
            </p:nvPicPr>
            <p:blipFill>
              <a:blip r:embed="rId6" cstate="hqprint">
                <a:extLst>
                  <a:ext uri="{28A0092B-C50C-407E-A947-70E740481C1C}">
                    <a14:useLocalDpi xmlns:a14="http://schemas.microsoft.com/office/drawing/2010/main"/>
                  </a:ext>
                </a:extLst>
              </a:blip>
              <a:srcRect/>
              <a:stretch>
                <a:fillRect/>
              </a:stretch>
            </p:blipFill>
            <p:spPr>
              <a:xfrm>
                <a:off x="1142519" y="3872588"/>
                <a:ext cx="730622" cy="334157"/>
              </a:xfrm>
              <a:prstGeom prst="rect">
                <a:avLst/>
              </a:prstGeom>
            </p:spPr>
          </p:pic>
        </p:grpSp>
      </p:grpSp>
      <p:pic>
        <p:nvPicPr>
          <p:cNvPr id="43" name="Picture 42">
            <a:extLst>
              <a:ext uri="{FF2B5EF4-FFF2-40B4-BE49-F238E27FC236}">
                <a16:creationId xmlns:a16="http://schemas.microsoft.com/office/drawing/2014/main" id="{D72F6F24-4F13-2EBE-C9EF-DF5708035BBD}"/>
              </a:ext>
            </a:extLst>
          </p:cNvPr>
          <p:cNvPicPr>
            <a:picLocks noChangeAspect="1"/>
          </p:cNvPicPr>
          <p:nvPr/>
        </p:nvPicPr>
        <p:blipFill>
          <a:blip r:embed="rId7" cstate="hqprint">
            <a:extLst>
              <a:ext uri="{28A0092B-C50C-407E-A947-70E740481C1C}">
                <a14:useLocalDpi xmlns:a14="http://schemas.microsoft.com/office/drawing/2010/main"/>
              </a:ext>
            </a:extLst>
          </a:blip>
          <a:srcRect/>
          <a:stretch>
            <a:fillRect/>
          </a:stretch>
        </p:blipFill>
        <p:spPr>
          <a:xfrm>
            <a:off x="310223" y="3302021"/>
            <a:ext cx="1339998" cy="1745939"/>
          </a:xfrm>
          <a:prstGeom prst="rect">
            <a:avLst/>
          </a:prstGeom>
        </p:spPr>
      </p:pic>
      <p:pic>
        <p:nvPicPr>
          <p:cNvPr id="47" name="Picture 46">
            <a:extLst>
              <a:ext uri="{FF2B5EF4-FFF2-40B4-BE49-F238E27FC236}">
                <a16:creationId xmlns:a16="http://schemas.microsoft.com/office/drawing/2014/main" id="{9B072932-A5B8-7A33-0092-553084C81A3C}"/>
              </a:ext>
            </a:extLst>
          </p:cNvPr>
          <p:cNvPicPr>
            <a:picLocks noChangeAspect="1"/>
          </p:cNvPicPr>
          <p:nvPr/>
        </p:nvPicPr>
        <p:blipFill>
          <a:blip r:embed="rId8" cstate="hqprint">
            <a:extLst>
              <a:ext uri="{28A0092B-C50C-407E-A947-70E740481C1C}">
                <a14:useLocalDpi xmlns:a14="http://schemas.microsoft.com/office/drawing/2010/main"/>
              </a:ext>
            </a:extLst>
          </a:blip>
          <a:srcRect/>
          <a:stretch>
            <a:fillRect/>
          </a:stretch>
        </p:blipFill>
        <p:spPr>
          <a:xfrm>
            <a:off x="1660377" y="3306910"/>
            <a:ext cx="1021950" cy="1741050"/>
          </a:xfrm>
          <a:prstGeom prst="rect">
            <a:avLst/>
          </a:prstGeom>
        </p:spPr>
      </p:pic>
      <p:grpSp>
        <p:nvGrpSpPr>
          <p:cNvPr id="60" name="Group 59">
            <a:extLst>
              <a:ext uri="{FF2B5EF4-FFF2-40B4-BE49-F238E27FC236}">
                <a16:creationId xmlns:a16="http://schemas.microsoft.com/office/drawing/2014/main" id="{FD103D67-639B-DAA9-FB57-44E29FDFF99A}"/>
              </a:ext>
            </a:extLst>
          </p:cNvPr>
          <p:cNvGrpSpPr/>
          <p:nvPr/>
        </p:nvGrpSpPr>
        <p:grpSpPr>
          <a:xfrm>
            <a:off x="1478107" y="1191266"/>
            <a:ext cx="4131870" cy="2013393"/>
            <a:chOff x="1970808" y="1588356"/>
            <a:chExt cx="5509160" cy="2684525"/>
          </a:xfrm>
        </p:grpSpPr>
        <p:grpSp>
          <p:nvGrpSpPr>
            <p:cNvPr id="57" name="Group 56">
              <a:extLst>
                <a:ext uri="{FF2B5EF4-FFF2-40B4-BE49-F238E27FC236}">
                  <a16:creationId xmlns:a16="http://schemas.microsoft.com/office/drawing/2014/main" id="{3F0DC660-FEA7-3242-EF70-B81823A634E5}"/>
                </a:ext>
              </a:extLst>
            </p:cNvPr>
            <p:cNvGrpSpPr/>
            <p:nvPr/>
          </p:nvGrpSpPr>
          <p:grpSpPr>
            <a:xfrm>
              <a:off x="1970808" y="3349262"/>
              <a:ext cx="2579808" cy="923619"/>
              <a:chOff x="1970808" y="3349262"/>
              <a:chExt cx="2579808" cy="923619"/>
            </a:xfrm>
          </p:grpSpPr>
          <p:sp>
            <p:nvSpPr>
              <p:cNvPr id="15" name="Rounded Rectangle 1">
                <a:extLst>
                  <a:ext uri="{FF2B5EF4-FFF2-40B4-BE49-F238E27FC236}">
                    <a16:creationId xmlns:a16="http://schemas.microsoft.com/office/drawing/2014/main" id="{48403943-3438-2BCA-3531-18EEBCA5F70B}"/>
                  </a:ext>
                </a:extLst>
              </p:cNvPr>
              <p:cNvSpPr>
                <a:spLocks noChangeArrowheads="1"/>
              </p:cNvSpPr>
              <p:nvPr/>
            </p:nvSpPr>
            <p:spPr bwMode="auto">
              <a:xfrm>
                <a:off x="2005805" y="3349262"/>
                <a:ext cx="2509815" cy="923619"/>
              </a:xfrm>
              <a:prstGeom prst="roundRect">
                <a:avLst>
                  <a:gd name="adj" fmla="val 16667"/>
                </a:avLst>
              </a:prstGeom>
              <a:solidFill>
                <a:srgbClr val="16693F"/>
              </a:solidFill>
              <a:ln>
                <a:noFill/>
              </a:ln>
            </p:spPr>
            <p:txBody>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eaLnBrk="1" hangingPunct="1"/>
                <a:endParaRPr lang="en-US" altLang="en-US" sz="1013"/>
              </a:p>
            </p:txBody>
          </p:sp>
          <p:sp>
            <p:nvSpPr>
              <p:cNvPr id="16" name="TextBox 5">
                <a:extLst>
                  <a:ext uri="{FF2B5EF4-FFF2-40B4-BE49-F238E27FC236}">
                    <a16:creationId xmlns:a16="http://schemas.microsoft.com/office/drawing/2014/main" id="{DA39C395-4F01-D537-C6BC-2986F1752AB6}"/>
                  </a:ext>
                </a:extLst>
              </p:cNvPr>
              <p:cNvSpPr txBox="1">
                <a:spLocks noChangeArrowheads="1"/>
              </p:cNvSpPr>
              <p:nvPr/>
            </p:nvSpPr>
            <p:spPr bwMode="auto">
              <a:xfrm>
                <a:off x="1970808" y="3349406"/>
                <a:ext cx="2579808"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eaLnBrk="1" hangingPunct="1">
                  <a:spcBef>
                    <a:spcPct val="0"/>
                  </a:spcBef>
                  <a:buFontTx/>
                  <a:buNone/>
                </a:pPr>
                <a:r>
                  <a:rPr lang="en-US" altLang="en-US" sz="1350" b="1">
                    <a:solidFill>
                      <a:schemeClr val="bg1"/>
                    </a:solidFill>
                  </a:rPr>
                  <a:t>Select network and expression data from </a:t>
                </a:r>
                <a:r>
                  <a:rPr lang="en-US" altLang="en-US" sz="1350" b="1" err="1">
                    <a:solidFill>
                      <a:schemeClr val="bg1"/>
                    </a:solidFill>
                  </a:rPr>
                  <a:t>GRNsight</a:t>
                </a:r>
                <a:r>
                  <a:rPr lang="en-US" altLang="en-US" sz="1350" b="1">
                    <a:solidFill>
                      <a:schemeClr val="bg1"/>
                    </a:solidFill>
                  </a:rPr>
                  <a:t> database</a:t>
                </a:r>
              </a:p>
            </p:txBody>
          </p:sp>
        </p:grpSp>
        <p:sp>
          <p:nvSpPr>
            <p:cNvPr id="7" name="TextBox 2">
              <a:extLst>
                <a:ext uri="{FF2B5EF4-FFF2-40B4-BE49-F238E27FC236}">
                  <a16:creationId xmlns:a16="http://schemas.microsoft.com/office/drawing/2014/main" id="{985D8249-0031-F5B7-2C72-82896CCDE872}"/>
                </a:ext>
              </a:extLst>
            </p:cNvPr>
            <p:cNvSpPr txBox="1">
              <a:spLocks noChangeArrowheads="1"/>
            </p:cNvSpPr>
            <p:nvPr/>
          </p:nvSpPr>
          <p:spPr bwMode="auto">
            <a:xfrm>
              <a:off x="4693491" y="1588356"/>
              <a:ext cx="278647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eaLnBrk="1" hangingPunct="1">
                <a:spcBef>
                  <a:spcPct val="0"/>
                </a:spcBef>
                <a:buFontTx/>
                <a:buNone/>
              </a:pPr>
              <a:r>
                <a:rPr lang="en-US" altLang="en-US" sz="1350" b="1">
                  <a:solidFill>
                    <a:schemeClr val="bg1"/>
                  </a:solidFill>
                </a:rPr>
                <a:t>Export to Excel</a:t>
              </a:r>
            </a:p>
          </p:txBody>
        </p:sp>
      </p:grpSp>
    </p:spTree>
    <p:extLst>
      <p:ext uri="{BB962C8B-B14F-4D97-AF65-F5344CB8AC3E}">
        <p14:creationId xmlns:p14="http://schemas.microsoft.com/office/powerpoint/2010/main" val="422772284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589505-D4EC-151C-028F-F73A7AD0891B}"/>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E9BA0CBA-CDA9-C3B7-A3EB-458D3EB8B10D}"/>
              </a:ext>
            </a:extLst>
          </p:cNvPr>
          <p:cNvSpPr txBox="1">
            <a:spLocks/>
          </p:cNvSpPr>
          <p:nvPr/>
        </p:nvSpPr>
        <p:spPr>
          <a:xfrm>
            <a:off x="375047" y="95541"/>
            <a:ext cx="8393906" cy="662990"/>
          </a:xfrm>
          <a:prstGeom prst="rect">
            <a:avLst/>
          </a:prstGeom>
          <a:noFill/>
          <a:ln>
            <a:noFill/>
          </a:ln>
        </p:spPr>
        <p:txBody>
          <a:bodyPr lIns="68569" tIns="68569" rIns="68569" bIns="68569" anchor="ctr" anchorCtr="0">
            <a:no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r>
              <a:rPr lang="en-US" sz="2400" b="1" err="1">
                <a:solidFill>
                  <a:srgbClr val="16693F"/>
                </a:solidFill>
              </a:rPr>
              <a:t>GRNsight</a:t>
            </a:r>
            <a:r>
              <a:rPr lang="en-US" sz="2400" b="1">
                <a:solidFill>
                  <a:srgbClr val="16693F"/>
                </a:solidFill>
              </a:rPr>
              <a:t> is an integral part of a data analysis workflow for biologists who model GRNs</a:t>
            </a:r>
          </a:p>
        </p:txBody>
      </p:sp>
      <p:pic>
        <p:nvPicPr>
          <p:cNvPr id="25" name="Picture 24">
            <a:extLst>
              <a:ext uri="{FF2B5EF4-FFF2-40B4-BE49-F238E27FC236}">
                <a16:creationId xmlns:a16="http://schemas.microsoft.com/office/drawing/2014/main" id="{5162F215-1D13-1B9A-2903-2D4D8EC606EF}"/>
              </a:ext>
            </a:extLst>
          </p:cNvPr>
          <p:cNvPicPr>
            <a:picLocks noChangeAspect="1"/>
          </p:cNvPicPr>
          <p:nvPr/>
        </p:nvPicPr>
        <p:blipFill>
          <a:blip r:embed="rId3" cstate="hqprint">
            <a:extLst>
              <a:ext uri="{28A0092B-C50C-407E-A947-70E740481C1C}">
                <a14:useLocalDpi xmlns:a14="http://schemas.microsoft.com/office/drawing/2010/main"/>
              </a:ext>
            </a:extLst>
          </a:blip>
          <a:srcRect t="-2516"/>
          <a:stretch>
            <a:fillRect/>
          </a:stretch>
        </p:blipFill>
        <p:spPr>
          <a:xfrm>
            <a:off x="310223" y="831949"/>
            <a:ext cx="2729209" cy="1661553"/>
          </a:xfrm>
          <a:prstGeom prst="rect">
            <a:avLst/>
          </a:prstGeom>
        </p:spPr>
      </p:pic>
      <p:grpSp>
        <p:nvGrpSpPr>
          <p:cNvPr id="56" name="Group 55">
            <a:extLst>
              <a:ext uri="{FF2B5EF4-FFF2-40B4-BE49-F238E27FC236}">
                <a16:creationId xmlns:a16="http://schemas.microsoft.com/office/drawing/2014/main" id="{1403D8CE-5B91-BCAD-D5BE-CED5C3D29519}"/>
              </a:ext>
            </a:extLst>
          </p:cNvPr>
          <p:cNvGrpSpPr/>
          <p:nvPr/>
        </p:nvGrpSpPr>
        <p:grpSpPr>
          <a:xfrm>
            <a:off x="298848" y="2579270"/>
            <a:ext cx="1106008" cy="575789"/>
            <a:chOff x="398464" y="3439026"/>
            <a:chExt cx="1474677" cy="767719"/>
          </a:xfrm>
        </p:grpSpPr>
        <p:pic>
          <p:nvPicPr>
            <p:cNvPr id="23" name="Picture 22">
              <a:extLst>
                <a:ext uri="{FF2B5EF4-FFF2-40B4-BE49-F238E27FC236}">
                  <a16:creationId xmlns:a16="http://schemas.microsoft.com/office/drawing/2014/main" id="{50A56FB6-2F99-8988-A7AC-52D95B2A2C3F}"/>
                </a:ext>
              </a:extLst>
            </p:cNvPr>
            <p:cNvPicPr>
              <a:picLocks noChangeAspect="1"/>
            </p:cNvPicPr>
            <p:nvPr/>
          </p:nvPicPr>
          <p:blipFill>
            <a:blip r:embed="rId4">
              <a:extLst>
                <a:ext uri="{28A0092B-C50C-407E-A947-70E740481C1C}">
                  <a14:useLocalDpi xmlns:a14="http://schemas.microsoft.com/office/drawing/2010/main"/>
                </a:ext>
              </a:extLst>
            </a:blip>
            <a:stretch>
              <a:fillRect/>
            </a:stretch>
          </p:blipFill>
          <p:spPr>
            <a:xfrm>
              <a:off x="620742" y="3439026"/>
              <a:ext cx="1252399" cy="319996"/>
            </a:xfrm>
            <a:prstGeom prst="rect">
              <a:avLst/>
            </a:prstGeom>
          </p:spPr>
        </p:pic>
        <p:grpSp>
          <p:nvGrpSpPr>
            <p:cNvPr id="55" name="Group 54">
              <a:extLst>
                <a:ext uri="{FF2B5EF4-FFF2-40B4-BE49-F238E27FC236}">
                  <a16:creationId xmlns:a16="http://schemas.microsoft.com/office/drawing/2014/main" id="{DAEBA300-2B38-9E5F-FC3F-6DD8BAC82B91}"/>
                </a:ext>
              </a:extLst>
            </p:cNvPr>
            <p:cNvGrpSpPr/>
            <p:nvPr/>
          </p:nvGrpSpPr>
          <p:grpSpPr>
            <a:xfrm>
              <a:off x="398464" y="3872588"/>
              <a:ext cx="1474677" cy="334157"/>
              <a:chOff x="398464" y="3872588"/>
              <a:chExt cx="1474677" cy="334157"/>
            </a:xfrm>
          </p:grpSpPr>
          <p:pic>
            <p:nvPicPr>
              <p:cNvPr id="30" name="Picture 29">
                <a:extLst>
                  <a:ext uri="{FF2B5EF4-FFF2-40B4-BE49-F238E27FC236}">
                    <a16:creationId xmlns:a16="http://schemas.microsoft.com/office/drawing/2014/main" id="{8F5F76A2-AE09-249B-30F0-7069731CB3D5}"/>
                  </a:ext>
                </a:extLst>
              </p:cNvPr>
              <p:cNvPicPr>
                <a:picLocks noChangeAspect="1"/>
              </p:cNvPicPr>
              <p:nvPr/>
            </p:nvPicPr>
            <p:blipFill>
              <a:blip r:embed="rId5" cstate="hqprint">
                <a:extLst>
                  <a:ext uri="{28A0092B-C50C-407E-A947-70E740481C1C}">
                    <a14:useLocalDpi xmlns:a14="http://schemas.microsoft.com/office/drawing/2010/main"/>
                  </a:ext>
                </a:extLst>
              </a:blip>
              <a:srcRect/>
              <a:stretch>
                <a:fillRect/>
              </a:stretch>
            </p:blipFill>
            <p:spPr>
              <a:xfrm>
                <a:off x="398464" y="3872588"/>
                <a:ext cx="744054" cy="334157"/>
              </a:xfrm>
              <a:prstGeom prst="rect">
                <a:avLst/>
              </a:prstGeom>
            </p:spPr>
          </p:pic>
          <p:pic>
            <p:nvPicPr>
              <p:cNvPr id="32" name="Picture 31">
                <a:extLst>
                  <a:ext uri="{FF2B5EF4-FFF2-40B4-BE49-F238E27FC236}">
                    <a16:creationId xmlns:a16="http://schemas.microsoft.com/office/drawing/2014/main" id="{3D3F7A75-B6BB-92C4-A328-30EA0F5469BD}"/>
                  </a:ext>
                </a:extLst>
              </p:cNvPr>
              <p:cNvPicPr>
                <a:picLocks noChangeAspect="1"/>
              </p:cNvPicPr>
              <p:nvPr/>
            </p:nvPicPr>
            <p:blipFill>
              <a:blip r:embed="rId6" cstate="hqprint">
                <a:extLst>
                  <a:ext uri="{28A0092B-C50C-407E-A947-70E740481C1C}">
                    <a14:useLocalDpi xmlns:a14="http://schemas.microsoft.com/office/drawing/2010/main"/>
                  </a:ext>
                </a:extLst>
              </a:blip>
              <a:srcRect/>
              <a:stretch>
                <a:fillRect/>
              </a:stretch>
            </p:blipFill>
            <p:spPr>
              <a:xfrm>
                <a:off x="1142519" y="3872588"/>
                <a:ext cx="730622" cy="334157"/>
              </a:xfrm>
              <a:prstGeom prst="rect">
                <a:avLst/>
              </a:prstGeom>
            </p:spPr>
          </p:pic>
        </p:grpSp>
      </p:grpSp>
      <p:pic>
        <p:nvPicPr>
          <p:cNvPr id="35" name="Picture 34">
            <a:extLst>
              <a:ext uri="{FF2B5EF4-FFF2-40B4-BE49-F238E27FC236}">
                <a16:creationId xmlns:a16="http://schemas.microsoft.com/office/drawing/2014/main" id="{DF9FC60E-CB44-B1F6-83B8-6323D7F84536}"/>
              </a:ext>
            </a:extLst>
          </p:cNvPr>
          <p:cNvPicPr>
            <a:picLocks noChangeAspect="1"/>
          </p:cNvPicPr>
          <p:nvPr/>
        </p:nvPicPr>
        <p:blipFill>
          <a:blip r:embed="rId7" cstate="hqprint">
            <a:extLst>
              <a:ext uri="{28A0092B-C50C-407E-A947-70E740481C1C}">
                <a14:useLocalDpi xmlns:a14="http://schemas.microsoft.com/office/drawing/2010/main"/>
              </a:ext>
            </a:extLst>
          </a:blip>
          <a:srcRect/>
          <a:stretch>
            <a:fillRect/>
          </a:stretch>
        </p:blipFill>
        <p:spPr>
          <a:xfrm>
            <a:off x="5893733" y="831949"/>
            <a:ext cx="543195" cy="865088"/>
          </a:xfrm>
          <a:prstGeom prst="rect">
            <a:avLst/>
          </a:prstGeom>
        </p:spPr>
      </p:pic>
      <p:pic>
        <p:nvPicPr>
          <p:cNvPr id="36" name="Picture 35">
            <a:extLst>
              <a:ext uri="{FF2B5EF4-FFF2-40B4-BE49-F238E27FC236}">
                <a16:creationId xmlns:a16="http://schemas.microsoft.com/office/drawing/2014/main" id="{548974A8-184E-2A91-E5FB-091C9B3B9A77}"/>
              </a:ext>
            </a:extLst>
          </p:cNvPr>
          <p:cNvPicPr>
            <a:picLocks noChangeAspect="1"/>
          </p:cNvPicPr>
          <p:nvPr/>
        </p:nvPicPr>
        <p:blipFill>
          <a:blip r:embed="rId8" cstate="hqprint">
            <a:extLst>
              <a:ext uri="{28A0092B-C50C-407E-A947-70E740481C1C}">
                <a14:useLocalDpi xmlns:a14="http://schemas.microsoft.com/office/drawing/2010/main"/>
              </a:ext>
            </a:extLst>
          </a:blip>
          <a:srcRect/>
          <a:stretch>
            <a:fillRect/>
          </a:stretch>
        </p:blipFill>
        <p:spPr>
          <a:xfrm>
            <a:off x="6002833" y="936185"/>
            <a:ext cx="568754" cy="865088"/>
          </a:xfrm>
          <a:prstGeom prst="rect">
            <a:avLst/>
          </a:prstGeom>
        </p:spPr>
      </p:pic>
      <p:pic>
        <p:nvPicPr>
          <p:cNvPr id="37" name="Picture 36">
            <a:extLst>
              <a:ext uri="{FF2B5EF4-FFF2-40B4-BE49-F238E27FC236}">
                <a16:creationId xmlns:a16="http://schemas.microsoft.com/office/drawing/2014/main" id="{2F558651-FDCA-370F-2837-0F8C4E0FF1DD}"/>
              </a:ext>
            </a:extLst>
          </p:cNvPr>
          <p:cNvPicPr>
            <a:picLocks noChangeAspect="1"/>
          </p:cNvPicPr>
          <p:nvPr/>
        </p:nvPicPr>
        <p:blipFill>
          <a:blip r:embed="rId9" cstate="hqprint">
            <a:extLst>
              <a:ext uri="{28A0092B-C50C-407E-A947-70E740481C1C}">
                <a14:useLocalDpi xmlns:a14="http://schemas.microsoft.com/office/drawing/2010/main"/>
              </a:ext>
            </a:extLst>
          </a:blip>
          <a:srcRect/>
          <a:stretch>
            <a:fillRect/>
          </a:stretch>
        </p:blipFill>
        <p:spPr>
          <a:xfrm>
            <a:off x="6108122" y="1036395"/>
            <a:ext cx="483444" cy="869113"/>
          </a:xfrm>
          <a:prstGeom prst="rect">
            <a:avLst/>
          </a:prstGeom>
        </p:spPr>
      </p:pic>
      <p:pic>
        <p:nvPicPr>
          <p:cNvPr id="38" name="Picture 37">
            <a:extLst>
              <a:ext uri="{FF2B5EF4-FFF2-40B4-BE49-F238E27FC236}">
                <a16:creationId xmlns:a16="http://schemas.microsoft.com/office/drawing/2014/main" id="{50F57549-F21D-248D-F44E-45035CCAEA6F}"/>
              </a:ext>
            </a:extLst>
          </p:cNvPr>
          <p:cNvPicPr>
            <a:picLocks noChangeAspect="1"/>
          </p:cNvPicPr>
          <p:nvPr/>
        </p:nvPicPr>
        <p:blipFill>
          <a:blip r:embed="rId10" cstate="hqprint">
            <a:extLst>
              <a:ext uri="{28A0092B-C50C-407E-A947-70E740481C1C}">
                <a14:useLocalDpi xmlns:a14="http://schemas.microsoft.com/office/drawing/2010/main"/>
              </a:ext>
            </a:extLst>
          </a:blip>
          <a:srcRect/>
          <a:stretch>
            <a:fillRect/>
          </a:stretch>
        </p:blipFill>
        <p:spPr>
          <a:xfrm>
            <a:off x="6205904" y="1141159"/>
            <a:ext cx="1518774" cy="866940"/>
          </a:xfrm>
          <a:prstGeom prst="rect">
            <a:avLst/>
          </a:prstGeom>
        </p:spPr>
      </p:pic>
      <p:pic>
        <p:nvPicPr>
          <p:cNvPr id="39" name="Picture 38">
            <a:extLst>
              <a:ext uri="{FF2B5EF4-FFF2-40B4-BE49-F238E27FC236}">
                <a16:creationId xmlns:a16="http://schemas.microsoft.com/office/drawing/2014/main" id="{E6819E1F-4A63-DB04-E656-49DCF354FAB8}"/>
              </a:ext>
            </a:extLst>
          </p:cNvPr>
          <p:cNvPicPr>
            <a:picLocks noChangeAspect="1"/>
          </p:cNvPicPr>
          <p:nvPr/>
        </p:nvPicPr>
        <p:blipFill>
          <a:blip r:embed="rId11" cstate="hqprint">
            <a:extLst>
              <a:ext uri="{28A0092B-C50C-407E-A947-70E740481C1C}">
                <a14:useLocalDpi xmlns:a14="http://schemas.microsoft.com/office/drawing/2010/main"/>
              </a:ext>
            </a:extLst>
          </a:blip>
          <a:srcRect/>
          <a:stretch>
            <a:fillRect/>
          </a:stretch>
        </p:blipFill>
        <p:spPr>
          <a:xfrm>
            <a:off x="6349845" y="1252635"/>
            <a:ext cx="1666580" cy="865088"/>
          </a:xfrm>
          <a:prstGeom prst="rect">
            <a:avLst/>
          </a:prstGeom>
        </p:spPr>
      </p:pic>
      <p:pic>
        <p:nvPicPr>
          <p:cNvPr id="40" name="Picture 39">
            <a:extLst>
              <a:ext uri="{FF2B5EF4-FFF2-40B4-BE49-F238E27FC236}">
                <a16:creationId xmlns:a16="http://schemas.microsoft.com/office/drawing/2014/main" id="{6419156E-DE3C-B7D9-C534-4F48EC22E3F7}"/>
              </a:ext>
            </a:extLst>
          </p:cNvPr>
          <p:cNvPicPr>
            <a:picLocks noChangeAspect="1"/>
          </p:cNvPicPr>
          <p:nvPr/>
        </p:nvPicPr>
        <p:blipFill>
          <a:blip r:embed="rId12" cstate="hqprint">
            <a:extLst>
              <a:ext uri="{28A0092B-C50C-407E-A947-70E740481C1C}">
                <a14:useLocalDpi xmlns:a14="http://schemas.microsoft.com/office/drawing/2010/main"/>
              </a:ext>
            </a:extLst>
          </a:blip>
          <a:srcRect/>
          <a:stretch>
            <a:fillRect/>
          </a:stretch>
        </p:blipFill>
        <p:spPr>
          <a:xfrm>
            <a:off x="6592714" y="1368729"/>
            <a:ext cx="1765385" cy="866940"/>
          </a:xfrm>
          <a:prstGeom prst="rect">
            <a:avLst/>
          </a:prstGeom>
        </p:spPr>
      </p:pic>
      <p:pic>
        <p:nvPicPr>
          <p:cNvPr id="43" name="Picture 42">
            <a:extLst>
              <a:ext uri="{FF2B5EF4-FFF2-40B4-BE49-F238E27FC236}">
                <a16:creationId xmlns:a16="http://schemas.microsoft.com/office/drawing/2014/main" id="{8D734262-DEB7-5AAF-E42D-FEF6AFB40B31}"/>
              </a:ext>
            </a:extLst>
          </p:cNvPr>
          <p:cNvPicPr>
            <a:picLocks noChangeAspect="1"/>
          </p:cNvPicPr>
          <p:nvPr/>
        </p:nvPicPr>
        <p:blipFill>
          <a:blip r:embed="rId13" cstate="hqprint">
            <a:extLst>
              <a:ext uri="{28A0092B-C50C-407E-A947-70E740481C1C}">
                <a14:useLocalDpi xmlns:a14="http://schemas.microsoft.com/office/drawing/2010/main"/>
              </a:ext>
            </a:extLst>
          </a:blip>
          <a:srcRect/>
          <a:stretch>
            <a:fillRect/>
          </a:stretch>
        </p:blipFill>
        <p:spPr>
          <a:xfrm>
            <a:off x="310223" y="3302021"/>
            <a:ext cx="1339998" cy="1745939"/>
          </a:xfrm>
          <a:prstGeom prst="rect">
            <a:avLst/>
          </a:prstGeom>
        </p:spPr>
      </p:pic>
      <p:pic>
        <p:nvPicPr>
          <p:cNvPr id="45" name="Picture 44">
            <a:extLst>
              <a:ext uri="{FF2B5EF4-FFF2-40B4-BE49-F238E27FC236}">
                <a16:creationId xmlns:a16="http://schemas.microsoft.com/office/drawing/2014/main" id="{B82F8F62-8BC4-6F4A-068A-69D8488BEF35}"/>
              </a:ext>
            </a:extLst>
          </p:cNvPr>
          <p:cNvPicPr>
            <a:picLocks noChangeAspect="1"/>
          </p:cNvPicPr>
          <p:nvPr/>
        </p:nvPicPr>
        <p:blipFill>
          <a:blip r:embed="rId14" cstate="hqprint">
            <a:extLst>
              <a:ext uri="{28A0092B-C50C-407E-A947-70E740481C1C}">
                <a14:useLocalDpi xmlns:a14="http://schemas.microsoft.com/office/drawing/2010/main"/>
              </a:ext>
            </a:extLst>
          </a:blip>
          <a:srcRect/>
          <a:stretch>
            <a:fillRect/>
          </a:stretch>
        </p:blipFill>
        <p:spPr>
          <a:xfrm>
            <a:off x="3955689" y="1993011"/>
            <a:ext cx="1215486" cy="1745938"/>
          </a:xfrm>
          <a:prstGeom prst="rect">
            <a:avLst/>
          </a:prstGeom>
        </p:spPr>
      </p:pic>
      <p:pic>
        <p:nvPicPr>
          <p:cNvPr id="47" name="Picture 46">
            <a:extLst>
              <a:ext uri="{FF2B5EF4-FFF2-40B4-BE49-F238E27FC236}">
                <a16:creationId xmlns:a16="http://schemas.microsoft.com/office/drawing/2014/main" id="{B4520912-9F8B-1F3B-329A-E66EE590E201}"/>
              </a:ext>
            </a:extLst>
          </p:cNvPr>
          <p:cNvPicPr>
            <a:picLocks noChangeAspect="1"/>
          </p:cNvPicPr>
          <p:nvPr/>
        </p:nvPicPr>
        <p:blipFill>
          <a:blip r:embed="rId15" cstate="hqprint">
            <a:extLst>
              <a:ext uri="{28A0092B-C50C-407E-A947-70E740481C1C}">
                <a14:useLocalDpi xmlns:a14="http://schemas.microsoft.com/office/drawing/2010/main"/>
              </a:ext>
            </a:extLst>
          </a:blip>
          <a:srcRect/>
          <a:stretch>
            <a:fillRect/>
          </a:stretch>
        </p:blipFill>
        <p:spPr>
          <a:xfrm>
            <a:off x="1660377" y="3306910"/>
            <a:ext cx="1021950" cy="1741050"/>
          </a:xfrm>
          <a:prstGeom prst="rect">
            <a:avLst/>
          </a:prstGeom>
        </p:spPr>
      </p:pic>
      <p:grpSp>
        <p:nvGrpSpPr>
          <p:cNvPr id="60" name="Group 59">
            <a:extLst>
              <a:ext uri="{FF2B5EF4-FFF2-40B4-BE49-F238E27FC236}">
                <a16:creationId xmlns:a16="http://schemas.microsoft.com/office/drawing/2014/main" id="{304C6EB9-9C9B-31E6-C17C-298364F1CB50}"/>
              </a:ext>
            </a:extLst>
          </p:cNvPr>
          <p:cNvGrpSpPr/>
          <p:nvPr/>
        </p:nvGrpSpPr>
        <p:grpSpPr>
          <a:xfrm>
            <a:off x="1478107" y="1191267"/>
            <a:ext cx="4131870" cy="2013394"/>
            <a:chOff x="1970808" y="1588356"/>
            <a:chExt cx="5509160" cy="2684525"/>
          </a:xfrm>
        </p:grpSpPr>
        <p:grpSp>
          <p:nvGrpSpPr>
            <p:cNvPr id="57" name="Group 56">
              <a:extLst>
                <a:ext uri="{FF2B5EF4-FFF2-40B4-BE49-F238E27FC236}">
                  <a16:creationId xmlns:a16="http://schemas.microsoft.com/office/drawing/2014/main" id="{CEE84A93-CCFF-2713-F8CB-6D7B0B04BF39}"/>
                </a:ext>
              </a:extLst>
            </p:cNvPr>
            <p:cNvGrpSpPr/>
            <p:nvPr/>
          </p:nvGrpSpPr>
          <p:grpSpPr>
            <a:xfrm>
              <a:off x="1970808" y="3349262"/>
              <a:ext cx="2579808" cy="923619"/>
              <a:chOff x="1970808" y="3349262"/>
              <a:chExt cx="2579808" cy="923619"/>
            </a:xfrm>
          </p:grpSpPr>
          <p:sp>
            <p:nvSpPr>
              <p:cNvPr id="15" name="Rounded Rectangle 1">
                <a:extLst>
                  <a:ext uri="{FF2B5EF4-FFF2-40B4-BE49-F238E27FC236}">
                    <a16:creationId xmlns:a16="http://schemas.microsoft.com/office/drawing/2014/main" id="{0B0624D2-38C3-E297-D5BF-4A0AFD85C1C6}"/>
                  </a:ext>
                </a:extLst>
              </p:cNvPr>
              <p:cNvSpPr>
                <a:spLocks noChangeArrowheads="1"/>
              </p:cNvSpPr>
              <p:nvPr/>
            </p:nvSpPr>
            <p:spPr bwMode="auto">
              <a:xfrm>
                <a:off x="2005805" y="3349262"/>
                <a:ext cx="2509815" cy="923619"/>
              </a:xfrm>
              <a:prstGeom prst="roundRect">
                <a:avLst>
                  <a:gd name="adj" fmla="val 16667"/>
                </a:avLst>
              </a:prstGeom>
              <a:solidFill>
                <a:srgbClr val="16693F"/>
              </a:solidFill>
              <a:ln>
                <a:noFill/>
              </a:ln>
            </p:spPr>
            <p:txBody>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eaLnBrk="1" hangingPunct="1"/>
                <a:endParaRPr lang="en-US" altLang="en-US" sz="1013"/>
              </a:p>
            </p:txBody>
          </p:sp>
          <p:sp>
            <p:nvSpPr>
              <p:cNvPr id="16" name="TextBox 5">
                <a:extLst>
                  <a:ext uri="{FF2B5EF4-FFF2-40B4-BE49-F238E27FC236}">
                    <a16:creationId xmlns:a16="http://schemas.microsoft.com/office/drawing/2014/main" id="{D665AA55-7129-ADC8-DAF3-3E7836F164B8}"/>
                  </a:ext>
                </a:extLst>
              </p:cNvPr>
              <p:cNvSpPr txBox="1">
                <a:spLocks noChangeArrowheads="1"/>
              </p:cNvSpPr>
              <p:nvPr/>
            </p:nvSpPr>
            <p:spPr bwMode="auto">
              <a:xfrm>
                <a:off x="1970808" y="3349406"/>
                <a:ext cx="2579808"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eaLnBrk="1" hangingPunct="1">
                  <a:spcBef>
                    <a:spcPct val="0"/>
                  </a:spcBef>
                  <a:buFontTx/>
                  <a:buNone/>
                </a:pPr>
                <a:r>
                  <a:rPr lang="en-US" altLang="en-US" sz="1350" b="1">
                    <a:solidFill>
                      <a:schemeClr val="bg1"/>
                    </a:solidFill>
                  </a:rPr>
                  <a:t>Select network and expression data from </a:t>
                </a:r>
                <a:r>
                  <a:rPr lang="en-US" altLang="en-US" sz="1350" b="1" err="1">
                    <a:solidFill>
                      <a:schemeClr val="bg1"/>
                    </a:solidFill>
                  </a:rPr>
                  <a:t>GRNsight</a:t>
                </a:r>
                <a:r>
                  <a:rPr lang="en-US" altLang="en-US" sz="1350" b="1">
                    <a:solidFill>
                      <a:schemeClr val="bg1"/>
                    </a:solidFill>
                  </a:rPr>
                  <a:t> database</a:t>
                </a:r>
              </a:p>
            </p:txBody>
          </p:sp>
        </p:grpSp>
        <p:grpSp>
          <p:nvGrpSpPr>
            <p:cNvPr id="58" name="Group 57">
              <a:extLst>
                <a:ext uri="{FF2B5EF4-FFF2-40B4-BE49-F238E27FC236}">
                  <a16:creationId xmlns:a16="http://schemas.microsoft.com/office/drawing/2014/main" id="{A0F98786-EB77-3A6E-CE35-4E309B947CDD}"/>
                </a:ext>
              </a:extLst>
            </p:cNvPr>
            <p:cNvGrpSpPr/>
            <p:nvPr/>
          </p:nvGrpSpPr>
          <p:grpSpPr>
            <a:xfrm>
              <a:off x="4693491" y="1588356"/>
              <a:ext cx="2786477" cy="934104"/>
              <a:chOff x="4693491" y="1588356"/>
              <a:chExt cx="2786477" cy="934104"/>
            </a:xfrm>
          </p:grpSpPr>
          <p:grpSp>
            <p:nvGrpSpPr>
              <p:cNvPr id="5" name="Group 4">
                <a:extLst>
                  <a:ext uri="{FF2B5EF4-FFF2-40B4-BE49-F238E27FC236}">
                    <a16:creationId xmlns:a16="http://schemas.microsoft.com/office/drawing/2014/main" id="{5BF8499D-0B72-58EA-183A-5EB42DD3AB97}"/>
                  </a:ext>
                </a:extLst>
              </p:cNvPr>
              <p:cNvGrpSpPr/>
              <p:nvPr/>
            </p:nvGrpSpPr>
            <p:grpSpPr>
              <a:xfrm>
                <a:off x="4693491" y="1588356"/>
                <a:ext cx="2786477" cy="934104"/>
                <a:chOff x="3063195" y="1371002"/>
                <a:chExt cx="2786477" cy="934104"/>
              </a:xfrm>
            </p:grpSpPr>
            <p:sp>
              <p:nvSpPr>
                <p:cNvPr id="6" name="Rounded Rectangle 1">
                  <a:extLst>
                    <a:ext uri="{FF2B5EF4-FFF2-40B4-BE49-F238E27FC236}">
                      <a16:creationId xmlns:a16="http://schemas.microsoft.com/office/drawing/2014/main" id="{992F09D3-306F-E921-35F8-822FE53BBD00}"/>
                    </a:ext>
                  </a:extLst>
                </p:cNvPr>
                <p:cNvSpPr>
                  <a:spLocks noChangeArrowheads="1"/>
                </p:cNvSpPr>
                <p:nvPr/>
              </p:nvSpPr>
              <p:spPr bwMode="auto">
                <a:xfrm>
                  <a:off x="3201526" y="1381487"/>
                  <a:ext cx="2509815" cy="923619"/>
                </a:xfrm>
                <a:prstGeom prst="roundRect">
                  <a:avLst>
                    <a:gd name="adj" fmla="val 16667"/>
                  </a:avLst>
                </a:prstGeom>
                <a:solidFill>
                  <a:srgbClr val="297B49"/>
                </a:solidFill>
                <a:ln>
                  <a:noFill/>
                </a:ln>
              </p:spPr>
              <p:txBody>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eaLnBrk="1" hangingPunct="1"/>
                  <a:endParaRPr lang="en-US" altLang="en-US" sz="1013"/>
                </a:p>
              </p:txBody>
            </p:sp>
            <p:sp>
              <p:nvSpPr>
                <p:cNvPr id="7" name="TextBox 2">
                  <a:extLst>
                    <a:ext uri="{FF2B5EF4-FFF2-40B4-BE49-F238E27FC236}">
                      <a16:creationId xmlns:a16="http://schemas.microsoft.com/office/drawing/2014/main" id="{F838745C-DFC6-9A3C-C3B3-3DFE3D5EE8FE}"/>
                    </a:ext>
                  </a:extLst>
                </p:cNvPr>
                <p:cNvSpPr txBox="1">
                  <a:spLocks noChangeArrowheads="1"/>
                </p:cNvSpPr>
                <p:nvPr/>
              </p:nvSpPr>
              <p:spPr bwMode="auto">
                <a:xfrm>
                  <a:off x="3063195" y="1371002"/>
                  <a:ext cx="278647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eaLnBrk="1" hangingPunct="1">
                    <a:spcBef>
                      <a:spcPct val="0"/>
                    </a:spcBef>
                    <a:buFontTx/>
                    <a:buNone/>
                  </a:pPr>
                  <a:r>
                    <a:rPr lang="en-US" altLang="en-US" sz="1350" b="1">
                      <a:solidFill>
                        <a:schemeClr val="bg1"/>
                      </a:solidFill>
                    </a:rPr>
                    <a:t>Export to Excel</a:t>
                  </a:r>
                </a:p>
              </p:txBody>
            </p:sp>
          </p:grpSp>
          <p:pic>
            <p:nvPicPr>
              <p:cNvPr id="20" name="Picture 19">
                <a:extLst>
                  <a:ext uri="{FF2B5EF4-FFF2-40B4-BE49-F238E27FC236}">
                    <a16:creationId xmlns:a16="http://schemas.microsoft.com/office/drawing/2014/main" id="{4AA6E1CD-6EAF-6421-D2B0-FF6EC2A39918}"/>
                  </a:ext>
                </a:extLst>
              </p:cNvPr>
              <p:cNvPicPr>
                <a:picLocks noChangeAspect="1"/>
              </p:cNvPicPr>
              <p:nvPr/>
            </p:nvPicPr>
            <p:blipFill rotWithShape="1">
              <a:blip r:embed="rId16" cstate="print">
                <a:extLst>
                  <a:ext uri="{28A0092B-C50C-407E-A947-70E740481C1C}">
                    <a14:useLocalDpi xmlns:a14="http://schemas.microsoft.com/office/drawing/2010/main"/>
                  </a:ext>
                </a:extLst>
              </a:blip>
              <a:srcRect l="23115" t="25234" r="21151" b="25277"/>
              <a:stretch/>
            </p:blipFill>
            <p:spPr>
              <a:xfrm>
                <a:off x="5770452" y="1921416"/>
                <a:ext cx="632554" cy="561663"/>
              </a:xfrm>
              <a:prstGeom prst="rect">
                <a:avLst/>
              </a:prstGeom>
            </p:spPr>
          </p:pic>
        </p:grpSp>
        <p:cxnSp>
          <p:nvCxnSpPr>
            <p:cNvPr id="18" name="Straight Arrow Connector 17">
              <a:extLst>
                <a:ext uri="{FF2B5EF4-FFF2-40B4-BE49-F238E27FC236}">
                  <a16:creationId xmlns:a16="http://schemas.microsoft.com/office/drawing/2014/main" id="{C7918183-7CD1-D9D9-AB27-9052E30B5704}"/>
                </a:ext>
              </a:extLst>
            </p:cNvPr>
            <p:cNvCxnSpPr/>
            <p:nvPr/>
          </p:nvCxnSpPr>
          <p:spPr bwMode="auto">
            <a:xfrm flipV="1">
              <a:off x="3424909" y="2546119"/>
              <a:ext cx="1130300" cy="685800"/>
            </a:xfrm>
            <a:prstGeom prst="straightConnector1">
              <a:avLst/>
            </a:prstGeom>
            <a:ln w="57150">
              <a:solidFill>
                <a:schemeClr val="tx1"/>
              </a:solidFill>
              <a:headEnd type="none" w="med" len="med"/>
              <a:tailEnd type="arrow"/>
            </a:ln>
          </p:spPr>
          <p:style>
            <a:lnRef idx="1">
              <a:schemeClr val="dk1"/>
            </a:lnRef>
            <a:fillRef idx="0">
              <a:schemeClr val="dk1"/>
            </a:fillRef>
            <a:effectRef idx="0">
              <a:schemeClr val="dk1"/>
            </a:effectRef>
            <a:fontRef idx="minor">
              <a:schemeClr val="tx1"/>
            </a:fontRef>
          </p:style>
        </p:cxnSp>
      </p:grpSp>
    </p:spTree>
    <p:extLst>
      <p:ext uri="{BB962C8B-B14F-4D97-AF65-F5344CB8AC3E}">
        <p14:creationId xmlns:p14="http://schemas.microsoft.com/office/powerpoint/2010/main" val="1349613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E29CAE-DCE2-2572-B918-67E35757DD0F}"/>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01268662-EB3A-3220-A711-E3DDE6DEB9EA}"/>
              </a:ext>
            </a:extLst>
          </p:cNvPr>
          <p:cNvSpPr txBox="1">
            <a:spLocks/>
          </p:cNvSpPr>
          <p:nvPr/>
        </p:nvSpPr>
        <p:spPr>
          <a:xfrm>
            <a:off x="375047" y="95541"/>
            <a:ext cx="8393906" cy="662990"/>
          </a:xfrm>
          <a:prstGeom prst="rect">
            <a:avLst/>
          </a:prstGeom>
          <a:noFill/>
          <a:ln>
            <a:noFill/>
          </a:ln>
        </p:spPr>
        <p:txBody>
          <a:bodyPr lIns="68569" tIns="68569" rIns="68569" bIns="68569" anchor="ctr" anchorCtr="0">
            <a:no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r>
              <a:rPr lang="en-US" sz="2400" b="1" err="1">
                <a:solidFill>
                  <a:srgbClr val="16693F"/>
                </a:solidFill>
              </a:rPr>
              <a:t>GRNsight</a:t>
            </a:r>
            <a:r>
              <a:rPr lang="en-US" sz="2400" b="1">
                <a:solidFill>
                  <a:srgbClr val="16693F"/>
                </a:solidFill>
              </a:rPr>
              <a:t> is an integral part of a data analysis workflow for biologists who model GRNs</a:t>
            </a:r>
          </a:p>
        </p:txBody>
      </p:sp>
      <p:pic>
        <p:nvPicPr>
          <p:cNvPr id="25" name="Picture 24">
            <a:extLst>
              <a:ext uri="{FF2B5EF4-FFF2-40B4-BE49-F238E27FC236}">
                <a16:creationId xmlns:a16="http://schemas.microsoft.com/office/drawing/2014/main" id="{0DCDB54E-9FAE-43EA-98A0-C9D2DE183E68}"/>
              </a:ext>
            </a:extLst>
          </p:cNvPr>
          <p:cNvPicPr>
            <a:picLocks noChangeAspect="1"/>
          </p:cNvPicPr>
          <p:nvPr/>
        </p:nvPicPr>
        <p:blipFill>
          <a:blip r:embed="rId3" cstate="hqprint">
            <a:extLst>
              <a:ext uri="{28A0092B-C50C-407E-A947-70E740481C1C}">
                <a14:useLocalDpi xmlns:a14="http://schemas.microsoft.com/office/drawing/2010/main"/>
              </a:ext>
            </a:extLst>
          </a:blip>
          <a:srcRect t="-2516"/>
          <a:stretch>
            <a:fillRect/>
          </a:stretch>
        </p:blipFill>
        <p:spPr>
          <a:xfrm>
            <a:off x="310223" y="831949"/>
            <a:ext cx="2729209" cy="1661553"/>
          </a:xfrm>
          <a:prstGeom prst="rect">
            <a:avLst/>
          </a:prstGeom>
        </p:spPr>
      </p:pic>
      <p:pic>
        <p:nvPicPr>
          <p:cNvPr id="28" name="Picture 2" descr="figure01a">
            <a:extLst>
              <a:ext uri="{FF2B5EF4-FFF2-40B4-BE49-F238E27FC236}">
                <a16:creationId xmlns:a16="http://schemas.microsoft.com/office/drawing/2014/main" id="{8901F0D1-3A98-1B35-1F64-52EAFE7D9031}"/>
              </a:ext>
            </a:extLst>
          </p:cNvPr>
          <p:cNvPicPr>
            <a:picLocks noChangeAspect="1" noChangeArrowheads="1"/>
          </p:cNvPicPr>
          <p:nvPr/>
        </p:nvPicPr>
        <p:blipFill>
          <a:blip r:embed="rId4" cstate="email">
            <a:extLst>
              <a:ext uri="{28A0092B-C50C-407E-A947-70E740481C1C}">
                <a14:useLocalDpi xmlns:a14="http://schemas.microsoft.com/office/drawing/2010/main" val="0"/>
              </a:ext>
            </a:extLst>
          </a:blip>
          <a:srcRect/>
          <a:stretch>
            <a:fillRect/>
          </a:stretch>
        </p:blipFill>
        <p:spPr bwMode="auto">
          <a:xfrm>
            <a:off x="7658751" y="2333474"/>
            <a:ext cx="1483652" cy="11127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56" name="Group 55">
            <a:extLst>
              <a:ext uri="{FF2B5EF4-FFF2-40B4-BE49-F238E27FC236}">
                <a16:creationId xmlns:a16="http://schemas.microsoft.com/office/drawing/2014/main" id="{1ADF7FDD-F9E7-BBB1-2E4E-86EF0A3D5ECD}"/>
              </a:ext>
            </a:extLst>
          </p:cNvPr>
          <p:cNvGrpSpPr/>
          <p:nvPr/>
        </p:nvGrpSpPr>
        <p:grpSpPr>
          <a:xfrm>
            <a:off x="298848" y="2579270"/>
            <a:ext cx="1106008" cy="575789"/>
            <a:chOff x="398464" y="3439026"/>
            <a:chExt cx="1474677" cy="767719"/>
          </a:xfrm>
        </p:grpSpPr>
        <p:pic>
          <p:nvPicPr>
            <p:cNvPr id="23" name="Picture 22">
              <a:extLst>
                <a:ext uri="{FF2B5EF4-FFF2-40B4-BE49-F238E27FC236}">
                  <a16:creationId xmlns:a16="http://schemas.microsoft.com/office/drawing/2014/main" id="{AB383B82-7590-135B-468E-A31BA65EF438}"/>
                </a:ext>
              </a:extLst>
            </p:cNvPr>
            <p:cNvPicPr>
              <a:picLocks noChangeAspect="1"/>
            </p:cNvPicPr>
            <p:nvPr/>
          </p:nvPicPr>
          <p:blipFill>
            <a:blip r:embed="rId5">
              <a:extLst>
                <a:ext uri="{28A0092B-C50C-407E-A947-70E740481C1C}">
                  <a14:useLocalDpi xmlns:a14="http://schemas.microsoft.com/office/drawing/2010/main"/>
                </a:ext>
              </a:extLst>
            </a:blip>
            <a:stretch>
              <a:fillRect/>
            </a:stretch>
          </p:blipFill>
          <p:spPr>
            <a:xfrm>
              <a:off x="620742" y="3439026"/>
              <a:ext cx="1252399" cy="319996"/>
            </a:xfrm>
            <a:prstGeom prst="rect">
              <a:avLst/>
            </a:prstGeom>
          </p:spPr>
        </p:pic>
        <p:grpSp>
          <p:nvGrpSpPr>
            <p:cNvPr id="55" name="Group 54">
              <a:extLst>
                <a:ext uri="{FF2B5EF4-FFF2-40B4-BE49-F238E27FC236}">
                  <a16:creationId xmlns:a16="http://schemas.microsoft.com/office/drawing/2014/main" id="{E870A41D-61FC-1A8E-FBC2-1941F6980D37}"/>
                </a:ext>
              </a:extLst>
            </p:cNvPr>
            <p:cNvGrpSpPr/>
            <p:nvPr/>
          </p:nvGrpSpPr>
          <p:grpSpPr>
            <a:xfrm>
              <a:off x="398464" y="3872588"/>
              <a:ext cx="1474677" cy="334157"/>
              <a:chOff x="398464" y="3872588"/>
              <a:chExt cx="1474677" cy="334157"/>
            </a:xfrm>
          </p:grpSpPr>
          <p:pic>
            <p:nvPicPr>
              <p:cNvPr id="30" name="Picture 29">
                <a:extLst>
                  <a:ext uri="{FF2B5EF4-FFF2-40B4-BE49-F238E27FC236}">
                    <a16:creationId xmlns:a16="http://schemas.microsoft.com/office/drawing/2014/main" id="{DC248022-BCBD-9247-84F2-63ED3EF1A6E3}"/>
                  </a:ext>
                </a:extLst>
              </p:cNvPr>
              <p:cNvPicPr>
                <a:picLocks noChangeAspect="1"/>
              </p:cNvPicPr>
              <p:nvPr/>
            </p:nvPicPr>
            <p:blipFill>
              <a:blip r:embed="rId6" cstate="hqprint">
                <a:extLst>
                  <a:ext uri="{28A0092B-C50C-407E-A947-70E740481C1C}">
                    <a14:useLocalDpi xmlns:a14="http://schemas.microsoft.com/office/drawing/2010/main"/>
                  </a:ext>
                </a:extLst>
              </a:blip>
              <a:srcRect/>
              <a:stretch>
                <a:fillRect/>
              </a:stretch>
            </p:blipFill>
            <p:spPr>
              <a:xfrm>
                <a:off x="398464" y="3872588"/>
                <a:ext cx="744054" cy="334157"/>
              </a:xfrm>
              <a:prstGeom prst="rect">
                <a:avLst/>
              </a:prstGeom>
            </p:spPr>
          </p:pic>
          <p:pic>
            <p:nvPicPr>
              <p:cNvPr id="32" name="Picture 31">
                <a:extLst>
                  <a:ext uri="{FF2B5EF4-FFF2-40B4-BE49-F238E27FC236}">
                    <a16:creationId xmlns:a16="http://schemas.microsoft.com/office/drawing/2014/main" id="{2995A90B-101E-74C9-5284-1BD8E8C4A455}"/>
                  </a:ext>
                </a:extLst>
              </p:cNvPr>
              <p:cNvPicPr>
                <a:picLocks noChangeAspect="1"/>
              </p:cNvPicPr>
              <p:nvPr/>
            </p:nvPicPr>
            <p:blipFill>
              <a:blip r:embed="rId7" cstate="hqprint">
                <a:extLst>
                  <a:ext uri="{28A0092B-C50C-407E-A947-70E740481C1C}">
                    <a14:useLocalDpi xmlns:a14="http://schemas.microsoft.com/office/drawing/2010/main"/>
                  </a:ext>
                </a:extLst>
              </a:blip>
              <a:srcRect/>
              <a:stretch>
                <a:fillRect/>
              </a:stretch>
            </p:blipFill>
            <p:spPr>
              <a:xfrm>
                <a:off x="1142519" y="3872588"/>
                <a:ext cx="730622" cy="334157"/>
              </a:xfrm>
              <a:prstGeom prst="rect">
                <a:avLst/>
              </a:prstGeom>
            </p:spPr>
          </p:pic>
        </p:grpSp>
      </p:grpSp>
      <p:pic>
        <p:nvPicPr>
          <p:cNvPr id="35" name="Picture 34">
            <a:extLst>
              <a:ext uri="{FF2B5EF4-FFF2-40B4-BE49-F238E27FC236}">
                <a16:creationId xmlns:a16="http://schemas.microsoft.com/office/drawing/2014/main" id="{D90C9A17-38E5-1C7F-570E-069CF0C4CDD9}"/>
              </a:ext>
            </a:extLst>
          </p:cNvPr>
          <p:cNvPicPr>
            <a:picLocks noChangeAspect="1"/>
          </p:cNvPicPr>
          <p:nvPr/>
        </p:nvPicPr>
        <p:blipFill>
          <a:blip r:embed="rId8" cstate="hqprint">
            <a:extLst>
              <a:ext uri="{28A0092B-C50C-407E-A947-70E740481C1C}">
                <a14:useLocalDpi xmlns:a14="http://schemas.microsoft.com/office/drawing/2010/main"/>
              </a:ext>
            </a:extLst>
          </a:blip>
          <a:srcRect/>
          <a:stretch>
            <a:fillRect/>
          </a:stretch>
        </p:blipFill>
        <p:spPr>
          <a:xfrm>
            <a:off x="5893733" y="831949"/>
            <a:ext cx="543195" cy="865088"/>
          </a:xfrm>
          <a:prstGeom prst="rect">
            <a:avLst/>
          </a:prstGeom>
        </p:spPr>
      </p:pic>
      <p:pic>
        <p:nvPicPr>
          <p:cNvPr id="36" name="Picture 35">
            <a:extLst>
              <a:ext uri="{FF2B5EF4-FFF2-40B4-BE49-F238E27FC236}">
                <a16:creationId xmlns:a16="http://schemas.microsoft.com/office/drawing/2014/main" id="{65992C69-A89B-BB9A-387B-98A403F52AEF}"/>
              </a:ext>
            </a:extLst>
          </p:cNvPr>
          <p:cNvPicPr>
            <a:picLocks noChangeAspect="1"/>
          </p:cNvPicPr>
          <p:nvPr/>
        </p:nvPicPr>
        <p:blipFill>
          <a:blip r:embed="rId9" cstate="hqprint">
            <a:extLst>
              <a:ext uri="{28A0092B-C50C-407E-A947-70E740481C1C}">
                <a14:useLocalDpi xmlns:a14="http://schemas.microsoft.com/office/drawing/2010/main"/>
              </a:ext>
            </a:extLst>
          </a:blip>
          <a:srcRect/>
          <a:stretch>
            <a:fillRect/>
          </a:stretch>
        </p:blipFill>
        <p:spPr>
          <a:xfrm>
            <a:off x="6002833" y="936185"/>
            <a:ext cx="568754" cy="865088"/>
          </a:xfrm>
          <a:prstGeom prst="rect">
            <a:avLst/>
          </a:prstGeom>
        </p:spPr>
      </p:pic>
      <p:pic>
        <p:nvPicPr>
          <p:cNvPr id="37" name="Picture 36">
            <a:extLst>
              <a:ext uri="{FF2B5EF4-FFF2-40B4-BE49-F238E27FC236}">
                <a16:creationId xmlns:a16="http://schemas.microsoft.com/office/drawing/2014/main" id="{46D6C555-5168-7DE7-ACA5-47E8BF2DFB4B}"/>
              </a:ext>
            </a:extLst>
          </p:cNvPr>
          <p:cNvPicPr>
            <a:picLocks noChangeAspect="1"/>
          </p:cNvPicPr>
          <p:nvPr/>
        </p:nvPicPr>
        <p:blipFill>
          <a:blip r:embed="rId10" cstate="hqprint">
            <a:extLst>
              <a:ext uri="{28A0092B-C50C-407E-A947-70E740481C1C}">
                <a14:useLocalDpi xmlns:a14="http://schemas.microsoft.com/office/drawing/2010/main"/>
              </a:ext>
            </a:extLst>
          </a:blip>
          <a:srcRect/>
          <a:stretch>
            <a:fillRect/>
          </a:stretch>
        </p:blipFill>
        <p:spPr>
          <a:xfrm>
            <a:off x="6108122" y="1036395"/>
            <a:ext cx="483444" cy="869113"/>
          </a:xfrm>
          <a:prstGeom prst="rect">
            <a:avLst/>
          </a:prstGeom>
        </p:spPr>
      </p:pic>
      <p:pic>
        <p:nvPicPr>
          <p:cNvPr id="38" name="Picture 37">
            <a:extLst>
              <a:ext uri="{FF2B5EF4-FFF2-40B4-BE49-F238E27FC236}">
                <a16:creationId xmlns:a16="http://schemas.microsoft.com/office/drawing/2014/main" id="{F80EC255-7CB9-D2DD-E383-E12D48A85675}"/>
              </a:ext>
            </a:extLst>
          </p:cNvPr>
          <p:cNvPicPr>
            <a:picLocks noChangeAspect="1"/>
          </p:cNvPicPr>
          <p:nvPr/>
        </p:nvPicPr>
        <p:blipFill>
          <a:blip r:embed="rId11" cstate="hqprint">
            <a:extLst>
              <a:ext uri="{28A0092B-C50C-407E-A947-70E740481C1C}">
                <a14:useLocalDpi xmlns:a14="http://schemas.microsoft.com/office/drawing/2010/main"/>
              </a:ext>
            </a:extLst>
          </a:blip>
          <a:srcRect/>
          <a:stretch>
            <a:fillRect/>
          </a:stretch>
        </p:blipFill>
        <p:spPr>
          <a:xfrm>
            <a:off x="6205904" y="1141159"/>
            <a:ext cx="1518774" cy="866940"/>
          </a:xfrm>
          <a:prstGeom prst="rect">
            <a:avLst/>
          </a:prstGeom>
        </p:spPr>
      </p:pic>
      <p:pic>
        <p:nvPicPr>
          <p:cNvPr id="39" name="Picture 38">
            <a:extLst>
              <a:ext uri="{FF2B5EF4-FFF2-40B4-BE49-F238E27FC236}">
                <a16:creationId xmlns:a16="http://schemas.microsoft.com/office/drawing/2014/main" id="{CEB18DAD-1D65-D373-0BF2-D300C598208B}"/>
              </a:ext>
            </a:extLst>
          </p:cNvPr>
          <p:cNvPicPr>
            <a:picLocks noChangeAspect="1"/>
          </p:cNvPicPr>
          <p:nvPr/>
        </p:nvPicPr>
        <p:blipFill>
          <a:blip r:embed="rId12" cstate="hqprint">
            <a:extLst>
              <a:ext uri="{28A0092B-C50C-407E-A947-70E740481C1C}">
                <a14:useLocalDpi xmlns:a14="http://schemas.microsoft.com/office/drawing/2010/main"/>
              </a:ext>
            </a:extLst>
          </a:blip>
          <a:srcRect/>
          <a:stretch>
            <a:fillRect/>
          </a:stretch>
        </p:blipFill>
        <p:spPr>
          <a:xfrm>
            <a:off x="6349845" y="1252635"/>
            <a:ext cx="1666580" cy="865088"/>
          </a:xfrm>
          <a:prstGeom prst="rect">
            <a:avLst/>
          </a:prstGeom>
        </p:spPr>
      </p:pic>
      <p:pic>
        <p:nvPicPr>
          <p:cNvPr id="40" name="Picture 39">
            <a:extLst>
              <a:ext uri="{FF2B5EF4-FFF2-40B4-BE49-F238E27FC236}">
                <a16:creationId xmlns:a16="http://schemas.microsoft.com/office/drawing/2014/main" id="{7409F8A9-1DBF-DBAA-F54B-6C8E0934ECD2}"/>
              </a:ext>
            </a:extLst>
          </p:cNvPr>
          <p:cNvPicPr>
            <a:picLocks noChangeAspect="1"/>
          </p:cNvPicPr>
          <p:nvPr/>
        </p:nvPicPr>
        <p:blipFill>
          <a:blip r:embed="rId13" cstate="hqprint">
            <a:extLst>
              <a:ext uri="{28A0092B-C50C-407E-A947-70E740481C1C}">
                <a14:useLocalDpi xmlns:a14="http://schemas.microsoft.com/office/drawing/2010/main"/>
              </a:ext>
            </a:extLst>
          </a:blip>
          <a:srcRect/>
          <a:stretch>
            <a:fillRect/>
          </a:stretch>
        </p:blipFill>
        <p:spPr>
          <a:xfrm>
            <a:off x="6592714" y="1368729"/>
            <a:ext cx="1765385" cy="866940"/>
          </a:xfrm>
          <a:prstGeom prst="rect">
            <a:avLst/>
          </a:prstGeom>
        </p:spPr>
      </p:pic>
      <p:pic>
        <p:nvPicPr>
          <p:cNvPr id="43" name="Picture 42">
            <a:extLst>
              <a:ext uri="{FF2B5EF4-FFF2-40B4-BE49-F238E27FC236}">
                <a16:creationId xmlns:a16="http://schemas.microsoft.com/office/drawing/2014/main" id="{12F28709-79ED-0C09-A5F1-AE0AC22635D7}"/>
              </a:ext>
            </a:extLst>
          </p:cNvPr>
          <p:cNvPicPr>
            <a:picLocks noChangeAspect="1"/>
          </p:cNvPicPr>
          <p:nvPr/>
        </p:nvPicPr>
        <p:blipFill>
          <a:blip r:embed="rId14" cstate="hqprint">
            <a:extLst>
              <a:ext uri="{28A0092B-C50C-407E-A947-70E740481C1C}">
                <a14:useLocalDpi xmlns:a14="http://schemas.microsoft.com/office/drawing/2010/main"/>
              </a:ext>
            </a:extLst>
          </a:blip>
          <a:srcRect/>
          <a:stretch>
            <a:fillRect/>
          </a:stretch>
        </p:blipFill>
        <p:spPr>
          <a:xfrm>
            <a:off x="310223" y="3302021"/>
            <a:ext cx="1339998" cy="1745939"/>
          </a:xfrm>
          <a:prstGeom prst="rect">
            <a:avLst/>
          </a:prstGeom>
        </p:spPr>
      </p:pic>
      <p:pic>
        <p:nvPicPr>
          <p:cNvPr id="45" name="Picture 44">
            <a:extLst>
              <a:ext uri="{FF2B5EF4-FFF2-40B4-BE49-F238E27FC236}">
                <a16:creationId xmlns:a16="http://schemas.microsoft.com/office/drawing/2014/main" id="{8B38B715-A2AF-44A8-B0CA-ACC395D413EB}"/>
              </a:ext>
            </a:extLst>
          </p:cNvPr>
          <p:cNvPicPr>
            <a:picLocks noChangeAspect="1"/>
          </p:cNvPicPr>
          <p:nvPr/>
        </p:nvPicPr>
        <p:blipFill>
          <a:blip r:embed="rId15" cstate="hqprint">
            <a:extLst>
              <a:ext uri="{28A0092B-C50C-407E-A947-70E740481C1C}">
                <a14:useLocalDpi xmlns:a14="http://schemas.microsoft.com/office/drawing/2010/main"/>
              </a:ext>
            </a:extLst>
          </a:blip>
          <a:srcRect/>
          <a:stretch>
            <a:fillRect/>
          </a:stretch>
        </p:blipFill>
        <p:spPr>
          <a:xfrm>
            <a:off x="3955689" y="1993011"/>
            <a:ext cx="1215486" cy="1745938"/>
          </a:xfrm>
          <a:prstGeom prst="rect">
            <a:avLst/>
          </a:prstGeom>
        </p:spPr>
      </p:pic>
      <p:pic>
        <p:nvPicPr>
          <p:cNvPr id="47" name="Picture 46">
            <a:extLst>
              <a:ext uri="{FF2B5EF4-FFF2-40B4-BE49-F238E27FC236}">
                <a16:creationId xmlns:a16="http://schemas.microsoft.com/office/drawing/2014/main" id="{1E42A7F9-97B9-EA45-EC9E-F2B70119834C}"/>
              </a:ext>
            </a:extLst>
          </p:cNvPr>
          <p:cNvPicPr>
            <a:picLocks noChangeAspect="1"/>
          </p:cNvPicPr>
          <p:nvPr/>
        </p:nvPicPr>
        <p:blipFill>
          <a:blip r:embed="rId16" cstate="hqprint">
            <a:extLst>
              <a:ext uri="{28A0092B-C50C-407E-A947-70E740481C1C}">
                <a14:useLocalDpi xmlns:a14="http://schemas.microsoft.com/office/drawing/2010/main"/>
              </a:ext>
            </a:extLst>
          </a:blip>
          <a:srcRect/>
          <a:stretch>
            <a:fillRect/>
          </a:stretch>
        </p:blipFill>
        <p:spPr>
          <a:xfrm>
            <a:off x="1660377" y="3306910"/>
            <a:ext cx="1021950" cy="1741050"/>
          </a:xfrm>
          <a:prstGeom prst="rect">
            <a:avLst/>
          </a:prstGeom>
        </p:spPr>
      </p:pic>
      <p:grpSp>
        <p:nvGrpSpPr>
          <p:cNvPr id="60" name="Group 59">
            <a:extLst>
              <a:ext uri="{FF2B5EF4-FFF2-40B4-BE49-F238E27FC236}">
                <a16:creationId xmlns:a16="http://schemas.microsoft.com/office/drawing/2014/main" id="{9862455D-77B6-4E99-CF5A-48F18033E6B3}"/>
              </a:ext>
            </a:extLst>
          </p:cNvPr>
          <p:cNvGrpSpPr/>
          <p:nvPr/>
        </p:nvGrpSpPr>
        <p:grpSpPr>
          <a:xfrm>
            <a:off x="1478107" y="1191267"/>
            <a:ext cx="6170489" cy="3340926"/>
            <a:chOff x="1970808" y="1588356"/>
            <a:chExt cx="8227319" cy="4454568"/>
          </a:xfrm>
        </p:grpSpPr>
        <p:cxnSp>
          <p:nvCxnSpPr>
            <p:cNvPr id="8" name="Straight Arrow Connector 7">
              <a:extLst>
                <a:ext uri="{FF2B5EF4-FFF2-40B4-BE49-F238E27FC236}">
                  <a16:creationId xmlns:a16="http://schemas.microsoft.com/office/drawing/2014/main" id="{07979187-693B-A670-65C4-1ABFFF125347}"/>
                </a:ext>
              </a:extLst>
            </p:cNvPr>
            <p:cNvCxnSpPr/>
            <p:nvPr/>
          </p:nvCxnSpPr>
          <p:spPr bwMode="auto">
            <a:xfrm>
              <a:off x="7653424" y="2546119"/>
              <a:ext cx="1130300" cy="685800"/>
            </a:xfrm>
            <a:prstGeom prst="straightConnector1">
              <a:avLst/>
            </a:prstGeom>
            <a:ln w="57150">
              <a:solidFill>
                <a:schemeClr val="tx1"/>
              </a:solidFill>
              <a:headEnd type="none" w="med" len="med"/>
              <a:tailEnd type="arrow"/>
            </a:ln>
          </p:spPr>
          <p:style>
            <a:lnRef idx="1">
              <a:schemeClr val="dk1"/>
            </a:lnRef>
            <a:fillRef idx="0">
              <a:schemeClr val="dk1"/>
            </a:fillRef>
            <a:effectRef idx="0">
              <a:schemeClr val="dk1"/>
            </a:effectRef>
            <a:fontRef idx="minor">
              <a:schemeClr val="tx1"/>
            </a:fontRef>
          </p:style>
        </p:cxnSp>
        <p:sp>
          <p:nvSpPr>
            <p:cNvPr id="13" name="TextBox 5">
              <a:extLst>
                <a:ext uri="{FF2B5EF4-FFF2-40B4-BE49-F238E27FC236}">
                  <a16:creationId xmlns:a16="http://schemas.microsoft.com/office/drawing/2014/main" id="{34BFFD70-69FB-9038-178A-827D998EF91D}"/>
                </a:ext>
              </a:extLst>
            </p:cNvPr>
            <p:cNvSpPr txBox="1">
              <a:spLocks noChangeArrowheads="1"/>
            </p:cNvSpPr>
            <p:nvPr/>
          </p:nvSpPr>
          <p:spPr bwMode="auto">
            <a:xfrm>
              <a:off x="4934997" y="5119595"/>
              <a:ext cx="2303463" cy="923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eaLnBrk="1" hangingPunct="1">
                <a:spcBef>
                  <a:spcPct val="0"/>
                </a:spcBef>
                <a:buFontTx/>
                <a:buNone/>
              </a:pPr>
              <a:r>
                <a:rPr lang="en-US" altLang="en-US" sz="1350" b="1">
                  <a:solidFill>
                    <a:schemeClr val="bg1"/>
                  </a:solidFill>
                </a:rPr>
                <a:t>Visualization of  modeling results using </a:t>
              </a:r>
              <a:r>
                <a:rPr lang="en-US" altLang="en-US" sz="1350" b="1" err="1">
                  <a:solidFill>
                    <a:schemeClr val="bg1"/>
                  </a:solidFill>
                </a:rPr>
                <a:t>GRNsight</a:t>
              </a:r>
              <a:endParaRPr lang="en-US" altLang="en-US" sz="1350" b="1">
                <a:solidFill>
                  <a:schemeClr val="bg1"/>
                </a:solidFill>
              </a:endParaRPr>
            </a:p>
          </p:txBody>
        </p:sp>
        <p:grpSp>
          <p:nvGrpSpPr>
            <p:cNvPr id="57" name="Group 56">
              <a:extLst>
                <a:ext uri="{FF2B5EF4-FFF2-40B4-BE49-F238E27FC236}">
                  <a16:creationId xmlns:a16="http://schemas.microsoft.com/office/drawing/2014/main" id="{D7C62B03-DF28-7D5B-E659-94D892F29F49}"/>
                </a:ext>
              </a:extLst>
            </p:cNvPr>
            <p:cNvGrpSpPr/>
            <p:nvPr/>
          </p:nvGrpSpPr>
          <p:grpSpPr>
            <a:xfrm>
              <a:off x="1970808" y="3349262"/>
              <a:ext cx="2579808" cy="923619"/>
              <a:chOff x="1970808" y="3349262"/>
              <a:chExt cx="2579808" cy="923619"/>
            </a:xfrm>
          </p:grpSpPr>
          <p:sp>
            <p:nvSpPr>
              <p:cNvPr id="15" name="Rounded Rectangle 1">
                <a:extLst>
                  <a:ext uri="{FF2B5EF4-FFF2-40B4-BE49-F238E27FC236}">
                    <a16:creationId xmlns:a16="http://schemas.microsoft.com/office/drawing/2014/main" id="{32C48A53-C719-8AE1-E1E2-ABBBD0A051D4}"/>
                  </a:ext>
                </a:extLst>
              </p:cNvPr>
              <p:cNvSpPr>
                <a:spLocks noChangeArrowheads="1"/>
              </p:cNvSpPr>
              <p:nvPr/>
            </p:nvSpPr>
            <p:spPr bwMode="auto">
              <a:xfrm>
                <a:off x="2005805" y="3349262"/>
                <a:ext cx="2509815" cy="923619"/>
              </a:xfrm>
              <a:prstGeom prst="roundRect">
                <a:avLst>
                  <a:gd name="adj" fmla="val 16667"/>
                </a:avLst>
              </a:prstGeom>
              <a:solidFill>
                <a:srgbClr val="16693F"/>
              </a:solidFill>
              <a:ln>
                <a:noFill/>
              </a:ln>
            </p:spPr>
            <p:txBody>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eaLnBrk="1" hangingPunct="1"/>
                <a:endParaRPr lang="en-US" altLang="en-US" sz="1013"/>
              </a:p>
            </p:txBody>
          </p:sp>
          <p:sp>
            <p:nvSpPr>
              <p:cNvPr id="16" name="TextBox 5">
                <a:extLst>
                  <a:ext uri="{FF2B5EF4-FFF2-40B4-BE49-F238E27FC236}">
                    <a16:creationId xmlns:a16="http://schemas.microsoft.com/office/drawing/2014/main" id="{A299ED93-B6B7-D105-E212-42867E98547A}"/>
                  </a:ext>
                </a:extLst>
              </p:cNvPr>
              <p:cNvSpPr txBox="1">
                <a:spLocks noChangeArrowheads="1"/>
              </p:cNvSpPr>
              <p:nvPr/>
            </p:nvSpPr>
            <p:spPr bwMode="auto">
              <a:xfrm>
                <a:off x="1970808" y="3349406"/>
                <a:ext cx="2579808"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eaLnBrk="1" hangingPunct="1">
                  <a:spcBef>
                    <a:spcPct val="0"/>
                  </a:spcBef>
                  <a:buFontTx/>
                  <a:buNone/>
                </a:pPr>
                <a:r>
                  <a:rPr lang="en-US" altLang="en-US" sz="1350" b="1">
                    <a:solidFill>
                      <a:schemeClr val="bg1"/>
                    </a:solidFill>
                  </a:rPr>
                  <a:t>Select network and expression data from </a:t>
                </a:r>
                <a:r>
                  <a:rPr lang="en-US" altLang="en-US" sz="1350" b="1" err="1">
                    <a:solidFill>
                      <a:schemeClr val="bg1"/>
                    </a:solidFill>
                  </a:rPr>
                  <a:t>GRNsight</a:t>
                </a:r>
                <a:r>
                  <a:rPr lang="en-US" altLang="en-US" sz="1350" b="1">
                    <a:solidFill>
                      <a:schemeClr val="bg1"/>
                    </a:solidFill>
                  </a:rPr>
                  <a:t> database</a:t>
                </a:r>
              </a:p>
            </p:txBody>
          </p:sp>
        </p:grpSp>
        <p:grpSp>
          <p:nvGrpSpPr>
            <p:cNvPr id="58" name="Group 57">
              <a:extLst>
                <a:ext uri="{FF2B5EF4-FFF2-40B4-BE49-F238E27FC236}">
                  <a16:creationId xmlns:a16="http://schemas.microsoft.com/office/drawing/2014/main" id="{B81F1703-B65C-A190-4B28-8FDFFBC1641A}"/>
                </a:ext>
              </a:extLst>
            </p:cNvPr>
            <p:cNvGrpSpPr/>
            <p:nvPr/>
          </p:nvGrpSpPr>
          <p:grpSpPr>
            <a:xfrm>
              <a:off x="4693491" y="1588356"/>
              <a:ext cx="2786477" cy="934104"/>
              <a:chOff x="4693491" y="1588356"/>
              <a:chExt cx="2786477" cy="934104"/>
            </a:xfrm>
          </p:grpSpPr>
          <p:grpSp>
            <p:nvGrpSpPr>
              <p:cNvPr id="5" name="Group 4">
                <a:extLst>
                  <a:ext uri="{FF2B5EF4-FFF2-40B4-BE49-F238E27FC236}">
                    <a16:creationId xmlns:a16="http://schemas.microsoft.com/office/drawing/2014/main" id="{9C53DB1E-45FE-793F-3F5B-E4852AAA307A}"/>
                  </a:ext>
                </a:extLst>
              </p:cNvPr>
              <p:cNvGrpSpPr/>
              <p:nvPr/>
            </p:nvGrpSpPr>
            <p:grpSpPr>
              <a:xfrm>
                <a:off x="4693491" y="1588356"/>
                <a:ext cx="2786477" cy="934104"/>
                <a:chOff x="3063195" y="1371002"/>
                <a:chExt cx="2786477" cy="934104"/>
              </a:xfrm>
            </p:grpSpPr>
            <p:sp>
              <p:nvSpPr>
                <p:cNvPr id="6" name="Rounded Rectangle 1">
                  <a:extLst>
                    <a:ext uri="{FF2B5EF4-FFF2-40B4-BE49-F238E27FC236}">
                      <a16:creationId xmlns:a16="http://schemas.microsoft.com/office/drawing/2014/main" id="{A5A81733-7FC0-11C8-1ED0-F6D7CA20B9CF}"/>
                    </a:ext>
                  </a:extLst>
                </p:cNvPr>
                <p:cNvSpPr>
                  <a:spLocks noChangeArrowheads="1"/>
                </p:cNvSpPr>
                <p:nvPr/>
              </p:nvSpPr>
              <p:spPr bwMode="auto">
                <a:xfrm>
                  <a:off x="3201526" y="1381487"/>
                  <a:ext cx="2509815" cy="923619"/>
                </a:xfrm>
                <a:prstGeom prst="roundRect">
                  <a:avLst>
                    <a:gd name="adj" fmla="val 16667"/>
                  </a:avLst>
                </a:prstGeom>
                <a:solidFill>
                  <a:srgbClr val="297B49"/>
                </a:solidFill>
                <a:ln>
                  <a:noFill/>
                </a:ln>
              </p:spPr>
              <p:txBody>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eaLnBrk="1" hangingPunct="1"/>
                  <a:endParaRPr lang="en-US" altLang="en-US" sz="1013"/>
                </a:p>
              </p:txBody>
            </p:sp>
            <p:sp>
              <p:nvSpPr>
                <p:cNvPr id="7" name="TextBox 2">
                  <a:extLst>
                    <a:ext uri="{FF2B5EF4-FFF2-40B4-BE49-F238E27FC236}">
                      <a16:creationId xmlns:a16="http://schemas.microsoft.com/office/drawing/2014/main" id="{10D98282-C228-0FB9-EE90-D6180D1E7A08}"/>
                    </a:ext>
                  </a:extLst>
                </p:cNvPr>
                <p:cNvSpPr txBox="1">
                  <a:spLocks noChangeArrowheads="1"/>
                </p:cNvSpPr>
                <p:nvPr/>
              </p:nvSpPr>
              <p:spPr bwMode="auto">
                <a:xfrm>
                  <a:off x="3063195" y="1371002"/>
                  <a:ext cx="278647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eaLnBrk="1" hangingPunct="1">
                    <a:spcBef>
                      <a:spcPct val="0"/>
                    </a:spcBef>
                    <a:buFontTx/>
                    <a:buNone/>
                  </a:pPr>
                  <a:r>
                    <a:rPr lang="en-US" altLang="en-US" sz="1350" b="1">
                      <a:solidFill>
                        <a:schemeClr val="bg1"/>
                      </a:solidFill>
                    </a:rPr>
                    <a:t>Export to Excel</a:t>
                  </a:r>
                </a:p>
              </p:txBody>
            </p:sp>
          </p:grpSp>
          <p:pic>
            <p:nvPicPr>
              <p:cNvPr id="20" name="Picture 19">
                <a:extLst>
                  <a:ext uri="{FF2B5EF4-FFF2-40B4-BE49-F238E27FC236}">
                    <a16:creationId xmlns:a16="http://schemas.microsoft.com/office/drawing/2014/main" id="{0AFDA3DF-F1EB-FDEF-2D84-D00230D308E0}"/>
                  </a:ext>
                </a:extLst>
              </p:cNvPr>
              <p:cNvPicPr>
                <a:picLocks noChangeAspect="1"/>
              </p:cNvPicPr>
              <p:nvPr/>
            </p:nvPicPr>
            <p:blipFill rotWithShape="1">
              <a:blip r:embed="rId17" cstate="print">
                <a:extLst>
                  <a:ext uri="{28A0092B-C50C-407E-A947-70E740481C1C}">
                    <a14:useLocalDpi xmlns:a14="http://schemas.microsoft.com/office/drawing/2010/main"/>
                  </a:ext>
                </a:extLst>
              </a:blip>
              <a:srcRect l="23115" t="25234" r="21151" b="25277"/>
              <a:stretch/>
            </p:blipFill>
            <p:spPr>
              <a:xfrm>
                <a:off x="5770452" y="1921416"/>
                <a:ext cx="632554" cy="561663"/>
              </a:xfrm>
              <a:prstGeom prst="rect">
                <a:avLst/>
              </a:prstGeom>
            </p:spPr>
          </p:pic>
        </p:grpSp>
        <p:grpSp>
          <p:nvGrpSpPr>
            <p:cNvPr id="54" name="Group 53">
              <a:extLst>
                <a:ext uri="{FF2B5EF4-FFF2-40B4-BE49-F238E27FC236}">
                  <a16:creationId xmlns:a16="http://schemas.microsoft.com/office/drawing/2014/main" id="{844701F5-4AC8-4D84-01CA-442DA0E5D815}"/>
                </a:ext>
              </a:extLst>
            </p:cNvPr>
            <p:cNvGrpSpPr/>
            <p:nvPr/>
          </p:nvGrpSpPr>
          <p:grpSpPr>
            <a:xfrm>
              <a:off x="7688312" y="3352656"/>
              <a:ext cx="2509815" cy="923619"/>
              <a:chOff x="7688312" y="3428856"/>
              <a:chExt cx="2509815" cy="923619"/>
            </a:xfrm>
          </p:grpSpPr>
          <p:sp>
            <p:nvSpPr>
              <p:cNvPr id="9" name="Rounded Rectangle 1">
                <a:extLst>
                  <a:ext uri="{FF2B5EF4-FFF2-40B4-BE49-F238E27FC236}">
                    <a16:creationId xmlns:a16="http://schemas.microsoft.com/office/drawing/2014/main" id="{0BC81124-DF91-49F2-F240-BC61CC0ED4DD}"/>
                  </a:ext>
                </a:extLst>
              </p:cNvPr>
              <p:cNvSpPr>
                <a:spLocks noChangeArrowheads="1"/>
              </p:cNvSpPr>
              <p:nvPr/>
            </p:nvSpPr>
            <p:spPr bwMode="auto">
              <a:xfrm>
                <a:off x="7688312" y="3428856"/>
                <a:ext cx="2509815" cy="923619"/>
              </a:xfrm>
              <a:prstGeom prst="roundRect">
                <a:avLst>
                  <a:gd name="adj" fmla="val 16667"/>
                </a:avLst>
              </a:prstGeom>
              <a:solidFill>
                <a:srgbClr val="378B57"/>
              </a:solidFill>
              <a:ln>
                <a:noFill/>
              </a:ln>
            </p:spPr>
            <p:txBody>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eaLnBrk="1" hangingPunct="1"/>
                <a:endParaRPr lang="en-US" altLang="en-US" sz="1013"/>
              </a:p>
            </p:txBody>
          </p:sp>
          <p:sp>
            <p:nvSpPr>
              <p:cNvPr id="10" name="TextBox 5">
                <a:extLst>
                  <a:ext uri="{FF2B5EF4-FFF2-40B4-BE49-F238E27FC236}">
                    <a16:creationId xmlns:a16="http://schemas.microsoft.com/office/drawing/2014/main" id="{0D87B7FF-76A3-3DD3-F9F7-BE5C8DC8199B}"/>
                  </a:ext>
                </a:extLst>
              </p:cNvPr>
              <p:cNvSpPr txBox="1">
                <a:spLocks noChangeArrowheads="1"/>
              </p:cNvSpPr>
              <p:nvPr/>
            </p:nvSpPr>
            <p:spPr bwMode="auto">
              <a:xfrm>
                <a:off x="7688312" y="3429000"/>
                <a:ext cx="2509815"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eaLnBrk="1" hangingPunct="1">
                  <a:spcBef>
                    <a:spcPct val="0"/>
                  </a:spcBef>
                  <a:buFontTx/>
                  <a:buNone/>
                </a:pPr>
                <a:r>
                  <a:rPr lang="en-US" altLang="en-US" sz="1350" b="1">
                    <a:solidFill>
                      <a:schemeClr val="bg1"/>
                    </a:solidFill>
                  </a:rPr>
                  <a:t>Dynamical systems modeling using </a:t>
                </a:r>
                <a:r>
                  <a:rPr lang="en-US" altLang="en-US" sz="1350" b="1" err="1">
                    <a:solidFill>
                      <a:schemeClr val="bg1"/>
                    </a:solidFill>
                  </a:rPr>
                  <a:t>GRNmap</a:t>
                </a:r>
                <a:endParaRPr lang="en-US" altLang="en-US" sz="1350" b="1">
                  <a:solidFill>
                    <a:schemeClr val="bg1"/>
                  </a:solidFill>
                </a:endParaRPr>
              </a:p>
            </p:txBody>
          </p:sp>
          <p:pic>
            <p:nvPicPr>
              <p:cNvPr id="21" name="Picture 20">
                <a:extLst>
                  <a:ext uri="{FF2B5EF4-FFF2-40B4-BE49-F238E27FC236}">
                    <a16:creationId xmlns:a16="http://schemas.microsoft.com/office/drawing/2014/main" id="{F9264181-A08F-0BB2-A502-565CAA9D932B}"/>
                  </a:ext>
                </a:extLst>
              </p:cNvPr>
              <p:cNvPicPr>
                <a:picLocks noChangeAspect="1"/>
              </p:cNvPicPr>
              <p:nvPr/>
            </p:nvPicPr>
            <p:blipFill>
              <a:blip r:embed="rId18" cstate="print">
                <a:extLst>
                  <a:ext uri="{28A0092B-C50C-407E-A947-70E740481C1C}">
                    <a14:useLocalDpi xmlns:a14="http://schemas.microsoft.com/office/drawing/2010/main"/>
                  </a:ext>
                </a:extLst>
              </a:blip>
              <a:stretch>
                <a:fillRect/>
              </a:stretch>
            </p:blipFill>
            <p:spPr>
              <a:xfrm>
                <a:off x="9544907" y="3745107"/>
                <a:ext cx="577385" cy="511340"/>
              </a:xfrm>
              <a:prstGeom prst="rect">
                <a:avLst/>
              </a:prstGeom>
            </p:spPr>
          </p:pic>
        </p:grpSp>
        <p:cxnSp>
          <p:nvCxnSpPr>
            <p:cNvPr id="18" name="Straight Arrow Connector 17">
              <a:extLst>
                <a:ext uri="{FF2B5EF4-FFF2-40B4-BE49-F238E27FC236}">
                  <a16:creationId xmlns:a16="http://schemas.microsoft.com/office/drawing/2014/main" id="{8C4C3580-B144-CF4D-F90F-56799EBF5EE6}"/>
                </a:ext>
              </a:extLst>
            </p:cNvPr>
            <p:cNvCxnSpPr/>
            <p:nvPr/>
          </p:nvCxnSpPr>
          <p:spPr bwMode="auto">
            <a:xfrm flipV="1">
              <a:off x="3424909" y="2546119"/>
              <a:ext cx="1130300" cy="685800"/>
            </a:xfrm>
            <a:prstGeom prst="straightConnector1">
              <a:avLst/>
            </a:prstGeom>
            <a:ln w="57150">
              <a:solidFill>
                <a:schemeClr val="tx1"/>
              </a:solidFill>
              <a:headEnd type="none" w="med" len="med"/>
              <a:tailEnd type="arrow"/>
            </a:ln>
          </p:spPr>
          <p:style>
            <a:lnRef idx="1">
              <a:schemeClr val="dk1"/>
            </a:lnRef>
            <a:fillRef idx="0">
              <a:schemeClr val="dk1"/>
            </a:fillRef>
            <a:effectRef idx="0">
              <a:schemeClr val="dk1"/>
            </a:effectRef>
            <a:fontRef idx="minor">
              <a:schemeClr val="tx1"/>
            </a:fontRef>
          </p:style>
        </p:cxnSp>
      </p:grpSp>
    </p:spTree>
    <p:extLst>
      <p:ext uri="{BB962C8B-B14F-4D97-AF65-F5344CB8AC3E}">
        <p14:creationId xmlns:p14="http://schemas.microsoft.com/office/powerpoint/2010/main" val="109116947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2CF76D-08F0-00EB-6DA6-23E44A7ABAA3}"/>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897D1AFE-BD6E-E1D3-7898-0B41FDE259B8}"/>
              </a:ext>
            </a:extLst>
          </p:cNvPr>
          <p:cNvSpPr txBox="1">
            <a:spLocks/>
          </p:cNvSpPr>
          <p:nvPr/>
        </p:nvSpPr>
        <p:spPr>
          <a:xfrm>
            <a:off x="375047" y="95541"/>
            <a:ext cx="8393906" cy="662990"/>
          </a:xfrm>
          <a:prstGeom prst="rect">
            <a:avLst/>
          </a:prstGeom>
          <a:noFill/>
          <a:ln>
            <a:noFill/>
          </a:ln>
        </p:spPr>
        <p:txBody>
          <a:bodyPr lIns="68569" tIns="68569" rIns="68569" bIns="68569" anchor="ctr" anchorCtr="0">
            <a:no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r>
              <a:rPr lang="en-US" sz="2400" b="1" err="1">
                <a:solidFill>
                  <a:srgbClr val="16693F"/>
                </a:solidFill>
              </a:rPr>
              <a:t>GRNsight</a:t>
            </a:r>
            <a:r>
              <a:rPr lang="en-US" sz="2400" b="1">
                <a:solidFill>
                  <a:srgbClr val="16693F"/>
                </a:solidFill>
              </a:rPr>
              <a:t> is an integral part of a data analysis workflow for biologists who model GRNs</a:t>
            </a:r>
          </a:p>
        </p:txBody>
      </p:sp>
      <p:pic>
        <p:nvPicPr>
          <p:cNvPr id="25" name="Picture 24">
            <a:extLst>
              <a:ext uri="{FF2B5EF4-FFF2-40B4-BE49-F238E27FC236}">
                <a16:creationId xmlns:a16="http://schemas.microsoft.com/office/drawing/2014/main" id="{FF6F1138-2A49-7AD6-F7C0-B1ACC3713F96}"/>
              </a:ext>
            </a:extLst>
          </p:cNvPr>
          <p:cNvPicPr>
            <a:picLocks noChangeAspect="1"/>
          </p:cNvPicPr>
          <p:nvPr/>
        </p:nvPicPr>
        <p:blipFill>
          <a:blip r:embed="rId3" cstate="hqprint">
            <a:extLst>
              <a:ext uri="{28A0092B-C50C-407E-A947-70E740481C1C}">
                <a14:useLocalDpi xmlns:a14="http://schemas.microsoft.com/office/drawing/2010/main"/>
              </a:ext>
            </a:extLst>
          </a:blip>
          <a:srcRect t="-2516"/>
          <a:stretch>
            <a:fillRect/>
          </a:stretch>
        </p:blipFill>
        <p:spPr>
          <a:xfrm>
            <a:off x="310223" y="831949"/>
            <a:ext cx="2729209" cy="1661553"/>
          </a:xfrm>
          <a:prstGeom prst="rect">
            <a:avLst/>
          </a:prstGeom>
        </p:spPr>
      </p:pic>
      <p:pic>
        <p:nvPicPr>
          <p:cNvPr id="27" name="Picture 26">
            <a:extLst>
              <a:ext uri="{FF2B5EF4-FFF2-40B4-BE49-F238E27FC236}">
                <a16:creationId xmlns:a16="http://schemas.microsoft.com/office/drawing/2014/main" id="{8BE73EE6-1B32-E1AA-241E-56ABFE83DC41}"/>
              </a:ext>
            </a:extLst>
          </p:cNvPr>
          <p:cNvPicPr>
            <a:picLocks noChangeAspect="1"/>
          </p:cNvPicPr>
          <p:nvPr/>
        </p:nvPicPr>
        <p:blipFill>
          <a:blip r:embed="rId4" cstate="hqprint">
            <a:extLst>
              <a:ext uri="{28A0092B-C50C-407E-A947-70E740481C1C}">
                <a14:useLocalDpi xmlns:a14="http://schemas.microsoft.com/office/drawing/2010/main"/>
              </a:ext>
            </a:extLst>
          </a:blip>
          <a:srcRect t="-1050"/>
          <a:stretch>
            <a:fillRect/>
          </a:stretch>
        </p:blipFill>
        <p:spPr>
          <a:xfrm>
            <a:off x="6002767" y="3443817"/>
            <a:ext cx="2767419" cy="1601485"/>
          </a:xfrm>
          <a:prstGeom prst="rect">
            <a:avLst/>
          </a:prstGeom>
        </p:spPr>
      </p:pic>
      <p:pic>
        <p:nvPicPr>
          <p:cNvPr id="28" name="Picture 2" descr="figure01a">
            <a:extLst>
              <a:ext uri="{FF2B5EF4-FFF2-40B4-BE49-F238E27FC236}">
                <a16:creationId xmlns:a16="http://schemas.microsoft.com/office/drawing/2014/main" id="{46E31C4D-1D0E-7A7A-8175-3270B22B25D2}"/>
              </a:ext>
            </a:extLst>
          </p:cNvPr>
          <p:cNvPicPr>
            <a:picLocks noChangeAspect="1" noChangeArrowheads="1"/>
          </p:cNvPicPr>
          <p:nvPr/>
        </p:nvPicPr>
        <p:blipFill>
          <a:blip r:embed="rId5" cstate="email">
            <a:extLst>
              <a:ext uri="{28A0092B-C50C-407E-A947-70E740481C1C}">
                <a14:useLocalDpi xmlns:a14="http://schemas.microsoft.com/office/drawing/2010/main" val="0"/>
              </a:ext>
            </a:extLst>
          </a:blip>
          <a:srcRect/>
          <a:stretch>
            <a:fillRect/>
          </a:stretch>
        </p:blipFill>
        <p:spPr bwMode="auto">
          <a:xfrm>
            <a:off x="7658751" y="2333474"/>
            <a:ext cx="1483652" cy="11127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56" name="Group 55">
            <a:extLst>
              <a:ext uri="{FF2B5EF4-FFF2-40B4-BE49-F238E27FC236}">
                <a16:creationId xmlns:a16="http://schemas.microsoft.com/office/drawing/2014/main" id="{D614D137-B5F3-9C58-F552-37872F660071}"/>
              </a:ext>
            </a:extLst>
          </p:cNvPr>
          <p:cNvGrpSpPr/>
          <p:nvPr/>
        </p:nvGrpSpPr>
        <p:grpSpPr>
          <a:xfrm>
            <a:off x="298848" y="2579270"/>
            <a:ext cx="1106008" cy="575789"/>
            <a:chOff x="398464" y="3439026"/>
            <a:chExt cx="1474677" cy="767719"/>
          </a:xfrm>
        </p:grpSpPr>
        <p:pic>
          <p:nvPicPr>
            <p:cNvPr id="23" name="Picture 22">
              <a:extLst>
                <a:ext uri="{FF2B5EF4-FFF2-40B4-BE49-F238E27FC236}">
                  <a16:creationId xmlns:a16="http://schemas.microsoft.com/office/drawing/2014/main" id="{17284F8B-7AC9-662A-0DDF-BBCABE4E0CCB}"/>
                </a:ext>
              </a:extLst>
            </p:cNvPr>
            <p:cNvPicPr>
              <a:picLocks noChangeAspect="1"/>
            </p:cNvPicPr>
            <p:nvPr/>
          </p:nvPicPr>
          <p:blipFill>
            <a:blip r:embed="rId6">
              <a:extLst>
                <a:ext uri="{28A0092B-C50C-407E-A947-70E740481C1C}">
                  <a14:useLocalDpi xmlns:a14="http://schemas.microsoft.com/office/drawing/2010/main"/>
                </a:ext>
              </a:extLst>
            </a:blip>
            <a:stretch>
              <a:fillRect/>
            </a:stretch>
          </p:blipFill>
          <p:spPr>
            <a:xfrm>
              <a:off x="620742" y="3439026"/>
              <a:ext cx="1252399" cy="319996"/>
            </a:xfrm>
            <a:prstGeom prst="rect">
              <a:avLst/>
            </a:prstGeom>
          </p:spPr>
        </p:pic>
        <p:grpSp>
          <p:nvGrpSpPr>
            <p:cNvPr id="55" name="Group 54">
              <a:extLst>
                <a:ext uri="{FF2B5EF4-FFF2-40B4-BE49-F238E27FC236}">
                  <a16:creationId xmlns:a16="http://schemas.microsoft.com/office/drawing/2014/main" id="{A9765ABC-AAFC-DBD5-CE14-87447769504A}"/>
                </a:ext>
              </a:extLst>
            </p:cNvPr>
            <p:cNvGrpSpPr/>
            <p:nvPr/>
          </p:nvGrpSpPr>
          <p:grpSpPr>
            <a:xfrm>
              <a:off x="398464" y="3872588"/>
              <a:ext cx="1474677" cy="334157"/>
              <a:chOff x="398464" y="3872588"/>
              <a:chExt cx="1474677" cy="334157"/>
            </a:xfrm>
          </p:grpSpPr>
          <p:pic>
            <p:nvPicPr>
              <p:cNvPr id="30" name="Picture 29">
                <a:extLst>
                  <a:ext uri="{FF2B5EF4-FFF2-40B4-BE49-F238E27FC236}">
                    <a16:creationId xmlns:a16="http://schemas.microsoft.com/office/drawing/2014/main" id="{AE692BEA-A606-728C-5F02-479C2994A68C}"/>
                  </a:ext>
                </a:extLst>
              </p:cNvPr>
              <p:cNvPicPr>
                <a:picLocks noChangeAspect="1"/>
              </p:cNvPicPr>
              <p:nvPr/>
            </p:nvPicPr>
            <p:blipFill>
              <a:blip r:embed="rId7" cstate="hqprint">
                <a:extLst>
                  <a:ext uri="{28A0092B-C50C-407E-A947-70E740481C1C}">
                    <a14:useLocalDpi xmlns:a14="http://schemas.microsoft.com/office/drawing/2010/main"/>
                  </a:ext>
                </a:extLst>
              </a:blip>
              <a:srcRect/>
              <a:stretch>
                <a:fillRect/>
              </a:stretch>
            </p:blipFill>
            <p:spPr>
              <a:xfrm>
                <a:off x="398464" y="3872588"/>
                <a:ext cx="744054" cy="334157"/>
              </a:xfrm>
              <a:prstGeom prst="rect">
                <a:avLst/>
              </a:prstGeom>
            </p:spPr>
          </p:pic>
          <p:pic>
            <p:nvPicPr>
              <p:cNvPr id="32" name="Picture 31">
                <a:extLst>
                  <a:ext uri="{FF2B5EF4-FFF2-40B4-BE49-F238E27FC236}">
                    <a16:creationId xmlns:a16="http://schemas.microsoft.com/office/drawing/2014/main" id="{40E99A9D-20E3-6025-526B-5F66AB941E2B}"/>
                  </a:ext>
                </a:extLst>
              </p:cNvPr>
              <p:cNvPicPr>
                <a:picLocks noChangeAspect="1"/>
              </p:cNvPicPr>
              <p:nvPr/>
            </p:nvPicPr>
            <p:blipFill>
              <a:blip r:embed="rId8" cstate="hqprint">
                <a:extLst>
                  <a:ext uri="{28A0092B-C50C-407E-A947-70E740481C1C}">
                    <a14:useLocalDpi xmlns:a14="http://schemas.microsoft.com/office/drawing/2010/main"/>
                  </a:ext>
                </a:extLst>
              </a:blip>
              <a:srcRect/>
              <a:stretch>
                <a:fillRect/>
              </a:stretch>
            </p:blipFill>
            <p:spPr>
              <a:xfrm>
                <a:off x="1142519" y="3872588"/>
                <a:ext cx="730622" cy="334157"/>
              </a:xfrm>
              <a:prstGeom prst="rect">
                <a:avLst/>
              </a:prstGeom>
            </p:spPr>
          </p:pic>
        </p:grpSp>
      </p:grpSp>
      <p:pic>
        <p:nvPicPr>
          <p:cNvPr id="35" name="Picture 34">
            <a:extLst>
              <a:ext uri="{FF2B5EF4-FFF2-40B4-BE49-F238E27FC236}">
                <a16:creationId xmlns:a16="http://schemas.microsoft.com/office/drawing/2014/main" id="{7A8AE5AC-3818-EEA1-A670-2EF9EDA7BFB7}"/>
              </a:ext>
            </a:extLst>
          </p:cNvPr>
          <p:cNvPicPr>
            <a:picLocks noChangeAspect="1"/>
          </p:cNvPicPr>
          <p:nvPr/>
        </p:nvPicPr>
        <p:blipFill>
          <a:blip r:embed="rId9" cstate="hqprint">
            <a:extLst>
              <a:ext uri="{28A0092B-C50C-407E-A947-70E740481C1C}">
                <a14:useLocalDpi xmlns:a14="http://schemas.microsoft.com/office/drawing/2010/main"/>
              </a:ext>
            </a:extLst>
          </a:blip>
          <a:srcRect/>
          <a:stretch>
            <a:fillRect/>
          </a:stretch>
        </p:blipFill>
        <p:spPr>
          <a:xfrm>
            <a:off x="5893733" y="831949"/>
            <a:ext cx="543195" cy="865088"/>
          </a:xfrm>
          <a:prstGeom prst="rect">
            <a:avLst/>
          </a:prstGeom>
        </p:spPr>
      </p:pic>
      <p:pic>
        <p:nvPicPr>
          <p:cNvPr id="36" name="Picture 35">
            <a:extLst>
              <a:ext uri="{FF2B5EF4-FFF2-40B4-BE49-F238E27FC236}">
                <a16:creationId xmlns:a16="http://schemas.microsoft.com/office/drawing/2014/main" id="{DB4CA081-D09B-C089-30CE-330EF59D7BC4}"/>
              </a:ext>
            </a:extLst>
          </p:cNvPr>
          <p:cNvPicPr>
            <a:picLocks noChangeAspect="1"/>
          </p:cNvPicPr>
          <p:nvPr/>
        </p:nvPicPr>
        <p:blipFill>
          <a:blip r:embed="rId10" cstate="hqprint">
            <a:extLst>
              <a:ext uri="{28A0092B-C50C-407E-A947-70E740481C1C}">
                <a14:useLocalDpi xmlns:a14="http://schemas.microsoft.com/office/drawing/2010/main"/>
              </a:ext>
            </a:extLst>
          </a:blip>
          <a:srcRect/>
          <a:stretch>
            <a:fillRect/>
          </a:stretch>
        </p:blipFill>
        <p:spPr>
          <a:xfrm>
            <a:off x="6002833" y="936185"/>
            <a:ext cx="568754" cy="865088"/>
          </a:xfrm>
          <a:prstGeom prst="rect">
            <a:avLst/>
          </a:prstGeom>
        </p:spPr>
      </p:pic>
      <p:pic>
        <p:nvPicPr>
          <p:cNvPr id="37" name="Picture 36">
            <a:extLst>
              <a:ext uri="{FF2B5EF4-FFF2-40B4-BE49-F238E27FC236}">
                <a16:creationId xmlns:a16="http://schemas.microsoft.com/office/drawing/2014/main" id="{2F8D9E65-4150-55F6-6B9F-A185D904E0DE}"/>
              </a:ext>
            </a:extLst>
          </p:cNvPr>
          <p:cNvPicPr>
            <a:picLocks noChangeAspect="1"/>
          </p:cNvPicPr>
          <p:nvPr/>
        </p:nvPicPr>
        <p:blipFill>
          <a:blip r:embed="rId11" cstate="hqprint">
            <a:extLst>
              <a:ext uri="{28A0092B-C50C-407E-A947-70E740481C1C}">
                <a14:useLocalDpi xmlns:a14="http://schemas.microsoft.com/office/drawing/2010/main"/>
              </a:ext>
            </a:extLst>
          </a:blip>
          <a:srcRect/>
          <a:stretch>
            <a:fillRect/>
          </a:stretch>
        </p:blipFill>
        <p:spPr>
          <a:xfrm>
            <a:off x="6108122" y="1036395"/>
            <a:ext cx="483444" cy="869113"/>
          </a:xfrm>
          <a:prstGeom prst="rect">
            <a:avLst/>
          </a:prstGeom>
        </p:spPr>
      </p:pic>
      <p:pic>
        <p:nvPicPr>
          <p:cNvPr id="38" name="Picture 37">
            <a:extLst>
              <a:ext uri="{FF2B5EF4-FFF2-40B4-BE49-F238E27FC236}">
                <a16:creationId xmlns:a16="http://schemas.microsoft.com/office/drawing/2014/main" id="{F9865082-3CE9-E503-1AD3-CE34E97C28AE}"/>
              </a:ext>
            </a:extLst>
          </p:cNvPr>
          <p:cNvPicPr>
            <a:picLocks noChangeAspect="1"/>
          </p:cNvPicPr>
          <p:nvPr/>
        </p:nvPicPr>
        <p:blipFill>
          <a:blip r:embed="rId12" cstate="hqprint">
            <a:extLst>
              <a:ext uri="{28A0092B-C50C-407E-A947-70E740481C1C}">
                <a14:useLocalDpi xmlns:a14="http://schemas.microsoft.com/office/drawing/2010/main"/>
              </a:ext>
            </a:extLst>
          </a:blip>
          <a:srcRect/>
          <a:stretch>
            <a:fillRect/>
          </a:stretch>
        </p:blipFill>
        <p:spPr>
          <a:xfrm>
            <a:off x="6205904" y="1141159"/>
            <a:ext cx="1518774" cy="866940"/>
          </a:xfrm>
          <a:prstGeom prst="rect">
            <a:avLst/>
          </a:prstGeom>
        </p:spPr>
      </p:pic>
      <p:pic>
        <p:nvPicPr>
          <p:cNvPr id="39" name="Picture 38">
            <a:extLst>
              <a:ext uri="{FF2B5EF4-FFF2-40B4-BE49-F238E27FC236}">
                <a16:creationId xmlns:a16="http://schemas.microsoft.com/office/drawing/2014/main" id="{A79F5608-795D-1842-6239-677B39373DCE}"/>
              </a:ext>
            </a:extLst>
          </p:cNvPr>
          <p:cNvPicPr>
            <a:picLocks noChangeAspect="1"/>
          </p:cNvPicPr>
          <p:nvPr/>
        </p:nvPicPr>
        <p:blipFill>
          <a:blip r:embed="rId13" cstate="hqprint">
            <a:extLst>
              <a:ext uri="{28A0092B-C50C-407E-A947-70E740481C1C}">
                <a14:useLocalDpi xmlns:a14="http://schemas.microsoft.com/office/drawing/2010/main"/>
              </a:ext>
            </a:extLst>
          </a:blip>
          <a:srcRect/>
          <a:stretch>
            <a:fillRect/>
          </a:stretch>
        </p:blipFill>
        <p:spPr>
          <a:xfrm>
            <a:off x="6349845" y="1252635"/>
            <a:ext cx="1666580" cy="865088"/>
          </a:xfrm>
          <a:prstGeom prst="rect">
            <a:avLst/>
          </a:prstGeom>
        </p:spPr>
      </p:pic>
      <p:pic>
        <p:nvPicPr>
          <p:cNvPr id="40" name="Picture 39">
            <a:extLst>
              <a:ext uri="{FF2B5EF4-FFF2-40B4-BE49-F238E27FC236}">
                <a16:creationId xmlns:a16="http://schemas.microsoft.com/office/drawing/2014/main" id="{95E96DA3-D6B3-B21D-EDDF-75D6104EFA0B}"/>
              </a:ext>
            </a:extLst>
          </p:cNvPr>
          <p:cNvPicPr>
            <a:picLocks noChangeAspect="1"/>
          </p:cNvPicPr>
          <p:nvPr/>
        </p:nvPicPr>
        <p:blipFill>
          <a:blip r:embed="rId14" cstate="hqprint">
            <a:extLst>
              <a:ext uri="{28A0092B-C50C-407E-A947-70E740481C1C}">
                <a14:useLocalDpi xmlns:a14="http://schemas.microsoft.com/office/drawing/2010/main"/>
              </a:ext>
            </a:extLst>
          </a:blip>
          <a:srcRect/>
          <a:stretch>
            <a:fillRect/>
          </a:stretch>
        </p:blipFill>
        <p:spPr>
          <a:xfrm>
            <a:off x="6592714" y="1368729"/>
            <a:ext cx="1765385" cy="866940"/>
          </a:xfrm>
          <a:prstGeom prst="rect">
            <a:avLst/>
          </a:prstGeom>
        </p:spPr>
      </p:pic>
      <p:pic>
        <p:nvPicPr>
          <p:cNvPr id="43" name="Picture 42">
            <a:extLst>
              <a:ext uri="{FF2B5EF4-FFF2-40B4-BE49-F238E27FC236}">
                <a16:creationId xmlns:a16="http://schemas.microsoft.com/office/drawing/2014/main" id="{1F9228EB-941C-73E8-CE9A-8A7E43666716}"/>
              </a:ext>
            </a:extLst>
          </p:cNvPr>
          <p:cNvPicPr>
            <a:picLocks noChangeAspect="1"/>
          </p:cNvPicPr>
          <p:nvPr/>
        </p:nvPicPr>
        <p:blipFill>
          <a:blip r:embed="rId15" cstate="hqprint">
            <a:extLst>
              <a:ext uri="{28A0092B-C50C-407E-A947-70E740481C1C}">
                <a14:useLocalDpi xmlns:a14="http://schemas.microsoft.com/office/drawing/2010/main"/>
              </a:ext>
            </a:extLst>
          </a:blip>
          <a:srcRect/>
          <a:stretch>
            <a:fillRect/>
          </a:stretch>
        </p:blipFill>
        <p:spPr>
          <a:xfrm>
            <a:off x="310223" y="3302021"/>
            <a:ext cx="1339998" cy="1745939"/>
          </a:xfrm>
          <a:prstGeom prst="rect">
            <a:avLst/>
          </a:prstGeom>
        </p:spPr>
      </p:pic>
      <p:pic>
        <p:nvPicPr>
          <p:cNvPr id="45" name="Picture 44">
            <a:extLst>
              <a:ext uri="{FF2B5EF4-FFF2-40B4-BE49-F238E27FC236}">
                <a16:creationId xmlns:a16="http://schemas.microsoft.com/office/drawing/2014/main" id="{78AC20C1-9DE1-2068-21BC-E4AE34AC4329}"/>
              </a:ext>
            </a:extLst>
          </p:cNvPr>
          <p:cNvPicPr>
            <a:picLocks noChangeAspect="1"/>
          </p:cNvPicPr>
          <p:nvPr/>
        </p:nvPicPr>
        <p:blipFill>
          <a:blip r:embed="rId16" cstate="hqprint">
            <a:extLst>
              <a:ext uri="{28A0092B-C50C-407E-A947-70E740481C1C}">
                <a14:useLocalDpi xmlns:a14="http://schemas.microsoft.com/office/drawing/2010/main"/>
              </a:ext>
            </a:extLst>
          </a:blip>
          <a:srcRect/>
          <a:stretch>
            <a:fillRect/>
          </a:stretch>
        </p:blipFill>
        <p:spPr>
          <a:xfrm>
            <a:off x="3955689" y="1993011"/>
            <a:ext cx="1215486" cy="1745938"/>
          </a:xfrm>
          <a:prstGeom prst="rect">
            <a:avLst/>
          </a:prstGeom>
        </p:spPr>
      </p:pic>
      <p:pic>
        <p:nvPicPr>
          <p:cNvPr id="47" name="Picture 46">
            <a:extLst>
              <a:ext uri="{FF2B5EF4-FFF2-40B4-BE49-F238E27FC236}">
                <a16:creationId xmlns:a16="http://schemas.microsoft.com/office/drawing/2014/main" id="{379B6887-47CD-760B-DFE2-18FD000656C3}"/>
              </a:ext>
            </a:extLst>
          </p:cNvPr>
          <p:cNvPicPr>
            <a:picLocks noChangeAspect="1"/>
          </p:cNvPicPr>
          <p:nvPr/>
        </p:nvPicPr>
        <p:blipFill>
          <a:blip r:embed="rId17" cstate="hqprint">
            <a:extLst>
              <a:ext uri="{28A0092B-C50C-407E-A947-70E740481C1C}">
                <a14:useLocalDpi xmlns:a14="http://schemas.microsoft.com/office/drawing/2010/main"/>
              </a:ext>
            </a:extLst>
          </a:blip>
          <a:srcRect/>
          <a:stretch>
            <a:fillRect/>
          </a:stretch>
        </p:blipFill>
        <p:spPr>
          <a:xfrm>
            <a:off x="1660377" y="3306910"/>
            <a:ext cx="1021950" cy="1741050"/>
          </a:xfrm>
          <a:prstGeom prst="rect">
            <a:avLst/>
          </a:prstGeom>
        </p:spPr>
      </p:pic>
      <p:grpSp>
        <p:nvGrpSpPr>
          <p:cNvPr id="60" name="Group 59">
            <a:extLst>
              <a:ext uri="{FF2B5EF4-FFF2-40B4-BE49-F238E27FC236}">
                <a16:creationId xmlns:a16="http://schemas.microsoft.com/office/drawing/2014/main" id="{BA824031-F6CD-08F6-188B-E0A713B64D7C}"/>
              </a:ext>
            </a:extLst>
          </p:cNvPr>
          <p:cNvGrpSpPr/>
          <p:nvPr/>
        </p:nvGrpSpPr>
        <p:grpSpPr>
          <a:xfrm>
            <a:off x="1478107" y="1191267"/>
            <a:ext cx="6170489" cy="3341036"/>
            <a:chOff x="1970808" y="1588356"/>
            <a:chExt cx="8227319" cy="4454714"/>
          </a:xfrm>
        </p:grpSpPr>
        <p:cxnSp>
          <p:nvCxnSpPr>
            <p:cNvPr id="8" name="Straight Arrow Connector 7">
              <a:extLst>
                <a:ext uri="{FF2B5EF4-FFF2-40B4-BE49-F238E27FC236}">
                  <a16:creationId xmlns:a16="http://schemas.microsoft.com/office/drawing/2014/main" id="{D6C82913-F3B3-9F79-6A34-B49300DFF4A9}"/>
                </a:ext>
              </a:extLst>
            </p:cNvPr>
            <p:cNvCxnSpPr/>
            <p:nvPr/>
          </p:nvCxnSpPr>
          <p:spPr bwMode="auto">
            <a:xfrm>
              <a:off x="7653424" y="2546119"/>
              <a:ext cx="1130300" cy="685800"/>
            </a:xfrm>
            <a:prstGeom prst="straightConnector1">
              <a:avLst/>
            </a:prstGeom>
            <a:ln w="57150">
              <a:solidFill>
                <a:schemeClr val="tx1"/>
              </a:solidFill>
              <a:headEnd type="none" w="med" len="med"/>
              <a:tailEnd type="arrow"/>
            </a:ln>
          </p:spPr>
          <p:style>
            <a:lnRef idx="1">
              <a:schemeClr val="dk1"/>
            </a:lnRef>
            <a:fillRef idx="0">
              <a:schemeClr val="dk1"/>
            </a:fillRef>
            <a:effectRef idx="0">
              <a:schemeClr val="dk1"/>
            </a:effectRef>
            <a:fontRef idx="minor">
              <a:schemeClr val="tx1"/>
            </a:fontRef>
          </p:style>
        </p:cxnSp>
        <p:grpSp>
          <p:nvGrpSpPr>
            <p:cNvPr id="59" name="Group 58">
              <a:extLst>
                <a:ext uri="{FF2B5EF4-FFF2-40B4-BE49-F238E27FC236}">
                  <a16:creationId xmlns:a16="http://schemas.microsoft.com/office/drawing/2014/main" id="{498F556B-B236-B2A6-E302-CED365103838}"/>
                </a:ext>
              </a:extLst>
            </p:cNvPr>
            <p:cNvGrpSpPr/>
            <p:nvPr/>
          </p:nvGrpSpPr>
          <p:grpSpPr>
            <a:xfrm>
              <a:off x="4831822" y="5119451"/>
              <a:ext cx="2509815" cy="923619"/>
              <a:chOff x="4831822" y="5119451"/>
              <a:chExt cx="2509815" cy="923619"/>
            </a:xfrm>
          </p:grpSpPr>
          <p:sp>
            <p:nvSpPr>
              <p:cNvPr id="12" name="Rounded Rectangle 1">
                <a:extLst>
                  <a:ext uri="{FF2B5EF4-FFF2-40B4-BE49-F238E27FC236}">
                    <a16:creationId xmlns:a16="http://schemas.microsoft.com/office/drawing/2014/main" id="{AFFAE34F-4EF4-17EE-84EC-B138743758C3}"/>
                  </a:ext>
                </a:extLst>
              </p:cNvPr>
              <p:cNvSpPr>
                <a:spLocks noChangeArrowheads="1"/>
              </p:cNvSpPr>
              <p:nvPr/>
            </p:nvSpPr>
            <p:spPr bwMode="auto">
              <a:xfrm>
                <a:off x="4831822" y="5119451"/>
                <a:ext cx="2509815" cy="923619"/>
              </a:xfrm>
              <a:prstGeom prst="roundRect">
                <a:avLst>
                  <a:gd name="adj" fmla="val 16667"/>
                </a:avLst>
              </a:prstGeom>
              <a:solidFill>
                <a:srgbClr val="16693F"/>
              </a:solidFill>
              <a:ln>
                <a:noFill/>
              </a:ln>
            </p:spPr>
            <p:txBody>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eaLnBrk="1" hangingPunct="1"/>
                <a:endParaRPr lang="en-US" altLang="en-US" sz="1013"/>
              </a:p>
            </p:txBody>
          </p:sp>
          <p:sp>
            <p:nvSpPr>
              <p:cNvPr id="13" name="TextBox 5">
                <a:extLst>
                  <a:ext uri="{FF2B5EF4-FFF2-40B4-BE49-F238E27FC236}">
                    <a16:creationId xmlns:a16="http://schemas.microsoft.com/office/drawing/2014/main" id="{D6804071-751A-BDF6-5CAC-6CF968D7C5C0}"/>
                  </a:ext>
                </a:extLst>
              </p:cNvPr>
              <p:cNvSpPr txBox="1">
                <a:spLocks noChangeArrowheads="1"/>
              </p:cNvSpPr>
              <p:nvPr/>
            </p:nvSpPr>
            <p:spPr bwMode="auto">
              <a:xfrm>
                <a:off x="4934998" y="5119595"/>
                <a:ext cx="2303463"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eaLnBrk="1" hangingPunct="1">
                  <a:spcBef>
                    <a:spcPct val="0"/>
                  </a:spcBef>
                  <a:buFontTx/>
                  <a:buNone/>
                </a:pPr>
                <a:r>
                  <a:rPr lang="en-US" altLang="en-US" sz="1350" b="1">
                    <a:solidFill>
                      <a:schemeClr val="bg1"/>
                    </a:solidFill>
                  </a:rPr>
                  <a:t>Visualization of  modeling results using </a:t>
                </a:r>
                <a:r>
                  <a:rPr lang="en-US" altLang="en-US" sz="1350" b="1" err="1">
                    <a:solidFill>
                      <a:schemeClr val="bg1"/>
                    </a:solidFill>
                  </a:rPr>
                  <a:t>GRNsight</a:t>
                </a:r>
                <a:endParaRPr lang="en-US" altLang="en-US" sz="1350" b="1">
                  <a:solidFill>
                    <a:schemeClr val="bg1"/>
                  </a:solidFill>
                </a:endParaRPr>
              </a:p>
            </p:txBody>
          </p:sp>
        </p:grpSp>
        <p:grpSp>
          <p:nvGrpSpPr>
            <p:cNvPr id="57" name="Group 56">
              <a:extLst>
                <a:ext uri="{FF2B5EF4-FFF2-40B4-BE49-F238E27FC236}">
                  <a16:creationId xmlns:a16="http://schemas.microsoft.com/office/drawing/2014/main" id="{3D8B2E5D-CE44-E437-281D-733B75762FAA}"/>
                </a:ext>
              </a:extLst>
            </p:cNvPr>
            <p:cNvGrpSpPr/>
            <p:nvPr/>
          </p:nvGrpSpPr>
          <p:grpSpPr>
            <a:xfrm>
              <a:off x="1970808" y="3349262"/>
              <a:ext cx="2579808" cy="923619"/>
              <a:chOff x="1970808" y="3349262"/>
              <a:chExt cx="2579808" cy="923619"/>
            </a:xfrm>
          </p:grpSpPr>
          <p:sp>
            <p:nvSpPr>
              <p:cNvPr id="15" name="Rounded Rectangle 1">
                <a:extLst>
                  <a:ext uri="{FF2B5EF4-FFF2-40B4-BE49-F238E27FC236}">
                    <a16:creationId xmlns:a16="http://schemas.microsoft.com/office/drawing/2014/main" id="{B6098750-897C-346A-A3BC-201A0A2A733A}"/>
                  </a:ext>
                </a:extLst>
              </p:cNvPr>
              <p:cNvSpPr>
                <a:spLocks noChangeArrowheads="1"/>
              </p:cNvSpPr>
              <p:nvPr/>
            </p:nvSpPr>
            <p:spPr bwMode="auto">
              <a:xfrm>
                <a:off x="2005805" y="3349262"/>
                <a:ext cx="2509815" cy="923619"/>
              </a:xfrm>
              <a:prstGeom prst="roundRect">
                <a:avLst>
                  <a:gd name="adj" fmla="val 16667"/>
                </a:avLst>
              </a:prstGeom>
              <a:solidFill>
                <a:srgbClr val="16693F"/>
              </a:solidFill>
              <a:ln>
                <a:noFill/>
              </a:ln>
            </p:spPr>
            <p:txBody>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eaLnBrk="1" hangingPunct="1"/>
                <a:endParaRPr lang="en-US" altLang="en-US" sz="1013"/>
              </a:p>
            </p:txBody>
          </p:sp>
          <p:sp>
            <p:nvSpPr>
              <p:cNvPr id="16" name="TextBox 5">
                <a:extLst>
                  <a:ext uri="{FF2B5EF4-FFF2-40B4-BE49-F238E27FC236}">
                    <a16:creationId xmlns:a16="http://schemas.microsoft.com/office/drawing/2014/main" id="{68504A33-341C-686C-0589-15876F646560}"/>
                  </a:ext>
                </a:extLst>
              </p:cNvPr>
              <p:cNvSpPr txBox="1">
                <a:spLocks noChangeArrowheads="1"/>
              </p:cNvSpPr>
              <p:nvPr/>
            </p:nvSpPr>
            <p:spPr bwMode="auto">
              <a:xfrm>
                <a:off x="1970808" y="3349406"/>
                <a:ext cx="2579808"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eaLnBrk="1" hangingPunct="1">
                  <a:spcBef>
                    <a:spcPct val="0"/>
                  </a:spcBef>
                  <a:buFontTx/>
                  <a:buNone/>
                </a:pPr>
                <a:r>
                  <a:rPr lang="en-US" altLang="en-US" sz="1350" b="1">
                    <a:solidFill>
                      <a:schemeClr val="bg1"/>
                    </a:solidFill>
                  </a:rPr>
                  <a:t>Select network and expression data from </a:t>
                </a:r>
                <a:r>
                  <a:rPr lang="en-US" altLang="en-US" sz="1350" b="1" err="1">
                    <a:solidFill>
                      <a:schemeClr val="bg1"/>
                    </a:solidFill>
                  </a:rPr>
                  <a:t>GRNsight</a:t>
                </a:r>
                <a:r>
                  <a:rPr lang="en-US" altLang="en-US" sz="1350" b="1">
                    <a:solidFill>
                      <a:schemeClr val="bg1"/>
                    </a:solidFill>
                  </a:rPr>
                  <a:t> database</a:t>
                </a:r>
              </a:p>
            </p:txBody>
          </p:sp>
        </p:grpSp>
        <p:grpSp>
          <p:nvGrpSpPr>
            <p:cNvPr id="58" name="Group 57">
              <a:extLst>
                <a:ext uri="{FF2B5EF4-FFF2-40B4-BE49-F238E27FC236}">
                  <a16:creationId xmlns:a16="http://schemas.microsoft.com/office/drawing/2014/main" id="{07E243B1-2DA6-2E75-DC1B-8277A9A33D1B}"/>
                </a:ext>
              </a:extLst>
            </p:cNvPr>
            <p:cNvGrpSpPr/>
            <p:nvPr/>
          </p:nvGrpSpPr>
          <p:grpSpPr>
            <a:xfrm>
              <a:off x="4693491" y="1588356"/>
              <a:ext cx="2786477" cy="934104"/>
              <a:chOff x="4693491" y="1588356"/>
              <a:chExt cx="2786477" cy="934104"/>
            </a:xfrm>
          </p:grpSpPr>
          <p:grpSp>
            <p:nvGrpSpPr>
              <p:cNvPr id="5" name="Group 4">
                <a:extLst>
                  <a:ext uri="{FF2B5EF4-FFF2-40B4-BE49-F238E27FC236}">
                    <a16:creationId xmlns:a16="http://schemas.microsoft.com/office/drawing/2014/main" id="{0D6E66EE-35D7-0803-1E5D-1CA10AE7D592}"/>
                  </a:ext>
                </a:extLst>
              </p:cNvPr>
              <p:cNvGrpSpPr/>
              <p:nvPr/>
            </p:nvGrpSpPr>
            <p:grpSpPr>
              <a:xfrm>
                <a:off x="4693491" y="1588356"/>
                <a:ext cx="2786477" cy="934104"/>
                <a:chOff x="3063195" y="1371002"/>
                <a:chExt cx="2786477" cy="934104"/>
              </a:xfrm>
            </p:grpSpPr>
            <p:sp>
              <p:nvSpPr>
                <p:cNvPr id="6" name="Rounded Rectangle 1">
                  <a:extLst>
                    <a:ext uri="{FF2B5EF4-FFF2-40B4-BE49-F238E27FC236}">
                      <a16:creationId xmlns:a16="http://schemas.microsoft.com/office/drawing/2014/main" id="{AE1745F5-A742-6C5B-93D6-7F83DD3B148E}"/>
                    </a:ext>
                  </a:extLst>
                </p:cNvPr>
                <p:cNvSpPr>
                  <a:spLocks noChangeArrowheads="1"/>
                </p:cNvSpPr>
                <p:nvPr/>
              </p:nvSpPr>
              <p:spPr bwMode="auto">
                <a:xfrm>
                  <a:off x="3201526" y="1381487"/>
                  <a:ext cx="2509815" cy="923619"/>
                </a:xfrm>
                <a:prstGeom prst="roundRect">
                  <a:avLst>
                    <a:gd name="adj" fmla="val 16667"/>
                  </a:avLst>
                </a:prstGeom>
                <a:solidFill>
                  <a:srgbClr val="297B49"/>
                </a:solidFill>
                <a:ln>
                  <a:noFill/>
                </a:ln>
              </p:spPr>
              <p:txBody>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eaLnBrk="1" hangingPunct="1"/>
                  <a:endParaRPr lang="en-US" altLang="en-US" sz="1013"/>
                </a:p>
              </p:txBody>
            </p:sp>
            <p:sp>
              <p:nvSpPr>
                <p:cNvPr id="7" name="TextBox 2">
                  <a:extLst>
                    <a:ext uri="{FF2B5EF4-FFF2-40B4-BE49-F238E27FC236}">
                      <a16:creationId xmlns:a16="http://schemas.microsoft.com/office/drawing/2014/main" id="{41EF62E5-3DBF-306F-8811-87C3AC4157F6}"/>
                    </a:ext>
                  </a:extLst>
                </p:cNvPr>
                <p:cNvSpPr txBox="1">
                  <a:spLocks noChangeArrowheads="1"/>
                </p:cNvSpPr>
                <p:nvPr/>
              </p:nvSpPr>
              <p:spPr bwMode="auto">
                <a:xfrm>
                  <a:off x="3063195" y="1371002"/>
                  <a:ext cx="278647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eaLnBrk="1" hangingPunct="1">
                    <a:spcBef>
                      <a:spcPct val="0"/>
                    </a:spcBef>
                    <a:buFontTx/>
                    <a:buNone/>
                  </a:pPr>
                  <a:r>
                    <a:rPr lang="en-US" altLang="en-US" sz="1350" b="1">
                      <a:solidFill>
                        <a:schemeClr val="bg1"/>
                      </a:solidFill>
                    </a:rPr>
                    <a:t>Export to Excel</a:t>
                  </a:r>
                </a:p>
              </p:txBody>
            </p:sp>
          </p:grpSp>
          <p:pic>
            <p:nvPicPr>
              <p:cNvPr id="20" name="Picture 19">
                <a:extLst>
                  <a:ext uri="{FF2B5EF4-FFF2-40B4-BE49-F238E27FC236}">
                    <a16:creationId xmlns:a16="http://schemas.microsoft.com/office/drawing/2014/main" id="{83C6FF7A-3458-C025-E461-E19174DC4209}"/>
                  </a:ext>
                </a:extLst>
              </p:cNvPr>
              <p:cNvPicPr>
                <a:picLocks noChangeAspect="1"/>
              </p:cNvPicPr>
              <p:nvPr/>
            </p:nvPicPr>
            <p:blipFill rotWithShape="1">
              <a:blip r:embed="rId18" cstate="print">
                <a:extLst>
                  <a:ext uri="{28A0092B-C50C-407E-A947-70E740481C1C}">
                    <a14:useLocalDpi xmlns:a14="http://schemas.microsoft.com/office/drawing/2010/main"/>
                  </a:ext>
                </a:extLst>
              </a:blip>
              <a:srcRect l="23115" t="25234" r="21151" b="25277"/>
              <a:stretch/>
            </p:blipFill>
            <p:spPr>
              <a:xfrm>
                <a:off x="5770452" y="1921416"/>
                <a:ext cx="632554" cy="561663"/>
              </a:xfrm>
              <a:prstGeom prst="rect">
                <a:avLst/>
              </a:prstGeom>
            </p:spPr>
          </p:pic>
        </p:grpSp>
        <p:grpSp>
          <p:nvGrpSpPr>
            <p:cNvPr id="54" name="Group 53">
              <a:extLst>
                <a:ext uri="{FF2B5EF4-FFF2-40B4-BE49-F238E27FC236}">
                  <a16:creationId xmlns:a16="http://schemas.microsoft.com/office/drawing/2014/main" id="{8BAC9224-8790-258A-3ACB-B92CD692165E}"/>
                </a:ext>
              </a:extLst>
            </p:cNvPr>
            <p:cNvGrpSpPr/>
            <p:nvPr/>
          </p:nvGrpSpPr>
          <p:grpSpPr>
            <a:xfrm>
              <a:off x="7688312" y="3352656"/>
              <a:ext cx="2509815" cy="923619"/>
              <a:chOff x="7688312" y="3428856"/>
              <a:chExt cx="2509815" cy="923619"/>
            </a:xfrm>
          </p:grpSpPr>
          <p:sp>
            <p:nvSpPr>
              <p:cNvPr id="9" name="Rounded Rectangle 1">
                <a:extLst>
                  <a:ext uri="{FF2B5EF4-FFF2-40B4-BE49-F238E27FC236}">
                    <a16:creationId xmlns:a16="http://schemas.microsoft.com/office/drawing/2014/main" id="{2D62320D-0B35-29A4-AB76-0A1B00CC312D}"/>
                  </a:ext>
                </a:extLst>
              </p:cNvPr>
              <p:cNvSpPr>
                <a:spLocks noChangeArrowheads="1"/>
              </p:cNvSpPr>
              <p:nvPr/>
            </p:nvSpPr>
            <p:spPr bwMode="auto">
              <a:xfrm>
                <a:off x="7688312" y="3428856"/>
                <a:ext cx="2509815" cy="923619"/>
              </a:xfrm>
              <a:prstGeom prst="roundRect">
                <a:avLst>
                  <a:gd name="adj" fmla="val 16667"/>
                </a:avLst>
              </a:prstGeom>
              <a:solidFill>
                <a:srgbClr val="378B57"/>
              </a:solidFill>
              <a:ln>
                <a:noFill/>
              </a:ln>
            </p:spPr>
            <p:txBody>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eaLnBrk="1" hangingPunct="1"/>
                <a:endParaRPr lang="en-US" altLang="en-US" sz="1013"/>
              </a:p>
            </p:txBody>
          </p:sp>
          <p:sp>
            <p:nvSpPr>
              <p:cNvPr id="10" name="TextBox 5">
                <a:extLst>
                  <a:ext uri="{FF2B5EF4-FFF2-40B4-BE49-F238E27FC236}">
                    <a16:creationId xmlns:a16="http://schemas.microsoft.com/office/drawing/2014/main" id="{14A643F8-3FC9-F143-DAE8-B37818FDBEEF}"/>
                  </a:ext>
                </a:extLst>
              </p:cNvPr>
              <p:cNvSpPr txBox="1">
                <a:spLocks noChangeArrowheads="1"/>
              </p:cNvSpPr>
              <p:nvPr/>
            </p:nvSpPr>
            <p:spPr bwMode="auto">
              <a:xfrm>
                <a:off x="7688312" y="3429000"/>
                <a:ext cx="2509815"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eaLnBrk="1" hangingPunct="1">
                  <a:spcBef>
                    <a:spcPct val="0"/>
                  </a:spcBef>
                  <a:buFontTx/>
                  <a:buNone/>
                </a:pPr>
                <a:r>
                  <a:rPr lang="en-US" altLang="en-US" sz="1350" b="1">
                    <a:solidFill>
                      <a:schemeClr val="bg1"/>
                    </a:solidFill>
                  </a:rPr>
                  <a:t>Dynamical systems modeling using </a:t>
                </a:r>
                <a:r>
                  <a:rPr lang="en-US" altLang="en-US" sz="1350" b="1" err="1">
                    <a:solidFill>
                      <a:schemeClr val="bg1"/>
                    </a:solidFill>
                  </a:rPr>
                  <a:t>GRNmap</a:t>
                </a:r>
                <a:endParaRPr lang="en-US" altLang="en-US" sz="1350" b="1">
                  <a:solidFill>
                    <a:schemeClr val="bg1"/>
                  </a:solidFill>
                </a:endParaRPr>
              </a:p>
            </p:txBody>
          </p:sp>
          <p:pic>
            <p:nvPicPr>
              <p:cNvPr id="21" name="Picture 20">
                <a:extLst>
                  <a:ext uri="{FF2B5EF4-FFF2-40B4-BE49-F238E27FC236}">
                    <a16:creationId xmlns:a16="http://schemas.microsoft.com/office/drawing/2014/main" id="{71ECF820-B3F1-3BD4-5453-25FE705D6F21}"/>
                  </a:ext>
                </a:extLst>
              </p:cNvPr>
              <p:cNvPicPr>
                <a:picLocks noChangeAspect="1"/>
              </p:cNvPicPr>
              <p:nvPr/>
            </p:nvPicPr>
            <p:blipFill>
              <a:blip r:embed="rId19" cstate="print">
                <a:extLst>
                  <a:ext uri="{28A0092B-C50C-407E-A947-70E740481C1C}">
                    <a14:useLocalDpi xmlns:a14="http://schemas.microsoft.com/office/drawing/2010/main"/>
                  </a:ext>
                </a:extLst>
              </a:blip>
              <a:stretch>
                <a:fillRect/>
              </a:stretch>
            </p:blipFill>
            <p:spPr>
              <a:xfrm>
                <a:off x="9544907" y="3745107"/>
                <a:ext cx="577385" cy="511340"/>
              </a:xfrm>
              <a:prstGeom prst="rect">
                <a:avLst/>
              </a:prstGeom>
            </p:spPr>
          </p:pic>
        </p:grpSp>
        <p:cxnSp>
          <p:nvCxnSpPr>
            <p:cNvPr id="17" name="Straight Arrow Connector 16">
              <a:extLst>
                <a:ext uri="{FF2B5EF4-FFF2-40B4-BE49-F238E27FC236}">
                  <a16:creationId xmlns:a16="http://schemas.microsoft.com/office/drawing/2014/main" id="{D1DC4A78-89EF-B938-57A4-D40801FD6CD8}"/>
                </a:ext>
              </a:extLst>
            </p:cNvPr>
            <p:cNvCxnSpPr/>
            <p:nvPr/>
          </p:nvCxnSpPr>
          <p:spPr bwMode="auto">
            <a:xfrm flipH="1">
              <a:off x="7653424" y="4407374"/>
              <a:ext cx="1130300" cy="685800"/>
            </a:xfrm>
            <a:prstGeom prst="straightConnector1">
              <a:avLst/>
            </a:prstGeom>
            <a:ln w="57150">
              <a:solidFill>
                <a:schemeClr val="tx1"/>
              </a:solidFill>
              <a:headEnd type="none" w="med" len="med"/>
              <a:tailEnd type="arrow"/>
            </a:ln>
          </p:spPr>
          <p:style>
            <a:lnRef idx="1">
              <a:schemeClr val="dk1"/>
            </a:lnRef>
            <a:fillRef idx="0">
              <a:schemeClr val="dk1"/>
            </a:fillRef>
            <a:effectRef idx="0">
              <a:schemeClr val="dk1"/>
            </a:effectRef>
            <a:fontRef idx="minor">
              <a:schemeClr val="tx1"/>
            </a:fontRef>
          </p:style>
        </p:cxnSp>
        <p:cxnSp>
          <p:nvCxnSpPr>
            <p:cNvPr id="18" name="Straight Arrow Connector 17">
              <a:extLst>
                <a:ext uri="{FF2B5EF4-FFF2-40B4-BE49-F238E27FC236}">
                  <a16:creationId xmlns:a16="http://schemas.microsoft.com/office/drawing/2014/main" id="{3D2AE216-A814-E44F-C3E8-8D98524DCDC7}"/>
                </a:ext>
              </a:extLst>
            </p:cNvPr>
            <p:cNvCxnSpPr/>
            <p:nvPr/>
          </p:nvCxnSpPr>
          <p:spPr bwMode="auto">
            <a:xfrm flipV="1">
              <a:off x="3424909" y="2546119"/>
              <a:ext cx="1130300" cy="685800"/>
            </a:xfrm>
            <a:prstGeom prst="straightConnector1">
              <a:avLst/>
            </a:prstGeom>
            <a:ln w="57150">
              <a:solidFill>
                <a:schemeClr val="tx1"/>
              </a:solidFill>
              <a:headEnd type="none" w="med" len="med"/>
              <a:tailEnd type="arrow"/>
            </a:ln>
          </p:spPr>
          <p:style>
            <a:lnRef idx="1">
              <a:schemeClr val="dk1"/>
            </a:lnRef>
            <a:fillRef idx="0">
              <a:schemeClr val="dk1"/>
            </a:fillRef>
            <a:effectRef idx="0">
              <a:schemeClr val="dk1"/>
            </a:effectRef>
            <a:fontRef idx="minor">
              <a:schemeClr val="tx1"/>
            </a:fontRef>
          </p:style>
        </p:cxnSp>
        <p:cxnSp>
          <p:nvCxnSpPr>
            <p:cNvPr id="19" name="Straight Arrow Connector 18">
              <a:extLst>
                <a:ext uri="{FF2B5EF4-FFF2-40B4-BE49-F238E27FC236}">
                  <a16:creationId xmlns:a16="http://schemas.microsoft.com/office/drawing/2014/main" id="{5DE95429-183A-194C-F7BB-F23B123D5229}"/>
                </a:ext>
              </a:extLst>
            </p:cNvPr>
            <p:cNvCxnSpPr/>
            <p:nvPr/>
          </p:nvCxnSpPr>
          <p:spPr bwMode="auto">
            <a:xfrm flipH="1" flipV="1">
              <a:off x="3424909" y="4407374"/>
              <a:ext cx="1130300" cy="685800"/>
            </a:xfrm>
            <a:prstGeom prst="straightConnector1">
              <a:avLst/>
            </a:prstGeom>
            <a:ln w="57150">
              <a:solidFill>
                <a:schemeClr val="tx1"/>
              </a:solidFill>
              <a:headEnd type="none" w="med" len="med"/>
              <a:tailEnd type="arrow"/>
            </a:ln>
          </p:spPr>
          <p:style>
            <a:lnRef idx="1">
              <a:schemeClr val="dk1"/>
            </a:lnRef>
            <a:fillRef idx="0">
              <a:schemeClr val="dk1"/>
            </a:fillRef>
            <a:effectRef idx="0">
              <a:schemeClr val="dk1"/>
            </a:effectRef>
            <a:fontRef idx="minor">
              <a:schemeClr val="tx1"/>
            </a:fontRef>
          </p:style>
        </p:cxnSp>
      </p:grpSp>
    </p:spTree>
    <p:extLst>
      <p:ext uri="{BB962C8B-B14F-4D97-AF65-F5344CB8AC3E}">
        <p14:creationId xmlns:p14="http://schemas.microsoft.com/office/powerpoint/2010/main" val="22159099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89">
          <a:extLst>
            <a:ext uri="{FF2B5EF4-FFF2-40B4-BE49-F238E27FC236}">
              <a16:creationId xmlns:a16="http://schemas.microsoft.com/office/drawing/2014/main" id="{57B5142E-FFF4-6CE5-F2BD-FFB5463443FA}"/>
            </a:ext>
          </a:extLst>
        </p:cNvPr>
        <p:cNvGrpSpPr/>
        <p:nvPr/>
      </p:nvGrpSpPr>
      <p:grpSpPr>
        <a:xfrm>
          <a:off x="0" y="0"/>
          <a:ext cx="0" cy="0"/>
          <a:chOff x="0" y="0"/>
          <a:chExt cx="0" cy="0"/>
        </a:xfrm>
      </p:grpSpPr>
      <p:sp>
        <p:nvSpPr>
          <p:cNvPr id="90" name="Google Shape;90;p15">
            <a:extLst>
              <a:ext uri="{FF2B5EF4-FFF2-40B4-BE49-F238E27FC236}">
                <a16:creationId xmlns:a16="http://schemas.microsoft.com/office/drawing/2014/main" id="{E24AD311-2CEF-2D4A-60B4-0EB94583F2C3}"/>
              </a:ext>
            </a:extLst>
          </p:cNvPr>
          <p:cNvSpPr txBox="1">
            <a:spLocks noGrp="1"/>
          </p:cNvSpPr>
          <p:nvPr>
            <p:ph type="title"/>
          </p:nvPr>
        </p:nvSpPr>
        <p:spPr>
          <a:xfrm>
            <a:off x="296527" y="182034"/>
            <a:ext cx="8520600" cy="810403"/>
          </a:xfrm>
          <a:prstGeom prst="rect">
            <a:avLst/>
          </a:prstGeom>
        </p:spPr>
        <p:txBody>
          <a:bodyPr spcFirstLastPara="1" wrap="square" lIns="91425" tIns="91425" rIns="91425" bIns="91425" anchor="t" anchorCtr="0">
            <a:noAutofit/>
          </a:bodyPr>
          <a:lstStyle/>
          <a:p>
            <a:r>
              <a:rPr lang="en" sz="2000" b="1">
                <a:solidFill>
                  <a:srgbClr val="16693F"/>
                </a:solidFill>
              </a:rPr>
              <a:t>Outline</a:t>
            </a:r>
          </a:p>
        </p:txBody>
      </p:sp>
      <p:sp>
        <p:nvSpPr>
          <p:cNvPr id="3" name="Text Placeholder 2">
            <a:extLst>
              <a:ext uri="{FF2B5EF4-FFF2-40B4-BE49-F238E27FC236}">
                <a16:creationId xmlns:a16="http://schemas.microsoft.com/office/drawing/2014/main" id="{A61A4342-1B81-7760-FE30-9C40F78B9AB3}"/>
              </a:ext>
            </a:extLst>
          </p:cNvPr>
          <p:cNvSpPr>
            <a:spLocks noGrp="1"/>
          </p:cNvSpPr>
          <p:nvPr>
            <p:ph type="body" idx="1"/>
          </p:nvPr>
        </p:nvSpPr>
        <p:spPr>
          <a:xfrm>
            <a:off x="297293" y="585777"/>
            <a:ext cx="8195543" cy="4372102"/>
          </a:xfrm>
        </p:spPr>
        <p:txBody>
          <a:bodyPr>
            <a:normAutofit/>
          </a:bodyPr>
          <a:lstStyle/>
          <a:p>
            <a:pPr>
              <a:lnSpc>
                <a:spcPct val="114999"/>
              </a:lnSpc>
            </a:pPr>
            <a:r>
              <a:rPr lang="en-US" err="1">
                <a:solidFill>
                  <a:schemeClr val="bg2">
                    <a:lumMod val="40000"/>
                    <a:lumOff val="60000"/>
                  </a:schemeClr>
                </a:solidFill>
              </a:rPr>
              <a:t>GRNsight</a:t>
            </a:r>
            <a:r>
              <a:rPr lang="en-US">
                <a:solidFill>
                  <a:schemeClr val="bg2">
                    <a:lumMod val="40000"/>
                    <a:lumOff val="60000"/>
                  </a:schemeClr>
                </a:solidFill>
              </a:rPr>
              <a:t> is an open-source tool that allows for easier visualization </a:t>
            </a:r>
          </a:p>
          <a:p>
            <a:pPr marL="114300" indent="0">
              <a:lnSpc>
                <a:spcPct val="114999"/>
              </a:lnSpc>
              <a:buNone/>
            </a:pPr>
            <a:r>
              <a:rPr lang="en-US">
                <a:solidFill>
                  <a:schemeClr val="bg2">
                    <a:lumMod val="40000"/>
                    <a:lumOff val="60000"/>
                  </a:schemeClr>
                </a:solidFill>
              </a:rPr>
              <a:t>     of Gene Regulatory Network (GRN) and Protein Protein Interactions (PPI).</a:t>
            </a:r>
          </a:p>
          <a:p>
            <a:pPr>
              <a:lnSpc>
                <a:spcPct val="114999"/>
              </a:lnSpc>
            </a:pPr>
            <a:r>
              <a:rPr lang="en-US" err="1">
                <a:solidFill>
                  <a:schemeClr val="tx1"/>
                </a:solidFill>
              </a:rPr>
              <a:t>GRNsight</a:t>
            </a:r>
            <a:r>
              <a:rPr lang="en-US">
                <a:solidFill>
                  <a:schemeClr val="tx1"/>
                </a:solidFill>
              </a:rPr>
              <a:t> has migrated from JavaScript frontend to React Vite and Grommet UI.</a:t>
            </a:r>
          </a:p>
          <a:p>
            <a:pPr>
              <a:lnSpc>
                <a:spcPct val="114999"/>
              </a:lnSpc>
            </a:pPr>
            <a:r>
              <a:rPr lang="en-US">
                <a:solidFill>
                  <a:schemeClr val="bg2">
                    <a:lumMod val="40000"/>
                    <a:lumOff val="60000"/>
                  </a:schemeClr>
                </a:solidFill>
              </a:rPr>
              <a:t>We transitioned our primary data source from </a:t>
            </a:r>
            <a:r>
              <a:rPr lang="en-US" err="1">
                <a:solidFill>
                  <a:schemeClr val="bg2">
                    <a:lumMod val="40000"/>
                    <a:lumOff val="60000"/>
                  </a:schemeClr>
                </a:solidFill>
              </a:rPr>
              <a:t>YeastMine</a:t>
            </a:r>
            <a:r>
              <a:rPr lang="en-US">
                <a:solidFill>
                  <a:schemeClr val="bg2">
                    <a:lumMod val="40000"/>
                    <a:lumOff val="60000"/>
                  </a:schemeClr>
                </a:solidFill>
              </a:rPr>
              <a:t> to </a:t>
            </a:r>
            <a:r>
              <a:rPr lang="en-US" err="1">
                <a:solidFill>
                  <a:schemeClr val="bg2">
                    <a:lumMod val="40000"/>
                    <a:lumOff val="60000"/>
                  </a:schemeClr>
                </a:solidFill>
              </a:rPr>
              <a:t>AllianceMine</a:t>
            </a:r>
            <a:r>
              <a:rPr lang="en-US">
                <a:solidFill>
                  <a:schemeClr val="bg2">
                    <a:lumMod val="40000"/>
                    <a:lumOff val="60000"/>
                  </a:schemeClr>
                </a:solidFill>
              </a:rPr>
              <a:t>.</a:t>
            </a:r>
          </a:p>
          <a:p>
            <a:pPr>
              <a:lnSpc>
                <a:spcPct val="114999"/>
              </a:lnSpc>
            </a:pPr>
            <a:r>
              <a:rPr lang="en-US">
                <a:solidFill>
                  <a:schemeClr val="bg2">
                    <a:lumMod val="40000"/>
                    <a:lumOff val="60000"/>
                  </a:schemeClr>
                </a:solidFill>
              </a:rPr>
              <a:t>We re-engineered database pipeline into a modular architectural pattern. </a:t>
            </a:r>
          </a:p>
          <a:p>
            <a:pPr>
              <a:lnSpc>
                <a:spcPct val="114999"/>
              </a:lnSpc>
            </a:pPr>
            <a:r>
              <a:rPr lang="en-US">
                <a:solidFill>
                  <a:schemeClr val="bg2">
                    <a:lumMod val="40000"/>
                    <a:lumOff val="60000"/>
                  </a:schemeClr>
                </a:solidFill>
              </a:rPr>
              <a:t>The primary goal of this modernization is to provide a faster, more scalable, and intuitive platform for biological network visualization</a:t>
            </a:r>
            <a:r>
              <a:rPr lang="en-US">
                <a:solidFill>
                  <a:schemeClr val="tx1"/>
                </a:solidFill>
              </a:rPr>
              <a:t>.</a:t>
            </a:r>
          </a:p>
        </p:txBody>
      </p:sp>
    </p:spTree>
    <p:extLst>
      <p:ext uri="{BB962C8B-B14F-4D97-AF65-F5344CB8AC3E}">
        <p14:creationId xmlns:p14="http://schemas.microsoft.com/office/powerpoint/2010/main" val="392230428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3426870B-1C37-57A4-4970-C2C5B74F06E6}"/>
              </a:ext>
            </a:extLst>
          </p:cNvPr>
          <p:cNvSpPr txBox="1"/>
          <p:nvPr/>
        </p:nvSpPr>
        <p:spPr>
          <a:xfrm>
            <a:off x="176414" y="135974"/>
            <a:ext cx="8799384" cy="707886"/>
          </a:xfrm>
          <a:prstGeom prst="rect">
            <a:avLst/>
          </a:prstGeom>
          <a:noFill/>
        </p:spPr>
        <p:txBody>
          <a:bodyPr wrap="square" lIns="91440" tIns="45720" rIns="91440" bIns="45720" anchor="t">
            <a:spAutoFit/>
          </a:bodyPr>
          <a:lstStyle/>
          <a:p>
            <a:r>
              <a:rPr lang="en-US" sz="2000" b="1">
                <a:solidFill>
                  <a:srgbClr val="16693F"/>
                </a:solidFill>
                <a:ea typeface="Sans Serif Collection"/>
                <a:cs typeface="Sans Serif Collection"/>
              </a:rPr>
              <a:t>GRNsight serves the browser UI from the web application server </a:t>
            </a:r>
          </a:p>
          <a:p>
            <a:r>
              <a:rPr lang="en-US" sz="2000" b="1">
                <a:solidFill>
                  <a:srgbClr val="16693F"/>
                </a:solidFill>
                <a:ea typeface="Sans Serif Collection"/>
                <a:cs typeface="Sans Serif Collection"/>
              </a:rPr>
              <a:t>while the API server handles import/export and all database access.</a:t>
            </a:r>
            <a:endParaRPr lang="en-US"/>
          </a:p>
        </p:txBody>
      </p:sp>
      <p:grpSp>
        <p:nvGrpSpPr>
          <p:cNvPr id="80" name="Group 79">
            <a:extLst>
              <a:ext uri="{FF2B5EF4-FFF2-40B4-BE49-F238E27FC236}">
                <a16:creationId xmlns:a16="http://schemas.microsoft.com/office/drawing/2014/main" id="{1A38F137-26F0-4ABB-D5A5-DD080C726ED2}"/>
              </a:ext>
            </a:extLst>
          </p:cNvPr>
          <p:cNvGrpSpPr/>
          <p:nvPr/>
        </p:nvGrpSpPr>
        <p:grpSpPr>
          <a:xfrm>
            <a:off x="176414" y="1239938"/>
            <a:ext cx="2596616" cy="2663623"/>
            <a:chOff x="488611" y="854374"/>
            <a:chExt cx="2596616" cy="2663623"/>
          </a:xfrm>
        </p:grpSpPr>
        <p:sp>
          <p:nvSpPr>
            <p:cNvPr id="2" name="Rectangle 1">
              <a:extLst>
                <a:ext uri="{FF2B5EF4-FFF2-40B4-BE49-F238E27FC236}">
                  <a16:creationId xmlns:a16="http://schemas.microsoft.com/office/drawing/2014/main" id="{01B63C8B-CD39-DD0B-024D-40C635A21BC5}"/>
                </a:ext>
              </a:extLst>
            </p:cNvPr>
            <p:cNvSpPr/>
            <p:nvPr/>
          </p:nvSpPr>
          <p:spPr>
            <a:xfrm>
              <a:off x="488611" y="1172666"/>
              <a:ext cx="2596616" cy="2345331"/>
            </a:xfrm>
            <a:prstGeom prst="rect">
              <a:avLst/>
            </a:prstGeom>
            <a:no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42693364-5305-CCEB-D74F-06FD2768E575}"/>
                </a:ext>
              </a:extLst>
            </p:cNvPr>
            <p:cNvSpPr/>
            <p:nvPr/>
          </p:nvSpPr>
          <p:spPr>
            <a:xfrm>
              <a:off x="886479" y="1513850"/>
              <a:ext cx="1800880" cy="1662962"/>
            </a:xfrm>
            <a:prstGeom prst="rect">
              <a:avLst/>
            </a:prstGeom>
            <a:no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03CED2D9-8315-7CC8-1D24-A6AFD63EFB2C}"/>
                </a:ext>
              </a:extLst>
            </p:cNvPr>
            <p:cNvSpPr txBox="1"/>
            <p:nvPr/>
          </p:nvSpPr>
          <p:spPr>
            <a:xfrm>
              <a:off x="886479" y="1975999"/>
              <a:ext cx="1800880" cy="492443"/>
            </a:xfrm>
            <a:prstGeom prst="rect">
              <a:avLst/>
            </a:prstGeom>
            <a:noFill/>
          </p:spPr>
          <p:txBody>
            <a:bodyPr wrap="square" rtlCol="0">
              <a:spAutoFit/>
            </a:bodyPr>
            <a:lstStyle/>
            <a:p>
              <a:pPr algn="ctr"/>
              <a:r>
                <a:rPr lang="en-US" sz="1300"/>
                <a:t>Embedded graphical </a:t>
              </a:r>
            </a:p>
            <a:p>
              <a:pPr algn="ctr"/>
              <a:r>
                <a:rPr lang="en-US" sz="1300"/>
                <a:t>user interface</a:t>
              </a:r>
            </a:p>
          </p:txBody>
        </p:sp>
        <p:sp>
          <p:nvSpPr>
            <p:cNvPr id="7" name="TextBox 6">
              <a:extLst>
                <a:ext uri="{FF2B5EF4-FFF2-40B4-BE49-F238E27FC236}">
                  <a16:creationId xmlns:a16="http://schemas.microsoft.com/office/drawing/2014/main" id="{0B08612F-C2DB-E854-6866-2C26A3A3A2D8}"/>
                </a:ext>
              </a:extLst>
            </p:cNvPr>
            <p:cNvSpPr txBox="1"/>
            <p:nvPr/>
          </p:nvSpPr>
          <p:spPr>
            <a:xfrm>
              <a:off x="488611" y="854374"/>
              <a:ext cx="1689197" cy="292388"/>
            </a:xfrm>
            <a:prstGeom prst="rect">
              <a:avLst/>
            </a:prstGeom>
            <a:noFill/>
          </p:spPr>
          <p:txBody>
            <a:bodyPr wrap="square" rtlCol="0">
              <a:spAutoFit/>
            </a:bodyPr>
            <a:lstStyle/>
            <a:p>
              <a:r>
                <a:rPr lang="en-US" sz="1300"/>
                <a:t>Web Browser</a:t>
              </a:r>
            </a:p>
          </p:txBody>
        </p:sp>
        <p:sp>
          <p:nvSpPr>
            <p:cNvPr id="8" name="TextBox 7">
              <a:extLst>
                <a:ext uri="{FF2B5EF4-FFF2-40B4-BE49-F238E27FC236}">
                  <a16:creationId xmlns:a16="http://schemas.microsoft.com/office/drawing/2014/main" id="{7A04544B-F1F3-56D4-8B54-6B2CFA68AA80}"/>
                </a:ext>
              </a:extLst>
            </p:cNvPr>
            <p:cNvSpPr txBox="1"/>
            <p:nvPr/>
          </p:nvSpPr>
          <p:spPr>
            <a:xfrm>
              <a:off x="886480" y="1221462"/>
              <a:ext cx="1800880" cy="292388"/>
            </a:xfrm>
            <a:prstGeom prst="rect">
              <a:avLst/>
            </a:prstGeom>
            <a:noFill/>
          </p:spPr>
          <p:txBody>
            <a:bodyPr wrap="square" rtlCol="0">
              <a:spAutoFit/>
            </a:bodyPr>
            <a:lstStyle/>
            <a:p>
              <a:pPr algn="ctr"/>
              <a:r>
                <a:rPr lang="en-US" sz="1300"/>
                <a:t>Host web page</a:t>
              </a:r>
            </a:p>
          </p:txBody>
        </p:sp>
      </p:grpSp>
      <p:grpSp>
        <p:nvGrpSpPr>
          <p:cNvPr id="11" name="Group 10">
            <a:extLst>
              <a:ext uri="{FF2B5EF4-FFF2-40B4-BE49-F238E27FC236}">
                <a16:creationId xmlns:a16="http://schemas.microsoft.com/office/drawing/2014/main" id="{C4190B3B-0AA8-0311-6E14-97F0FFEAA686}"/>
              </a:ext>
            </a:extLst>
          </p:cNvPr>
          <p:cNvGrpSpPr/>
          <p:nvPr/>
        </p:nvGrpSpPr>
        <p:grpSpPr>
          <a:xfrm>
            <a:off x="5147366" y="1429099"/>
            <a:ext cx="1671208" cy="589734"/>
            <a:chOff x="4389352" y="1086898"/>
            <a:chExt cx="1800880" cy="642364"/>
          </a:xfrm>
        </p:grpSpPr>
        <p:sp>
          <p:nvSpPr>
            <p:cNvPr id="9" name="Rectangle 8">
              <a:extLst>
                <a:ext uri="{FF2B5EF4-FFF2-40B4-BE49-F238E27FC236}">
                  <a16:creationId xmlns:a16="http://schemas.microsoft.com/office/drawing/2014/main" id="{1ADCCA34-81EE-9EA1-6F03-5C1C7A48FA9A}"/>
                </a:ext>
              </a:extLst>
            </p:cNvPr>
            <p:cNvSpPr/>
            <p:nvPr/>
          </p:nvSpPr>
          <p:spPr>
            <a:xfrm>
              <a:off x="4389352" y="1086898"/>
              <a:ext cx="1800880" cy="642364"/>
            </a:xfrm>
            <a:prstGeom prst="rect">
              <a:avLst/>
            </a:prstGeom>
            <a:no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A535C1E9-A58F-E7EE-37DA-5E35B27A0C10}"/>
                </a:ext>
              </a:extLst>
            </p:cNvPr>
            <p:cNvSpPr txBox="1"/>
            <p:nvPr/>
          </p:nvSpPr>
          <p:spPr>
            <a:xfrm>
              <a:off x="4389352" y="1155332"/>
              <a:ext cx="1800880" cy="523220"/>
            </a:xfrm>
            <a:prstGeom prst="rect">
              <a:avLst/>
            </a:prstGeom>
            <a:noFill/>
          </p:spPr>
          <p:txBody>
            <a:bodyPr wrap="square" rtlCol="0" anchor="ctr">
              <a:spAutoFit/>
            </a:bodyPr>
            <a:lstStyle/>
            <a:p>
              <a:pPr algn="ctr"/>
              <a:r>
                <a:rPr lang="en-US"/>
                <a:t>GRNsight web </a:t>
              </a:r>
            </a:p>
            <a:p>
              <a:pPr algn="ctr"/>
              <a:r>
                <a:rPr lang="en-US"/>
                <a:t>API server</a:t>
              </a:r>
            </a:p>
          </p:txBody>
        </p:sp>
      </p:grpSp>
      <p:grpSp>
        <p:nvGrpSpPr>
          <p:cNvPr id="12" name="Group 11">
            <a:extLst>
              <a:ext uri="{FF2B5EF4-FFF2-40B4-BE49-F238E27FC236}">
                <a16:creationId xmlns:a16="http://schemas.microsoft.com/office/drawing/2014/main" id="{2B26C844-81C6-4A57-74D2-530B8711458E}"/>
              </a:ext>
            </a:extLst>
          </p:cNvPr>
          <p:cNvGrpSpPr/>
          <p:nvPr/>
        </p:nvGrpSpPr>
        <p:grpSpPr>
          <a:xfrm>
            <a:off x="5147365" y="3488293"/>
            <a:ext cx="1673352" cy="605623"/>
            <a:chOff x="4389352" y="1086898"/>
            <a:chExt cx="1673352" cy="605623"/>
          </a:xfrm>
        </p:grpSpPr>
        <p:sp>
          <p:nvSpPr>
            <p:cNvPr id="13" name="Rectangle 12">
              <a:extLst>
                <a:ext uri="{FF2B5EF4-FFF2-40B4-BE49-F238E27FC236}">
                  <a16:creationId xmlns:a16="http://schemas.microsoft.com/office/drawing/2014/main" id="{A3FC298E-5E12-EF0F-E709-981E73148169}"/>
                </a:ext>
              </a:extLst>
            </p:cNvPr>
            <p:cNvSpPr/>
            <p:nvPr/>
          </p:nvSpPr>
          <p:spPr>
            <a:xfrm>
              <a:off x="4389352" y="1086898"/>
              <a:ext cx="1673352" cy="594360"/>
            </a:xfrm>
            <a:prstGeom prst="rect">
              <a:avLst/>
            </a:prstGeom>
            <a:no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40BD4CB6-450A-101C-2690-5C682A418576}"/>
                </a:ext>
              </a:extLst>
            </p:cNvPr>
            <p:cNvSpPr txBox="1"/>
            <p:nvPr/>
          </p:nvSpPr>
          <p:spPr>
            <a:xfrm>
              <a:off x="4389352" y="1098161"/>
              <a:ext cx="1671209" cy="594360"/>
            </a:xfrm>
            <a:prstGeom prst="rect">
              <a:avLst/>
            </a:prstGeom>
            <a:noFill/>
          </p:spPr>
          <p:txBody>
            <a:bodyPr wrap="square" rtlCol="0" anchor="ctr">
              <a:spAutoFit/>
            </a:bodyPr>
            <a:lstStyle/>
            <a:p>
              <a:pPr algn="ctr"/>
              <a:r>
                <a:rPr lang="en-US" err="1"/>
                <a:t>GRNsight</a:t>
              </a:r>
              <a:r>
                <a:rPr lang="en-US"/>
                <a:t> web </a:t>
              </a:r>
            </a:p>
            <a:p>
              <a:pPr algn="ctr"/>
              <a:r>
                <a:rPr lang="en-US"/>
                <a:t>application server</a:t>
              </a:r>
            </a:p>
          </p:txBody>
        </p:sp>
      </p:grpSp>
      <p:cxnSp>
        <p:nvCxnSpPr>
          <p:cNvPr id="16" name="Curved Connector 15">
            <a:extLst>
              <a:ext uri="{FF2B5EF4-FFF2-40B4-BE49-F238E27FC236}">
                <a16:creationId xmlns:a16="http://schemas.microsoft.com/office/drawing/2014/main" id="{E6662E53-7E14-AD1C-7454-6E983D78DA21}"/>
              </a:ext>
            </a:extLst>
          </p:cNvPr>
          <p:cNvCxnSpPr>
            <a:cxnSpLocks/>
          </p:cNvCxnSpPr>
          <p:nvPr/>
        </p:nvCxnSpPr>
        <p:spPr>
          <a:xfrm flipV="1">
            <a:off x="2196127" y="1488094"/>
            <a:ext cx="2951238" cy="403869"/>
          </a:xfrm>
          <a:prstGeom prst="curvedConnector3">
            <a:avLst>
              <a:gd name="adj1" fmla="val 25402"/>
            </a:avLst>
          </a:prstGeom>
          <a:ln w="12700">
            <a:tailEnd type="triangle"/>
          </a:ln>
        </p:spPr>
        <p:style>
          <a:lnRef idx="1">
            <a:schemeClr val="accent2"/>
          </a:lnRef>
          <a:fillRef idx="0">
            <a:schemeClr val="accent2"/>
          </a:fillRef>
          <a:effectRef idx="0">
            <a:schemeClr val="accent2"/>
          </a:effectRef>
          <a:fontRef idx="minor">
            <a:schemeClr val="tx1"/>
          </a:fontRef>
        </p:style>
      </p:cxnSp>
      <p:cxnSp>
        <p:nvCxnSpPr>
          <p:cNvPr id="31" name="Curved Connector 30">
            <a:extLst>
              <a:ext uri="{FF2B5EF4-FFF2-40B4-BE49-F238E27FC236}">
                <a16:creationId xmlns:a16="http://schemas.microsoft.com/office/drawing/2014/main" id="{56531CA2-5F56-0024-AED5-0B32EEF8EAFF}"/>
              </a:ext>
            </a:extLst>
          </p:cNvPr>
          <p:cNvCxnSpPr>
            <a:cxnSpLocks/>
            <a:stCxn id="10" idx="1"/>
            <a:endCxn id="5" idx="3"/>
          </p:cNvCxnSpPr>
          <p:nvPr/>
        </p:nvCxnSpPr>
        <p:spPr>
          <a:xfrm rot="10800000" flipV="1">
            <a:off x="2375162" y="1732101"/>
            <a:ext cx="2772204" cy="875683"/>
          </a:xfrm>
          <a:prstGeom prst="curvedConnector3">
            <a:avLst>
              <a:gd name="adj1" fmla="val 17771"/>
            </a:avLst>
          </a:prstGeom>
          <a:ln w="12700">
            <a:tailEnd type="triangle"/>
          </a:ln>
        </p:spPr>
        <p:style>
          <a:lnRef idx="1">
            <a:schemeClr val="accent2"/>
          </a:lnRef>
          <a:fillRef idx="0">
            <a:schemeClr val="accent2"/>
          </a:fillRef>
          <a:effectRef idx="0">
            <a:schemeClr val="accent2"/>
          </a:effectRef>
          <a:fontRef idx="minor">
            <a:schemeClr val="tx1"/>
          </a:fontRef>
        </p:style>
      </p:cxnSp>
      <p:sp>
        <p:nvSpPr>
          <p:cNvPr id="35" name="TextBox 34">
            <a:extLst>
              <a:ext uri="{FF2B5EF4-FFF2-40B4-BE49-F238E27FC236}">
                <a16:creationId xmlns:a16="http://schemas.microsoft.com/office/drawing/2014/main" id="{B81CAF98-AC18-1C7C-4FEC-A974E7EF2672}"/>
              </a:ext>
            </a:extLst>
          </p:cNvPr>
          <p:cNvSpPr txBox="1"/>
          <p:nvPr/>
        </p:nvSpPr>
        <p:spPr>
          <a:xfrm rot="21331946">
            <a:off x="3036239" y="1514294"/>
            <a:ext cx="1654658" cy="276999"/>
          </a:xfrm>
          <a:prstGeom prst="rect">
            <a:avLst/>
          </a:prstGeom>
          <a:noFill/>
        </p:spPr>
        <p:txBody>
          <a:bodyPr wrap="square" rtlCol="0">
            <a:spAutoFit/>
          </a:bodyPr>
          <a:lstStyle/>
          <a:p>
            <a:r>
              <a:rPr lang="en-US" sz="1200"/>
              <a:t>Excel, SIF, GraphML</a:t>
            </a:r>
          </a:p>
        </p:txBody>
      </p:sp>
      <p:sp>
        <p:nvSpPr>
          <p:cNvPr id="39" name="TextBox 38">
            <a:extLst>
              <a:ext uri="{FF2B5EF4-FFF2-40B4-BE49-F238E27FC236}">
                <a16:creationId xmlns:a16="http://schemas.microsoft.com/office/drawing/2014/main" id="{2CCEBFC5-FCAE-0F51-7A8B-0E7831EA875C}"/>
              </a:ext>
            </a:extLst>
          </p:cNvPr>
          <p:cNvSpPr txBox="1"/>
          <p:nvPr/>
        </p:nvSpPr>
        <p:spPr>
          <a:xfrm rot="21135837">
            <a:off x="2893091" y="2179947"/>
            <a:ext cx="1894322" cy="276999"/>
          </a:xfrm>
          <a:prstGeom prst="rect">
            <a:avLst/>
          </a:prstGeom>
          <a:noFill/>
        </p:spPr>
        <p:txBody>
          <a:bodyPr wrap="square" rtlCol="0">
            <a:spAutoFit/>
          </a:bodyPr>
          <a:lstStyle/>
          <a:p>
            <a:r>
              <a:rPr lang="en-US" sz="1200"/>
              <a:t>graph in JSON format</a:t>
            </a:r>
          </a:p>
        </p:txBody>
      </p:sp>
      <p:sp>
        <p:nvSpPr>
          <p:cNvPr id="40" name="TextBox 39">
            <a:extLst>
              <a:ext uri="{FF2B5EF4-FFF2-40B4-BE49-F238E27FC236}">
                <a16:creationId xmlns:a16="http://schemas.microsoft.com/office/drawing/2014/main" id="{C12B1FB0-B840-6876-29DD-A0C1C79120E0}"/>
              </a:ext>
            </a:extLst>
          </p:cNvPr>
          <p:cNvSpPr txBox="1"/>
          <p:nvPr/>
        </p:nvSpPr>
        <p:spPr>
          <a:xfrm rot="21307305">
            <a:off x="3036745" y="1828995"/>
            <a:ext cx="1654658" cy="276999"/>
          </a:xfrm>
          <a:prstGeom prst="rect">
            <a:avLst/>
          </a:prstGeom>
          <a:noFill/>
        </p:spPr>
        <p:txBody>
          <a:bodyPr wrap="square" rtlCol="0">
            <a:spAutoFit/>
          </a:bodyPr>
          <a:lstStyle/>
          <a:p>
            <a:r>
              <a:rPr lang="en-US" sz="1200" b="1"/>
              <a:t>Open/import cycle</a:t>
            </a:r>
          </a:p>
        </p:txBody>
      </p:sp>
      <p:cxnSp>
        <p:nvCxnSpPr>
          <p:cNvPr id="54" name="Curved Connector 53">
            <a:extLst>
              <a:ext uri="{FF2B5EF4-FFF2-40B4-BE49-F238E27FC236}">
                <a16:creationId xmlns:a16="http://schemas.microsoft.com/office/drawing/2014/main" id="{BFEF1196-56C3-E610-7CAE-508B291A599C}"/>
              </a:ext>
            </a:extLst>
          </p:cNvPr>
          <p:cNvCxnSpPr>
            <a:cxnSpLocks/>
          </p:cNvCxnSpPr>
          <p:nvPr/>
        </p:nvCxnSpPr>
        <p:spPr>
          <a:xfrm rot="10800000" flipV="1">
            <a:off x="2375163" y="2018831"/>
            <a:ext cx="3719444" cy="1469461"/>
          </a:xfrm>
          <a:prstGeom prst="curvedConnector3">
            <a:avLst>
              <a:gd name="adj1" fmla="val -295"/>
            </a:avLst>
          </a:prstGeom>
          <a:ln w="12700">
            <a:tailEnd type="triangle"/>
          </a:ln>
        </p:spPr>
        <p:style>
          <a:lnRef idx="1">
            <a:schemeClr val="accent2"/>
          </a:lnRef>
          <a:fillRef idx="0">
            <a:schemeClr val="accent2"/>
          </a:fillRef>
          <a:effectRef idx="0">
            <a:schemeClr val="accent2"/>
          </a:effectRef>
          <a:fontRef idx="minor">
            <a:schemeClr val="tx1"/>
          </a:fontRef>
        </p:style>
      </p:cxnSp>
      <p:sp>
        <p:nvSpPr>
          <p:cNvPr id="65" name="TextBox 64">
            <a:extLst>
              <a:ext uri="{FF2B5EF4-FFF2-40B4-BE49-F238E27FC236}">
                <a16:creationId xmlns:a16="http://schemas.microsoft.com/office/drawing/2014/main" id="{6EAAC26B-8594-D435-E176-E827F41C19C1}"/>
              </a:ext>
            </a:extLst>
          </p:cNvPr>
          <p:cNvSpPr txBox="1"/>
          <p:nvPr/>
        </p:nvSpPr>
        <p:spPr>
          <a:xfrm rot="21193709">
            <a:off x="3315672" y="3141036"/>
            <a:ext cx="1654658" cy="276999"/>
          </a:xfrm>
          <a:prstGeom prst="rect">
            <a:avLst/>
          </a:prstGeom>
          <a:noFill/>
        </p:spPr>
        <p:txBody>
          <a:bodyPr wrap="square" rtlCol="0">
            <a:spAutoFit/>
          </a:bodyPr>
          <a:lstStyle/>
          <a:p>
            <a:r>
              <a:rPr lang="en-US" sz="1200"/>
              <a:t>Excel, SIF, GraphML</a:t>
            </a:r>
          </a:p>
        </p:txBody>
      </p:sp>
      <p:sp>
        <p:nvSpPr>
          <p:cNvPr id="66" name="TextBox 65">
            <a:extLst>
              <a:ext uri="{FF2B5EF4-FFF2-40B4-BE49-F238E27FC236}">
                <a16:creationId xmlns:a16="http://schemas.microsoft.com/office/drawing/2014/main" id="{7C1EC5DE-E5C2-9FBC-66EB-BCFCD391F7B8}"/>
              </a:ext>
            </a:extLst>
          </p:cNvPr>
          <p:cNvSpPr txBox="1"/>
          <p:nvPr/>
        </p:nvSpPr>
        <p:spPr>
          <a:xfrm rot="20673971">
            <a:off x="3196154" y="2545236"/>
            <a:ext cx="1893695" cy="281611"/>
          </a:xfrm>
          <a:prstGeom prst="rect">
            <a:avLst/>
          </a:prstGeom>
          <a:noFill/>
        </p:spPr>
        <p:txBody>
          <a:bodyPr wrap="square" rtlCol="0">
            <a:spAutoFit/>
          </a:bodyPr>
          <a:lstStyle/>
          <a:p>
            <a:r>
              <a:rPr lang="en-US" sz="1200"/>
              <a:t>graph in JSON format</a:t>
            </a:r>
          </a:p>
        </p:txBody>
      </p:sp>
      <p:cxnSp>
        <p:nvCxnSpPr>
          <p:cNvPr id="70" name="Straight Arrow Connector 69">
            <a:extLst>
              <a:ext uri="{FF2B5EF4-FFF2-40B4-BE49-F238E27FC236}">
                <a16:creationId xmlns:a16="http://schemas.microsoft.com/office/drawing/2014/main" id="{C76A2064-4E51-ADCE-C674-8E92DC3F56E5}"/>
              </a:ext>
            </a:extLst>
          </p:cNvPr>
          <p:cNvCxnSpPr>
            <a:cxnSpLocks/>
            <a:endCxn id="9" idx="2"/>
          </p:cNvCxnSpPr>
          <p:nvPr/>
        </p:nvCxnSpPr>
        <p:spPr>
          <a:xfrm flipV="1">
            <a:off x="2375160" y="2018833"/>
            <a:ext cx="3607810" cy="1015764"/>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sp>
        <p:nvSpPr>
          <p:cNvPr id="72" name="TextBox 71">
            <a:extLst>
              <a:ext uri="{FF2B5EF4-FFF2-40B4-BE49-F238E27FC236}">
                <a16:creationId xmlns:a16="http://schemas.microsoft.com/office/drawing/2014/main" id="{628ED777-9204-14AF-128A-4EA8F8FEC78F}"/>
              </a:ext>
            </a:extLst>
          </p:cNvPr>
          <p:cNvSpPr txBox="1"/>
          <p:nvPr/>
        </p:nvSpPr>
        <p:spPr>
          <a:xfrm rot="20998581">
            <a:off x="3569957" y="2799163"/>
            <a:ext cx="1654658" cy="276999"/>
          </a:xfrm>
          <a:prstGeom prst="rect">
            <a:avLst/>
          </a:prstGeom>
          <a:noFill/>
        </p:spPr>
        <p:txBody>
          <a:bodyPr wrap="square" rtlCol="0">
            <a:spAutoFit/>
          </a:bodyPr>
          <a:lstStyle/>
          <a:p>
            <a:r>
              <a:rPr lang="en-US" sz="1200" b="1"/>
              <a:t>Export cycle</a:t>
            </a:r>
          </a:p>
        </p:txBody>
      </p:sp>
      <p:cxnSp>
        <p:nvCxnSpPr>
          <p:cNvPr id="76" name="Curved Connector 75">
            <a:extLst>
              <a:ext uri="{FF2B5EF4-FFF2-40B4-BE49-F238E27FC236}">
                <a16:creationId xmlns:a16="http://schemas.microsoft.com/office/drawing/2014/main" id="{C2157548-D84F-C060-EBD6-E37F97C6BCE2}"/>
              </a:ext>
            </a:extLst>
          </p:cNvPr>
          <p:cNvCxnSpPr>
            <a:cxnSpLocks/>
            <a:stCxn id="14" idx="1"/>
            <a:endCxn id="3" idx="2"/>
          </p:cNvCxnSpPr>
          <p:nvPr/>
        </p:nvCxnSpPr>
        <p:spPr>
          <a:xfrm rot="10800000">
            <a:off x="1474723" y="3562376"/>
            <a:ext cx="3672643" cy="234360"/>
          </a:xfrm>
          <a:prstGeom prst="curvedConnector2">
            <a:avLst/>
          </a:prstGeom>
          <a:ln w="12700">
            <a:tailEnd type="triangle"/>
          </a:ln>
        </p:spPr>
        <p:style>
          <a:lnRef idx="1">
            <a:schemeClr val="dk1"/>
          </a:lnRef>
          <a:fillRef idx="0">
            <a:schemeClr val="dk1"/>
          </a:fillRef>
          <a:effectRef idx="0">
            <a:schemeClr val="dk1"/>
          </a:effectRef>
          <a:fontRef idx="minor">
            <a:schemeClr val="tx1"/>
          </a:fontRef>
        </p:style>
      </p:cxnSp>
      <p:sp>
        <p:nvSpPr>
          <p:cNvPr id="77" name="TextBox 76">
            <a:extLst>
              <a:ext uri="{FF2B5EF4-FFF2-40B4-BE49-F238E27FC236}">
                <a16:creationId xmlns:a16="http://schemas.microsoft.com/office/drawing/2014/main" id="{742A252A-BA38-9BE2-624C-A5485CE4B32A}"/>
              </a:ext>
            </a:extLst>
          </p:cNvPr>
          <p:cNvSpPr txBox="1"/>
          <p:nvPr/>
        </p:nvSpPr>
        <p:spPr>
          <a:xfrm>
            <a:off x="3036239" y="3557065"/>
            <a:ext cx="1654658" cy="276999"/>
          </a:xfrm>
          <a:prstGeom prst="rect">
            <a:avLst/>
          </a:prstGeom>
          <a:noFill/>
        </p:spPr>
        <p:txBody>
          <a:bodyPr wrap="square" rtlCol="0">
            <a:spAutoFit/>
          </a:bodyPr>
          <a:lstStyle/>
          <a:p>
            <a:pPr algn="ctr"/>
            <a:r>
              <a:rPr lang="en-US" sz="1200"/>
              <a:t>GUI Resources</a:t>
            </a:r>
          </a:p>
        </p:txBody>
      </p:sp>
      <p:pic>
        <p:nvPicPr>
          <p:cNvPr id="94" name="Graphic 93" descr="Database outline">
            <a:extLst>
              <a:ext uri="{FF2B5EF4-FFF2-40B4-BE49-F238E27FC236}">
                <a16:creationId xmlns:a16="http://schemas.microsoft.com/office/drawing/2014/main" id="{E9C77EED-4E79-C90F-03D7-EE0D3D2C45C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918486" y="1137555"/>
            <a:ext cx="1189091" cy="1189091"/>
          </a:xfrm>
          <a:prstGeom prst="rect">
            <a:avLst/>
          </a:prstGeom>
        </p:spPr>
      </p:pic>
      <p:grpSp>
        <p:nvGrpSpPr>
          <p:cNvPr id="117" name="Group 116">
            <a:extLst>
              <a:ext uri="{FF2B5EF4-FFF2-40B4-BE49-F238E27FC236}">
                <a16:creationId xmlns:a16="http://schemas.microsoft.com/office/drawing/2014/main" id="{A9C41F16-CA45-B0ED-39A9-F9037949680A}"/>
              </a:ext>
            </a:extLst>
          </p:cNvPr>
          <p:cNvGrpSpPr/>
          <p:nvPr/>
        </p:nvGrpSpPr>
        <p:grpSpPr>
          <a:xfrm>
            <a:off x="6836608" y="1324415"/>
            <a:ext cx="1316210" cy="286262"/>
            <a:chOff x="6948245" y="1320764"/>
            <a:chExt cx="1316210" cy="286262"/>
          </a:xfrm>
        </p:grpSpPr>
        <p:cxnSp>
          <p:nvCxnSpPr>
            <p:cNvPr id="96" name="Straight Arrow Connector 95">
              <a:extLst>
                <a:ext uri="{FF2B5EF4-FFF2-40B4-BE49-F238E27FC236}">
                  <a16:creationId xmlns:a16="http://schemas.microsoft.com/office/drawing/2014/main" id="{BF0AFC51-F01A-D073-2B9F-30309153CF69}"/>
                </a:ext>
              </a:extLst>
            </p:cNvPr>
            <p:cNvCxnSpPr>
              <a:cxnSpLocks/>
            </p:cNvCxnSpPr>
            <p:nvPr/>
          </p:nvCxnSpPr>
          <p:spPr>
            <a:xfrm>
              <a:off x="6948245" y="1607026"/>
              <a:ext cx="1316210" cy="0"/>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sp>
          <p:nvSpPr>
            <p:cNvPr id="98" name="TextBox 97">
              <a:extLst>
                <a:ext uri="{FF2B5EF4-FFF2-40B4-BE49-F238E27FC236}">
                  <a16:creationId xmlns:a16="http://schemas.microsoft.com/office/drawing/2014/main" id="{02BBA25E-BAF4-1FD5-0BEE-D4AB51F61AE8}"/>
                </a:ext>
              </a:extLst>
            </p:cNvPr>
            <p:cNvSpPr txBox="1"/>
            <p:nvPr/>
          </p:nvSpPr>
          <p:spPr>
            <a:xfrm>
              <a:off x="6966279" y="1320764"/>
              <a:ext cx="1298176" cy="276999"/>
            </a:xfrm>
            <a:prstGeom prst="rect">
              <a:avLst/>
            </a:prstGeom>
            <a:noFill/>
          </p:spPr>
          <p:txBody>
            <a:bodyPr wrap="square" rtlCol="0">
              <a:spAutoFit/>
            </a:bodyPr>
            <a:lstStyle/>
            <a:p>
              <a:pPr algn="ctr"/>
              <a:r>
                <a:rPr lang="en-US" sz="1200"/>
                <a:t>SQL Query</a:t>
              </a:r>
            </a:p>
          </p:txBody>
        </p:sp>
      </p:grpSp>
      <p:grpSp>
        <p:nvGrpSpPr>
          <p:cNvPr id="116" name="Group 115">
            <a:extLst>
              <a:ext uri="{FF2B5EF4-FFF2-40B4-BE49-F238E27FC236}">
                <a16:creationId xmlns:a16="http://schemas.microsoft.com/office/drawing/2014/main" id="{D52B4885-1593-9093-D449-C2F22748D14B}"/>
              </a:ext>
            </a:extLst>
          </p:cNvPr>
          <p:cNvGrpSpPr/>
          <p:nvPr/>
        </p:nvGrpSpPr>
        <p:grpSpPr>
          <a:xfrm>
            <a:off x="6818574" y="1899414"/>
            <a:ext cx="1334244" cy="282788"/>
            <a:chOff x="6930211" y="1899414"/>
            <a:chExt cx="1334244" cy="282788"/>
          </a:xfrm>
        </p:grpSpPr>
        <p:cxnSp>
          <p:nvCxnSpPr>
            <p:cNvPr id="99" name="Straight Arrow Connector 98">
              <a:extLst>
                <a:ext uri="{FF2B5EF4-FFF2-40B4-BE49-F238E27FC236}">
                  <a16:creationId xmlns:a16="http://schemas.microsoft.com/office/drawing/2014/main" id="{7E94DCA2-D25A-78A3-5D50-75A13DADA1E8}"/>
                </a:ext>
              </a:extLst>
            </p:cNvPr>
            <p:cNvCxnSpPr>
              <a:cxnSpLocks/>
            </p:cNvCxnSpPr>
            <p:nvPr/>
          </p:nvCxnSpPr>
          <p:spPr>
            <a:xfrm flipH="1">
              <a:off x="6948244" y="1899414"/>
              <a:ext cx="1316211" cy="0"/>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sp>
          <p:nvSpPr>
            <p:cNvPr id="102" name="TextBox 101">
              <a:extLst>
                <a:ext uri="{FF2B5EF4-FFF2-40B4-BE49-F238E27FC236}">
                  <a16:creationId xmlns:a16="http://schemas.microsoft.com/office/drawing/2014/main" id="{FB488D05-A209-8C89-EAD0-5D88F50DD75F}"/>
                </a:ext>
              </a:extLst>
            </p:cNvPr>
            <p:cNvSpPr txBox="1"/>
            <p:nvPr/>
          </p:nvSpPr>
          <p:spPr>
            <a:xfrm>
              <a:off x="6930211" y="1905203"/>
              <a:ext cx="1334244" cy="276999"/>
            </a:xfrm>
            <a:prstGeom prst="rect">
              <a:avLst/>
            </a:prstGeom>
            <a:noFill/>
          </p:spPr>
          <p:txBody>
            <a:bodyPr wrap="square" rtlCol="0">
              <a:spAutoFit/>
            </a:bodyPr>
            <a:lstStyle/>
            <a:p>
              <a:pPr algn="ctr"/>
              <a:r>
                <a:rPr lang="en-US" sz="1200"/>
                <a:t>Query Result</a:t>
              </a:r>
            </a:p>
          </p:txBody>
        </p:sp>
      </p:grpSp>
      <p:sp>
        <p:nvSpPr>
          <p:cNvPr id="105" name="TextBox 104">
            <a:extLst>
              <a:ext uri="{FF2B5EF4-FFF2-40B4-BE49-F238E27FC236}">
                <a16:creationId xmlns:a16="http://schemas.microsoft.com/office/drawing/2014/main" id="{82BBDBF2-9EBB-2A31-0348-7EA4E009BA32}"/>
              </a:ext>
            </a:extLst>
          </p:cNvPr>
          <p:cNvSpPr txBox="1"/>
          <p:nvPr/>
        </p:nvSpPr>
        <p:spPr>
          <a:xfrm>
            <a:off x="7918131" y="2182202"/>
            <a:ext cx="1189446" cy="461665"/>
          </a:xfrm>
          <a:prstGeom prst="rect">
            <a:avLst/>
          </a:prstGeom>
          <a:noFill/>
        </p:spPr>
        <p:txBody>
          <a:bodyPr wrap="square" rtlCol="0">
            <a:spAutoFit/>
          </a:bodyPr>
          <a:lstStyle/>
          <a:p>
            <a:pPr algn="ctr"/>
            <a:r>
              <a:rPr lang="en-US" sz="1200">
                <a:solidFill>
                  <a:schemeClr val="tx1"/>
                </a:solidFill>
              </a:rPr>
              <a:t>PostgreSQL</a:t>
            </a:r>
          </a:p>
          <a:p>
            <a:pPr algn="ctr"/>
            <a:r>
              <a:rPr lang="en-US" sz="1200">
                <a:solidFill>
                  <a:schemeClr val="tx1"/>
                </a:solidFill>
              </a:rPr>
              <a:t>Database</a:t>
            </a:r>
          </a:p>
        </p:txBody>
      </p:sp>
      <p:cxnSp>
        <p:nvCxnSpPr>
          <p:cNvPr id="15" name="Straight Connector 14">
            <a:extLst>
              <a:ext uri="{FF2B5EF4-FFF2-40B4-BE49-F238E27FC236}">
                <a16:creationId xmlns:a16="http://schemas.microsoft.com/office/drawing/2014/main" id="{84C35FC2-F6E0-D377-D767-B56085D8EF5B}"/>
              </a:ext>
            </a:extLst>
          </p:cNvPr>
          <p:cNvCxnSpPr>
            <a:cxnSpLocks/>
          </p:cNvCxnSpPr>
          <p:nvPr/>
        </p:nvCxnSpPr>
        <p:spPr>
          <a:xfrm flipV="1">
            <a:off x="4980890" y="966169"/>
            <a:ext cx="0" cy="3946673"/>
          </a:xfrm>
          <a:prstGeom prst="line">
            <a:avLst/>
          </a:prstGeom>
          <a:ln>
            <a:solidFill>
              <a:srgbClr val="16693F"/>
            </a:solidFill>
            <a:prstDash val="sysDash"/>
            <a:tailEnd type="none"/>
          </a:ln>
          <a:effectLst/>
        </p:spPr>
        <p:style>
          <a:lnRef idx="3">
            <a:schemeClr val="dk1"/>
          </a:lnRef>
          <a:fillRef idx="0">
            <a:schemeClr val="dk1"/>
          </a:fillRef>
          <a:effectRef idx="2">
            <a:schemeClr val="dk1"/>
          </a:effectRef>
          <a:fontRef idx="minor">
            <a:schemeClr val="tx1"/>
          </a:fontRef>
        </p:style>
      </p:cxnSp>
      <p:sp>
        <p:nvSpPr>
          <p:cNvPr id="19" name="TextBox 18">
            <a:extLst>
              <a:ext uri="{FF2B5EF4-FFF2-40B4-BE49-F238E27FC236}">
                <a16:creationId xmlns:a16="http://schemas.microsoft.com/office/drawing/2014/main" id="{0280C7DC-FF81-CBEC-0372-0892FA6EF439}"/>
              </a:ext>
            </a:extLst>
          </p:cNvPr>
          <p:cNvSpPr txBox="1"/>
          <p:nvPr/>
        </p:nvSpPr>
        <p:spPr>
          <a:xfrm>
            <a:off x="1813306" y="4515332"/>
            <a:ext cx="1455535" cy="400110"/>
          </a:xfrm>
          <a:prstGeom prst="rect">
            <a:avLst/>
          </a:prstGeom>
          <a:noFill/>
        </p:spPr>
        <p:txBody>
          <a:bodyPr wrap="square" lIns="91440" tIns="45720" rIns="91440" bIns="45720" anchor="t">
            <a:spAutoFit/>
          </a:bodyPr>
          <a:lstStyle/>
          <a:p>
            <a:pPr algn="ctr"/>
            <a:r>
              <a:rPr lang="en-US" sz="2000">
                <a:solidFill>
                  <a:schemeClr val="tx1"/>
                </a:solidFill>
                <a:ea typeface="Sans Serif Collection"/>
                <a:cs typeface="Sans Serif Collection"/>
              </a:rPr>
              <a:t>Frontend</a:t>
            </a:r>
            <a:endParaRPr lang="en-US">
              <a:solidFill>
                <a:schemeClr val="tx1"/>
              </a:solidFill>
            </a:endParaRPr>
          </a:p>
        </p:txBody>
      </p:sp>
      <p:sp>
        <p:nvSpPr>
          <p:cNvPr id="20" name="TextBox 19">
            <a:extLst>
              <a:ext uri="{FF2B5EF4-FFF2-40B4-BE49-F238E27FC236}">
                <a16:creationId xmlns:a16="http://schemas.microsoft.com/office/drawing/2014/main" id="{553A4E2C-D538-12EC-AB4E-B0F15F60B669}"/>
              </a:ext>
            </a:extLst>
          </p:cNvPr>
          <p:cNvSpPr txBox="1"/>
          <p:nvPr/>
        </p:nvSpPr>
        <p:spPr>
          <a:xfrm>
            <a:off x="6462596" y="4512732"/>
            <a:ext cx="1455535" cy="400110"/>
          </a:xfrm>
          <a:prstGeom prst="rect">
            <a:avLst/>
          </a:prstGeom>
          <a:noFill/>
        </p:spPr>
        <p:txBody>
          <a:bodyPr wrap="square" lIns="91440" tIns="45720" rIns="91440" bIns="45720" anchor="t">
            <a:spAutoFit/>
          </a:bodyPr>
          <a:lstStyle/>
          <a:p>
            <a:pPr algn="ctr"/>
            <a:r>
              <a:rPr lang="en-US" sz="2000">
                <a:solidFill>
                  <a:schemeClr val="tx1"/>
                </a:solidFill>
                <a:ea typeface="Sans Serif Collection"/>
                <a:cs typeface="Sans Serif Collection"/>
              </a:rPr>
              <a:t>Backend</a:t>
            </a:r>
            <a:endParaRPr lang="en-US">
              <a:solidFill>
                <a:schemeClr val="tx1"/>
              </a:solidFill>
            </a:endParaRPr>
          </a:p>
        </p:txBody>
      </p:sp>
    </p:spTree>
    <p:extLst>
      <p:ext uri="{BB962C8B-B14F-4D97-AF65-F5344CB8AC3E}">
        <p14:creationId xmlns:p14="http://schemas.microsoft.com/office/powerpoint/2010/main" val="1261441029"/>
      </p:ext>
    </p:extLst>
  </p:cSld>
  <p:clrMapOvr>
    <a:masterClrMapping/>
  </p:clrMapOvr>
  <p:extLst>
    <p:ext uri="{6950BFC3-D8DA-4A85-94F7-54DA5524770B}">
      <p188:commentRel xmlns:p188="http://schemas.microsoft.com/office/powerpoint/2018/8/main" r:id="rId3"/>
    </p:ext>
  </p:extLs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FEEFC8-4075-D329-EA01-01459C82479B}"/>
            </a:ext>
          </a:extLst>
        </p:cNvPr>
        <p:cNvGrpSpPr/>
        <p:nvPr/>
      </p:nvGrpSpPr>
      <p:grpSpPr>
        <a:xfrm>
          <a:off x="0" y="0"/>
          <a:ext cx="0" cy="0"/>
          <a:chOff x="0" y="0"/>
          <a:chExt cx="0" cy="0"/>
        </a:xfrm>
      </p:grpSpPr>
      <p:pic>
        <p:nvPicPr>
          <p:cNvPr id="1026" name="Picture 2">
            <a:extLst>
              <a:ext uri="{FF2B5EF4-FFF2-40B4-BE49-F238E27FC236}">
                <a16:creationId xmlns:a16="http://schemas.microsoft.com/office/drawing/2014/main" id="{0F3A8444-1976-0FAF-8BC2-CBA75C4173A0}"/>
              </a:ext>
            </a:extLst>
          </p:cNvPr>
          <p:cNvPicPr>
            <a:picLocks noChangeAspect="1" noChangeArrowheads="1"/>
          </p:cNvPicPr>
          <p:nvPr/>
        </p:nvPicPr>
        <p:blipFill rotWithShape="1">
          <a:blip r:embed="rId4" cstate="hqprint">
            <a:extLst>
              <a:ext uri="{28A0092B-C50C-407E-A947-70E740481C1C}">
                <a14:useLocalDpi xmlns:a14="http://schemas.microsoft.com/office/drawing/2010/main"/>
              </a:ext>
            </a:extLst>
          </a:blip>
          <a:srcRect t="22316" b="21776"/>
          <a:stretch>
            <a:fillRect/>
          </a:stretch>
        </p:blipFill>
        <p:spPr bwMode="auto">
          <a:xfrm>
            <a:off x="6877126" y="3663398"/>
            <a:ext cx="2207991" cy="685800"/>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46E2E934-38B9-A8CC-51D2-A679334AB7A1}"/>
              </a:ext>
            </a:extLst>
          </p:cNvPr>
          <p:cNvSpPr txBox="1"/>
          <p:nvPr/>
        </p:nvSpPr>
        <p:spPr>
          <a:xfrm>
            <a:off x="176414" y="135974"/>
            <a:ext cx="8799384" cy="707886"/>
          </a:xfrm>
          <a:prstGeom prst="rect">
            <a:avLst/>
          </a:prstGeom>
          <a:noFill/>
        </p:spPr>
        <p:txBody>
          <a:bodyPr wrap="square" lIns="91440" tIns="45720" rIns="91440" bIns="45720" anchor="t">
            <a:spAutoFit/>
          </a:bodyPr>
          <a:lstStyle/>
          <a:p>
            <a:r>
              <a:rPr lang="en-US" sz="2000" b="1">
                <a:solidFill>
                  <a:srgbClr val="16693F"/>
                </a:solidFill>
                <a:ea typeface="Sans Serif Collection"/>
                <a:cs typeface="Sans Serif Collection"/>
              </a:rPr>
              <a:t>GRNsight Classic built on jQuery/Bootstrap/Pug framework for frontend resulting in code redundancy and complex UI updates</a:t>
            </a:r>
          </a:p>
        </p:txBody>
      </p:sp>
      <p:pic>
        <p:nvPicPr>
          <p:cNvPr id="4" name="Picture 3" descr="A hexagon with white text&#10;&#10;AI-generated content may be incorrect.">
            <a:extLst>
              <a:ext uri="{FF2B5EF4-FFF2-40B4-BE49-F238E27FC236}">
                <a16:creationId xmlns:a16="http://schemas.microsoft.com/office/drawing/2014/main" id="{6A18CFFB-0507-A9F1-7095-0367231BADBB}"/>
              </a:ext>
            </a:extLst>
          </p:cNvPr>
          <p:cNvPicPr>
            <a:picLocks noChangeAspect="1"/>
          </p:cNvPicPr>
          <p:nvPr/>
        </p:nvPicPr>
        <p:blipFill>
          <a:blip r:embed="rId5" cstate="hqprint">
            <a:extLst>
              <a:ext uri="{28A0092B-C50C-407E-A947-70E740481C1C}">
                <a14:useLocalDpi xmlns:a14="http://schemas.microsoft.com/office/drawing/2010/main"/>
              </a:ext>
            </a:extLst>
          </a:blip>
          <a:srcRect/>
          <a:stretch>
            <a:fillRect/>
          </a:stretch>
        </p:blipFill>
        <p:spPr>
          <a:xfrm>
            <a:off x="7350869" y="2277407"/>
            <a:ext cx="1259791" cy="1134118"/>
          </a:xfrm>
          <a:prstGeom prst="rect">
            <a:avLst/>
          </a:prstGeom>
        </p:spPr>
      </p:pic>
      <p:pic>
        <p:nvPicPr>
          <p:cNvPr id="5" name="Picture 4" descr="A dog with a sad face&#10;&#10;AI-generated content may be incorrect.">
            <a:extLst>
              <a:ext uri="{FF2B5EF4-FFF2-40B4-BE49-F238E27FC236}">
                <a16:creationId xmlns:a16="http://schemas.microsoft.com/office/drawing/2014/main" id="{42A5F6F6-9480-C6B6-0E9E-547F4D389DBF}"/>
              </a:ext>
            </a:extLst>
          </p:cNvPr>
          <p:cNvPicPr>
            <a:picLocks noChangeAspect="1"/>
          </p:cNvPicPr>
          <p:nvPr/>
        </p:nvPicPr>
        <p:blipFill>
          <a:blip r:embed="rId6"/>
          <a:stretch>
            <a:fillRect/>
          </a:stretch>
        </p:blipFill>
        <p:spPr>
          <a:xfrm>
            <a:off x="6978642" y="1217103"/>
            <a:ext cx="2003624" cy="1019306"/>
          </a:xfrm>
          <a:prstGeom prst="rect">
            <a:avLst/>
          </a:prstGeom>
        </p:spPr>
      </p:pic>
      <p:grpSp>
        <p:nvGrpSpPr>
          <p:cNvPr id="32" name="Group 31">
            <a:extLst>
              <a:ext uri="{FF2B5EF4-FFF2-40B4-BE49-F238E27FC236}">
                <a16:creationId xmlns:a16="http://schemas.microsoft.com/office/drawing/2014/main" id="{A9770A3B-A441-4DA7-18DF-9F8704D20FE9}"/>
              </a:ext>
            </a:extLst>
          </p:cNvPr>
          <p:cNvGrpSpPr/>
          <p:nvPr/>
        </p:nvGrpSpPr>
        <p:grpSpPr>
          <a:xfrm>
            <a:off x="3391736" y="843113"/>
            <a:ext cx="3480840" cy="3832167"/>
            <a:chOff x="2978150" y="640080"/>
            <a:chExt cx="3480840" cy="3832167"/>
          </a:xfrm>
        </p:grpSpPr>
        <p:sp>
          <p:nvSpPr>
            <p:cNvPr id="2" name="AutoShape 2">
              <a:extLst>
                <a:ext uri="{FF2B5EF4-FFF2-40B4-BE49-F238E27FC236}">
                  <a16:creationId xmlns:a16="http://schemas.microsoft.com/office/drawing/2014/main" id="{48DC9871-2035-8F76-14A3-622E71BF85F8}"/>
                </a:ext>
              </a:extLst>
            </p:cNvPr>
            <p:cNvSpPr>
              <a:spLocks noChangeAspect="1" noChangeArrowheads="1"/>
            </p:cNvSpPr>
            <p:nvPr/>
          </p:nvSpPr>
          <p:spPr bwMode="auto">
            <a:xfrm>
              <a:off x="4419600" y="24193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25" name="Picture 24" descr="A diagram of a computer program&#10;&#10;AI-generated content may be incorrect.">
              <a:extLst>
                <a:ext uri="{FF2B5EF4-FFF2-40B4-BE49-F238E27FC236}">
                  <a16:creationId xmlns:a16="http://schemas.microsoft.com/office/drawing/2014/main" id="{78822588-55ED-E6E4-0AC7-C428CD6CF170}"/>
                </a:ext>
              </a:extLst>
            </p:cNvPr>
            <p:cNvPicPr>
              <a:picLocks noChangeAspect="1"/>
            </p:cNvPicPr>
            <p:nvPr/>
          </p:nvPicPr>
          <p:blipFill>
            <a:blip r:embed="rId7" cstate="hqprint">
              <a:extLst>
                <a:ext uri="{28A0092B-C50C-407E-A947-70E740481C1C}">
                  <a14:useLocalDpi xmlns:a14="http://schemas.microsoft.com/office/drawing/2010/main"/>
                </a:ext>
              </a:extLst>
            </a:blip>
            <a:srcRect/>
            <a:stretch>
              <a:fillRect/>
            </a:stretch>
          </p:blipFill>
          <p:spPr>
            <a:xfrm>
              <a:off x="2978150" y="640080"/>
              <a:ext cx="3480840" cy="3832167"/>
            </a:xfrm>
            <a:prstGeom prst="roundRect">
              <a:avLst>
                <a:gd name="adj" fmla="val 4453"/>
              </a:avLst>
            </a:prstGeom>
          </p:spPr>
        </p:pic>
        <p:sp>
          <p:nvSpPr>
            <p:cNvPr id="28" name="Rectangle 27">
              <a:extLst>
                <a:ext uri="{FF2B5EF4-FFF2-40B4-BE49-F238E27FC236}">
                  <a16:creationId xmlns:a16="http://schemas.microsoft.com/office/drawing/2014/main" id="{50E55283-9E48-3AEC-20CB-5014A005A43F}"/>
                </a:ext>
              </a:extLst>
            </p:cNvPr>
            <p:cNvSpPr/>
            <p:nvPr/>
          </p:nvSpPr>
          <p:spPr>
            <a:xfrm>
              <a:off x="3022601" y="1156945"/>
              <a:ext cx="478246" cy="750232"/>
            </a:xfrm>
            <a:prstGeom prst="rect">
              <a:avLst/>
            </a:prstGeom>
            <a:solidFill>
              <a:srgbClr val="DDEFDF"/>
            </a:solidFill>
            <a:ln>
              <a:solidFill>
                <a:srgbClr val="DDEFD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3E616465-10CE-5384-D0AC-3680F1304EC2}"/>
                </a:ext>
              </a:extLst>
            </p:cNvPr>
            <p:cNvSpPr/>
            <p:nvPr/>
          </p:nvSpPr>
          <p:spPr>
            <a:xfrm>
              <a:off x="3022602" y="3562350"/>
              <a:ext cx="333374" cy="424205"/>
            </a:xfrm>
            <a:prstGeom prst="rect">
              <a:avLst/>
            </a:prstGeom>
            <a:solidFill>
              <a:srgbClr val="DDEFDF"/>
            </a:solidFill>
            <a:ln>
              <a:solidFill>
                <a:srgbClr val="DDEFD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CE4FE86E-C8C7-1B99-2B21-F5D518DE560C}"/>
                </a:ext>
              </a:extLst>
            </p:cNvPr>
            <p:cNvSpPr/>
            <p:nvPr/>
          </p:nvSpPr>
          <p:spPr>
            <a:xfrm>
              <a:off x="3016251" y="2359646"/>
              <a:ext cx="425448" cy="438912"/>
            </a:xfrm>
            <a:prstGeom prst="rect">
              <a:avLst/>
            </a:prstGeom>
            <a:solidFill>
              <a:srgbClr val="A8CFB0"/>
            </a:solidFill>
            <a:ln>
              <a:solidFill>
                <a:srgbClr val="A8CFB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3" name="TextBox 32">
            <a:extLst>
              <a:ext uri="{FF2B5EF4-FFF2-40B4-BE49-F238E27FC236}">
                <a16:creationId xmlns:a16="http://schemas.microsoft.com/office/drawing/2014/main" id="{5DAA4CC3-3159-6467-6175-DE9D19B5A28C}"/>
              </a:ext>
            </a:extLst>
          </p:cNvPr>
          <p:cNvSpPr txBox="1"/>
          <p:nvPr/>
        </p:nvSpPr>
        <p:spPr>
          <a:xfrm>
            <a:off x="3391736" y="874286"/>
            <a:ext cx="3480840" cy="307777"/>
          </a:xfrm>
          <a:prstGeom prst="rect">
            <a:avLst/>
          </a:prstGeom>
          <a:noFill/>
        </p:spPr>
        <p:txBody>
          <a:bodyPr wrap="square" rtlCol="0">
            <a:spAutoFit/>
          </a:bodyPr>
          <a:lstStyle/>
          <a:p>
            <a:pPr algn="ctr"/>
            <a:r>
              <a:rPr lang="en-US" b="1">
                <a:solidFill>
                  <a:schemeClr val="bg1"/>
                </a:solidFill>
              </a:rPr>
              <a:t>Web Browser</a:t>
            </a:r>
          </a:p>
        </p:txBody>
      </p:sp>
      <p:sp>
        <p:nvSpPr>
          <p:cNvPr id="8" name="Rectangle 7">
            <a:extLst>
              <a:ext uri="{FF2B5EF4-FFF2-40B4-BE49-F238E27FC236}">
                <a16:creationId xmlns:a16="http://schemas.microsoft.com/office/drawing/2014/main" id="{6A9987E6-1188-7FDE-4BE3-1732BBF5EFC0}"/>
              </a:ext>
            </a:extLst>
          </p:cNvPr>
          <p:cNvSpPr/>
          <p:nvPr/>
        </p:nvSpPr>
        <p:spPr>
          <a:xfrm>
            <a:off x="5515275" y="1266967"/>
            <a:ext cx="1289785" cy="917968"/>
          </a:xfrm>
          <a:prstGeom prst="rect">
            <a:avLst/>
          </a:prstGeom>
          <a:solidFill>
            <a:srgbClr val="DEF1E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87E11ABE-2109-FEED-ADEB-0078559BA6E1}"/>
              </a:ext>
            </a:extLst>
          </p:cNvPr>
          <p:cNvSpPr txBox="1"/>
          <p:nvPr/>
        </p:nvSpPr>
        <p:spPr>
          <a:xfrm>
            <a:off x="5515275" y="1445192"/>
            <a:ext cx="1289785" cy="461665"/>
          </a:xfrm>
          <a:prstGeom prst="rect">
            <a:avLst/>
          </a:prstGeom>
          <a:noFill/>
        </p:spPr>
        <p:txBody>
          <a:bodyPr wrap="square" rtlCol="0">
            <a:spAutoFit/>
          </a:bodyPr>
          <a:lstStyle/>
          <a:p>
            <a:r>
              <a:rPr lang="en-US" sz="1200"/>
              <a:t>PUG generates DOM structure.</a:t>
            </a:r>
          </a:p>
        </p:txBody>
      </p:sp>
      <p:sp>
        <p:nvSpPr>
          <p:cNvPr id="11" name="Rectangle 10">
            <a:extLst>
              <a:ext uri="{FF2B5EF4-FFF2-40B4-BE49-F238E27FC236}">
                <a16:creationId xmlns:a16="http://schemas.microsoft.com/office/drawing/2014/main" id="{C4174CAC-F5BC-A91C-1328-49A80D16086E}"/>
              </a:ext>
            </a:extLst>
          </p:cNvPr>
          <p:cNvSpPr/>
          <p:nvPr/>
        </p:nvSpPr>
        <p:spPr>
          <a:xfrm>
            <a:off x="5552346" y="2387527"/>
            <a:ext cx="1220568" cy="917968"/>
          </a:xfrm>
          <a:prstGeom prst="rect">
            <a:avLst/>
          </a:prstGeom>
          <a:solidFill>
            <a:srgbClr val="AAD1B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992DC3D8-5DD5-8A18-FCF8-A7D8C680A3AF}"/>
              </a:ext>
            </a:extLst>
          </p:cNvPr>
          <p:cNvSpPr txBox="1"/>
          <p:nvPr/>
        </p:nvSpPr>
        <p:spPr>
          <a:xfrm>
            <a:off x="5552346" y="2428967"/>
            <a:ext cx="1289785" cy="830997"/>
          </a:xfrm>
          <a:prstGeom prst="rect">
            <a:avLst/>
          </a:prstGeom>
          <a:noFill/>
        </p:spPr>
        <p:txBody>
          <a:bodyPr wrap="square" rtlCol="0">
            <a:spAutoFit/>
          </a:bodyPr>
          <a:lstStyle/>
          <a:p>
            <a:r>
              <a:rPr lang="en-US" sz="1200" err="1"/>
              <a:t>JQuery</a:t>
            </a:r>
            <a:r>
              <a:rPr lang="en-US" sz="1200"/>
              <a:t> connects and accesses DOM elements.</a:t>
            </a:r>
          </a:p>
        </p:txBody>
      </p:sp>
      <p:sp>
        <p:nvSpPr>
          <p:cNvPr id="13" name="Rectangle 12">
            <a:extLst>
              <a:ext uri="{FF2B5EF4-FFF2-40B4-BE49-F238E27FC236}">
                <a16:creationId xmlns:a16="http://schemas.microsoft.com/office/drawing/2014/main" id="{9F7B3AC3-0A00-D989-0580-6906C4FB085B}"/>
              </a:ext>
            </a:extLst>
          </p:cNvPr>
          <p:cNvSpPr/>
          <p:nvPr/>
        </p:nvSpPr>
        <p:spPr>
          <a:xfrm>
            <a:off x="5601775" y="3549527"/>
            <a:ext cx="1220568" cy="917968"/>
          </a:xfrm>
          <a:prstGeom prst="rect">
            <a:avLst/>
          </a:prstGeom>
          <a:solidFill>
            <a:srgbClr val="DEF1E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B5697924-8E0D-9674-DC6D-4CC24FBDE3CB}"/>
              </a:ext>
            </a:extLst>
          </p:cNvPr>
          <p:cNvSpPr txBox="1"/>
          <p:nvPr/>
        </p:nvSpPr>
        <p:spPr>
          <a:xfrm>
            <a:off x="5567166" y="3706005"/>
            <a:ext cx="1289785" cy="646331"/>
          </a:xfrm>
          <a:prstGeom prst="rect">
            <a:avLst/>
          </a:prstGeom>
          <a:noFill/>
        </p:spPr>
        <p:txBody>
          <a:bodyPr wrap="square" rtlCol="0">
            <a:spAutoFit/>
          </a:bodyPr>
          <a:lstStyle/>
          <a:p>
            <a:r>
              <a:rPr lang="en-US" sz="1200"/>
              <a:t>Bootstrap applies visual style and layout.</a:t>
            </a:r>
          </a:p>
        </p:txBody>
      </p:sp>
      <p:pic>
        <p:nvPicPr>
          <p:cNvPr id="16" name="Picture 15">
            <a:extLst>
              <a:ext uri="{FF2B5EF4-FFF2-40B4-BE49-F238E27FC236}">
                <a16:creationId xmlns:a16="http://schemas.microsoft.com/office/drawing/2014/main" id="{C630C1D4-94CE-0608-8B97-CD8F75D52C0C}"/>
              </a:ext>
            </a:extLst>
          </p:cNvPr>
          <p:cNvPicPr>
            <a:picLocks noChangeAspect="1"/>
          </p:cNvPicPr>
          <p:nvPr/>
        </p:nvPicPr>
        <p:blipFill>
          <a:blip r:embed="rId8" cstate="hqprint">
            <a:extLst>
              <a:ext uri="{28A0092B-C50C-407E-A947-70E740481C1C}">
                <a14:useLocalDpi xmlns:a14="http://schemas.microsoft.com/office/drawing/2010/main"/>
              </a:ext>
            </a:extLst>
          </a:blip>
          <a:stretch>
            <a:fillRect/>
          </a:stretch>
        </p:blipFill>
        <p:spPr>
          <a:xfrm>
            <a:off x="16843" y="953912"/>
            <a:ext cx="3344448" cy="1507520"/>
          </a:xfrm>
          <a:prstGeom prst="rect">
            <a:avLst/>
          </a:prstGeom>
        </p:spPr>
      </p:pic>
    </p:spTree>
    <p:extLst>
      <p:ext uri="{BB962C8B-B14F-4D97-AF65-F5344CB8AC3E}">
        <p14:creationId xmlns:p14="http://schemas.microsoft.com/office/powerpoint/2010/main" val="3281174324"/>
      </p:ext>
    </p:extLst>
  </p:cSld>
  <p:clrMapOvr>
    <a:masterClrMapping/>
  </p:clrMapOvr>
  <p:extLst>
    <p:ext uri="{6950BFC3-D8DA-4A85-94F7-54DA5524770B}">
      <p188:commentRel xmlns:p188="http://schemas.microsoft.com/office/powerpoint/2018/8/main" r:id="rId3"/>
    </p:ext>
  </p:extLs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39D32D-13E6-7198-7C9A-E339C1064EAD}"/>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AD650456-D78F-2DBB-1883-939AF4CB4920}"/>
              </a:ext>
            </a:extLst>
          </p:cNvPr>
          <p:cNvSpPr txBox="1"/>
          <p:nvPr/>
        </p:nvSpPr>
        <p:spPr>
          <a:xfrm>
            <a:off x="176414" y="135974"/>
            <a:ext cx="8799384" cy="707886"/>
          </a:xfrm>
          <a:prstGeom prst="rect">
            <a:avLst/>
          </a:prstGeom>
          <a:noFill/>
        </p:spPr>
        <p:txBody>
          <a:bodyPr wrap="square" lIns="91440" tIns="45720" rIns="91440" bIns="45720" anchor="t">
            <a:spAutoFit/>
          </a:bodyPr>
          <a:lstStyle/>
          <a:p>
            <a:r>
              <a:rPr lang="en-US" sz="2000" b="1">
                <a:solidFill>
                  <a:srgbClr val="16693F"/>
                </a:solidFill>
                <a:ea typeface="Sans Serif Collection"/>
                <a:cs typeface="Sans Serif Collection"/>
              </a:rPr>
              <a:t>React/Grommet framework for frontend improves state management, code maintainability, and user interaction</a:t>
            </a:r>
            <a:endParaRPr lang="en-US" sz="2000">
              <a:solidFill>
                <a:srgbClr val="16693F"/>
              </a:solidFill>
              <a:ea typeface="Sans Serif Collection"/>
            </a:endParaRPr>
          </a:p>
        </p:txBody>
      </p:sp>
      <p:pic>
        <p:nvPicPr>
          <p:cNvPr id="8" name="Picture 7" descr="React original wordmark logo - free Icon PNG, SVG">
            <a:extLst>
              <a:ext uri="{FF2B5EF4-FFF2-40B4-BE49-F238E27FC236}">
                <a16:creationId xmlns:a16="http://schemas.microsoft.com/office/drawing/2014/main" id="{E2DDD75B-2CBE-1C56-5942-B92F7C1113AA}"/>
              </a:ext>
            </a:extLst>
          </p:cNvPr>
          <p:cNvPicPr>
            <a:picLocks noChangeAspect="1"/>
          </p:cNvPicPr>
          <p:nvPr/>
        </p:nvPicPr>
        <p:blipFill>
          <a:blip r:embed="rId4" cstate="hqprint">
            <a:extLst>
              <a:ext uri="{28A0092B-C50C-407E-A947-70E740481C1C}">
                <a14:useLocalDpi xmlns:a14="http://schemas.microsoft.com/office/drawing/2010/main"/>
              </a:ext>
            </a:extLst>
          </a:blip>
          <a:stretch>
            <a:fillRect/>
          </a:stretch>
        </p:blipFill>
        <p:spPr>
          <a:xfrm>
            <a:off x="7581437" y="1487977"/>
            <a:ext cx="1017271" cy="1017271"/>
          </a:xfrm>
          <a:prstGeom prst="rect">
            <a:avLst/>
          </a:prstGeom>
        </p:spPr>
      </p:pic>
      <p:pic>
        <p:nvPicPr>
          <p:cNvPr id="9" name="Picture 8" descr="A purple circle with black background&#10;&#10;AI-generated content may be incorrect.">
            <a:extLst>
              <a:ext uri="{FF2B5EF4-FFF2-40B4-BE49-F238E27FC236}">
                <a16:creationId xmlns:a16="http://schemas.microsoft.com/office/drawing/2014/main" id="{2513FC4C-A19C-7DF3-C49C-619D447A8A13}"/>
              </a:ext>
            </a:extLst>
          </p:cNvPr>
          <p:cNvPicPr>
            <a:picLocks noChangeAspect="1"/>
          </p:cNvPicPr>
          <p:nvPr/>
        </p:nvPicPr>
        <p:blipFill>
          <a:blip r:embed="rId5" cstate="hqprint">
            <a:extLst>
              <a:ext uri="{28A0092B-C50C-407E-A947-70E740481C1C}">
                <a14:useLocalDpi xmlns:a14="http://schemas.microsoft.com/office/drawing/2010/main"/>
              </a:ext>
            </a:extLst>
          </a:blip>
          <a:srcRect l="-1757"/>
          <a:stretch>
            <a:fillRect/>
          </a:stretch>
        </p:blipFill>
        <p:spPr>
          <a:xfrm>
            <a:off x="6911129" y="3459730"/>
            <a:ext cx="1908320" cy="611305"/>
          </a:xfrm>
          <a:prstGeom prst="rect">
            <a:avLst/>
          </a:prstGeom>
        </p:spPr>
      </p:pic>
      <p:grpSp>
        <p:nvGrpSpPr>
          <p:cNvPr id="15" name="Group 14">
            <a:extLst>
              <a:ext uri="{FF2B5EF4-FFF2-40B4-BE49-F238E27FC236}">
                <a16:creationId xmlns:a16="http://schemas.microsoft.com/office/drawing/2014/main" id="{54F8FB30-A16E-4AC9-0CAE-CD3B7F8D774C}"/>
              </a:ext>
            </a:extLst>
          </p:cNvPr>
          <p:cNvGrpSpPr/>
          <p:nvPr/>
        </p:nvGrpSpPr>
        <p:grpSpPr>
          <a:xfrm>
            <a:off x="3391736" y="843113"/>
            <a:ext cx="3480840" cy="3832167"/>
            <a:chOff x="3391736" y="843113"/>
            <a:chExt cx="3480840" cy="3832167"/>
          </a:xfrm>
        </p:grpSpPr>
        <p:grpSp>
          <p:nvGrpSpPr>
            <p:cNvPr id="32" name="Group 31">
              <a:extLst>
                <a:ext uri="{FF2B5EF4-FFF2-40B4-BE49-F238E27FC236}">
                  <a16:creationId xmlns:a16="http://schemas.microsoft.com/office/drawing/2014/main" id="{6E088607-5D88-8A86-7FD8-B0921A98D46C}"/>
                </a:ext>
              </a:extLst>
            </p:cNvPr>
            <p:cNvGrpSpPr/>
            <p:nvPr/>
          </p:nvGrpSpPr>
          <p:grpSpPr>
            <a:xfrm>
              <a:off x="3391736" y="843113"/>
              <a:ext cx="3480840" cy="3832167"/>
              <a:chOff x="2978150" y="640080"/>
              <a:chExt cx="3480840" cy="3832167"/>
            </a:xfrm>
          </p:grpSpPr>
          <p:sp>
            <p:nvSpPr>
              <p:cNvPr id="2" name="AutoShape 2">
                <a:extLst>
                  <a:ext uri="{FF2B5EF4-FFF2-40B4-BE49-F238E27FC236}">
                    <a16:creationId xmlns:a16="http://schemas.microsoft.com/office/drawing/2014/main" id="{8ACA3969-9F83-D7D9-F7A6-15181115FB31}"/>
                  </a:ext>
                </a:extLst>
              </p:cNvPr>
              <p:cNvSpPr>
                <a:spLocks noChangeAspect="1" noChangeArrowheads="1"/>
              </p:cNvSpPr>
              <p:nvPr/>
            </p:nvSpPr>
            <p:spPr bwMode="auto">
              <a:xfrm>
                <a:off x="4419600" y="24193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25" name="Picture 24" descr="A diagram of a computer program&#10;&#10;AI-generated content may be incorrect.">
                <a:extLst>
                  <a:ext uri="{FF2B5EF4-FFF2-40B4-BE49-F238E27FC236}">
                    <a16:creationId xmlns:a16="http://schemas.microsoft.com/office/drawing/2014/main" id="{256A0621-52C7-6B85-5E01-BF8B206B7CC8}"/>
                  </a:ext>
                </a:extLst>
              </p:cNvPr>
              <p:cNvPicPr>
                <a:picLocks noChangeAspect="1"/>
              </p:cNvPicPr>
              <p:nvPr/>
            </p:nvPicPr>
            <p:blipFill>
              <a:blip r:embed="rId6" cstate="hqprint">
                <a:extLst>
                  <a:ext uri="{28A0092B-C50C-407E-A947-70E740481C1C}">
                    <a14:useLocalDpi xmlns:a14="http://schemas.microsoft.com/office/drawing/2010/main"/>
                  </a:ext>
                </a:extLst>
              </a:blip>
              <a:srcRect/>
              <a:stretch>
                <a:fillRect/>
              </a:stretch>
            </p:blipFill>
            <p:spPr>
              <a:xfrm>
                <a:off x="2978150" y="640080"/>
                <a:ext cx="3480840" cy="3832167"/>
              </a:xfrm>
              <a:prstGeom prst="roundRect">
                <a:avLst>
                  <a:gd name="adj" fmla="val 4453"/>
                </a:avLst>
              </a:prstGeom>
            </p:spPr>
          </p:pic>
          <p:sp>
            <p:nvSpPr>
              <p:cNvPr id="28" name="Rectangle 27">
                <a:extLst>
                  <a:ext uri="{FF2B5EF4-FFF2-40B4-BE49-F238E27FC236}">
                    <a16:creationId xmlns:a16="http://schemas.microsoft.com/office/drawing/2014/main" id="{52605E54-2DAD-6AB0-382B-9DBCCAB97D9F}"/>
                  </a:ext>
                </a:extLst>
              </p:cNvPr>
              <p:cNvSpPr/>
              <p:nvPr/>
            </p:nvSpPr>
            <p:spPr>
              <a:xfrm>
                <a:off x="3022601" y="1156945"/>
                <a:ext cx="478246" cy="750232"/>
              </a:xfrm>
              <a:prstGeom prst="rect">
                <a:avLst/>
              </a:prstGeom>
              <a:solidFill>
                <a:srgbClr val="DDEFDF"/>
              </a:solidFill>
              <a:ln>
                <a:solidFill>
                  <a:srgbClr val="DDEFD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88137903-486A-7621-C4C7-C0613A454537}"/>
                  </a:ext>
                </a:extLst>
              </p:cNvPr>
              <p:cNvSpPr/>
              <p:nvPr/>
            </p:nvSpPr>
            <p:spPr>
              <a:xfrm>
                <a:off x="3022602" y="3562350"/>
                <a:ext cx="333374" cy="424205"/>
              </a:xfrm>
              <a:prstGeom prst="rect">
                <a:avLst/>
              </a:prstGeom>
              <a:solidFill>
                <a:srgbClr val="DDEFDF"/>
              </a:solidFill>
              <a:ln>
                <a:solidFill>
                  <a:srgbClr val="DDEFD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779BFD37-B1BA-6196-0357-7019FE7ECC71}"/>
                  </a:ext>
                </a:extLst>
              </p:cNvPr>
              <p:cNvSpPr/>
              <p:nvPr/>
            </p:nvSpPr>
            <p:spPr>
              <a:xfrm>
                <a:off x="3016251" y="2359646"/>
                <a:ext cx="425448" cy="438912"/>
              </a:xfrm>
              <a:prstGeom prst="rect">
                <a:avLst/>
              </a:prstGeom>
              <a:solidFill>
                <a:srgbClr val="A8CFB0"/>
              </a:solidFill>
              <a:ln>
                <a:solidFill>
                  <a:srgbClr val="A8CFB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3" name="TextBox 32">
              <a:extLst>
                <a:ext uri="{FF2B5EF4-FFF2-40B4-BE49-F238E27FC236}">
                  <a16:creationId xmlns:a16="http://schemas.microsoft.com/office/drawing/2014/main" id="{C85FBF53-7A80-72BC-4E54-4F32661F1C6F}"/>
                </a:ext>
              </a:extLst>
            </p:cNvPr>
            <p:cNvSpPr txBox="1"/>
            <p:nvPr/>
          </p:nvSpPr>
          <p:spPr>
            <a:xfrm>
              <a:off x="3391736" y="874286"/>
              <a:ext cx="3480840" cy="307777"/>
            </a:xfrm>
            <a:prstGeom prst="rect">
              <a:avLst/>
            </a:prstGeom>
            <a:noFill/>
          </p:spPr>
          <p:txBody>
            <a:bodyPr wrap="square" rtlCol="0">
              <a:spAutoFit/>
            </a:bodyPr>
            <a:lstStyle/>
            <a:p>
              <a:pPr algn="ctr"/>
              <a:r>
                <a:rPr lang="en-US" b="1">
                  <a:solidFill>
                    <a:schemeClr val="bg1"/>
                  </a:solidFill>
                </a:rPr>
                <a:t>Web Browser</a:t>
              </a:r>
            </a:p>
          </p:txBody>
        </p:sp>
        <p:sp>
          <p:nvSpPr>
            <p:cNvPr id="11" name="Rectangle 10">
              <a:extLst>
                <a:ext uri="{FF2B5EF4-FFF2-40B4-BE49-F238E27FC236}">
                  <a16:creationId xmlns:a16="http://schemas.microsoft.com/office/drawing/2014/main" id="{90C5F6D8-D37E-C3D1-6DBE-0EB8B8CE7A0F}"/>
                </a:ext>
              </a:extLst>
            </p:cNvPr>
            <p:cNvSpPr/>
            <p:nvPr/>
          </p:nvSpPr>
          <p:spPr>
            <a:xfrm>
              <a:off x="3424205" y="1266967"/>
              <a:ext cx="3402871" cy="1660216"/>
            </a:xfrm>
            <a:prstGeom prst="rect">
              <a:avLst/>
            </a:prstGeom>
            <a:solidFill>
              <a:srgbClr val="DEF1E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70325A59-6F9A-D50D-88D8-C13CC09C5040}"/>
                </a:ext>
              </a:extLst>
            </p:cNvPr>
            <p:cNvSpPr/>
            <p:nvPr/>
          </p:nvSpPr>
          <p:spPr>
            <a:xfrm>
              <a:off x="3417900" y="2824428"/>
              <a:ext cx="3419856" cy="1660216"/>
            </a:xfrm>
            <a:prstGeom prst="rect">
              <a:avLst/>
            </a:prstGeom>
            <a:solidFill>
              <a:srgbClr val="AAD1B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ounded Rectangle 13">
              <a:extLst>
                <a:ext uri="{FF2B5EF4-FFF2-40B4-BE49-F238E27FC236}">
                  <a16:creationId xmlns:a16="http://schemas.microsoft.com/office/drawing/2014/main" id="{227A6E86-34DC-880D-6FC2-19A61BB935B4}"/>
                </a:ext>
              </a:extLst>
            </p:cNvPr>
            <p:cNvSpPr/>
            <p:nvPr/>
          </p:nvSpPr>
          <p:spPr>
            <a:xfrm>
              <a:off x="3417899" y="4137426"/>
              <a:ext cx="3419856" cy="503831"/>
            </a:xfrm>
            <a:prstGeom prst="roundRect">
              <a:avLst/>
            </a:prstGeom>
            <a:solidFill>
              <a:srgbClr val="A9CFA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6" name="TextBox 15">
            <a:extLst>
              <a:ext uri="{FF2B5EF4-FFF2-40B4-BE49-F238E27FC236}">
                <a16:creationId xmlns:a16="http://schemas.microsoft.com/office/drawing/2014/main" id="{80AC3345-6D1E-6CC0-DFD9-66CDB5986309}"/>
              </a:ext>
            </a:extLst>
          </p:cNvPr>
          <p:cNvSpPr txBox="1"/>
          <p:nvPr/>
        </p:nvSpPr>
        <p:spPr>
          <a:xfrm>
            <a:off x="5514311" y="1304116"/>
            <a:ext cx="1289785" cy="1384995"/>
          </a:xfrm>
          <a:prstGeom prst="rect">
            <a:avLst/>
          </a:prstGeom>
          <a:noFill/>
        </p:spPr>
        <p:txBody>
          <a:bodyPr wrap="square" rtlCol="0">
            <a:spAutoFit/>
          </a:bodyPr>
          <a:lstStyle/>
          <a:p>
            <a:r>
              <a:rPr lang="en-US" sz="1200"/>
              <a:t>React JSX allows creation, access, and manipulation of DOM elements in the same place.</a:t>
            </a:r>
          </a:p>
        </p:txBody>
      </p:sp>
      <p:pic>
        <p:nvPicPr>
          <p:cNvPr id="18" name="Picture 17">
            <a:extLst>
              <a:ext uri="{FF2B5EF4-FFF2-40B4-BE49-F238E27FC236}">
                <a16:creationId xmlns:a16="http://schemas.microsoft.com/office/drawing/2014/main" id="{030A24AB-7C0F-4301-29BB-B6A27786ABF7}"/>
              </a:ext>
            </a:extLst>
          </p:cNvPr>
          <p:cNvPicPr>
            <a:picLocks noChangeAspect="1"/>
          </p:cNvPicPr>
          <p:nvPr/>
        </p:nvPicPr>
        <p:blipFill rotWithShape="1">
          <a:blip r:embed="rId7" cstate="hqprint">
            <a:extLst>
              <a:ext uri="{28A0092B-C50C-407E-A947-70E740481C1C}">
                <a14:useLocalDpi xmlns:a14="http://schemas.microsoft.com/office/drawing/2010/main"/>
              </a:ext>
            </a:extLst>
          </a:blip>
          <a:srcRect/>
          <a:stretch>
            <a:fillRect/>
          </a:stretch>
        </p:blipFill>
        <p:spPr>
          <a:xfrm>
            <a:off x="3527647" y="1549832"/>
            <a:ext cx="1963684" cy="815452"/>
          </a:xfrm>
          <a:prstGeom prst="rect">
            <a:avLst/>
          </a:prstGeom>
        </p:spPr>
      </p:pic>
      <p:sp>
        <p:nvSpPr>
          <p:cNvPr id="19" name="TextBox 18">
            <a:extLst>
              <a:ext uri="{FF2B5EF4-FFF2-40B4-BE49-F238E27FC236}">
                <a16:creationId xmlns:a16="http://schemas.microsoft.com/office/drawing/2014/main" id="{A1811368-B48E-3A50-C243-1EDC9EC3E349}"/>
              </a:ext>
            </a:extLst>
          </p:cNvPr>
          <p:cNvSpPr txBox="1"/>
          <p:nvPr/>
        </p:nvSpPr>
        <p:spPr>
          <a:xfrm>
            <a:off x="5491331" y="3117037"/>
            <a:ext cx="1289785" cy="1015663"/>
          </a:xfrm>
          <a:prstGeom prst="rect">
            <a:avLst/>
          </a:prstGeom>
          <a:noFill/>
        </p:spPr>
        <p:txBody>
          <a:bodyPr wrap="square" rtlCol="0">
            <a:spAutoFit/>
          </a:bodyPr>
          <a:lstStyle/>
          <a:p>
            <a:r>
              <a:rPr lang="en-US" sz="1200"/>
              <a:t>Grommet provides styling and theming via reusable components.</a:t>
            </a:r>
          </a:p>
        </p:txBody>
      </p:sp>
      <p:pic>
        <p:nvPicPr>
          <p:cNvPr id="20" name="Picture 19">
            <a:extLst>
              <a:ext uri="{FF2B5EF4-FFF2-40B4-BE49-F238E27FC236}">
                <a16:creationId xmlns:a16="http://schemas.microsoft.com/office/drawing/2014/main" id="{237BE384-28EE-C88B-8838-105550C8DB3D}"/>
              </a:ext>
            </a:extLst>
          </p:cNvPr>
          <p:cNvPicPr>
            <a:picLocks noChangeAspect="1"/>
          </p:cNvPicPr>
          <p:nvPr/>
        </p:nvPicPr>
        <p:blipFill>
          <a:blip r:embed="rId8" cstate="hqprint">
            <a:extLst>
              <a:ext uri="{28A0092B-C50C-407E-A947-70E740481C1C}">
                <a14:useLocalDpi xmlns:a14="http://schemas.microsoft.com/office/drawing/2010/main"/>
              </a:ext>
            </a:extLst>
          </a:blip>
          <a:srcRect/>
          <a:stretch>
            <a:fillRect/>
          </a:stretch>
        </p:blipFill>
        <p:spPr>
          <a:xfrm>
            <a:off x="3659650" y="3760299"/>
            <a:ext cx="1133985" cy="798753"/>
          </a:xfrm>
          <a:prstGeom prst="rect">
            <a:avLst/>
          </a:prstGeom>
        </p:spPr>
      </p:pic>
      <p:pic>
        <p:nvPicPr>
          <p:cNvPr id="21" name="Picture 20">
            <a:extLst>
              <a:ext uri="{FF2B5EF4-FFF2-40B4-BE49-F238E27FC236}">
                <a16:creationId xmlns:a16="http://schemas.microsoft.com/office/drawing/2014/main" id="{A2A9D234-A7E0-E6CA-FEF4-46B34B767401}"/>
              </a:ext>
            </a:extLst>
          </p:cNvPr>
          <p:cNvPicPr>
            <a:picLocks noChangeAspect="1"/>
          </p:cNvPicPr>
          <p:nvPr/>
        </p:nvPicPr>
        <p:blipFill>
          <a:blip r:embed="rId9" cstate="hqprint">
            <a:extLst>
              <a:ext uri="{28A0092B-C50C-407E-A947-70E740481C1C}">
                <a14:useLocalDpi xmlns:a14="http://schemas.microsoft.com/office/drawing/2010/main"/>
              </a:ext>
            </a:extLst>
          </a:blip>
          <a:srcRect/>
          <a:stretch>
            <a:fillRect/>
          </a:stretch>
        </p:blipFill>
        <p:spPr>
          <a:xfrm>
            <a:off x="3642561" y="2888898"/>
            <a:ext cx="1133985" cy="811628"/>
          </a:xfrm>
          <a:prstGeom prst="rect">
            <a:avLst/>
          </a:prstGeom>
        </p:spPr>
      </p:pic>
      <p:pic>
        <p:nvPicPr>
          <p:cNvPr id="6" name="Picture 5">
            <a:extLst>
              <a:ext uri="{FF2B5EF4-FFF2-40B4-BE49-F238E27FC236}">
                <a16:creationId xmlns:a16="http://schemas.microsoft.com/office/drawing/2014/main" id="{7EF72D95-1EFB-C4D9-2B14-2E311E0B50A6}"/>
              </a:ext>
            </a:extLst>
          </p:cNvPr>
          <p:cNvPicPr>
            <a:picLocks noChangeAspect="1"/>
          </p:cNvPicPr>
          <p:nvPr/>
        </p:nvPicPr>
        <p:blipFill>
          <a:blip r:embed="rId10" cstate="hqprint">
            <a:extLst>
              <a:ext uri="{28A0092B-C50C-407E-A947-70E740481C1C}">
                <a14:useLocalDpi xmlns:a14="http://schemas.microsoft.com/office/drawing/2010/main"/>
              </a:ext>
            </a:extLst>
          </a:blip>
          <a:stretch>
            <a:fillRect/>
          </a:stretch>
        </p:blipFill>
        <p:spPr>
          <a:xfrm>
            <a:off x="16843" y="953912"/>
            <a:ext cx="3344448" cy="1507520"/>
          </a:xfrm>
          <a:prstGeom prst="rect">
            <a:avLst/>
          </a:prstGeom>
        </p:spPr>
      </p:pic>
    </p:spTree>
    <p:extLst>
      <p:ext uri="{BB962C8B-B14F-4D97-AF65-F5344CB8AC3E}">
        <p14:creationId xmlns:p14="http://schemas.microsoft.com/office/powerpoint/2010/main" val="3478444531"/>
      </p:ext>
    </p:extLst>
  </p:cSld>
  <p:clrMapOvr>
    <a:masterClrMapping/>
  </p:clrMapOvr>
  <p:extLst>
    <p:ext uri="{6950BFC3-D8DA-4A85-94F7-54DA5524770B}">
      <p188:commentRel xmlns:p188="http://schemas.microsoft.com/office/powerpoint/2018/8/main" r:id="rId3"/>
    </p:ext>
  </p:extLs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B951C6-8A79-8FB5-47F9-15F4818D0EE0}"/>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DF870272-B890-9ECE-C8E4-64889A4C6519}"/>
              </a:ext>
            </a:extLst>
          </p:cNvPr>
          <p:cNvSpPr txBox="1"/>
          <p:nvPr/>
        </p:nvSpPr>
        <p:spPr>
          <a:xfrm>
            <a:off x="176414" y="135974"/>
            <a:ext cx="8799384" cy="707886"/>
          </a:xfrm>
          <a:prstGeom prst="rect">
            <a:avLst/>
          </a:prstGeom>
          <a:noFill/>
        </p:spPr>
        <p:txBody>
          <a:bodyPr wrap="square" lIns="91440" tIns="45720" rIns="91440" bIns="45720" anchor="t">
            <a:spAutoFit/>
          </a:bodyPr>
          <a:lstStyle/>
          <a:p>
            <a:r>
              <a:rPr lang="en-US" sz="2000" b="1" err="1">
                <a:solidFill>
                  <a:srgbClr val="16693F"/>
                </a:solidFill>
                <a:ea typeface="Sans Serif Collection"/>
                <a:cs typeface="Sans Serif Collection"/>
              </a:rPr>
              <a:t>GRNsight</a:t>
            </a:r>
            <a:r>
              <a:rPr lang="en-US" sz="2000" b="1">
                <a:solidFill>
                  <a:srgbClr val="16693F"/>
                </a:solidFill>
                <a:ea typeface="Sans Serif Collection"/>
                <a:cs typeface="Sans Serif Collection"/>
              </a:rPr>
              <a:t> React went live on October 15, 2025, </a:t>
            </a:r>
          </a:p>
          <a:p>
            <a:r>
              <a:rPr lang="en-US" sz="2000" b="1">
                <a:solidFill>
                  <a:srgbClr val="16693F"/>
                </a:solidFill>
                <a:ea typeface="Sans Serif Collection"/>
                <a:cs typeface="Sans Serif Collection"/>
              </a:rPr>
              <a:t>and can now display graphs</a:t>
            </a:r>
          </a:p>
        </p:txBody>
      </p:sp>
      <p:pic>
        <p:nvPicPr>
          <p:cNvPr id="9" name="Picture 8" descr="A screenshot of a computer&#10;&#10;AI-generated content may be incorrect.">
            <a:extLst>
              <a:ext uri="{FF2B5EF4-FFF2-40B4-BE49-F238E27FC236}">
                <a16:creationId xmlns:a16="http://schemas.microsoft.com/office/drawing/2014/main" id="{029A9C5A-2185-4ECB-F23E-03AEE4AC33D7}"/>
              </a:ext>
            </a:extLst>
          </p:cNvPr>
          <p:cNvPicPr>
            <a:picLocks noChangeAspect="1"/>
          </p:cNvPicPr>
          <p:nvPr/>
        </p:nvPicPr>
        <p:blipFill>
          <a:blip r:embed="rId4" cstate="hqprint">
            <a:extLst>
              <a:ext uri="{28A0092B-C50C-407E-A947-70E740481C1C}">
                <a14:useLocalDpi xmlns:a14="http://schemas.microsoft.com/office/drawing/2010/main"/>
              </a:ext>
            </a:extLst>
          </a:blip>
          <a:srcRect/>
          <a:stretch>
            <a:fillRect/>
          </a:stretch>
        </p:blipFill>
        <p:spPr>
          <a:xfrm>
            <a:off x="1327698" y="843860"/>
            <a:ext cx="6488603" cy="3691039"/>
          </a:xfrm>
          <a:prstGeom prst="rect">
            <a:avLst/>
          </a:prstGeom>
        </p:spPr>
      </p:pic>
      <p:sp>
        <p:nvSpPr>
          <p:cNvPr id="5" name="TextBox 4">
            <a:extLst>
              <a:ext uri="{FF2B5EF4-FFF2-40B4-BE49-F238E27FC236}">
                <a16:creationId xmlns:a16="http://schemas.microsoft.com/office/drawing/2014/main" id="{AF326B1F-4BE3-E386-0A5C-07C7A5044920}"/>
              </a:ext>
            </a:extLst>
          </p:cNvPr>
          <p:cNvSpPr txBox="1"/>
          <p:nvPr/>
        </p:nvSpPr>
        <p:spPr>
          <a:xfrm>
            <a:off x="2699854" y="4534899"/>
            <a:ext cx="4572000" cy="523220"/>
          </a:xfrm>
          <a:prstGeom prst="rect">
            <a:avLst/>
          </a:prstGeom>
          <a:noFill/>
        </p:spPr>
        <p:txBody>
          <a:bodyPr wrap="square">
            <a:spAutoFit/>
          </a:bodyPr>
          <a:lstStyle/>
          <a:p>
            <a:pPr marL="228600" indent="-228600">
              <a:buFont typeface="Arial" panose="020B0604020202020204" pitchFamily="34" charset="0"/>
              <a:buChar char="•"/>
            </a:pPr>
            <a:r>
              <a:rPr lang="en-US">
                <a:hlinkClick r:id="rId5"/>
              </a:rPr>
              <a:t>https://dondi.github.io/GRNsight/react-thesis-4081/</a:t>
            </a:r>
            <a:endParaRPr lang="en-US"/>
          </a:p>
          <a:p>
            <a:pPr marL="228600" indent="-228600">
              <a:buFont typeface="Arial" panose="020B0604020202020204" pitchFamily="34" charset="0"/>
              <a:buChar char="•"/>
            </a:pPr>
            <a:r>
              <a:rPr lang="en-US"/>
              <a:t>Browser: Google Chrome</a:t>
            </a:r>
          </a:p>
        </p:txBody>
      </p:sp>
    </p:spTree>
    <p:extLst>
      <p:ext uri="{BB962C8B-B14F-4D97-AF65-F5344CB8AC3E}">
        <p14:creationId xmlns:p14="http://schemas.microsoft.com/office/powerpoint/2010/main" val="1794536518"/>
      </p:ext>
    </p:extLst>
  </p:cSld>
  <p:clrMapOvr>
    <a:masterClrMapping/>
  </p:clrMapOvr>
  <p:extLst>
    <p:ext uri="{6950BFC3-D8DA-4A85-94F7-54DA5524770B}">
      <p188:commentRel xmlns:p188="http://schemas.microsoft.com/office/powerpoint/2018/8/main" r:id="rId3"/>
    </p:ext>
  </p:extLs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screenshot of a computer&#10;&#10;AI-generated content may be incorrect.">
            <a:extLst>
              <a:ext uri="{FF2B5EF4-FFF2-40B4-BE49-F238E27FC236}">
                <a16:creationId xmlns:a16="http://schemas.microsoft.com/office/drawing/2014/main" id="{72761D49-D35F-FC05-90C0-E39D0BC06C5B}"/>
              </a:ext>
            </a:extLst>
          </p:cNvPr>
          <p:cNvPicPr>
            <a:picLocks noChangeAspect="1"/>
          </p:cNvPicPr>
          <p:nvPr/>
        </p:nvPicPr>
        <p:blipFill>
          <a:blip r:embed="rId3" cstate="hqprint">
            <a:extLst>
              <a:ext uri="{28A0092B-C50C-407E-A947-70E740481C1C}">
                <a14:useLocalDpi xmlns:a14="http://schemas.microsoft.com/office/drawing/2010/main"/>
              </a:ext>
            </a:extLst>
          </a:blip>
          <a:srcRect l="-49555"/>
          <a:stretch>
            <a:fillRect/>
          </a:stretch>
        </p:blipFill>
        <p:spPr>
          <a:xfrm>
            <a:off x="3045278" y="791936"/>
            <a:ext cx="2735025" cy="4220941"/>
          </a:xfrm>
          <a:prstGeom prst="rect">
            <a:avLst/>
          </a:prstGeom>
        </p:spPr>
      </p:pic>
      <p:pic>
        <p:nvPicPr>
          <p:cNvPr id="4" name="Picture 3" descr="A screenshot of a computer&#10;&#10;AI-generated content may be incorrect.">
            <a:extLst>
              <a:ext uri="{FF2B5EF4-FFF2-40B4-BE49-F238E27FC236}">
                <a16:creationId xmlns:a16="http://schemas.microsoft.com/office/drawing/2014/main" id="{1FD839D1-D609-A864-2D9B-21646EBD9331}"/>
              </a:ext>
            </a:extLst>
          </p:cNvPr>
          <p:cNvPicPr>
            <a:picLocks noChangeAspect="1"/>
          </p:cNvPicPr>
          <p:nvPr/>
        </p:nvPicPr>
        <p:blipFill>
          <a:blip r:embed="rId4" cstate="hqprint">
            <a:extLst>
              <a:ext uri="{28A0092B-C50C-407E-A947-70E740481C1C}">
                <a14:useLocalDpi xmlns:a14="http://schemas.microsoft.com/office/drawing/2010/main"/>
              </a:ext>
            </a:extLst>
          </a:blip>
          <a:srcRect/>
          <a:stretch>
            <a:fillRect/>
          </a:stretch>
        </p:blipFill>
        <p:spPr>
          <a:xfrm>
            <a:off x="6131379" y="791936"/>
            <a:ext cx="2737466" cy="4220936"/>
          </a:xfrm>
          <a:prstGeom prst="rect">
            <a:avLst/>
          </a:prstGeom>
        </p:spPr>
      </p:pic>
      <p:pic>
        <p:nvPicPr>
          <p:cNvPr id="5" name="Picture 4" descr="A screenshot of a computer&#10;&#10;AI-generated content may be incorrect.">
            <a:extLst>
              <a:ext uri="{FF2B5EF4-FFF2-40B4-BE49-F238E27FC236}">
                <a16:creationId xmlns:a16="http://schemas.microsoft.com/office/drawing/2014/main" id="{E4DB5068-EED0-90FC-366E-AABCF8D5452B}"/>
              </a:ext>
            </a:extLst>
          </p:cNvPr>
          <p:cNvPicPr>
            <a:picLocks noChangeAspect="1"/>
          </p:cNvPicPr>
          <p:nvPr/>
        </p:nvPicPr>
        <p:blipFill>
          <a:blip r:embed="rId5" cstate="hqprint">
            <a:extLst>
              <a:ext uri="{28A0092B-C50C-407E-A947-70E740481C1C}">
                <a14:useLocalDpi xmlns:a14="http://schemas.microsoft.com/office/drawing/2010/main"/>
              </a:ext>
            </a:extLst>
          </a:blip>
          <a:srcRect/>
          <a:stretch>
            <a:fillRect/>
          </a:stretch>
        </p:blipFill>
        <p:spPr>
          <a:xfrm>
            <a:off x="179614" y="800100"/>
            <a:ext cx="2737476" cy="4213957"/>
          </a:xfrm>
          <a:prstGeom prst="rect">
            <a:avLst/>
          </a:prstGeom>
        </p:spPr>
      </p:pic>
      <p:sp>
        <p:nvSpPr>
          <p:cNvPr id="7" name="Right Arrow 15">
            <a:extLst>
              <a:ext uri="{FF2B5EF4-FFF2-40B4-BE49-F238E27FC236}">
                <a16:creationId xmlns:a16="http://schemas.microsoft.com/office/drawing/2014/main" id="{B6140167-E24D-C783-E9D6-0EAA92813965}"/>
              </a:ext>
            </a:extLst>
          </p:cNvPr>
          <p:cNvSpPr/>
          <p:nvPr/>
        </p:nvSpPr>
        <p:spPr>
          <a:xfrm>
            <a:off x="5481270" y="1448965"/>
            <a:ext cx="593889" cy="332918"/>
          </a:xfrm>
          <a:prstGeom prst="rightArrow">
            <a:avLst/>
          </a:prstGeom>
          <a:solidFill>
            <a:srgbClr val="16693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E3DF7504-377D-EB6B-17D9-9815A02209FE}"/>
              </a:ext>
            </a:extLst>
          </p:cNvPr>
          <p:cNvSpPr txBox="1"/>
          <p:nvPr/>
        </p:nvSpPr>
        <p:spPr>
          <a:xfrm>
            <a:off x="172308" y="115869"/>
            <a:ext cx="8799384" cy="400110"/>
          </a:xfrm>
          <a:prstGeom prst="rect">
            <a:avLst/>
          </a:prstGeom>
          <a:noFill/>
        </p:spPr>
        <p:txBody>
          <a:bodyPr wrap="square" lIns="91440" tIns="45720" rIns="91440" bIns="45720" anchor="t">
            <a:spAutoFit/>
          </a:bodyPr>
          <a:lstStyle/>
          <a:p>
            <a:r>
              <a:rPr lang="en-US" sz="2000" b="1">
                <a:solidFill>
                  <a:srgbClr val="16693F"/>
                </a:solidFill>
                <a:ea typeface="Sans Serif Collection"/>
                <a:cs typeface="Sans Serif Collection"/>
              </a:rPr>
              <a:t>React allows the fast implementation of collapsible side panels</a:t>
            </a:r>
            <a:endParaRPr lang="en-US">
              <a:ea typeface="Sans Serif Collection"/>
            </a:endParaRPr>
          </a:p>
        </p:txBody>
      </p:sp>
    </p:spTree>
    <p:extLst>
      <p:ext uri="{BB962C8B-B14F-4D97-AF65-F5344CB8AC3E}">
        <p14:creationId xmlns:p14="http://schemas.microsoft.com/office/powerpoint/2010/main" val="288083523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5C98CB-4BC1-82C4-2838-7395E0740793}"/>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07E6AF48-5301-501C-8CD0-A1061CA50DAF}"/>
              </a:ext>
            </a:extLst>
          </p:cNvPr>
          <p:cNvSpPr txBox="1"/>
          <p:nvPr/>
        </p:nvSpPr>
        <p:spPr>
          <a:xfrm>
            <a:off x="1062824" y="4470102"/>
            <a:ext cx="3008682" cy="523220"/>
          </a:xfrm>
          <a:prstGeom prst="rect">
            <a:avLst/>
          </a:prstGeom>
          <a:noFill/>
        </p:spPr>
        <p:txBody>
          <a:bodyPr wrap="square" rtlCol="0">
            <a:spAutoFit/>
          </a:bodyPr>
          <a:lstStyle/>
          <a:p>
            <a:r>
              <a:rPr lang="en-US"/>
              <a:t>Classic Arrowheads with space between the perimeter</a:t>
            </a:r>
          </a:p>
        </p:txBody>
      </p:sp>
      <p:sp>
        <p:nvSpPr>
          <p:cNvPr id="8" name="TextBox 7">
            <a:extLst>
              <a:ext uri="{FF2B5EF4-FFF2-40B4-BE49-F238E27FC236}">
                <a16:creationId xmlns:a16="http://schemas.microsoft.com/office/drawing/2014/main" id="{BF31C9DD-05AC-1535-FF25-1282EFD43026}"/>
              </a:ext>
            </a:extLst>
          </p:cNvPr>
          <p:cNvSpPr txBox="1"/>
          <p:nvPr/>
        </p:nvSpPr>
        <p:spPr>
          <a:xfrm>
            <a:off x="172308" y="108693"/>
            <a:ext cx="8799384" cy="707886"/>
          </a:xfrm>
          <a:prstGeom prst="rect">
            <a:avLst/>
          </a:prstGeom>
          <a:noFill/>
        </p:spPr>
        <p:txBody>
          <a:bodyPr wrap="square" lIns="91440" tIns="45720" rIns="91440" bIns="45720" anchor="t">
            <a:spAutoFit/>
          </a:bodyPr>
          <a:lstStyle/>
          <a:p>
            <a:r>
              <a:rPr lang="en-US" sz="2000" b="1">
                <a:solidFill>
                  <a:srgbClr val="16693F"/>
                </a:solidFill>
                <a:ea typeface="Sans Serif Collection"/>
                <a:cs typeface="Sans Serif Collection"/>
              </a:rPr>
              <a:t>The high-level code review facilitated the fixing of a long-standing arrowhead bug in GRNsight Classic</a:t>
            </a:r>
            <a:endParaRPr lang="en-US"/>
          </a:p>
        </p:txBody>
      </p:sp>
      <p:pic>
        <p:nvPicPr>
          <p:cNvPr id="10" name="Picture 9">
            <a:extLst>
              <a:ext uri="{FF2B5EF4-FFF2-40B4-BE49-F238E27FC236}">
                <a16:creationId xmlns:a16="http://schemas.microsoft.com/office/drawing/2014/main" id="{7491E86A-0459-5819-43EC-676A4F724F85}"/>
              </a:ext>
            </a:extLst>
          </p:cNvPr>
          <p:cNvPicPr>
            <a:picLocks noChangeAspect="1"/>
          </p:cNvPicPr>
          <p:nvPr/>
        </p:nvPicPr>
        <p:blipFill>
          <a:blip r:embed="rId4" cstate="hqprint">
            <a:extLst>
              <a:ext uri="{28A0092B-C50C-407E-A947-70E740481C1C}">
                <a14:useLocalDpi xmlns:a14="http://schemas.microsoft.com/office/drawing/2010/main"/>
              </a:ext>
            </a:extLst>
          </a:blip>
          <a:srcRect/>
          <a:stretch>
            <a:fillRect/>
          </a:stretch>
        </p:blipFill>
        <p:spPr>
          <a:xfrm>
            <a:off x="5059796" y="1449214"/>
            <a:ext cx="2763403" cy="2800228"/>
          </a:xfrm>
          <a:prstGeom prst="rect">
            <a:avLst/>
          </a:prstGeom>
        </p:spPr>
      </p:pic>
      <p:pic>
        <p:nvPicPr>
          <p:cNvPr id="11" name="Picture 10">
            <a:extLst>
              <a:ext uri="{FF2B5EF4-FFF2-40B4-BE49-F238E27FC236}">
                <a16:creationId xmlns:a16="http://schemas.microsoft.com/office/drawing/2014/main" id="{FE031473-3CBB-0824-8B5F-B8DE6EEC6A58}"/>
              </a:ext>
            </a:extLst>
          </p:cNvPr>
          <p:cNvPicPr>
            <a:picLocks noChangeAspect="1"/>
          </p:cNvPicPr>
          <p:nvPr/>
        </p:nvPicPr>
        <p:blipFill>
          <a:blip r:embed="rId5" cstate="hqprint">
            <a:extLst>
              <a:ext uri="{28A0092B-C50C-407E-A947-70E740481C1C}">
                <a14:useLocalDpi xmlns:a14="http://schemas.microsoft.com/office/drawing/2010/main"/>
              </a:ext>
            </a:extLst>
          </a:blip>
          <a:srcRect/>
          <a:stretch>
            <a:fillRect/>
          </a:stretch>
        </p:blipFill>
        <p:spPr>
          <a:xfrm>
            <a:off x="1075524" y="1544120"/>
            <a:ext cx="3008681" cy="2716114"/>
          </a:xfrm>
          <a:prstGeom prst="rect">
            <a:avLst/>
          </a:prstGeom>
        </p:spPr>
      </p:pic>
      <p:sp>
        <p:nvSpPr>
          <p:cNvPr id="5" name="Donut 4">
            <a:extLst>
              <a:ext uri="{FF2B5EF4-FFF2-40B4-BE49-F238E27FC236}">
                <a16:creationId xmlns:a16="http://schemas.microsoft.com/office/drawing/2014/main" id="{C1F9B2C0-1590-1883-4708-76B396E463B6}"/>
              </a:ext>
            </a:extLst>
          </p:cNvPr>
          <p:cNvSpPr/>
          <p:nvPr/>
        </p:nvSpPr>
        <p:spPr>
          <a:xfrm>
            <a:off x="2732290" y="2025073"/>
            <a:ext cx="591810" cy="659959"/>
          </a:xfrm>
          <a:prstGeom prst="donut">
            <a:avLst>
              <a:gd name="adj" fmla="val 11538"/>
            </a:avLst>
          </a:prstGeom>
          <a:solidFill>
            <a:srgbClr val="16693F">
              <a:alpha val="90000"/>
            </a:srgbClr>
          </a:solidFill>
          <a:ln>
            <a:solidFill>
              <a:srgbClr val="1669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2" name="TextBox 11">
            <a:extLst>
              <a:ext uri="{FF2B5EF4-FFF2-40B4-BE49-F238E27FC236}">
                <a16:creationId xmlns:a16="http://schemas.microsoft.com/office/drawing/2014/main" id="{AF414C99-F3FC-D979-7654-409A61D38730}"/>
              </a:ext>
            </a:extLst>
          </p:cNvPr>
          <p:cNvSpPr txBox="1"/>
          <p:nvPr/>
        </p:nvSpPr>
        <p:spPr>
          <a:xfrm>
            <a:off x="5594959" y="4451331"/>
            <a:ext cx="3008682" cy="523220"/>
          </a:xfrm>
          <a:prstGeom prst="rect">
            <a:avLst/>
          </a:prstGeom>
          <a:noFill/>
        </p:spPr>
        <p:txBody>
          <a:bodyPr wrap="square" rtlCol="0">
            <a:spAutoFit/>
          </a:bodyPr>
          <a:lstStyle/>
          <a:p>
            <a:r>
              <a:rPr lang="en-US"/>
              <a:t>React Arrowheads touching the perimeter of the node</a:t>
            </a:r>
          </a:p>
        </p:txBody>
      </p:sp>
      <p:sp>
        <p:nvSpPr>
          <p:cNvPr id="13" name="Donut 12">
            <a:extLst>
              <a:ext uri="{FF2B5EF4-FFF2-40B4-BE49-F238E27FC236}">
                <a16:creationId xmlns:a16="http://schemas.microsoft.com/office/drawing/2014/main" id="{762956D2-C6AE-D148-665B-AFC8C15D44A0}"/>
              </a:ext>
            </a:extLst>
          </p:cNvPr>
          <p:cNvSpPr/>
          <p:nvPr/>
        </p:nvSpPr>
        <p:spPr>
          <a:xfrm>
            <a:off x="6434685" y="2006599"/>
            <a:ext cx="664615" cy="698059"/>
          </a:xfrm>
          <a:prstGeom prst="donut">
            <a:avLst>
              <a:gd name="adj" fmla="val 11538"/>
            </a:avLst>
          </a:prstGeom>
          <a:solidFill>
            <a:srgbClr val="16693F">
              <a:alpha val="90000"/>
            </a:srgbClr>
          </a:solidFill>
          <a:ln>
            <a:solidFill>
              <a:srgbClr val="1669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3554479210"/>
      </p:ext>
    </p:extLst>
  </p:cSld>
  <p:clrMapOvr>
    <a:masterClrMapping/>
  </p:clrMapOvr>
  <p:extLst>
    <p:ext uri="{6950BFC3-D8DA-4A85-94F7-54DA5524770B}">
      <p188:commentRel xmlns:p188="http://schemas.microsoft.com/office/powerpoint/2018/8/main" r:id="rId3"/>
    </p:ext>
  </p:extLs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360EE3-DDE8-734C-1766-7F4A4BE13BA5}"/>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BD26D93-EE10-15A6-A38F-E6FE7B21E038}"/>
              </a:ext>
            </a:extLst>
          </p:cNvPr>
          <p:cNvSpPr txBox="1"/>
          <p:nvPr/>
        </p:nvSpPr>
        <p:spPr>
          <a:xfrm>
            <a:off x="171753" y="113559"/>
            <a:ext cx="8799384" cy="400110"/>
          </a:xfrm>
          <a:prstGeom prst="rect">
            <a:avLst/>
          </a:prstGeom>
          <a:noFill/>
        </p:spPr>
        <p:txBody>
          <a:bodyPr wrap="square" lIns="91440" tIns="45720" rIns="91440" bIns="45720" anchor="t">
            <a:spAutoFit/>
          </a:bodyPr>
          <a:lstStyle/>
          <a:p>
            <a:r>
              <a:rPr lang="en-US" sz="2000" b="1">
                <a:solidFill>
                  <a:srgbClr val="16693F"/>
                </a:solidFill>
                <a:ea typeface="Sans Serif Collection"/>
                <a:cs typeface="Sans Serif Collection"/>
              </a:rPr>
              <a:t>Clients send different requests to the workers in the back </a:t>
            </a:r>
          </a:p>
        </p:txBody>
      </p:sp>
      <p:grpSp>
        <p:nvGrpSpPr>
          <p:cNvPr id="24" name="Group 23">
            <a:extLst>
              <a:ext uri="{FF2B5EF4-FFF2-40B4-BE49-F238E27FC236}">
                <a16:creationId xmlns:a16="http://schemas.microsoft.com/office/drawing/2014/main" id="{C3287962-95D3-FD7A-408E-207FB5DF5DF6}"/>
              </a:ext>
            </a:extLst>
          </p:cNvPr>
          <p:cNvGrpSpPr/>
          <p:nvPr/>
        </p:nvGrpSpPr>
        <p:grpSpPr>
          <a:xfrm>
            <a:off x="3213757" y="890648"/>
            <a:ext cx="2879769" cy="3711039"/>
            <a:chOff x="2285998" y="727363"/>
            <a:chExt cx="2879769" cy="3711039"/>
          </a:xfrm>
        </p:grpSpPr>
        <p:sp>
          <p:nvSpPr>
            <p:cNvPr id="3" name="Rectangle 2">
              <a:extLst>
                <a:ext uri="{FF2B5EF4-FFF2-40B4-BE49-F238E27FC236}">
                  <a16:creationId xmlns:a16="http://schemas.microsoft.com/office/drawing/2014/main" id="{7632C407-9AC2-5E81-72D2-F68B64E5D3D2}"/>
                </a:ext>
              </a:extLst>
            </p:cNvPr>
            <p:cNvSpPr/>
            <p:nvPr/>
          </p:nvSpPr>
          <p:spPr>
            <a:xfrm>
              <a:off x="2285999" y="727363"/>
              <a:ext cx="2879768" cy="3711039"/>
            </a:xfrm>
            <a:prstGeom prst="rect">
              <a:avLst/>
            </a:prstGeom>
            <a:noFill/>
            <a:ln>
              <a:solidFill>
                <a:srgbClr val="1669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ounded Rectangle 1">
              <a:extLst>
                <a:ext uri="{FF2B5EF4-FFF2-40B4-BE49-F238E27FC236}">
                  <a16:creationId xmlns:a16="http://schemas.microsoft.com/office/drawing/2014/main" id="{64194C44-C638-5A32-5EEB-3F831C3CF968}"/>
                </a:ext>
              </a:extLst>
            </p:cNvPr>
            <p:cNvSpPr>
              <a:spLocks noChangeArrowheads="1"/>
            </p:cNvSpPr>
            <p:nvPr/>
          </p:nvSpPr>
          <p:spPr bwMode="auto">
            <a:xfrm>
              <a:off x="2758037" y="1289283"/>
              <a:ext cx="1930059" cy="463483"/>
            </a:xfrm>
            <a:prstGeom prst="roundRect">
              <a:avLst>
                <a:gd name="adj" fmla="val 16667"/>
              </a:avLst>
            </a:prstGeom>
            <a:solidFill>
              <a:srgbClr val="297B49"/>
            </a:solidFill>
            <a:ln>
              <a:noFill/>
            </a:ln>
          </p:spPr>
          <p:txBody>
            <a:bodyPr lIns="91440" tIns="45720" rIns="91440" bIns="45720" anchor="ctr"/>
            <a:lstStyle>
              <a:defPPr marR="0" lvl="0" algn="l" rtl="0">
                <a:lnSpc>
                  <a:spcPct val="100000"/>
                </a:lnSpc>
                <a:spcBef>
                  <a:spcPts val="0"/>
                </a:spcBef>
                <a:spcAft>
                  <a:spcPts val="0"/>
                </a:spcAft>
              </a:defPPr>
              <a:lvl1pPr marR="0" lvl="0" algn="l" rtl="0" eaLnBrk="0" hangingPunct="0">
                <a:lnSpc>
                  <a:spcPct val="100000"/>
                </a:lnSpc>
                <a:spcBef>
                  <a:spcPts val="0"/>
                </a:spcBef>
                <a:spcAft>
                  <a:spcPts val="0"/>
                </a:spcAft>
                <a:buClr>
                  <a:srgbClr val="000000"/>
                </a:buClr>
                <a:buFont typeface="Arial"/>
                <a:defRPr sz="2400" b="1" i="0" u="none" strike="noStrike" cap="none">
                  <a:solidFill>
                    <a:schemeClr val="tx1"/>
                  </a:solidFill>
                  <a:latin typeface="Arial" pitchFamily="34" charset="0"/>
                  <a:ea typeface="Arial"/>
                  <a:cs typeface="Arial"/>
                  <a:sym typeface="Arial"/>
                </a:defRPr>
              </a:lvl1pPr>
              <a:lvl2pPr marL="742950" marR="0" lvl="1" indent="-285750" algn="l" rtl="0" eaLnBrk="0" hangingPunct="0">
                <a:lnSpc>
                  <a:spcPct val="100000"/>
                </a:lnSpc>
                <a:spcBef>
                  <a:spcPts val="0"/>
                </a:spcBef>
                <a:spcAft>
                  <a:spcPts val="0"/>
                </a:spcAft>
                <a:buClr>
                  <a:srgbClr val="000000"/>
                </a:buClr>
                <a:buFont typeface="Arial"/>
                <a:defRPr sz="2400" b="1" i="0" u="none" strike="noStrike" cap="none">
                  <a:solidFill>
                    <a:schemeClr val="tx1"/>
                  </a:solidFill>
                  <a:latin typeface="Arial" pitchFamily="34" charset="0"/>
                  <a:ea typeface="Arial"/>
                  <a:cs typeface="Arial"/>
                  <a:sym typeface="Arial"/>
                </a:defRPr>
              </a:lvl2pPr>
              <a:lvl3pPr marL="1143000" marR="0" lvl="2" indent="-228600" algn="l" rtl="0" eaLnBrk="0" hangingPunct="0">
                <a:lnSpc>
                  <a:spcPct val="100000"/>
                </a:lnSpc>
                <a:spcBef>
                  <a:spcPts val="0"/>
                </a:spcBef>
                <a:spcAft>
                  <a:spcPts val="0"/>
                </a:spcAft>
                <a:buClr>
                  <a:srgbClr val="000000"/>
                </a:buClr>
                <a:buFont typeface="Arial"/>
                <a:defRPr sz="2400" b="1" i="0" u="none" strike="noStrike" cap="none">
                  <a:solidFill>
                    <a:schemeClr val="tx1"/>
                  </a:solidFill>
                  <a:latin typeface="Arial" pitchFamily="34" charset="0"/>
                  <a:ea typeface="Arial"/>
                  <a:cs typeface="Arial"/>
                  <a:sym typeface="Arial"/>
                </a:defRPr>
              </a:lvl3pPr>
              <a:lvl4pPr marL="1600200" marR="0" lvl="3" indent="-228600" algn="l" rtl="0" eaLnBrk="0" hangingPunct="0">
                <a:lnSpc>
                  <a:spcPct val="100000"/>
                </a:lnSpc>
                <a:spcBef>
                  <a:spcPts val="0"/>
                </a:spcBef>
                <a:spcAft>
                  <a:spcPts val="0"/>
                </a:spcAft>
                <a:buClr>
                  <a:srgbClr val="000000"/>
                </a:buClr>
                <a:buFont typeface="Arial"/>
                <a:defRPr sz="2400" b="1" i="0" u="none" strike="noStrike" cap="none">
                  <a:solidFill>
                    <a:schemeClr val="tx1"/>
                  </a:solidFill>
                  <a:latin typeface="Arial" pitchFamily="34" charset="0"/>
                  <a:ea typeface="Arial"/>
                  <a:cs typeface="Arial"/>
                  <a:sym typeface="Arial"/>
                </a:defRPr>
              </a:lvl4pPr>
              <a:lvl5pPr marL="2057400" marR="0" lvl="4" indent="-228600" algn="l" rtl="0" eaLnBrk="0" hangingPunct="0">
                <a:lnSpc>
                  <a:spcPct val="100000"/>
                </a:lnSpc>
                <a:spcBef>
                  <a:spcPts val="0"/>
                </a:spcBef>
                <a:spcAft>
                  <a:spcPts val="0"/>
                </a:spcAft>
                <a:buClr>
                  <a:srgbClr val="000000"/>
                </a:buClr>
                <a:buFont typeface="Arial"/>
                <a:defRPr sz="2400" b="1" i="0" u="none" strike="noStrike" cap="none">
                  <a:solidFill>
                    <a:schemeClr val="tx1"/>
                  </a:solidFill>
                  <a:latin typeface="Arial" pitchFamily="34" charset="0"/>
                  <a:ea typeface="Arial"/>
                  <a:cs typeface="Arial"/>
                  <a:sym typeface="Arial"/>
                </a:defRPr>
              </a:lvl5pPr>
              <a:lvl6pPr marL="2514600" marR="0" lvl="5" indent="-228600" algn="l" rtl="0" eaLnBrk="0" fontAlgn="base" hangingPunct="0">
                <a:lnSpc>
                  <a:spcPct val="100000"/>
                </a:lnSpc>
                <a:spcBef>
                  <a:spcPct val="0"/>
                </a:spcBef>
                <a:spcAft>
                  <a:spcPct val="0"/>
                </a:spcAft>
                <a:buClr>
                  <a:srgbClr val="000000"/>
                </a:buClr>
                <a:buFont typeface="Arial"/>
                <a:defRPr sz="2400" b="1" i="0" u="none" strike="noStrike" cap="none">
                  <a:solidFill>
                    <a:schemeClr val="tx1"/>
                  </a:solidFill>
                  <a:latin typeface="Arial" pitchFamily="34" charset="0"/>
                  <a:ea typeface="Arial"/>
                  <a:cs typeface="Arial"/>
                  <a:sym typeface="Arial"/>
                </a:defRPr>
              </a:lvl6pPr>
              <a:lvl7pPr marL="2971800" marR="0" lvl="6" indent="-228600" algn="l" rtl="0" eaLnBrk="0" fontAlgn="base" hangingPunct="0">
                <a:lnSpc>
                  <a:spcPct val="100000"/>
                </a:lnSpc>
                <a:spcBef>
                  <a:spcPct val="0"/>
                </a:spcBef>
                <a:spcAft>
                  <a:spcPct val="0"/>
                </a:spcAft>
                <a:buClr>
                  <a:srgbClr val="000000"/>
                </a:buClr>
                <a:buFont typeface="Arial"/>
                <a:defRPr sz="2400" b="1" i="0" u="none" strike="noStrike" cap="none">
                  <a:solidFill>
                    <a:schemeClr val="tx1"/>
                  </a:solidFill>
                  <a:latin typeface="Arial" pitchFamily="34" charset="0"/>
                  <a:ea typeface="Arial"/>
                  <a:cs typeface="Arial"/>
                  <a:sym typeface="Arial"/>
                </a:defRPr>
              </a:lvl7pPr>
              <a:lvl8pPr marL="3429000" marR="0" lvl="7" indent="-228600" algn="l" rtl="0" eaLnBrk="0" fontAlgn="base" hangingPunct="0">
                <a:lnSpc>
                  <a:spcPct val="100000"/>
                </a:lnSpc>
                <a:spcBef>
                  <a:spcPct val="0"/>
                </a:spcBef>
                <a:spcAft>
                  <a:spcPct val="0"/>
                </a:spcAft>
                <a:buClr>
                  <a:srgbClr val="000000"/>
                </a:buClr>
                <a:buFont typeface="Arial"/>
                <a:defRPr sz="2400" b="1" i="0" u="none" strike="noStrike" cap="none">
                  <a:solidFill>
                    <a:schemeClr val="tx1"/>
                  </a:solidFill>
                  <a:latin typeface="Arial" pitchFamily="34" charset="0"/>
                  <a:ea typeface="Arial"/>
                  <a:cs typeface="Arial"/>
                  <a:sym typeface="Arial"/>
                </a:defRPr>
              </a:lvl8pPr>
              <a:lvl9pPr marL="3886200" marR="0" lvl="8" indent="-228600" algn="l" rtl="0" eaLnBrk="0" fontAlgn="base" hangingPunct="0">
                <a:lnSpc>
                  <a:spcPct val="100000"/>
                </a:lnSpc>
                <a:spcBef>
                  <a:spcPct val="0"/>
                </a:spcBef>
                <a:spcAft>
                  <a:spcPct val="0"/>
                </a:spcAft>
                <a:buClr>
                  <a:srgbClr val="000000"/>
                </a:buClr>
                <a:buFont typeface="Arial"/>
                <a:defRPr sz="2400" b="1" i="0" u="none" strike="noStrike" cap="none">
                  <a:solidFill>
                    <a:schemeClr val="tx1"/>
                  </a:solidFill>
                  <a:latin typeface="Arial" pitchFamily="34" charset="0"/>
                  <a:ea typeface="Arial"/>
                  <a:cs typeface="Arial"/>
                  <a:sym typeface="Arial"/>
                </a:defRPr>
              </a:lvl9pPr>
            </a:lstStyle>
            <a:p>
              <a:pPr algn="ctr"/>
              <a:r>
                <a:rPr lang="en-US" altLang="en-US" sz="1500">
                  <a:solidFill>
                    <a:schemeClr val="bg1"/>
                  </a:solidFill>
                  <a:latin typeface="Arial"/>
                </a:rPr>
                <a:t>Load Demo</a:t>
              </a:r>
              <a:endParaRPr lang="en-US"/>
            </a:p>
          </p:txBody>
        </p:sp>
        <p:sp>
          <p:nvSpPr>
            <p:cNvPr id="5" name="Rounded Rectangle 1">
              <a:extLst>
                <a:ext uri="{FF2B5EF4-FFF2-40B4-BE49-F238E27FC236}">
                  <a16:creationId xmlns:a16="http://schemas.microsoft.com/office/drawing/2014/main" id="{77D0ED7C-A6A1-34BD-9292-75C26281F31F}"/>
                </a:ext>
              </a:extLst>
            </p:cNvPr>
            <p:cNvSpPr>
              <a:spLocks noChangeArrowheads="1"/>
            </p:cNvSpPr>
            <p:nvPr/>
          </p:nvSpPr>
          <p:spPr bwMode="auto">
            <a:xfrm>
              <a:off x="2576975" y="2081611"/>
              <a:ext cx="2301163" cy="611924"/>
            </a:xfrm>
            <a:prstGeom prst="roundRect">
              <a:avLst>
                <a:gd name="adj" fmla="val 16667"/>
              </a:avLst>
            </a:prstGeom>
            <a:solidFill>
              <a:srgbClr val="297B49"/>
            </a:solidFill>
            <a:ln>
              <a:noFill/>
            </a:ln>
          </p:spPr>
          <p:txBody>
            <a:bodyPr lIns="91440" tIns="45720" rIns="91440" bIns="45720" anchor="ctr"/>
            <a:lstStyle>
              <a:defPPr marR="0" lvl="0" algn="l" rtl="0">
                <a:lnSpc>
                  <a:spcPct val="100000"/>
                </a:lnSpc>
                <a:spcBef>
                  <a:spcPts val="0"/>
                </a:spcBef>
                <a:spcAft>
                  <a:spcPts val="0"/>
                </a:spcAft>
              </a:defPPr>
              <a:lvl1pPr marR="0" lvl="0" algn="l" rtl="0" eaLnBrk="0" hangingPunct="0">
                <a:lnSpc>
                  <a:spcPct val="100000"/>
                </a:lnSpc>
                <a:spcBef>
                  <a:spcPts val="0"/>
                </a:spcBef>
                <a:spcAft>
                  <a:spcPts val="0"/>
                </a:spcAft>
                <a:buClr>
                  <a:srgbClr val="000000"/>
                </a:buClr>
                <a:buFont typeface="Arial"/>
                <a:defRPr sz="2400" b="1" i="0" u="none" strike="noStrike" cap="none">
                  <a:solidFill>
                    <a:schemeClr val="tx1"/>
                  </a:solidFill>
                  <a:latin typeface="Arial" pitchFamily="34" charset="0"/>
                  <a:ea typeface="Arial"/>
                  <a:cs typeface="Arial"/>
                  <a:sym typeface="Arial"/>
                </a:defRPr>
              </a:lvl1pPr>
              <a:lvl2pPr marL="742950" marR="0" lvl="1" indent="-285750" algn="l" rtl="0" eaLnBrk="0" hangingPunct="0">
                <a:lnSpc>
                  <a:spcPct val="100000"/>
                </a:lnSpc>
                <a:spcBef>
                  <a:spcPts val="0"/>
                </a:spcBef>
                <a:spcAft>
                  <a:spcPts val="0"/>
                </a:spcAft>
                <a:buClr>
                  <a:srgbClr val="000000"/>
                </a:buClr>
                <a:buFont typeface="Arial"/>
                <a:defRPr sz="2400" b="1" i="0" u="none" strike="noStrike" cap="none">
                  <a:solidFill>
                    <a:schemeClr val="tx1"/>
                  </a:solidFill>
                  <a:latin typeface="Arial" pitchFamily="34" charset="0"/>
                  <a:ea typeface="Arial"/>
                  <a:cs typeface="Arial"/>
                  <a:sym typeface="Arial"/>
                </a:defRPr>
              </a:lvl2pPr>
              <a:lvl3pPr marL="1143000" marR="0" lvl="2" indent="-228600" algn="l" rtl="0" eaLnBrk="0" hangingPunct="0">
                <a:lnSpc>
                  <a:spcPct val="100000"/>
                </a:lnSpc>
                <a:spcBef>
                  <a:spcPts val="0"/>
                </a:spcBef>
                <a:spcAft>
                  <a:spcPts val="0"/>
                </a:spcAft>
                <a:buClr>
                  <a:srgbClr val="000000"/>
                </a:buClr>
                <a:buFont typeface="Arial"/>
                <a:defRPr sz="2400" b="1" i="0" u="none" strike="noStrike" cap="none">
                  <a:solidFill>
                    <a:schemeClr val="tx1"/>
                  </a:solidFill>
                  <a:latin typeface="Arial" pitchFamily="34" charset="0"/>
                  <a:ea typeface="Arial"/>
                  <a:cs typeface="Arial"/>
                  <a:sym typeface="Arial"/>
                </a:defRPr>
              </a:lvl3pPr>
              <a:lvl4pPr marL="1600200" marR="0" lvl="3" indent="-228600" algn="l" rtl="0" eaLnBrk="0" hangingPunct="0">
                <a:lnSpc>
                  <a:spcPct val="100000"/>
                </a:lnSpc>
                <a:spcBef>
                  <a:spcPts val="0"/>
                </a:spcBef>
                <a:spcAft>
                  <a:spcPts val="0"/>
                </a:spcAft>
                <a:buClr>
                  <a:srgbClr val="000000"/>
                </a:buClr>
                <a:buFont typeface="Arial"/>
                <a:defRPr sz="2400" b="1" i="0" u="none" strike="noStrike" cap="none">
                  <a:solidFill>
                    <a:schemeClr val="tx1"/>
                  </a:solidFill>
                  <a:latin typeface="Arial" pitchFamily="34" charset="0"/>
                  <a:ea typeface="Arial"/>
                  <a:cs typeface="Arial"/>
                  <a:sym typeface="Arial"/>
                </a:defRPr>
              </a:lvl4pPr>
              <a:lvl5pPr marL="2057400" marR="0" lvl="4" indent="-228600" algn="l" rtl="0" eaLnBrk="0" hangingPunct="0">
                <a:lnSpc>
                  <a:spcPct val="100000"/>
                </a:lnSpc>
                <a:spcBef>
                  <a:spcPts val="0"/>
                </a:spcBef>
                <a:spcAft>
                  <a:spcPts val="0"/>
                </a:spcAft>
                <a:buClr>
                  <a:srgbClr val="000000"/>
                </a:buClr>
                <a:buFont typeface="Arial"/>
                <a:defRPr sz="2400" b="1" i="0" u="none" strike="noStrike" cap="none">
                  <a:solidFill>
                    <a:schemeClr val="tx1"/>
                  </a:solidFill>
                  <a:latin typeface="Arial" pitchFamily="34" charset="0"/>
                  <a:ea typeface="Arial"/>
                  <a:cs typeface="Arial"/>
                  <a:sym typeface="Arial"/>
                </a:defRPr>
              </a:lvl5pPr>
              <a:lvl6pPr marL="2514600" marR="0" lvl="5" indent="-228600" algn="l" rtl="0" eaLnBrk="0" fontAlgn="base" hangingPunct="0">
                <a:lnSpc>
                  <a:spcPct val="100000"/>
                </a:lnSpc>
                <a:spcBef>
                  <a:spcPct val="0"/>
                </a:spcBef>
                <a:spcAft>
                  <a:spcPct val="0"/>
                </a:spcAft>
                <a:buClr>
                  <a:srgbClr val="000000"/>
                </a:buClr>
                <a:buFont typeface="Arial"/>
                <a:defRPr sz="2400" b="1" i="0" u="none" strike="noStrike" cap="none">
                  <a:solidFill>
                    <a:schemeClr val="tx1"/>
                  </a:solidFill>
                  <a:latin typeface="Arial" pitchFamily="34" charset="0"/>
                  <a:ea typeface="Arial"/>
                  <a:cs typeface="Arial"/>
                  <a:sym typeface="Arial"/>
                </a:defRPr>
              </a:lvl6pPr>
              <a:lvl7pPr marL="2971800" marR="0" lvl="6" indent="-228600" algn="l" rtl="0" eaLnBrk="0" fontAlgn="base" hangingPunct="0">
                <a:lnSpc>
                  <a:spcPct val="100000"/>
                </a:lnSpc>
                <a:spcBef>
                  <a:spcPct val="0"/>
                </a:spcBef>
                <a:spcAft>
                  <a:spcPct val="0"/>
                </a:spcAft>
                <a:buClr>
                  <a:srgbClr val="000000"/>
                </a:buClr>
                <a:buFont typeface="Arial"/>
                <a:defRPr sz="2400" b="1" i="0" u="none" strike="noStrike" cap="none">
                  <a:solidFill>
                    <a:schemeClr val="tx1"/>
                  </a:solidFill>
                  <a:latin typeface="Arial" pitchFamily="34" charset="0"/>
                  <a:ea typeface="Arial"/>
                  <a:cs typeface="Arial"/>
                  <a:sym typeface="Arial"/>
                </a:defRPr>
              </a:lvl7pPr>
              <a:lvl8pPr marL="3429000" marR="0" lvl="7" indent="-228600" algn="l" rtl="0" eaLnBrk="0" fontAlgn="base" hangingPunct="0">
                <a:lnSpc>
                  <a:spcPct val="100000"/>
                </a:lnSpc>
                <a:spcBef>
                  <a:spcPct val="0"/>
                </a:spcBef>
                <a:spcAft>
                  <a:spcPct val="0"/>
                </a:spcAft>
                <a:buClr>
                  <a:srgbClr val="000000"/>
                </a:buClr>
                <a:buFont typeface="Arial"/>
                <a:defRPr sz="2400" b="1" i="0" u="none" strike="noStrike" cap="none">
                  <a:solidFill>
                    <a:schemeClr val="tx1"/>
                  </a:solidFill>
                  <a:latin typeface="Arial" pitchFamily="34" charset="0"/>
                  <a:ea typeface="Arial"/>
                  <a:cs typeface="Arial"/>
                  <a:sym typeface="Arial"/>
                </a:defRPr>
              </a:lvl8pPr>
              <a:lvl9pPr marL="3886200" marR="0" lvl="8" indent="-228600" algn="l" rtl="0" eaLnBrk="0" fontAlgn="base" hangingPunct="0">
                <a:lnSpc>
                  <a:spcPct val="100000"/>
                </a:lnSpc>
                <a:spcBef>
                  <a:spcPct val="0"/>
                </a:spcBef>
                <a:spcAft>
                  <a:spcPct val="0"/>
                </a:spcAft>
                <a:buClr>
                  <a:srgbClr val="000000"/>
                </a:buClr>
                <a:buFont typeface="Arial"/>
                <a:defRPr sz="2400" b="1" i="0" u="none" strike="noStrike" cap="none">
                  <a:solidFill>
                    <a:schemeClr val="tx1"/>
                  </a:solidFill>
                  <a:latin typeface="Arial" pitchFamily="34" charset="0"/>
                  <a:ea typeface="Arial"/>
                  <a:cs typeface="Arial"/>
                  <a:sym typeface="Arial"/>
                </a:defRPr>
              </a:lvl9pPr>
            </a:lstStyle>
            <a:p>
              <a:pPr algn="ctr"/>
              <a:r>
                <a:rPr lang="en-US" altLang="en-US" sz="1500">
                  <a:solidFill>
                    <a:schemeClr val="bg1"/>
                  </a:solidFill>
                  <a:latin typeface="Arial"/>
                </a:rPr>
                <a:t>Import Files</a:t>
              </a:r>
            </a:p>
            <a:p>
              <a:pPr algn="ctr"/>
              <a:r>
                <a:rPr lang="en-US" altLang="en-US" sz="1500">
                  <a:solidFill>
                    <a:schemeClr val="bg1"/>
                  </a:solidFill>
                  <a:latin typeface="Arial"/>
                </a:rPr>
                <a:t>(Excel, SIF, </a:t>
              </a:r>
              <a:r>
                <a:rPr lang="en-US" altLang="en-US" sz="1500" err="1">
                  <a:solidFill>
                    <a:schemeClr val="bg1"/>
                  </a:solidFill>
                  <a:latin typeface="Arial"/>
                </a:rPr>
                <a:t>GraphML</a:t>
              </a:r>
              <a:r>
                <a:rPr lang="en-US" altLang="en-US" sz="1500">
                  <a:solidFill>
                    <a:schemeClr val="bg1"/>
                  </a:solidFill>
                  <a:latin typeface="Arial"/>
                </a:rPr>
                <a:t>)</a:t>
              </a:r>
              <a:endParaRPr lang="en-US" altLang="en-US" sz="1500">
                <a:solidFill>
                  <a:schemeClr val="bg1"/>
                </a:solidFill>
              </a:endParaRPr>
            </a:p>
          </p:txBody>
        </p:sp>
        <p:sp>
          <p:nvSpPr>
            <p:cNvPr id="9" name="Rounded Rectangle 1">
              <a:extLst>
                <a:ext uri="{FF2B5EF4-FFF2-40B4-BE49-F238E27FC236}">
                  <a16:creationId xmlns:a16="http://schemas.microsoft.com/office/drawing/2014/main" id="{05B9A47B-88EB-27F3-2FC3-57389291A120}"/>
                </a:ext>
              </a:extLst>
            </p:cNvPr>
            <p:cNvSpPr>
              <a:spLocks noChangeArrowheads="1"/>
            </p:cNvSpPr>
            <p:nvPr/>
          </p:nvSpPr>
          <p:spPr bwMode="auto">
            <a:xfrm>
              <a:off x="2758038" y="2936983"/>
              <a:ext cx="1930059" cy="463483"/>
            </a:xfrm>
            <a:prstGeom prst="roundRect">
              <a:avLst>
                <a:gd name="adj" fmla="val 16667"/>
              </a:avLst>
            </a:prstGeom>
            <a:solidFill>
              <a:srgbClr val="297B49"/>
            </a:solidFill>
            <a:ln>
              <a:noFill/>
            </a:ln>
          </p:spPr>
          <p:txBody>
            <a:bodyPr lIns="91440" tIns="45720" rIns="91440" bIns="45720" anchor="ctr"/>
            <a:lstStyle>
              <a:defPPr marR="0" lvl="0" algn="l" rtl="0">
                <a:lnSpc>
                  <a:spcPct val="100000"/>
                </a:lnSpc>
                <a:spcBef>
                  <a:spcPts val="0"/>
                </a:spcBef>
                <a:spcAft>
                  <a:spcPts val="0"/>
                </a:spcAft>
              </a:defPPr>
              <a:lvl1pPr marR="0" lvl="0" algn="l" rtl="0" eaLnBrk="0" hangingPunct="0">
                <a:lnSpc>
                  <a:spcPct val="100000"/>
                </a:lnSpc>
                <a:spcBef>
                  <a:spcPts val="0"/>
                </a:spcBef>
                <a:spcAft>
                  <a:spcPts val="0"/>
                </a:spcAft>
                <a:buClr>
                  <a:srgbClr val="000000"/>
                </a:buClr>
                <a:buFont typeface="Arial"/>
                <a:defRPr sz="2400" b="1" i="0" u="none" strike="noStrike" cap="none">
                  <a:solidFill>
                    <a:schemeClr val="tx1"/>
                  </a:solidFill>
                  <a:latin typeface="Arial" pitchFamily="34" charset="0"/>
                  <a:ea typeface="Arial"/>
                  <a:cs typeface="Arial"/>
                  <a:sym typeface="Arial"/>
                </a:defRPr>
              </a:lvl1pPr>
              <a:lvl2pPr marL="742950" marR="0" lvl="1" indent="-285750" algn="l" rtl="0" eaLnBrk="0" hangingPunct="0">
                <a:lnSpc>
                  <a:spcPct val="100000"/>
                </a:lnSpc>
                <a:spcBef>
                  <a:spcPts val="0"/>
                </a:spcBef>
                <a:spcAft>
                  <a:spcPts val="0"/>
                </a:spcAft>
                <a:buClr>
                  <a:srgbClr val="000000"/>
                </a:buClr>
                <a:buFont typeface="Arial"/>
                <a:defRPr sz="2400" b="1" i="0" u="none" strike="noStrike" cap="none">
                  <a:solidFill>
                    <a:schemeClr val="tx1"/>
                  </a:solidFill>
                  <a:latin typeface="Arial" pitchFamily="34" charset="0"/>
                  <a:ea typeface="Arial"/>
                  <a:cs typeface="Arial"/>
                  <a:sym typeface="Arial"/>
                </a:defRPr>
              </a:lvl2pPr>
              <a:lvl3pPr marL="1143000" marR="0" lvl="2" indent="-228600" algn="l" rtl="0" eaLnBrk="0" hangingPunct="0">
                <a:lnSpc>
                  <a:spcPct val="100000"/>
                </a:lnSpc>
                <a:spcBef>
                  <a:spcPts val="0"/>
                </a:spcBef>
                <a:spcAft>
                  <a:spcPts val="0"/>
                </a:spcAft>
                <a:buClr>
                  <a:srgbClr val="000000"/>
                </a:buClr>
                <a:buFont typeface="Arial"/>
                <a:defRPr sz="2400" b="1" i="0" u="none" strike="noStrike" cap="none">
                  <a:solidFill>
                    <a:schemeClr val="tx1"/>
                  </a:solidFill>
                  <a:latin typeface="Arial" pitchFamily="34" charset="0"/>
                  <a:ea typeface="Arial"/>
                  <a:cs typeface="Arial"/>
                  <a:sym typeface="Arial"/>
                </a:defRPr>
              </a:lvl3pPr>
              <a:lvl4pPr marL="1600200" marR="0" lvl="3" indent="-228600" algn="l" rtl="0" eaLnBrk="0" hangingPunct="0">
                <a:lnSpc>
                  <a:spcPct val="100000"/>
                </a:lnSpc>
                <a:spcBef>
                  <a:spcPts val="0"/>
                </a:spcBef>
                <a:spcAft>
                  <a:spcPts val="0"/>
                </a:spcAft>
                <a:buClr>
                  <a:srgbClr val="000000"/>
                </a:buClr>
                <a:buFont typeface="Arial"/>
                <a:defRPr sz="2400" b="1" i="0" u="none" strike="noStrike" cap="none">
                  <a:solidFill>
                    <a:schemeClr val="tx1"/>
                  </a:solidFill>
                  <a:latin typeface="Arial" pitchFamily="34" charset="0"/>
                  <a:ea typeface="Arial"/>
                  <a:cs typeface="Arial"/>
                  <a:sym typeface="Arial"/>
                </a:defRPr>
              </a:lvl4pPr>
              <a:lvl5pPr marL="2057400" marR="0" lvl="4" indent="-228600" algn="l" rtl="0" eaLnBrk="0" hangingPunct="0">
                <a:lnSpc>
                  <a:spcPct val="100000"/>
                </a:lnSpc>
                <a:spcBef>
                  <a:spcPts val="0"/>
                </a:spcBef>
                <a:spcAft>
                  <a:spcPts val="0"/>
                </a:spcAft>
                <a:buClr>
                  <a:srgbClr val="000000"/>
                </a:buClr>
                <a:buFont typeface="Arial"/>
                <a:defRPr sz="2400" b="1" i="0" u="none" strike="noStrike" cap="none">
                  <a:solidFill>
                    <a:schemeClr val="tx1"/>
                  </a:solidFill>
                  <a:latin typeface="Arial" pitchFamily="34" charset="0"/>
                  <a:ea typeface="Arial"/>
                  <a:cs typeface="Arial"/>
                  <a:sym typeface="Arial"/>
                </a:defRPr>
              </a:lvl5pPr>
              <a:lvl6pPr marL="2514600" marR="0" lvl="5" indent="-228600" algn="l" rtl="0" eaLnBrk="0" fontAlgn="base" hangingPunct="0">
                <a:lnSpc>
                  <a:spcPct val="100000"/>
                </a:lnSpc>
                <a:spcBef>
                  <a:spcPct val="0"/>
                </a:spcBef>
                <a:spcAft>
                  <a:spcPct val="0"/>
                </a:spcAft>
                <a:buClr>
                  <a:srgbClr val="000000"/>
                </a:buClr>
                <a:buFont typeface="Arial"/>
                <a:defRPr sz="2400" b="1" i="0" u="none" strike="noStrike" cap="none">
                  <a:solidFill>
                    <a:schemeClr val="tx1"/>
                  </a:solidFill>
                  <a:latin typeface="Arial" pitchFamily="34" charset="0"/>
                  <a:ea typeface="Arial"/>
                  <a:cs typeface="Arial"/>
                  <a:sym typeface="Arial"/>
                </a:defRPr>
              </a:lvl6pPr>
              <a:lvl7pPr marL="2971800" marR="0" lvl="6" indent="-228600" algn="l" rtl="0" eaLnBrk="0" fontAlgn="base" hangingPunct="0">
                <a:lnSpc>
                  <a:spcPct val="100000"/>
                </a:lnSpc>
                <a:spcBef>
                  <a:spcPct val="0"/>
                </a:spcBef>
                <a:spcAft>
                  <a:spcPct val="0"/>
                </a:spcAft>
                <a:buClr>
                  <a:srgbClr val="000000"/>
                </a:buClr>
                <a:buFont typeface="Arial"/>
                <a:defRPr sz="2400" b="1" i="0" u="none" strike="noStrike" cap="none">
                  <a:solidFill>
                    <a:schemeClr val="tx1"/>
                  </a:solidFill>
                  <a:latin typeface="Arial" pitchFamily="34" charset="0"/>
                  <a:ea typeface="Arial"/>
                  <a:cs typeface="Arial"/>
                  <a:sym typeface="Arial"/>
                </a:defRPr>
              </a:lvl7pPr>
              <a:lvl8pPr marL="3429000" marR="0" lvl="7" indent="-228600" algn="l" rtl="0" eaLnBrk="0" fontAlgn="base" hangingPunct="0">
                <a:lnSpc>
                  <a:spcPct val="100000"/>
                </a:lnSpc>
                <a:spcBef>
                  <a:spcPct val="0"/>
                </a:spcBef>
                <a:spcAft>
                  <a:spcPct val="0"/>
                </a:spcAft>
                <a:buClr>
                  <a:srgbClr val="000000"/>
                </a:buClr>
                <a:buFont typeface="Arial"/>
                <a:defRPr sz="2400" b="1" i="0" u="none" strike="noStrike" cap="none">
                  <a:solidFill>
                    <a:schemeClr val="tx1"/>
                  </a:solidFill>
                  <a:latin typeface="Arial" pitchFamily="34" charset="0"/>
                  <a:ea typeface="Arial"/>
                  <a:cs typeface="Arial"/>
                  <a:sym typeface="Arial"/>
                </a:defRPr>
              </a:lvl8pPr>
              <a:lvl9pPr marL="3886200" marR="0" lvl="8" indent="-228600" algn="l" rtl="0" eaLnBrk="0" fontAlgn="base" hangingPunct="0">
                <a:lnSpc>
                  <a:spcPct val="100000"/>
                </a:lnSpc>
                <a:spcBef>
                  <a:spcPct val="0"/>
                </a:spcBef>
                <a:spcAft>
                  <a:spcPct val="0"/>
                </a:spcAft>
                <a:buClr>
                  <a:srgbClr val="000000"/>
                </a:buClr>
                <a:buFont typeface="Arial"/>
                <a:defRPr sz="2400" b="1" i="0" u="none" strike="noStrike" cap="none">
                  <a:solidFill>
                    <a:schemeClr val="tx1"/>
                  </a:solidFill>
                  <a:latin typeface="Arial" pitchFamily="34" charset="0"/>
                  <a:ea typeface="Arial"/>
                  <a:cs typeface="Arial"/>
                  <a:sym typeface="Arial"/>
                </a:defRPr>
              </a:lvl9pPr>
            </a:lstStyle>
            <a:p>
              <a:pPr algn="ctr"/>
              <a:r>
                <a:rPr lang="en-US" altLang="en-US" sz="1500">
                  <a:solidFill>
                    <a:schemeClr val="bg1"/>
                  </a:solidFill>
                  <a:latin typeface="Arial"/>
                </a:rPr>
                <a:t>Export Graph</a:t>
              </a:r>
              <a:endParaRPr lang="en-US" altLang="en-US" sz="1500">
                <a:solidFill>
                  <a:schemeClr val="bg1"/>
                </a:solidFill>
              </a:endParaRPr>
            </a:p>
          </p:txBody>
        </p:sp>
        <p:sp>
          <p:nvSpPr>
            <p:cNvPr id="10" name="Rounded Rectangle 1">
              <a:extLst>
                <a:ext uri="{FF2B5EF4-FFF2-40B4-BE49-F238E27FC236}">
                  <a16:creationId xmlns:a16="http://schemas.microsoft.com/office/drawing/2014/main" id="{C0F75745-DE74-59CA-0713-30024DFFED43}"/>
                </a:ext>
              </a:extLst>
            </p:cNvPr>
            <p:cNvSpPr>
              <a:spLocks noChangeArrowheads="1"/>
            </p:cNvSpPr>
            <p:nvPr/>
          </p:nvSpPr>
          <p:spPr bwMode="auto">
            <a:xfrm>
              <a:off x="2758037" y="3694034"/>
              <a:ext cx="1930059" cy="485749"/>
            </a:xfrm>
            <a:prstGeom prst="roundRect">
              <a:avLst>
                <a:gd name="adj" fmla="val 16667"/>
              </a:avLst>
            </a:prstGeom>
            <a:solidFill>
              <a:srgbClr val="297B49"/>
            </a:solidFill>
            <a:ln>
              <a:noFill/>
            </a:ln>
          </p:spPr>
          <p:txBody>
            <a:bodyPr lIns="91440" tIns="45720" rIns="91440" bIns="45720" anchor="ctr"/>
            <a:lstStyle>
              <a:defPPr marR="0" lvl="0" algn="l" rtl="0">
                <a:lnSpc>
                  <a:spcPct val="100000"/>
                </a:lnSpc>
                <a:spcBef>
                  <a:spcPts val="0"/>
                </a:spcBef>
                <a:spcAft>
                  <a:spcPts val="0"/>
                </a:spcAft>
              </a:defPPr>
              <a:lvl1pPr marR="0" lvl="0" algn="l" rtl="0" eaLnBrk="0" hangingPunct="0">
                <a:lnSpc>
                  <a:spcPct val="100000"/>
                </a:lnSpc>
                <a:spcBef>
                  <a:spcPts val="0"/>
                </a:spcBef>
                <a:spcAft>
                  <a:spcPts val="0"/>
                </a:spcAft>
                <a:buClr>
                  <a:srgbClr val="000000"/>
                </a:buClr>
                <a:buFont typeface="Arial"/>
                <a:defRPr sz="2400" b="1" i="0" u="none" strike="noStrike" cap="none">
                  <a:solidFill>
                    <a:schemeClr val="tx1"/>
                  </a:solidFill>
                  <a:latin typeface="Arial" pitchFamily="34" charset="0"/>
                  <a:ea typeface="Arial"/>
                  <a:cs typeface="Arial"/>
                  <a:sym typeface="Arial"/>
                </a:defRPr>
              </a:lvl1pPr>
              <a:lvl2pPr marL="742950" marR="0" lvl="1" indent="-285750" algn="l" rtl="0" eaLnBrk="0" hangingPunct="0">
                <a:lnSpc>
                  <a:spcPct val="100000"/>
                </a:lnSpc>
                <a:spcBef>
                  <a:spcPts val="0"/>
                </a:spcBef>
                <a:spcAft>
                  <a:spcPts val="0"/>
                </a:spcAft>
                <a:buClr>
                  <a:srgbClr val="000000"/>
                </a:buClr>
                <a:buFont typeface="Arial"/>
                <a:defRPr sz="2400" b="1" i="0" u="none" strike="noStrike" cap="none">
                  <a:solidFill>
                    <a:schemeClr val="tx1"/>
                  </a:solidFill>
                  <a:latin typeface="Arial" pitchFamily="34" charset="0"/>
                  <a:ea typeface="Arial"/>
                  <a:cs typeface="Arial"/>
                  <a:sym typeface="Arial"/>
                </a:defRPr>
              </a:lvl2pPr>
              <a:lvl3pPr marL="1143000" marR="0" lvl="2" indent="-228600" algn="l" rtl="0" eaLnBrk="0" hangingPunct="0">
                <a:lnSpc>
                  <a:spcPct val="100000"/>
                </a:lnSpc>
                <a:spcBef>
                  <a:spcPts val="0"/>
                </a:spcBef>
                <a:spcAft>
                  <a:spcPts val="0"/>
                </a:spcAft>
                <a:buClr>
                  <a:srgbClr val="000000"/>
                </a:buClr>
                <a:buFont typeface="Arial"/>
                <a:defRPr sz="2400" b="1" i="0" u="none" strike="noStrike" cap="none">
                  <a:solidFill>
                    <a:schemeClr val="tx1"/>
                  </a:solidFill>
                  <a:latin typeface="Arial" pitchFamily="34" charset="0"/>
                  <a:ea typeface="Arial"/>
                  <a:cs typeface="Arial"/>
                  <a:sym typeface="Arial"/>
                </a:defRPr>
              </a:lvl3pPr>
              <a:lvl4pPr marL="1600200" marR="0" lvl="3" indent="-228600" algn="l" rtl="0" eaLnBrk="0" hangingPunct="0">
                <a:lnSpc>
                  <a:spcPct val="100000"/>
                </a:lnSpc>
                <a:spcBef>
                  <a:spcPts val="0"/>
                </a:spcBef>
                <a:spcAft>
                  <a:spcPts val="0"/>
                </a:spcAft>
                <a:buClr>
                  <a:srgbClr val="000000"/>
                </a:buClr>
                <a:buFont typeface="Arial"/>
                <a:defRPr sz="2400" b="1" i="0" u="none" strike="noStrike" cap="none">
                  <a:solidFill>
                    <a:schemeClr val="tx1"/>
                  </a:solidFill>
                  <a:latin typeface="Arial" pitchFamily="34" charset="0"/>
                  <a:ea typeface="Arial"/>
                  <a:cs typeface="Arial"/>
                  <a:sym typeface="Arial"/>
                </a:defRPr>
              </a:lvl4pPr>
              <a:lvl5pPr marL="2057400" marR="0" lvl="4" indent="-228600" algn="l" rtl="0" eaLnBrk="0" hangingPunct="0">
                <a:lnSpc>
                  <a:spcPct val="100000"/>
                </a:lnSpc>
                <a:spcBef>
                  <a:spcPts val="0"/>
                </a:spcBef>
                <a:spcAft>
                  <a:spcPts val="0"/>
                </a:spcAft>
                <a:buClr>
                  <a:srgbClr val="000000"/>
                </a:buClr>
                <a:buFont typeface="Arial"/>
                <a:defRPr sz="2400" b="1" i="0" u="none" strike="noStrike" cap="none">
                  <a:solidFill>
                    <a:schemeClr val="tx1"/>
                  </a:solidFill>
                  <a:latin typeface="Arial" pitchFamily="34" charset="0"/>
                  <a:ea typeface="Arial"/>
                  <a:cs typeface="Arial"/>
                  <a:sym typeface="Arial"/>
                </a:defRPr>
              </a:lvl5pPr>
              <a:lvl6pPr marL="2514600" marR="0" lvl="5" indent="-228600" algn="l" rtl="0" eaLnBrk="0" fontAlgn="base" hangingPunct="0">
                <a:lnSpc>
                  <a:spcPct val="100000"/>
                </a:lnSpc>
                <a:spcBef>
                  <a:spcPct val="0"/>
                </a:spcBef>
                <a:spcAft>
                  <a:spcPct val="0"/>
                </a:spcAft>
                <a:buClr>
                  <a:srgbClr val="000000"/>
                </a:buClr>
                <a:buFont typeface="Arial"/>
                <a:defRPr sz="2400" b="1" i="0" u="none" strike="noStrike" cap="none">
                  <a:solidFill>
                    <a:schemeClr val="tx1"/>
                  </a:solidFill>
                  <a:latin typeface="Arial" pitchFamily="34" charset="0"/>
                  <a:ea typeface="Arial"/>
                  <a:cs typeface="Arial"/>
                  <a:sym typeface="Arial"/>
                </a:defRPr>
              </a:lvl6pPr>
              <a:lvl7pPr marL="2971800" marR="0" lvl="6" indent="-228600" algn="l" rtl="0" eaLnBrk="0" fontAlgn="base" hangingPunct="0">
                <a:lnSpc>
                  <a:spcPct val="100000"/>
                </a:lnSpc>
                <a:spcBef>
                  <a:spcPct val="0"/>
                </a:spcBef>
                <a:spcAft>
                  <a:spcPct val="0"/>
                </a:spcAft>
                <a:buClr>
                  <a:srgbClr val="000000"/>
                </a:buClr>
                <a:buFont typeface="Arial"/>
                <a:defRPr sz="2400" b="1" i="0" u="none" strike="noStrike" cap="none">
                  <a:solidFill>
                    <a:schemeClr val="tx1"/>
                  </a:solidFill>
                  <a:latin typeface="Arial" pitchFamily="34" charset="0"/>
                  <a:ea typeface="Arial"/>
                  <a:cs typeface="Arial"/>
                  <a:sym typeface="Arial"/>
                </a:defRPr>
              </a:lvl7pPr>
              <a:lvl8pPr marL="3429000" marR="0" lvl="7" indent="-228600" algn="l" rtl="0" eaLnBrk="0" fontAlgn="base" hangingPunct="0">
                <a:lnSpc>
                  <a:spcPct val="100000"/>
                </a:lnSpc>
                <a:spcBef>
                  <a:spcPct val="0"/>
                </a:spcBef>
                <a:spcAft>
                  <a:spcPct val="0"/>
                </a:spcAft>
                <a:buClr>
                  <a:srgbClr val="000000"/>
                </a:buClr>
                <a:buFont typeface="Arial"/>
                <a:defRPr sz="2400" b="1" i="0" u="none" strike="noStrike" cap="none">
                  <a:solidFill>
                    <a:schemeClr val="tx1"/>
                  </a:solidFill>
                  <a:latin typeface="Arial" pitchFamily="34" charset="0"/>
                  <a:ea typeface="Arial"/>
                  <a:cs typeface="Arial"/>
                  <a:sym typeface="Arial"/>
                </a:defRPr>
              </a:lvl8pPr>
              <a:lvl9pPr marL="3886200" marR="0" lvl="8" indent="-228600" algn="l" rtl="0" eaLnBrk="0" fontAlgn="base" hangingPunct="0">
                <a:lnSpc>
                  <a:spcPct val="100000"/>
                </a:lnSpc>
                <a:spcBef>
                  <a:spcPct val="0"/>
                </a:spcBef>
                <a:spcAft>
                  <a:spcPct val="0"/>
                </a:spcAft>
                <a:buClr>
                  <a:srgbClr val="000000"/>
                </a:buClr>
                <a:buFont typeface="Arial"/>
                <a:defRPr sz="2400" b="1" i="0" u="none" strike="noStrike" cap="none">
                  <a:solidFill>
                    <a:schemeClr val="tx1"/>
                  </a:solidFill>
                  <a:latin typeface="Arial" pitchFamily="34" charset="0"/>
                  <a:ea typeface="Arial"/>
                  <a:cs typeface="Arial"/>
                  <a:sym typeface="Arial"/>
                </a:defRPr>
              </a:lvl9pPr>
            </a:lstStyle>
            <a:p>
              <a:pPr algn="ctr"/>
              <a:r>
                <a:rPr lang="en-US" altLang="en-US" sz="1500">
                  <a:solidFill>
                    <a:schemeClr val="bg1"/>
                  </a:solidFill>
                  <a:latin typeface="Arial"/>
                </a:rPr>
                <a:t>Load Database</a:t>
              </a:r>
              <a:endParaRPr lang="en-US"/>
            </a:p>
          </p:txBody>
        </p:sp>
        <p:sp>
          <p:nvSpPr>
            <p:cNvPr id="17" name="TextBox 16">
              <a:extLst>
                <a:ext uri="{FF2B5EF4-FFF2-40B4-BE49-F238E27FC236}">
                  <a16:creationId xmlns:a16="http://schemas.microsoft.com/office/drawing/2014/main" id="{B2F5BBF2-A42A-E2EC-3DF0-DD4EF4815680}"/>
                </a:ext>
              </a:extLst>
            </p:cNvPr>
            <p:cNvSpPr txBox="1"/>
            <p:nvPr/>
          </p:nvSpPr>
          <p:spPr>
            <a:xfrm>
              <a:off x="2285998" y="779318"/>
              <a:ext cx="2879767" cy="3385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600" b="1">
                  <a:solidFill>
                    <a:srgbClr val="16693F"/>
                  </a:solidFill>
                </a:rPr>
                <a:t>Requests</a:t>
              </a:r>
              <a:endParaRPr lang="en-US" sz="1600"/>
            </a:p>
          </p:txBody>
        </p:sp>
      </p:grpSp>
      <p:grpSp>
        <p:nvGrpSpPr>
          <p:cNvPr id="20" name="Group 19">
            <a:extLst>
              <a:ext uri="{FF2B5EF4-FFF2-40B4-BE49-F238E27FC236}">
                <a16:creationId xmlns:a16="http://schemas.microsoft.com/office/drawing/2014/main" id="{DC0DF08F-3090-E96D-767E-18C3AB1CDC08}"/>
              </a:ext>
            </a:extLst>
          </p:cNvPr>
          <p:cNvGrpSpPr/>
          <p:nvPr/>
        </p:nvGrpSpPr>
        <p:grpSpPr>
          <a:xfrm>
            <a:off x="1024245" y="2735035"/>
            <a:ext cx="1246908" cy="1276358"/>
            <a:chOff x="326570" y="2571750"/>
            <a:chExt cx="1246908" cy="1276358"/>
          </a:xfrm>
        </p:grpSpPr>
        <p:pic>
          <p:nvPicPr>
            <p:cNvPr id="7" name="Picture 6" descr="A green and black logo&#10;&#10;AI-generated content may be incorrect.">
              <a:extLst>
                <a:ext uri="{FF2B5EF4-FFF2-40B4-BE49-F238E27FC236}">
                  <a16:creationId xmlns:a16="http://schemas.microsoft.com/office/drawing/2014/main" id="{3BA0CC1B-09F7-F68C-DABC-EC2091956A3B}"/>
                </a:ext>
              </a:extLst>
            </p:cNvPr>
            <p:cNvPicPr>
              <a:picLocks noChangeAspect="1"/>
            </p:cNvPicPr>
            <p:nvPr/>
          </p:nvPicPr>
          <p:blipFill>
            <a:blip r:embed="rId4" cstate="hqprint">
              <a:duotone>
                <a:prstClr val="black"/>
                <a:srgbClr val="00B050">
                  <a:tint val="45000"/>
                  <a:satMod val="400000"/>
                </a:srgbClr>
              </a:duotone>
              <a:extLst>
                <a:ext uri="{28A0092B-C50C-407E-A947-70E740481C1C}">
                  <a14:useLocalDpi xmlns:a14="http://schemas.microsoft.com/office/drawing/2010/main"/>
                </a:ext>
              </a:extLst>
            </a:blip>
            <a:srcRect t="-276"/>
            <a:stretch>
              <a:fillRect/>
            </a:stretch>
          </p:blipFill>
          <p:spPr>
            <a:xfrm>
              <a:off x="361456" y="2571750"/>
              <a:ext cx="1172135" cy="962239"/>
            </a:xfrm>
            <a:prstGeom prst="rect">
              <a:avLst/>
            </a:prstGeom>
          </p:spPr>
        </p:pic>
        <p:sp>
          <p:nvSpPr>
            <p:cNvPr id="19" name="TextBox 18">
              <a:extLst>
                <a:ext uri="{FF2B5EF4-FFF2-40B4-BE49-F238E27FC236}">
                  <a16:creationId xmlns:a16="http://schemas.microsoft.com/office/drawing/2014/main" id="{D6B67EC0-24BC-8CD4-B40D-17091EFBE1A4}"/>
                </a:ext>
              </a:extLst>
            </p:cNvPr>
            <p:cNvSpPr txBox="1"/>
            <p:nvPr/>
          </p:nvSpPr>
          <p:spPr>
            <a:xfrm>
              <a:off x="326570" y="3540331"/>
              <a:ext cx="1246908"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b="1">
                  <a:solidFill>
                    <a:srgbClr val="16693F"/>
                  </a:solidFill>
                </a:rPr>
                <a:t>React Client</a:t>
              </a:r>
            </a:p>
          </p:txBody>
        </p:sp>
      </p:grpSp>
      <p:grpSp>
        <p:nvGrpSpPr>
          <p:cNvPr id="18" name="Group 17">
            <a:extLst>
              <a:ext uri="{FF2B5EF4-FFF2-40B4-BE49-F238E27FC236}">
                <a16:creationId xmlns:a16="http://schemas.microsoft.com/office/drawing/2014/main" id="{F0D5887D-C449-A98C-0F43-ABBB5A724783}"/>
              </a:ext>
            </a:extLst>
          </p:cNvPr>
          <p:cNvGrpSpPr/>
          <p:nvPr/>
        </p:nvGrpSpPr>
        <p:grpSpPr>
          <a:xfrm>
            <a:off x="920335" y="1168976"/>
            <a:ext cx="1462148" cy="1291202"/>
            <a:chOff x="920335" y="1168976"/>
            <a:chExt cx="1462148" cy="1291202"/>
          </a:xfrm>
        </p:grpSpPr>
        <p:pic>
          <p:nvPicPr>
            <p:cNvPr id="22" name="Picture 21" descr="A green and black logo&#10;&#10;AI-generated content may be incorrect.">
              <a:extLst>
                <a:ext uri="{FF2B5EF4-FFF2-40B4-BE49-F238E27FC236}">
                  <a16:creationId xmlns:a16="http://schemas.microsoft.com/office/drawing/2014/main" id="{B210B5F8-BC98-445E-4F97-87E6958E2961}"/>
                </a:ext>
              </a:extLst>
            </p:cNvPr>
            <p:cNvPicPr>
              <a:picLocks noChangeAspect="1"/>
            </p:cNvPicPr>
            <p:nvPr/>
          </p:nvPicPr>
          <p:blipFill>
            <a:blip r:embed="rId4" cstate="hqprint">
              <a:duotone>
                <a:prstClr val="black"/>
                <a:srgbClr val="00B050">
                  <a:tint val="45000"/>
                  <a:satMod val="400000"/>
                </a:srgbClr>
              </a:duotone>
              <a:extLst>
                <a:ext uri="{28A0092B-C50C-407E-A947-70E740481C1C}">
                  <a14:useLocalDpi xmlns:a14="http://schemas.microsoft.com/office/drawing/2010/main"/>
                </a:ext>
              </a:extLst>
            </a:blip>
            <a:srcRect t="-276"/>
            <a:stretch>
              <a:fillRect/>
            </a:stretch>
          </p:blipFill>
          <p:spPr>
            <a:xfrm>
              <a:off x="1059130" y="1168976"/>
              <a:ext cx="1172135" cy="962239"/>
            </a:xfrm>
            <a:prstGeom prst="rect">
              <a:avLst/>
            </a:prstGeom>
          </p:spPr>
        </p:pic>
        <p:sp>
          <p:nvSpPr>
            <p:cNvPr id="23" name="TextBox 22">
              <a:extLst>
                <a:ext uri="{FF2B5EF4-FFF2-40B4-BE49-F238E27FC236}">
                  <a16:creationId xmlns:a16="http://schemas.microsoft.com/office/drawing/2014/main" id="{74A2C3C8-F7C7-CCAF-266B-31B062E6FEB9}"/>
                </a:ext>
              </a:extLst>
            </p:cNvPr>
            <p:cNvSpPr txBox="1"/>
            <p:nvPr/>
          </p:nvSpPr>
          <p:spPr>
            <a:xfrm>
              <a:off x="920335" y="2152401"/>
              <a:ext cx="1462148"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b="1">
                  <a:solidFill>
                    <a:srgbClr val="16693F"/>
                  </a:solidFill>
                </a:rPr>
                <a:t>Classic Client</a:t>
              </a:r>
            </a:p>
          </p:txBody>
        </p:sp>
      </p:grpSp>
      <p:sp>
        <p:nvSpPr>
          <p:cNvPr id="16" name="TextBox 15">
            <a:extLst>
              <a:ext uri="{FF2B5EF4-FFF2-40B4-BE49-F238E27FC236}">
                <a16:creationId xmlns:a16="http://schemas.microsoft.com/office/drawing/2014/main" id="{02F09996-D7DA-324D-4EF8-59209FB1E04F}"/>
              </a:ext>
            </a:extLst>
          </p:cNvPr>
          <p:cNvSpPr txBox="1"/>
          <p:nvPr/>
        </p:nvSpPr>
        <p:spPr>
          <a:xfrm>
            <a:off x="7125392" y="3116177"/>
            <a:ext cx="1462148"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b="1">
                <a:solidFill>
                  <a:srgbClr val="16693F"/>
                </a:solidFill>
              </a:rPr>
              <a:t>API Server</a:t>
            </a:r>
          </a:p>
        </p:txBody>
      </p:sp>
      <p:cxnSp>
        <p:nvCxnSpPr>
          <p:cNvPr id="6" name="Straight Arrow Connector 5">
            <a:extLst>
              <a:ext uri="{FF2B5EF4-FFF2-40B4-BE49-F238E27FC236}">
                <a16:creationId xmlns:a16="http://schemas.microsoft.com/office/drawing/2014/main" id="{6006DDCC-7040-A4BE-B22A-4B93B64AB1F1}"/>
              </a:ext>
            </a:extLst>
          </p:cNvPr>
          <p:cNvCxnSpPr/>
          <p:nvPr/>
        </p:nvCxnSpPr>
        <p:spPr>
          <a:xfrm flipV="1">
            <a:off x="2274250" y="1778529"/>
            <a:ext cx="802094" cy="2880"/>
          </a:xfrm>
          <a:prstGeom prst="straightConnector1">
            <a:avLst/>
          </a:prstGeom>
          <a:ln>
            <a:solidFill>
              <a:srgbClr val="16693F"/>
            </a:solidFill>
            <a:tailEnd type="triangle"/>
          </a:ln>
        </p:spPr>
        <p:style>
          <a:lnRef idx="3">
            <a:schemeClr val="dk1"/>
          </a:lnRef>
          <a:fillRef idx="0">
            <a:schemeClr val="dk1"/>
          </a:fillRef>
          <a:effectRef idx="2">
            <a:schemeClr val="dk1"/>
          </a:effectRef>
          <a:fontRef idx="minor">
            <a:schemeClr val="tx1"/>
          </a:fontRef>
        </p:style>
      </p:cxnSp>
      <p:cxnSp>
        <p:nvCxnSpPr>
          <p:cNvPr id="8" name="Straight Arrow Connector 7">
            <a:extLst>
              <a:ext uri="{FF2B5EF4-FFF2-40B4-BE49-F238E27FC236}">
                <a16:creationId xmlns:a16="http://schemas.microsoft.com/office/drawing/2014/main" id="{1BD02A6F-AF7B-2C64-45D4-45F2EECC4B07}"/>
              </a:ext>
            </a:extLst>
          </p:cNvPr>
          <p:cNvCxnSpPr/>
          <p:nvPr/>
        </p:nvCxnSpPr>
        <p:spPr>
          <a:xfrm flipV="1">
            <a:off x="2274250" y="3337165"/>
            <a:ext cx="802094" cy="2880"/>
          </a:xfrm>
          <a:prstGeom prst="straightConnector1">
            <a:avLst/>
          </a:prstGeom>
          <a:ln>
            <a:solidFill>
              <a:srgbClr val="16693F"/>
            </a:solidFill>
            <a:tailEnd type="triangle"/>
          </a:ln>
        </p:spPr>
        <p:style>
          <a:lnRef idx="3">
            <a:schemeClr val="dk1"/>
          </a:lnRef>
          <a:fillRef idx="0">
            <a:schemeClr val="dk1"/>
          </a:fillRef>
          <a:effectRef idx="2">
            <a:schemeClr val="dk1"/>
          </a:effectRef>
          <a:fontRef idx="minor">
            <a:schemeClr val="tx1"/>
          </a:fontRef>
        </p:style>
      </p:cxnSp>
      <p:cxnSp>
        <p:nvCxnSpPr>
          <p:cNvPr id="14" name="Straight Arrow Connector 13">
            <a:extLst>
              <a:ext uri="{FF2B5EF4-FFF2-40B4-BE49-F238E27FC236}">
                <a16:creationId xmlns:a16="http://schemas.microsoft.com/office/drawing/2014/main" id="{8D2CE244-A125-3A3E-F7CD-29FB2B13E4A2}"/>
              </a:ext>
            </a:extLst>
          </p:cNvPr>
          <p:cNvCxnSpPr/>
          <p:nvPr/>
        </p:nvCxnSpPr>
        <p:spPr>
          <a:xfrm flipV="1">
            <a:off x="6286039" y="2587096"/>
            <a:ext cx="802094" cy="2880"/>
          </a:xfrm>
          <a:prstGeom prst="straightConnector1">
            <a:avLst/>
          </a:prstGeom>
          <a:ln>
            <a:solidFill>
              <a:srgbClr val="16693F"/>
            </a:solidFill>
            <a:tailEnd type="triangle"/>
          </a:ln>
        </p:spPr>
        <p:style>
          <a:lnRef idx="3">
            <a:schemeClr val="dk1"/>
          </a:lnRef>
          <a:fillRef idx="0">
            <a:schemeClr val="dk1"/>
          </a:fillRef>
          <a:effectRef idx="2">
            <a:schemeClr val="dk1"/>
          </a:effectRef>
          <a:fontRef idx="minor">
            <a:schemeClr val="tx1"/>
          </a:fontRef>
        </p:style>
      </p:cxnSp>
      <p:pic>
        <p:nvPicPr>
          <p:cNvPr id="13" name="Graphic 12" descr="Programmer female with solid fill">
            <a:extLst>
              <a:ext uri="{FF2B5EF4-FFF2-40B4-BE49-F238E27FC236}">
                <a16:creationId xmlns:a16="http://schemas.microsoft.com/office/drawing/2014/main" id="{15FE2B15-7EB4-8358-1F24-583233C2F77D}"/>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208865" y="1783681"/>
            <a:ext cx="1295202" cy="1295202"/>
          </a:xfrm>
          <a:prstGeom prst="rect">
            <a:avLst/>
          </a:prstGeom>
        </p:spPr>
      </p:pic>
      <p:pic>
        <p:nvPicPr>
          <p:cNvPr id="25" name="Picture 24">
            <a:extLst>
              <a:ext uri="{FF2B5EF4-FFF2-40B4-BE49-F238E27FC236}">
                <a16:creationId xmlns:a16="http://schemas.microsoft.com/office/drawing/2014/main" id="{36AB4630-7E19-9EE5-07F9-D6A15BA3CFA8}"/>
              </a:ext>
            </a:extLst>
          </p:cNvPr>
          <p:cNvPicPr>
            <a:picLocks noChangeAspect="1"/>
          </p:cNvPicPr>
          <p:nvPr/>
        </p:nvPicPr>
        <p:blipFill>
          <a:blip r:embed="rId6" cstate="hqprint">
            <a:extLst>
              <a:ext uri="{28A0092B-C50C-407E-A947-70E740481C1C}">
                <a14:useLocalDpi xmlns:a14="http://schemas.microsoft.com/office/drawing/2010/main"/>
              </a:ext>
            </a:extLst>
          </a:blip>
          <a:stretch>
            <a:fillRect/>
          </a:stretch>
        </p:blipFill>
        <p:spPr>
          <a:xfrm>
            <a:off x="6132618" y="3725782"/>
            <a:ext cx="3012235" cy="1357774"/>
          </a:xfrm>
          <a:prstGeom prst="rect">
            <a:avLst/>
          </a:prstGeom>
        </p:spPr>
      </p:pic>
    </p:spTree>
    <p:extLst>
      <p:ext uri="{BB962C8B-B14F-4D97-AF65-F5344CB8AC3E}">
        <p14:creationId xmlns:p14="http://schemas.microsoft.com/office/powerpoint/2010/main" val="2530926310"/>
      </p:ext>
    </p:extLst>
  </p:cSld>
  <p:clrMapOvr>
    <a:masterClrMapping/>
  </p:clrMapOvr>
  <p:extLst>
    <p:ext uri="{6950BFC3-D8DA-4A85-94F7-54DA5524770B}">
      <p188:commentRel xmlns:p188="http://schemas.microsoft.com/office/powerpoint/2018/8/main" r:id="rId3"/>
    </p:ext>
  </p:extLs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E46624-B0D4-0D0B-C22C-5DE9A2665D1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802F0B63-3081-7367-6AE1-6E1754636A0D}"/>
              </a:ext>
            </a:extLst>
          </p:cNvPr>
          <p:cNvSpPr txBox="1"/>
          <p:nvPr/>
        </p:nvSpPr>
        <p:spPr>
          <a:xfrm>
            <a:off x="171753" y="113559"/>
            <a:ext cx="8799384" cy="400110"/>
          </a:xfrm>
          <a:prstGeom prst="rect">
            <a:avLst/>
          </a:prstGeom>
          <a:noFill/>
        </p:spPr>
        <p:txBody>
          <a:bodyPr wrap="square" lIns="91440" tIns="45720" rIns="91440" bIns="45720" anchor="t">
            <a:spAutoFit/>
          </a:bodyPr>
          <a:lstStyle/>
          <a:p>
            <a:r>
              <a:rPr lang="en-US" sz="2000" b="1">
                <a:solidFill>
                  <a:srgbClr val="16693F"/>
                </a:solidFill>
                <a:ea typeface="Sans Serif Collection"/>
                <a:cs typeface="Sans Serif Collection"/>
              </a:rPr>
              <a:t>Workers process the requests and return proper results to clients</a:t>
            </a:r>
          </a:p>
        </p:txBody>
      </p:sp>
      <p:grpSp>
        <p:nvGrpSpPr>
          <p:cNvPr id="20" name="Group 19">
            <a:extLst>
              <a:ext uri="{FF2B5EF4-FFF2-40B4-BE49-F238E27FC236}">
                <a16:creationId xmlns:a16="http://schemas.microsoft.com/office/drawing/2014/main" id="{52F94E6A-AE17-EC0E-4EE4-9D88D07BA1A1}"/>
              </a:ext>
            </a:extLst>
          </p:cNvPr>
          <p:cNvGrpSpPr/>
          <p:nvPr/>
        </p:nvGrpSpPr>
        <p:grpSpPr>
          <a:xfrm>
            <a:off x="1043080" y="2733111"/>
            <a:ext cx="1246908" cy="1276358"/>
            <a:chOff x="326570" y="2571750"/>
            <a:chExt cx="1246908" cy="1276358"/>
          </a:xfrm>
        </p:grpSpPr>
        <p:pic>
          <p:nvPicPr>
            <p:cNvPr id="7" name="Picture 6" descr="A green and black logo&#10;&#10;AI-generated content may be incorrect.">
              <a:extLst>
                <a:ext uri="{FF2B5EF4-FFF2-40B4-BE49-F238E27FC236}">
                  <a16:creationId xmlns:a16="http://schemas.microsoft.com/office/drawing/2014/main" id="{F5B1827C-1708-54B6-8D73-AC06C6484EB5}"/>
                </a:ext>
              </a:extLst>
            </p:cNvPr>
            <p:cNvPicPr>
              <a:picLocks noChangeAspect="1"/>
            </p:cNvPicPr>
            <p:nvPr/>
          </p:nvPicPr>
          <p:blipFill>
            <a:blip r:embed="rId3" cstate="hqprint">
              <a:duotone>
                <a:prstClr val="black"/>
                <a:srgbClr val="00B050">
                  <a:tint val="45000"/>
                  <a:satMod val="400000"/>
                </a:srgbClr>
              </a:duotone>
              <a:extLst>
                <a:ext uri="{28A0092B-C50C-407E-A947-70E740481C1C}">
                  <a14:useLocalDpi xmlns:a14="http://schemas.microsoft.com/office/drawing/2010/main"/>
                </a:ext>
              </a:extLst>
            </a:blip>
            <a:srcRect t="-276"/>
            <a:stretch>
              <a:fillRect/>
            </a:stretch>
          </p:blipFill>
          <p:spPr>
            <a:xfrm>
              <a:off x="361456" y="2571750"/>
              <a:ext cx="1172135" cy="962239"/>
            </a:xfrm>
            <a:prstGeom prst="rect">
              <a:avLst/>
            </a:prstGeom>
          </p:spPr>
        </p:pic>
        <p:sp>
          <p:nvSpPr>
            <p:cNvPr id="19" name="TextBox 18">
              <a:extLst>
                <a:ext uri="{FF2B5EF4-FFF2-40B4-BE49-F238E27FC236}">
                  <a16:creationId xmlns:a16="http://schemas.microsoft.com/office/drawing/2014/main" id="{5BDC39A3-55CE-8F64-753B-5E520947D222}"/>
                </a:ext>
              </a:extLst>
            </p:cNvPr>
            <p:cNvSpPr txBox="1"/>
            <p:nvPr/>
          </p:nvSpPr>
          <p:spPr>
            <a:xfrm>
              <a:off x="326570" y="3540331"/>
              <a:ext cx="1246908"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b="1">
                  <a:solidFill>
                    <a:srgbClr val="16693F"/>
                  </a:solidFill>
                </a:rPr>
                <a:t>React Client</a:t>
              </a:r>
            </a:p>
          </p:txBody>
        </p:sp>
      </p:grpSp>
      <p:grpSp>
        <p:nvGrpSpPr>
          <p:cNvPr id="21" name="Group 20">
            <a:extLst>
              <a:ext uri="{FF2B5EF4-FFF2-40B4-BE49-F238E27FC236}">
                <a16:creationId xmlns:a16="http://schemas.microsoft.com/office/drawing/2014/main" id="{5C006E9A-6657-D293-51DC-5346154F3444}"/>
              </a:ext>
            </a:extLst>
          </p:cNvPr>
          <p:cNvGrpSpPr/>
          <p:nvPr/>
        </p:nvGrpSpPr>
        <p:grpSpPr>
          <a:xfrm>
            <a:off x="939170" y="1167052"/>
            <a:ext cx="1462148" cy="1291202"/>
            <a:chOff x="222661" y="2571750"/>
            <a:chExt cx="1462148" cy="1291202"/>
          </a:xfrm>
        </p:grpSpPr>
        <p:pic>
          <p:nvPicPr>
            <p:cNvPr id="22" name="Picture 21" descr="A green and black logo&#10;&#10;AI-generated content may be incorrect.">
              <a:extLst>
                <a:ext uri="{FF2B5EF4-FFF2-40B4-BE49-F238E27FC236}">
                  <a16:creationId xmlns:a16="http://schemas.microsoft.com/office/drawing/2014/main" id="{2168505D-8C50-6482-1061-CCD0D7E1F4D8}"/>
                </a:ext>
              </a:extLst>
            </p:cNvPr>
            <p:cNvPicPr>
              <a:picLocks noChangeAspect="1"/>
            </p:cNvPicPr>
            <p:nvPr/>
          </p:nvPicPr>
          <p:blipFill>
            <a:blip r:embed="rId3" cstate="hqprint">
              <a:duotone>
                <a:prstClr val="black"/>
                <a:srgbClr val="00B050">
                  <a:tint val="45000"/>
                  <a:satMod val="400000"/>
                </a:srgbClr>
              </a:duotone>
              <a:extLst>
                <a:ext uri="{28A0092B-C50C-407E-A947-70E740481C1C}">
                  <a14:useLocalDpi xmlns:a14="http://schemas.microsoft.com/office/drawing/2010/main"/>
                </a:ext>
              </a:extLst>
            </a:blip>
            <a:srcRect t="-276"/>
            <a:stretch>
              <a:fillRect/>
            </a:stretch>
          </p:blipFill>
          <p:spPr>
            <a:xfrm>
              <a:off x="361456" y="2571750"/>
              <a:ext cx="1172135" cy="962239"/>
            </a:xfrm>
            <a:prstGeom prst="rect">
              <a:avLst/>
            </a:prstGeom>
          </p:spPr>
        </p:pic>
        <p:sp>
          <p:nvSpPr>
            <p:cNvPr id="23" name="TextBox 22">
              <a:extLst>
                <a:ext uri="{FF2B5EF4-FFF2-40B4-BE49-F238E27FC236}">
                  <a16:creationId xmlns:a16="http://schemas.microsoft.com/office/drawing/2014/main" id="{80764693-8EA6-24DE-74BA-B9A44ADBBC90}"/>
                </a:ext>
              </a:extLst>
            </p:cNvPr>
            <p:cNvSpPr txBox="1"/>
            <p:nvPr/>
          </p:nvSpPr>
          <p:spPr>
            <a:xfrm>
              <a:off x="222661" y="3555175"/>
              <a:ext cx="1462148"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b="1">
                  <a:solidFill>
                    <a:srgbClr val="16693F"/>
                  </a:solidFill>
                </a:rPr>
                <a:t>Classic Client</a:t>
              </a:r>
            </a:p>
          </p:txBody>
        </p:sp>
      </p:grpSp>
      <p:cxnSp>
        <p:nvCxnSpPr>
          <p:cNvPr id="12" name="Straight Arrow Connector 11">
            <a:extLst>
              <a:ext uri="{FF2B5EF4-FFF2-40B4-BE49-F238E27FC236}">
                <a16:creationId xmlns:a16="http://schemas.microsoft.com/office/drawing/2014/main" id="{4474FB16-A259-792B-1B14-6A4B4D4B56B7}"/>
              </a:ext>
            </a:extLst>
          </p:cNvPr>
          <p:cNvCxnSpPr>
            <a:cxnSpLocks/>
          </p:cNvCxnSpPr>
          <p:nvPr/>
        </p:nvCxnSpPr>
        <p:spPr>
          <a:xfrm flipH="1">
            <a:off x="2289951" y="1782731"/>
            <a:ext cx="750129" cy="4175"/>
          </a:xfrm>
          <a:prstGeom prst="straightConnector1">
            <a:avLst/>
          </a:prstGeom>
          <a:ln>
            <a:solidFill>
              <a:srgbClr val="16693F"/>
            </a:solidFill>
            <a:tailEnd type="triangle"/>
          </a:ln>
        </p:spPr>
        <p:style>
          <a:lnRef idx="3">
            <a:schemeClr val="dk1"/>
          </a:lnRef>
          <a:fillRef idx="0">
            <a:schemeClr val="dk1"/>
          </a:fillRef>
          <a:effectRef idx="2">
            <a:schemeClr val="dk1"/>
          </a:effectRef>
          <a:fontRef idx="minor">
            <a:schemeClr val="tx1"/>
          </a:fontRef>
        </p:style>
      </p:cxnSp>
      <p:cxnSp>
        <p:nvCxnSpPr>
          <p:cNvPr id="13" name="Straight Arrow Connector 12">
            <a:extLst>
              <a:ext uri="{FF2B5EF4-FFF2-40B4-BE49-F238E27FC236}">
                <a16:creationId xmlns:a16="http://schemas.microsoft.com/office/drawing/2014/main" id="{3E4794F5-CA2B-B022-B162-D2BFD0A9ADDA}"/>
              </a:ext>
            </a:extLst>
          </p:cNvPr>
          <p:cNvCxnSpPr>
            <a:cxnSpLocks/>
          </p:cNvCxnSpPr>
          <p:nvPr/>
        </p:nvCxnSpPr>
        <p:spPr>
          <a:xfrm flipH="1">
            <a:off x="2284987" y="3325910"/>
            <a:ext cx="750129" cy="4175"/>
          </a:xfrm>
          <a:prstGeom prst="straightConnector1">
            <a:avLst/>
          </a:prstGeom>
          <a:ln>
            <a:solidFill>
              <a:srgbClr val="16693F"/>
            </a:solidFill>
            <a:tailEnd type="triangle"/>
          </a:ln>
        </p:spPr>
        <p:style>
          <a:lnRef idx="3">
            <a:schemeClr val="dk1"/>
          </a:lnRef>
          <a:fillRef idx="0">
            <a:schemeClr val="dk1"/>
          </a:fillRef>
          <a:effectRef idx="2">
            <a:schemeClr val="dk1"/>
          </a:effectRef>
          <a:fontRef idx="minor">
            <a:schemeClr val="tx1"/>
          </a:fontRef>
        </p:style>
      </p:cxnSp>
      <p:grpSp>
        <p:nvGrpSpPr>
          <p:cNvPr id="15" name="Group 14">
            <a:extLst>
              <a:ext uri="{FF2B5EF4-FFF2-40B4-BE49-F238E27FC236}">
                <a16:creationId xmlns:a16="http://schemas.microsoft.com/office/drawing/2014/main" id="{6CE29F4F-365F-09AF-33D5-565170E232BF}"/>
              </a:ext>
            </a:extLst>
          </p:cNvPr>
          <p:cNvGrpSpPr/>
          <p:nvPr/>
        </p:nvGrpSpPr>
        <p:grpSpPr>
          <a:xfrm>
            <a:off x="3252406" y="1560525"/>
            <a:ext cx="2879769" cy="2002285"/>
            <a:chOff x="2285998" y="727363"/>
            <a:chExt cx="2879769" cy="2002285"/>
          </a:xfrm>
        </p:grpSpPr>
        <p:sp>
          <p:nvSpPr>
            <p:cNvPr id="16" name="Rectangle 15">
              <a:extLst>
                <a:ext uri="{FF2B5EF4-FFF2-40B4-BE49-F238E27FC236}">
                  <a16:creationId xmlns:a16="http://schemas.microsoft.com/office/drawing/2014/main" id="{806DF485-9031-9292-234D-B44E895205D4}"/>
                </a:ext>
              </a:extLst>
            </p:cNvPr>
            <p:cNvSpPr/>
            <p:nvPr/>
          </p:nvSpPr>
          <p:spPr>
            <a:xfrm>
              <a:off x="2285999" y="727363"/>
              <a:ext cx="2879768" cy="2002285"/>
            </a:xfrm>
            <a:prstGeom prst="rect">
              <a:avLst/>
            </a:prstGeom>
            <a:noFill/>
            <a:ln>
              <a:solidFill>
                <a:srgbClr val="1669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ounded Rectangle 1">
              <a:extLst>
                <a:ext uri="{FF2B5EF4-FFF2-40B4-BE49-F238E27FC236}">
                  <a16:creationId xmlns:a16="http://schemas.microsoft.com/office/drawing/2014/main" id="{659CE29C-6CD6-1679-E08E-CB07242EAF3A}"/>
                </a:ext>
              </a:extLst>
            </p:cNvPr>
            <p:cNvSpPr>
              <a:spLocks noChangeArrowheads="1"/>
            </p:cNvSpPr>
            <p:nvPr/>
          </p:nvSpPr>
          <p:spPr bwMode="auto">
            <a:xfrm>
              <a:off x="2715704" y="1254005"/>
              <a:ext cx="1930059" cy="463483"/>
            </a:xfrm>
            <a:prstGeom prst="roundRect">
              <a:avLst>
                <a:gd name="adj" fmla="val 16667"/>
              </a:avLst>
            </a:prstGeom>
            <a:solidFill>
              <a:srgbClr val="297B49"/>
            </a:solidFill>
            <a:ln>
              <a:noFill/>
            </a:ln>
          </p:spPr>
          <p:txBody>
            <a:bodyPr lIns="91440" tIns="45720" rIns="91440" bIns="45720" anchor="ctr"/>
            <a:lstStyle>
              <a:defPPr marR="0" lvl="0" algn="l" rtl="0">
                <a:lnSpc>
                  <a:spcPct val="100000"/>
                </a:lnSpc>
                <a:spcBef>
                  <a:spcPts val="0"/>
                </a:spcBef>
                <a:spcAft>
                  <a:spcPts val="0"/>
                </a:spcAft>
              </a:defPPr>
              <a:lvl1pPr marR="0" lvl="0" algn="l" rtl="0" eaLnBrk="0" hangingPunct="0">
                <a:lnSpc>
                  <a:spcPct val="100000"/>
                </a:lnSpc>
                <a:spcBef>
                  <a:spcPts val="0"/>
                </a:spcBef>
                <a:spcAft>
                  <a:spcPts val="0"/>
                </a:spcAft>
                <a:buClr>
                  <a:srgbClr val="000000"/>
                </a:buClr>
                <a:buFont typeface="Arial"/>
                <a:defRPr sz="2400" b="1" i="0" u="none" strike="noStrike" cap="none">
                  <a:solidFill>
                    <a:schemeClr val="tx1"/>
                  </a:solidFill>
                  <a:latin typeface="Arial" pitchFamily="34" charset="0"/>
                  <a:ea typeface="Arial"/>
                  <a:cs typeface="Arial"/>
                  <a:sym typeface="Arial"/>
                </a:defRPr>
              </a:lvl1pPr>
              <a:lvl2pPr marL="742950" marR="0" lvl="1" indent="-285750" algn="l" rtl="0" eaLnBrk="0" hangingPunct="0">
                <a:lnSpc>
                  <a:spcPct val="100000"/>
                </a:lnSpc>
                <a:spcBef>
                  <a:spcPts val="0"/>
                </a:spcBef>
                <a:spcAft>
                  <a:spcPts val="0"/>
                </a:spcAft>
                <a:buClr>
                  <a:srgbClr val="000000"/>
                </a:buClr>
                <a:buFont typeface="Arial"/>
                <a:defRPr sz="2400" b="1" i="0" u="none" strike="noStrike" cap="none">
                  <a:solidFill>
                    <a:schemeClr val="tx1"/>
                  </a:solidFill>
                  <a:latin typeface="Arial" pitchFamily="34" charset="0"/>
                  <a:ea typeface="Arial"/>
                  <a:cs typeface="Arial"/>
                  <a:sym typeface="Arial"/>
                </a:defRPr>
              </a:lvl2pPr>
              <a:lvl3pPr marL="1143000" marR="0" lvl="2" indent="-228600" algn="l" rtl="0" eaLnBrk="0" hangingPunct="0">
                <a:lnSpc>
                  <a:spcPct val="100000"/>
                </a:lnSpc>
                <a:spcBef>
                  <a:spcPts val="0"/>
                </a:spcBef>
                <a:spcAft>
                  <a:spcPts val="0"/>
                </a:spcAft>
                <a:buClr>
                  <a:srgbClr val="000000"/>
                </a:buClr>
                <a:buFont typeface="Arial"/>
                <a:defRPr sz="2400" b="1" i="0" u="none" strike="noStrike" cap="none">
                  <a:solidFill>
                    <a:schemeClr val="tx1"/>
                  </a:solidFill>
                  <a:latin typeface="Arial" pitchFamily="34" charset="0"/>
                  <a:ea typeface="Arial"/>
                  <a:cs typeface="Arial"/>
                  <a:sym typeface="Arial"/>
                </a:defRPr>
              </a:lvl3pPr>
              <a:lvl4pPr marL="1600200" marR="0" lvl="3" indent="-228600" algn="l" rtl="0" eaLnBrk="0" hangingPunct="0">
                <a:lnSpc>
                  <a:spcPct val="100000"/>
                </a:lnSpc>
                <a:spcBef>
                  <a:spcPts val="0"/>
                </a:spcBef>
                <a:spcAft>
                  <a:spcPts val="0"/>
                </a:spcAft>
                <a:buClr>
                  <a:srgbClr val="000000"/>
                </a:buClr>
                <a:buFont typeface="Arial"/>
                <a:defRPr sz="2400" b="1" i="0" u="none" strike="noStrike" cap="none">
                  <a:solidFill>
                    <a:schemeClr val="tx1"/>
                  </a:solidFill>
                  <a:latin typeface="Arial" pitchFamily="34" charset="0"/>
                  <a:ea typeface="Arial"/>
                  <a:cs typeface="Arial"/>
                  <a:sym typeface="Arial"/>
                </a:defRPr>
              </a:lvl4pPr>
              <a:lvl5pPr marL="2057400" marR="0" lvl="4" indent="-228600" algn="l" rtl="0" eaLnBrk="0" hangingPunct="0">
                <a:lnSpc>
                  <a:spcPct val="100000"/>
                </a:lnSpc>
                <a:spcBef>
                  <a:spcPts val="0"/>
                </a:spcBef>
                <a:spcAft>
                  <a:spcPts val="0"/>
                </a:spcAft>
                <a:buClr>
                  <a:srgbClr val="000000"/>
                </a:buClr>
                <a:buFont typeface="Arial"/>
                <a:defRPr sz="2400" b="1" i="0" u="none" strike="noStrike" cap="none">
                  <a:solidFill>
                    <a:schemeClr val="tx1"/>
                  </a:solidFill>
                  <a:latin typeface="Arial" pitchFamily="34" charset="0"/>
                  <a:ea typeface="Arial"/>
                  <a:cs typeface="Arial"/>
                  <a:sym typeface="Arial"/>
                </a:defRPr>
              </a:lvl5pPr>
              <a:lvl6pPr marL="2514600" marR="0" lvl="5" indent="-228600" algn="l" rtl="0" eaLnBrk="0" fontAlgn="base" hangingPunct="0">
                <a:lnSpc>
                  <a:spcPct val="100000"/>
                </a:lnSpc>
                <a:spcBef>
                  <a:spcPct val="0"/>
                </a:spcBef>
                <a:spcAft>
                  <a:spcPct val="0"/>
                </a:spcAft>
                <a:buClr>
                  <a:srgbClr val="000000"/>
                </a:buClr>
                <a:buFont typeface="Arial"/>
                <a:defRPr sz="2400" b="1" i="0" u="none" strike="noStrike" cap="none">
                  <a:solidFill>
                    <a:schemeClr val="tx1"/>
                  </a:solidFill>
                  <a:latin typeface="Arial" pitchFamily="34" charset="0"/>
                  <a:ea typeface="Arial"/>
                  <a:cs typeface="Arial"/>
                  <a:sym typeface="Arial"/>
                </a:defRPr>
              </a:lvl6pPr>
              <a:lvl7pPr marL="2971800" marR="0" lvl="6" indent="-228600" algn="l" rtl="0" eaLnBrk="0" fontAlgn="base" hangingPunct="0">
                <a:lnSpc>
                  <a:spcPct val="100000"/>
                </a:lnSpc>
                <a:spcBef>
                  <a:spcPct val="0"/>
                </a:spcBef>
                <a:spcAft>
                  <a:spcPct val="0"/>
                </a:spcAft>
                <a:buClr>
                  <a:srgbClr val="000000"/>
                </a:buClr>
                <a:buFont typeface="Arial"/>
                <a:defRPr sz="2400" b="1" i="0" u="none" strike="noStrike" cap="none">
                  <a:solidFill>
                    <a:schemeClr val="tx1"/>
                  </a:solidFill>
                  <a:latin typeface="Arial" pitchFamily="34" charset="0"/>
                  <a:ea typeface="Arial"/>
                  <a:cs typeface="Arial"/>
                  <a:sym typeface="Arial"/>
                </a:defRPr>
              </a:lvl7pPr>
              <a:lvl8pPr marL="3429000" marR="0" lvl="7" indent="-228600" algn="l" rtl="0" eaLnBrk="0" fontAlgn="base" hangingPunct="0">
                <a:lnSpc>
                  <a:spcPct val="100000"/>
                </a:lnSpc>
                <a:spcBef>
                  <a:spcPct val="0"/>
                </a:spcBef>
                <a:spcAft>
                  <a:spcPct val="0"/>
                </a:spcAft>
                <a:buClr>
                  <a:srgbClr val="000000"/>
                </a:buClr>
                <a:buFont typeface="Arial"/>
                <a:defRPr sz="2400" b="1" i="0" u="none" strike="noStrike" cap="none">
                  <a:solidFill>
                    <a:schemeClr val="tx1"/>
                  </a:solidFill>
                  <a:latin typeface="Arial" pitchFamily="34" charset="0"/>
                  <a:ea typeface="Arial"/>
                  <a:cs typeface="Arial"/>
                  <a:sym typeface="Arial"/>
                </a:defRPr>
              </a:lvl8pPr>
              <a:lvl9pPr marL="3886200" marR="0" lvl="8" indent="-228600" algn="l" rtl="0" eaLnBrk="0" fontAlgn="base" hangingPunct="0">
                <a:lnSpc>
                  <a:spcPct val="100000"/>
                </a:lnSpc>
                <a:spcBef>
                  <a:spcPct val="0"/>
                </a:spcBef>
                <a:spcAft>
                  <a:spcPct val="0"/>
                </a:spcAft>
                <a:buClr>
                  <a:srgbClr val="000000"/>
                </a:buClr>
                <a:buFont typeface="Arial"/>
                <a:defRPr sz="2400" b="1" i="0" u="none" strike="noStrike" cap="none">
                  <a:solidFill>
                    <a:schemeClr val="tx1"/>
                  </a:solidFill>
                  <a:latin typeface="Arial" pitchFamily="34" charset="0"/>
                  <a:ea typeface="Arial"/>
                  <a:cs typeface="Arial"/>
                  <a:sym typeface="Arial"/>
                </a:defRPr>
              </a:lvl9pPr>
            </a:lstStyle>
            <a:p>
              <a:pPr algn="ctr"/>
              <a:r>
                <a:rPr lang="en-US" altLang="en-US" sz="1500">
                  <a:solidFill>
                    <a:schemeClr val="bg1"/>
                  </a:solidFill>
                  <a:latin typeface="Arial"/>
                </a:rPr>
                <a:t>JSON of Graph</a:t>
              </a:r>
              <a:endParaRPr lang="en-US" altLang="en-US" sz="1500">
                <a:solidFill>
                  <a:schemeClr val="bg1"/>
                </a:solidFill>
              </a:endParaRPr>
            </a:p>
          </p:txBody>
        </p:sp>
        <p:sp>
          <p:nvSpPr>
            <p:cNvPr id="25" name="Rounded Rectangle 1">
              <a:extLst>
                <a:ext uri="{FF2B5EF4-FFF2-40B4-BE49-F238E27FC236}">
                  <a16:creationId xmlns:a16="http://schemas.microsoft.com/office/drawing/2014/main" id="{972179DB-9E33-E3F6-92BF-72386988DA7F}"/>
                </a:ext>
              </a:extLst>
            </p:cNvPr>
            <p:cNvSpPr>
              <a:spLocks noChangeArrowheads="1"/>
            </p:cNvSpPr>
            <p:nvPr/>
          </p:nvSpPr>
          <p:spPr bwMode="auto">
            <a:xfrm>
              <a:off x="2576975" y="2046333"/>
              <a:ext cx="2301163" cy="466344"/>
            </a:xfrm>
            <a:prstGeom prst="roundRect">
              <a:avLst>
                <a:gd name="adj" fmla="val 16667"/>
              </a:avLst>
            </a:prstGeom>
            <a:solidFill>
              <a:srgbClr val="297B49"/>
            </a:solidFill>
            <a:ln>
              <a:noFill/>
            </a:ln>
          </p:spPr>
          <p:txBody>
            <a:bodyPr lIns="91440" tIns="45720" rIns="91440" bIns="45720" anchor="ctr"/>
            <a:lstStyle>
              <a:defPPr marR="0" lvl="0" algn="l" rtl="0">
                <a:lnSpc>
                  <a:spcPct val="100000"/>
                </a:lnSpc>
                <a:spcBef>
                  <a:spcPts val="0"/>
                </a:spcBef>
                <a:spcAft>
                  <a:spcPts val="0"/>
                </a:spcAft>
              </a:defPPr>
              <a:lvl1pPr marR="0" lvl="0" algn="l" rtl="0" eaLnBrk="0" hangingPunct="0">
                <a:lnSpc>
                  <a:spcPct val="100000"/>
                </a:lnSpc>
                <a:spcBef>
                  <a:spcPts val="0"/>
                </a:spcBef>
                <a:spcAft>
                  <a:spcPts val="0"/>
                </a:spcAft>
                <a:buClr>
                  <a:srgbClr val="000000"/>
                </a:buClr>
                <a:buFont typeface="Arial"/>
                <a:defRPr sz="2400" b="1" i="0" u="none" strike="noStrike" cap="none">
                  <a:solidFill>
                    <a:schemeClr val="tx1"/>
                  </a:solidFill>
                  <a:latin typeface="Arial" pitchFamily="34" charset="0"/>
                  <a:ea typeface="Arial"/>
                  <a:cs typeface="Arial"/>
                  <a:sym typeface="Arial"/>
                </a:defRPr>
              </a:lvl1pPr>
              <a:lvl2pPr marL="742950" marR="0" lvl="1" indent="-285750" algn="l" rtl="0" eaLnBrk="0" hangingPunct="0">
                <a:lnSpc>
                  <a:spcPct val="100000"/>
                </a:lnSpc>
                <a:spcBef>
                  <a:spcPts val="0"/>
                </a:spcBef>
                <a:spcAft>
                  <a:spcPts val="0"/>
                </a:spcAft>
                <a:buClr>
                  <a:srgbClr val="000000"/>
                </a:buClr>
                <a:buFont typeface="Arial"/>
                <a:defRPr sz="2400" b="1" i="0" u="none" strike="noStrike" cap="none">
                  <a:solidFill>
                    <a:schemeClr val="tx1"/>
                  </a:solidFill>
                  <a:latin typeface="Arial" pitchFamily="34" charset="0"/>
                  <a:ea typeface="Arial"/>
                  <a:cs typeface="Arial"/>
                  <a:sym typeface="Arial"/>
                </a:defRPr>
              </a:lvl2pPr>
              <a:lvl3pPr marL="1143000" marR="0" lvl="2" indent="-228600" algn="l" rtl="0" eaLnBrk="0" hangingPunct="0">
                <a:lnSpc>
                  <a:spcPct val="100000"/>
                </a:lnSpc>
                <a:spcBef>
                  <a:spcPts val="0"/>
                </a:spcBef>
                <a:spcAft>
                  <a:spcPts val="0"/>
                </a:spcAft>
                <a:buClr>
                  <a:srgbClr val="000000"/>
                </a:buClr>
                <a:buFont typeface="Arial"/>
                <a:defRPr sz="2400" b="1" i="0" u="none" strike="noStrike" cap="none">
                  <a:solidFill>
                    <a:schemeClr val="tx1"/>
                  </a:solidFill>
                  <a:latin typeface="Arial" pitchFamily="34" charset="0"/>
                  <a:ea typeface="Arial"/>
                  <a:cs typeface="Arial"/>
                  <a:sym typeface="Arial"/>
                </a:defRPr>
              </a:lvl3pPr>
              <a:lvl4pPr marL="1600200" marR="0" lvl="3" indent="-228600" algn="l" rtl="0" eaLnBrk="0" hangingPunct="0">
                <a:lnSpc>
                  <a:spcPct val="100000"/>
                </a:lnSpc>
                <a:spcBef>
                  <a:spcPts val="0"/>
                </a:spcBef>
                <a:spcAft>
                  <a:spcPts val="0"/>
                </a:spcAft>
                <a:buClr>
                  <a:srgbClr val="000000"/>
                </a:buClr>
                <a:buFont typeface="Arial"/>
                <a:defRPr sz="2400" b="1" i="0" u="none" strike="noStrike" cap="none">
                  <a:solidFill>
                    <a:schemeClr val="tx1"/>
                  </a:solidFill>
                  <a:latin typeface="Arial" pitchFamily="34" charset="0"/>
                  <a:ea typeface="Arial"/>
                  <a:cs typeface="Arial"/>
                  <a:sym typeface="Arial"/>
                </a:defRPr>
              </a:lvl4pPr>
              <a:lvl5pPr marL="2057400" marR="0" lvl="4" indent="-228600" algn="l" rtl="0" eaLnBrk="0" hangingPunct="0">
                <a:lnSpc>
                  <a:spcPct val="100000"/>
                </a:lnSpc>
                <a:spcBef>
                  <a:spcPts val="0"/>
                </a:spcBef>
                <a:spcAft>
                  <a:spcPts val="0"/>
                </a:spcAft>
                <a:buClr>
                  <a:srgbClr val="000000"/>
                </a:buClr>
                <a:buFont typeface="Arial"/>
                <a:defRPr sz="2400" b="1" i="0" u="none" strike="noStrike" cap="none">
                  <a:solidFill>
                    <a:schemeClr val="tx1"/>
                  </a:solidFill>
                  <a:latin typeface="Arial" pitchFamily="34" charset="0"/>
                  <a:ea typeface="Arial"/>
                  <a:cs typeface="Arial"/>
                  <a:sym typeface="Arial"/>
                </a:defRPr>
              </a:lvl5pPr>
              <a:lvl6pPr marL="2514600" marR="0" lvl="5" indent="-228600" algn="l" rtl="0" eaLnBrk="0" fontAlgn="base" hangingPunct="0">
                <a:lnSpc>
                  <a:spcPct val="100000"/>
                </a:lnSpc>
                <a:spcBef>
                  <a:spcPct val="0"/>
                </a:spcBef>
                <a:spcAft>
                  <a:spcPct val="0"/>
                </a:spcAft>
                <a:buClr>
                  <a:srgbClr val="000000"/>
                </a:buClr>
                <a:buFont typeface="Arial"/>
                <a:defRPr sz="2400" b="1" i="0" u="none" strike="noStrike" cap="none">
                  <a:solidFill>
                    <a:schemeClr val="tx1"/>
                  </a:solidFill>
                  <a:latin typeface="Arial" pitchFamily="34" charset="0"/>
                  <a:ea typeface="Arial"/>
                  <a:cs typeface="Arial"/>
                  <a:sym typeface="Arial"/>
                </a:defRPr>
              </a:lvl6pPr>
              <a:lvl7pPr marL="2971800" marR="0" lvl="6" indent="-228600" algn="l" rtl="0" eaLnBrk="0" fontAlgn="base" hangingPunct="0">
                <a:lnSpc>
                  <a:spcPct val="100000"/>
                </a:lnSpc>
                <a:spcBef>
                  <a:spcPct val="0"/>
                </a:spcBef>
                <a:spcAft>
                  <a:spcPct val="0"/>
                </a:spcAft>
                <a:buClr>
                  <a:srgbClr val="000000"/>
                </a:buClr>
                <a:buFont typeface="Arial"/>
                <a:defRPr sz="2400" b="1" i="0" u="none" strike="noStrike" cap="none">
                  <a:solidFill>
                    <a:schemeClr val="tx1"/>
                  </a:solidFill>
                  <a:latin typeface="Arial" pitchFamily="34" charset="0"/>
                  <a:ea typeface="Arial"/>
                  <a:cs typeface="Arial"/>
                  <a:sym typeface="Arial"/>
                </a:defRPr>
              </a:lvl7pPr>
              <a:lvl8pPr marL="3429000" marR="0" lvl="7" indent="-228600" algn="l" rtl="0" eaLnBrk="0" fontAlgn="base" hangingPunct="0">
                <a:lnSpc>
                  <a:spcPct val="100000"/>
                </a:lnSpc>
                <a:spcBef>
                  <a:spcPct val="0"/>
                </a:spcBef>
                <a:spcAft>
                  <a:spcPct val="0"/>
                </a:spcAft>
                <a:buClr>
                  <a:srgbClr val="000000"/>
                </a:buClr>
                <a:buFont typeface="Arial"/>
                <a:defRPr sz="2400" b="1" i="0" u="none" strike="noStrike" cap="none">
                  <a:solidFill>
                    <a:schemeClr val="tx1"/>
                  </a:solidFill>
                  <a:latin typeface="Arial" pitchFamily="34" charset="0"/>
                  <a:ea typeface="Arial"/>
                  <a:cs typeface="Arial"/>
                  <a:sym typeface="Arial"/>
                </a:defRPr>
              </a:lvl8pPr>
              <a:lvl9pPr marL="3886200" marR="0" lvl="8" indent="-228600" algn="l" rtl="0" eaLnBrk="0" fontAlgn="base" hangingPunct="0">
                <a:lnSpc>
                  <a:spcPct val="100000"/>
                </a:lnSpc>
                <a:spcBef>
                  <a:spcPct val="0"/>
                </a:spcBef>
                <a:spcAft>
                  <a:spcPct val="0"/>
                </a:spcAft>
                <a:buClr>
                  <a:srgbClr val="000000"/>
                </a:buClr>
                <a:buFont typeface="Arial"/>
                <a:defRPr sz="2400" b="1" i="0" u="none" strike="noStrike" cap="none">
                  <a:solidFill>
                    <a:schemeClr val="tx1"/>
                  </a:solidFill>
                  <a:latin typeface="Arial" pitchFamily="34" charset="0"/>
                  <a:ea typeface="Arial"/>
                  <a:cs typeface="Arial"/>
                  <a:sym typeface="Arial"/>
                </a:defRPr>
              </a:lvl9pPr>
            </a:lstStyle>
            <a:p>
              <a:pPr algn="ctr"/>
              <a:r>
                <a:rPr lang="en-US" altLang="en-US" sz="1500">
                  <a:solidFill>
                    <a:schemeClr val="bg1"/>
                  </a:solidFill>
                  <a:latin typeface="Arial"/>
                </a:rPr>
                <a:t>Downloadable Files</a:t>
              </a:r>
              <a:endParaRPr lang="en-US"/>
            </a:p>
          </p:txBody>
        </p:sp>
        <p:sp>
          <p:nvSpPr>
            <p:cNvPr id="26" name="TextBox 25">
              <a:extLst>
                <a:ext uri="{FF2B5EF4-FFF2-40B4-BE49-F238E27FC236}">
                  <a16:creationId xmlns:a16="http://schemas.microsoft.com/office/drawing/2014/main" id="{C85F5FFD-F5C8-F17C-AD5A-048E3976C81C}"/>
                </a:ext>
              </a:extLst>
            </p:cNvPr>
            <p:cNvSpPr txBox="1"/>
            <p:nvPr/>
          </p:nvSpPr>
          <p:spPr>
            <a:xfrm>
              <a:off x="2285998" y="779318"/>
              <a:ext cx="2879767" cy="3385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600" b="1">
                  <a:solidFill>
                    <a:srgbClr val="16693F"/>
                  </a:solidFill>
                </a:rPr>
                <a:t>Workers Response</a:t>
              </a:r>
            </a:p>
          </p:txBody>
        </p:sp>
      </p:grpSp>
      <p:cxnSp>
        <p:nvCxnSpPr>
          <p:cNvPr id="28" name="Straight Arrow Connector 27">
            <a:extLst>
              <a:ext uri="{FF2B5EF4-FFF2-40B4-BE49-F238E27FC236}">
                <a16:creationId xmlns:a16="http://schemas.microsoft.com/office/drawing/2014/main" id="{69B83B4D-C1B8-4EE9-3477-C458DC7D9054}"/>
              </a:ext>
            </a:extLst>
          </p:cNvPr>
          <p:cNvCxnSpPr>
            <a:cxnSpLocks/>
          </p:cNvCxnSpPr>
          <p:nvPr/>
        </p:nvCxnSpPr>
        <p:spPr>
          <a:xfrm flipH="1">
            <a:off x="6304873" y="2561668"/>
            <a:ext cx="750129" cy="4175"/>
          </a:xfrm>
          <a:prstGeom prst="straightConnector1">
            <a:avLst/>
          </a:prstGeom>
          <a:ln>
            <a:solidFill>
              <a:srgbClr val="16693F"/>
            </a:solidFill>
            <a:tailEnd type="triangle"/>
          </a:ln>
        </p:spPr>
        <p:style>
          <a:lnRef idx="3">
            <a:schemeClr val="dk1"/>
          </a:lnRef>
          <a:fillRef idx="0">
            <a:schemeClr val="dk1"/>
          </a:fillRef>
          <a:effectRef idx="2">
            <a:schemeClr val="dk1"/>
          </a:effectRef>
          <a:fontRef idx="minor">
            <a:schemeClr val="tx1"/>
          </a:fontRef>
        </p:style>
      </p:cxnSp>
      <p:pic>
        <p:nvPicPr>
          <p:cNvPr id="4" name="Graphic 3" descr="Programmer female with solid fill">
            <a:extLst>
              <a:ext uri="{FF2B5EF4-FFF2-40B4-BE49-F238E27FC236}">
                <a16:creationId xmlns:a16="http://schemas.microsoft.com/office/drawing/2014/main" id="{3C070E03-7042-06B1-ABD8-E7519A5EA54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227700" y="1781757"/>
            <a:ext cx="1295202" cy="1295202"/>
          </a:xfrm>
          <a:prstGeom prst="rect">
            <a:avLst/>
          </a:prstGeom>
        </p:spPr>
      </p:pic>
      <p:sp>
        <p:nvSpPr>
          <p:cNvPr id="5" name="TextBox 4">
            <a:extLst>
              <a:ext uri="{FF2B5EF4-FFF2-40B4-BE49-F238E27FC236}">
                <a16:creationId xmlns:a16="http://schemas.microsoft.com/office/drawing/2014/main" id="{EBD3EE04-90F6-8DB7-C6D4-6BD355ADCE79}"/>
              </a:ext>
            </a:extLst>
          </p:cNvPr>
          <p:cNvSpPr txBox="1"/>
          <p:nvPr/>
        </p:nvSpPr>
        <p:spPr>
          <a:xfrm>
            <a:off x="7125392" y="3116177"/>
            <a:ext cx="1462148"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b="1">
                <a:solidFill>
                  <a:srgbClr val="16693F"/>
                </a:solidFill>
              </a:rPr>
              <a:t>API Server</a:t>
            </a:r>
          </a:p>
        </p:txBody>
      </p:sp>
      <p:pic>
        <p:nvPicPr>
          <p:cNvPr id="6" name="Picture 5">
            <a:extLst>
              <a:ext uri="{FF2B5EF4-FFF2-40B4-BE49-F238E27FC236}">
                <a16:creationId xmlns:a16="http://schemas.microsoft.com/office/drawing/2014/main" id="{21334791-F8DB-0399-6439-2C02AB64151D}"/>
              </a:ext>
            </a:extLst>
          </p:cNvPr>
          <p:cNvPicPr>
            <a:picLocks noChangeAspect="1"/>
          </p:cNvPicPr>
          <p:nvPr/>
        </p:nvPicPr>
        <p:blipFill>
          <a:blip r:embed="rId5" cstate="hqprint">
            <a:extLst>
              <a:ext uri="{28A0092B-C50C-407E-A947-70E740481C1C}">
                <a14:useLocalDpi xmlns:a14="http://schemas.microsoft.com/office/drawing/2010/main"/>
              </a:ext>
            </a:extLst>
          </a:blip>
          <a:stretch>
            <a:fillRect/>
          </a:stretch>
        </p:blipFill>
        <p:spPr>
          <a:xfrm>
            <a:off x="5777448" y="3614766"/>
            <a:ext cx="3366552" cy="1517484"/>
          </a:xfrm>
          <a:prstGeom prst="rect">
            <a:avLst/>
          </a:prstGeom>
        </p:spPr>
      </p:pic>
    </p:spTree>
    <p:extLst>
      <p:ext uri="{BB962C8B-B14F-4D97-AF65-F5344CB8AC3E}">
        <p14:creationId xmlns:p14="http://schemas.microsoft.com/office/powerpoint/2010/main" val="364786904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89">
          <a:extLst>
            <a:ext uri="{FF2B5EF4-FFF2-40B4-BE49-F238E27FC236}">
              <a16:creationId xmlns:a16="http://schemas.microsoft.com/office/drawing/2014/main" id="{CD23EB99-7161-DCF1-96A7-BAB1520D5480}"/>
            </a:ext>
          </a:extLst>
        </p:cNvPr>
        <p:cNvGrpSpPr/>
        <p:nvPr/>
      </p:nvGrpSpPr>
      <p:grpSpPr>
        <a:xfrm>
          <a:off x="0" y="0"/>
          <a:ext cx="0" cy="0"/>
          <a:chOff x="0" y="0"/>
          <a:chExt cx="0" cy="0"/>
        </a:xfrm>
      </p:grpSpPr>
      <p:sp>
        <p:nvSpPr>
          <p:cNvPr id="90" name="Google Shape;90;p15">
            <a:extLst>
              <a:ext uri="{FF2B5EF4-FFF2-40B4-BE49-F238E27FC236}">
                <a16:creationId xmlns:a16="http://schemas.microsoft.com/office/drawing/2014/main" id="{4CD3E1E7-80D6-FD8E-69AE-5C70AA90AC49}"/>
              </a:ext>
            </a:extLst>
          </p:cNvPr>
          <p:cNvSpPr txBox="1">
            <a:spLocks noGrp="1"/>
          </p:cNvSpPr>
          <p:nvPr>
            <p:ph type="title"/>
          </p:nvPr>
        </p:nvSpPr>
        <p:spPr>
          <a:xfrm>
            <a:off x="296527" y="182034"/>
            <a:ext cx="8520600" cy="810403"/>
          </a:xfrm>
          <a:prstGeom prst="rect">
            <a:avLst/>
          </a:prstGeom>
        </p:spPr>
        <p:txBody>
          <a:bodyPr spcFirstLastPara="1" wrap="square" lIns="91425" tIns="91425" rIns="91425" bIns="91425" anchor="t" anchorCtr="0">
            <a:noAutofit/>
          </a:bodyPr>
          <a:lstStyle/>
          <a:p>
            <a:r>
              <a:rPr lang="en" sz="2000" b="1">
                <a:solidFill>
                  <a:srgbClr val="16693F"/>
                </a:solidFill>
              </a:rPr>
              <a:t>Outline</a:t>
            </a:r>
          </a:p>
        </p:txBody>
      </p:sp>
      <p:sp>
        <p:nvSpPr>
          <p:cNvPr id="3" name="Text Placeholder 2">
            <a:extLst>
              <a:ext uri="{FF2B5EF4-FFF2-40B4-BE49-F238E27FC236}">
                <a16:creationId xmlns:a16="http://schemas.microsoft.com/office/drawing/2014/main" id="{F5D44760-0ECF-4C87-5F82-AAFA435575C6}"/>
              </a:ext>
            </a:extLst>
          </p:cNvPr>
          <p:cNvSpPr>
            <a:spLocks noGrp="1"/>
          </p:cNvSpPr>
          <p:nvPr>
            <p:ph type="body" idx="1"/>
          </p:nvPr>
        </p:nvSpPr>
        <p:spPr>
          <a:xfrm>
            <a:off x="297293" y="585777"/>
            <a:ext cx="8195543" cy="4372102"/>
          </a:xfrm>
        </p:spPr>
        <p:txBody>
          <a:bodyPr>
            <a:normAutofit/>
          </a:bodyPr>
          <a:lstStyle/>
          <a:p>
            <a:pPr>
              <a:lnSpc>
                <a:spcPct val="114999"/>
              </a:lnSpc>
            </a:pPr>
            <a:r>
              <a:rPr lang="en-US" err="1">
                <a:solidFill>
                  <a:schemeClr val="bg2">
                    <a:lumMod val="40000"/>
                    <a:lumOff val="60000"/>
                  </a:schemeClr>
                </a:solidFill>
              </a:rPr>
              <a:t>GRNsight</a:t>
            </a:r>
            <a:r>
              <a:rPr lang="en-US">
                <a:solidFill>
                  <a:schemeClr val="bg2">
                    <a:lumMod val="40000"/>
                    <a:lumOff val="60000"/>
                  </a:schemeClr>
                </a:solidFill>
              </a:rPr>
              <a:t> is an open-source tool that allows for easier visualization </a:t>
            </a:r>
          </a:p>
          <a:p>
            <a:pPr marL="114300" indent="0">
              <a:lnSpc>
                <a:spcPct val="114999"/>
              </a:lnSpc>
              <a:buNone/>
            </a:pPr>
            <a:r>
              <a:rPr lang="en-US">
                <a:solidFill>
                  <a:schemeClr val="bg2">
                    <a:lumMod val="40000"/>
                    <a:lumOff val="60000"/>
                  </a:schemeClr>
                </a:solidFill>
              </a:rPr>
              <a:t>     of Gene Regulatory Network (GRN) and Protein Protein Interactions (PPI).</a:t>
            </a:r>
          </a:p>
          <a:p>
            <a:pPr>
              <a:lnSpc>
                <a:spcPct val="114999"/>
              </a:lnSpc>
            </a:pPr>
            <a:r>
              <a:rPr lang="en-US" err="1">
                <a:solidFill>
                  <a:schemeClr val="bg2">
                    <a:lumMod val="40000"/>
                    <a:lumOff val="60000"/>
                  </a:schemeClr>
                </a:solidFill>
              </a:rPr>
              <a:t>GRNsight</a:t>
            </a:r>
            <a:r>
              <a:rPr lang="en-US">
                <a:solidFill>
                  <a:schemeClr val="bg2">
                    <a:lumMod val="40000"/>
                    <a:lumOff val="60000"/>
                  </a:schemeClr>
                </a:solidFill>
              </a:rPr>
              <a:t> has migrated from JavaScript frontend to React Vite and Grommet UI.</a:t>
            </a:r>
          </a:p>
          <a:p>
            <a:pPr>
              <a:lnSpc>
                <a:spcPct val="114999"/>
              </a:lnSpc>
            </a:pPr>
            <a:r>
              <a:rPr lang="en-US">
                <a:solidFill>
                  <a:schemeClr val="tx1"/>
                </a:solidFill>
              </a:rPr>
              <a:t>We transitioned our primary data source from </a:t>
            </a:r>
            <a:r>
              <a:rPr lang="en-US" err="1">
                <a:solidFill>
                  <a:schemeClr val="tx1"/>
                </a:solidFill>
              </a:rPr>
              <a:t>YeastMine</a:t>
            </a:r>
            <a:r>
              <a:rPr lang="en-US">
                <a:solidFill>
                  <a:schemeClr val="tx1"/>
                </a:solidFill>
              </a:rPr>
              <a:t> to </a:t>
            </a:r>
            <a:r>
              <a:rPr lang="en-US" err="1">
                <a:solidFill>
                  <a:schemeClr val="tx1"/>
                </a:solidFill>
              </a:rPr>
              <a:t>AllianceMine</a:t>
            </a:r>
            <a:r>
              <a:rPr lang="en-US">
                <a:solidFill>
                  <a:schemeClr val="tx1"/>
                </a:solidFill>
              </a:rPr>
              <a:t>.</a:t>
            </a:r>
          </a:p>
          <a:p>
            <a:pPr>
              <a:lnSpc>
                <a:spcPct val="114999"/>
              </a:lnSpc>
            </a:pPr>
            <a:r>
              <a:rPr lang="en-US">
                <a:solidFill>
                  <a:schemeClr val="tx1"/>
                </a:solidFill>
              </a:rPr>
              <a:t>We re-engineered database pipeline into a modular architectural pattern. </a:t>
            </a:r>
          </a:p>
          <a:p>
            <a:pPr>
              <a:lnSpc>
                <a:spcPct val="114999"/>
              </a:lnSpc>
            </a:pPr>
            <a:r>
              <a:rPr lang="en-US">
                <a:solidFill>
                  <a:schemeClr val="bg2">
                    <a:lumMod val="40000"/>
                    <a:lumOff val="60000"/>
                  </a:schemeClr>
                </a:solidFill>
              </a:rPr>
              <a:t>The primary goal of this modernization is to provide a faster, more scalable, and intuitive platform for biological network visualization</a:t>
            </a:r>
            <a:r>
              <a:rPr lang="en-US">
                <a:solidFill>
                  <a:schemeClr val="tx1"/>
                </a:solidFill>
              </a:rPr>
              <a:t>.</a:t>
            </a:r>
          </a:p>
        </p:txBody>
      </p:sp>
    </p:spTree>
    <p:extLst>
      <p:ext uri="{BB962C8B-B14F-4D97-AF65-F5344CB8AC3E}">
        <p14:creationId xmlns:p14="http://schemas.microsoft.com/office/powerpoint/2010/main" val="105847716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0D0449-9557-32AF-61CF-478CAD9640D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3AE5BD4D-1512-E209-20EE-F4EB0F2F01FA}"/>
              </a:ext>
            </a:extLst>
          </p:cNvPr>
          <p:cNvSpPr txBox="1"/>
          <p:nvPr/>
        </p:nvSpPr>
        <p:spPr>
          <a:xfrm>
            <a:off x="171753" y="113559"/>
            <a:ext cx="8799384" cy="707886"/>
          </a:xfrm>
          <a:prstGeom prst="rect">
            <a:avLst/>
          </a:prstGeom>
          <a:noFill/>
        </p:spPr>
        <p:txBody>
          <a:bodyPr wrap="square" lIns="91440" tIns="45720" rIns="91440" bIns="45720" anchor="t">
            <a:spAutoFit/>
          </a:bodyPr>
          <a:lstStyle/>
          <a:p>
            <a:r>
              <a:rPr lang="en-US" sz="2000" b="1" err="1">
                <a:solidFill>
                  <a:srgbClr val="16693F"/>
                </a:solidFill>
                <a:ea typeface="Sans Serif Collection"/>
              </a:rPr>
              <a:t>GRNsight's</a:t>
            </a:r>
            <a:r>
              <a:rPr lang="en-US" sz="2000" b="1">
                <a:solidFill>
                  <a:srgbClr val="16693F"/>
                </a:solidFill>
                <a:ea typeface="Sans Serif Collection"/>
              </a:rPr>
              <a:t> database currently uses 3 different sources for </a:t>
            </a:r>
            <a:endParaRPr lang="en-US"/>
          </a:p>
          <a:p>
            <a:r>
              <a:rPr lang="en-US" sz="2000" b="1">
                <a:solidFill>
                  <a:srgbClr val="16693F"/>
                </a:solidFill>
                <a:ea typeface="Sans Serif Collection"/>
              </a:rPr>
              <a:t>gene expression data, GRN and PPI network data</a:t>
            </a:r>
            <a:endParaRPr lang="en-US"/>
          </a:p>
        </p:txBody>
      </p:sp>
      <p:grpSp>
        <p:nvGrpSpPr>
          <p:cNvPr id="12" name="Group 11">
            <a:extLst>
              <a:ext uri="{FF2B5EF4-FFF2-40B4-BE49-F238E27FC236}">
                <a16:creationId xmlns:a16="http://schemas.microsoft.com/office/drawing/2014/main" id="{F52D9760-1900-D119-A4B4-D04551A2B0D5}"/>
              </a:ext>
            </a:extLst>
          </p:cNvPr>
          <p:cNvGrpSpPr/>
          <p:nvPr/>
        </p:nvGrpSpPr>
        <p:grpSpPr>
          <a:xfrm>
            <a:off x="1172640" y="1094456"/>
            <a:ext cx="2879768" cy="2577103"/>
            <a:chOff x="527956" y="1025236"/>
            <a:chExt cx="2879768" cy="2577103"/>
          </a:xfrm>
        </p:grpSpPr>
        <p:sp>
          <p:nvSpPr>
            <p:cNvPr id="4" name="Rectangle 3">
              <a:extLst>
                <a:ext uri="{FF2B5EF4-FFF2-40B4-BE49-F238E27FC236}">
                  <a16:creationId xmlns:a16="http://schemas.microsoft.com/office/drawing/2014/main" id="{150B009B-0D68-FAD6-CFA8-2CCA7A0329AD}"/>
                </a:ext>
              </a:extLst>
            </p:cNvPr>
            <p:cNvSpPr/>
            <p:nvPr/>
          </p:nvSpPr>
          <p:spPr>
            <a:xfrm>
              <a:off x="527956" y="1025236"/>
              <a:ext cx="2879768" cy="2577103"/>
            </a:xfrm>
            <a:prstGeom prst="rect">
              <a:avLst/>
            </a:prstGeom>
            <a:noFill/>
            <a:ln>
              <a:solidFill>
                <a:srgbClr val="1669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6048CD9E-9424-1C7F-4406-B1BCD4E89F7A}"/>
                </a:ext>
              </a:extLst>
            </p:cNvPr>
            <p:cNvSpPr txBox="1"/>
            <p:nvPr/>
          </p:nvSpPr>
          <p:spPr>
            <a:xfrm>
              <a:off x="527956" y="1025236"/>
              <a:ext cx="2879767" cy="3385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600" b="1">
                  <a:solidFill>
                    <a:srgbClr val="16693F"/>
                  </a:solidFill>
                </a:rPr>
                <a:t>External Data Sources</a:t>
              </a:r>
              <a:endParaRPr lang="en-US" sz="1600"/>
            </a:p>
          </p:txBody>
        </p:sp>
        <p:sp>
          <p:nvSpPr>
            <p:cNvPr id="9" name="Rounded Rectangle 1">
              <a:extLst>
                <a:ext uri="{FF2B5EF4-FFF2-40B4-BE49-F238E27FC236}">
                  <a16:creationId xmlns:a16="http://schemas.microsoft.com/office/drawing/2014/main" id="{545E608A-97CD-471E-8AED-43C3CBA1ACAD}"/>
                </a:ext>
              </a:extLst>
            </p:cNvPr>
            <p:cNvSpPr>
              <a:spLocks noChangeArrowheads="1"/>
            </p:cNvSpPr>
            <p:nvPr/>
          </p:nvSpPr>
          <p:spPr bwMode="auto">
            <a:xfrm>
              <a:off x="1002809" y="1497102"/>
              <a:ext cx="1930059" cy="463483"/>
            </a:xfrm>
            <a:prstGeom prst="roundRect">
              <a:avLst>
                <a:gd name="adj" fmla="val 16667"/>
              </a:avLst>
            </a:prstGeom>
            <a:solidFill>
              <a:srgbClr val="297B49"/>
            </a:solidFill>
            <a:ln>
              <a:noFill/>
            </a:ln>
          </p:spPr>
          <p:txBody>
            <a:bodyPr lIns="91440" tIns="45720" rIns="91440" bIns="45720" anchor="ctr"/>
            <a:lstStyle>
              <a:defPPr marR="0" lvl="0" algn="l" rtl="0">
                <a:lnSpc>
                  <a:spcPct val="100000"/>
                </a:lnSpc>
                <a:spcBef>
                  <a:spcPts val="0"/>
                </a:spcBef>
                <a:spcAft>
                  <a:spcPts val="0"/>
                </a:spcAft>
              </a:defPPr>
              <a:lvl1pPr marR="0" lvl="0" algn="l" rtl="0" eaLnBrk="0" hangingPunct="0">
                <a:lnSpc>
                  <a:spcPct val="100000"/>
                </a:lnSpc>
                <a:spcBef>
                  <a:spcPts val="0"/>
                </a:spcBef>
                <a:spcAft>
                  <a:spcPts val="0"/>
                </a:spcAft>
                <a:buClr>
                  <a:srgbClr val="000000"/>
                </a:buClr>
                <a:buFont typeface="Arial"/>
                <a:defRPr sz="2400" b="1" i="0" u="none" strike="noStrike" cap="none">
                  <a:solidFill>
                    <a:schemeClr val="tx1"/>
                  </a:solidFill>
                  <a:latin typeface="Arial" pitchFamily="34" charset="0"/>
                  <a:ea typeface="Arial"/>
                  <a:cs typeface="Arial"/>
                  <a:sym typeface="Arial"/>
                </a:defRPr>
              </a:lvl1pPr>
              <a:lvl2pPr marL="742950" marR="0" lvl="1" indent="-285750" algn="l" rtl="0" eaLnBrk="0" hangingPunct="0">
                <a:lnSpc>
                  <a:spcPct val="100000"/>
                </a:lnSpc>
                <a:spcBef>
                  <a:spcPts val="0"/>
                </a:spcBef>
                <a:spcAft>
                  <a:spcPts val="0"/>
                </a:spcAft>
                <a:buClr>
                  <a:srgbClr val="000000"/>
                </a:buClr>
                <a:buFont typeface="Arial"/>
                <a:defRPr sz="2400" b="1" i="0" u="none" strike="noStrike" cap="none">
                  <a:solidFill>
                    <a:schemeClr val="tx1"/>
                  </a:solidFill>
                  <a:latin typeface="Arial" pitchFamily="34" charset="0"/>
                  <a:ea typeface="Arial"/>
                  <a:cs typeface="Arial"/>
                  <a:sym typeface="Arial"/>
                </a:defRPr>
              </a:lvl2pPr>
              <a:lvl3pPr marL="1143000" marR="0" lvl="2" indent="-228600" algn="l" rtl="0" eaLnBrk="0" hangingPunct="0">
                <a:lnSpc>
                  <a:spcPct val="100000"/>
                </a:lnSpc>
                <a:spcBef>
                  <a:spcPts val="0"/>
                </a:spcBef>
                <a:spcAft>
                  <a:spcPts val="0"/>
                </a:spcAft>
                <a:buClr>
                  <a:srgbClr val="000000"/>
                </a:buClr>
                <a:buFont typeface="Arial"/>
                <a:defRPr sz="2400" b="1" i="0" u="none" strike="noStrike" cap="none">
                  <a:solidFill>
                    <a:schemeClr val="tx1"/>
                  </a:solidFill>
                  <a:latin typeface="Arial" pitchFamily="34" charset="0"/>
                  <a:ea typeface="Arial"/>
                  <a:cs typeface="Arial"/>
                  <a:sym typeface="Arial"/>
                </a:defRPr>
              </a:lvl3pPr>
              <a:lvl4pPr marL="1600200" marR="0" lvl="3" indent="-228600" algn="l" rtl="0" eaLnBrk="0" hangingPunct="0">
                <a:lnSpc>
                  <a:spcPct val="100000"/>
                </a:lnSpc>
                <a:spcBef>
                  <a:spcPts val="0"/>
                </a:spcBef>
                <a:spcAft>
                  <a:spcPts val="0"/>
                </a:spcAft>
                <a:buClr>
                  <a:srgbClr val="000000"/>
                </a:buClr>
                <a:buFont typeface="Arial"/>
                <a:defRPr sz="2400" b="1" i="0" u="none" strike="noStrike" cap="none">
                  <a:solidFill>
                    <a:schemeClr val="tx1"/>
                  </a:solidFill>
                  <a:latin typeface="Arial" pitchFamily="34" charset="0"/>
                  <a:ea typeface="Arial"/>
                  <a:cs typeface="Arial"/>
                  <a:sym typeface="Arial"/>
                </a:defRPr>
              </a:lvl4pPr>
              <a:lvl5pPr marL="2057400" marR="0" lvl="4" indent="-228600" algn="l" rtl="0" eaLnBrk="0" hangingPunct="0">
                <a:lnSpc>
                  <a:spcPct val="100000"/>
                </a:lnSpc>
                <a:spcBef>
                  <a:spcPts val="0"/>
                </a:spcBef>
                <a:spcAft>
                  <a:spcPts val="0"/>
                </a:spcAft>
                <a:buClr>
                  <a:srgbClr val="000000"/>
                </a:buClr>
                <a:buFont typeface="Arial"/>
                <a:defRPr sz="2400" b="1" i="0" u="none" strike="noStrike" cap="none">
                  <a:solidFill>
                    <a:schemeClr val="tx1"/>
                  </a:solidFill>
                  <a:latin typeface="Arial" pitchFamily="34" charset="0"/>
                  <a:ea typeface="Arial"/>
                  <a:cs typeface="Arial"/>
                  <a:sym typeface="Arial"/>
                </a:defRPr>
              </a:lvl5pPr>
              <a:lvl6pPr marL="2514600" marR="0" lvl="5" indent="-228600" algn="l" rtl="0" eaLnBrk="0" fontAlgn="base" hangingPunct="0">
                <a:lnSpc>
                  <a:spcPct val="100000"/>
                </a:lnSpc>
                <a:spcBef>
                  <a:spcPct val="0"/>
                </a:spcBef>
                <a:spcAft>
                  <a:spcPct val="0"/>
                </a:spcAft>
                <a:buClr>
                  <a:srgbClr val="000000"/>
                </a:buClr>
                <a:buFont typeface="Arial"/>
                <a:defRPr sz="2400" b="1" i="0" u="none" strike="noStrike" cap="none">
                  <a:solidFill>
                    <a:schemeClr val="tx1"/>
                  </a:solidFill>
                  <a:latin typeface="Arial" pitchFamily="34" charset="0"/>
                  <a:ea typeface="Arial"/>
                  <a:cs typeface="Arial"/>
                  <a:sym typeface="Arial"/>
                </a:defRPr>
              </a:lvl6pPr>
              <a:lvl7pPr marL="2971800" marR="0" lvl="6" indent="-228600" algn="l" rtl="0" eaLnBrk="0" fontAlgn="base" hangingPunct="0">
                <a:lnSpc>
                  <a:spcPct val="100000"/>
                </a:lnSpc>
                <a:spcBef>
                  <a:spcPct val="0"/>
                </a:spcBef>
                <a:spcAft>
                  <a:spcPct val="0"/>
                </a:spcAft>
                <a:buClr>
                  <a:srgbClr val="000000"/>
                </a:buClr>
                <a:buFont typeface="Arial"/>
                <a:defRPr sz="2400" b="1" i="0" u="none" strike="noStrike" cap="none">
                  <a:solidFill>
                    <a:schemeClr val="tx1"/>
                  </a:solidFill>
                  <a:latin typeface="Arial" pitchFamily="34" charset="0"/>
                  <a:ea typeface="Arial"/>
                  <a:cs typeface="Arial"/>
                  <a:sym typeface="Arial"/>
                </a:defRPr>
              </a:lvl7pPr>
              <a:lvl8pPr marL="3429000" marR="0" lvl="7" indent="-228600" algn="l" rtl="0" eaLnBrk="0" fontAlgn="base" hangingPunct="0">
                <a:lnSpc>
                  <a:spcPct val="100000"/>
                </a:lnSpc>
                <a:spcBef>
                  <a:spcPct val="0"/>
                </a:spcBef>
                <a:spcAft>
                  <a:spcPct val="0"/>
                </a:spcAft>
                <a:buClr>
                  <a:srgbClr val="000000"/>
                </a:buClr>
                <a:buFont typeface="Arial"/>
                <a:defRPr sz="2400" b="1" i="0" u="none" strike="noStrike" cap="none">
                  <a:solidFill>
                    <a:schemeClr val="tx1"/>
                  </a:solidFill>
                  <a:latin typeface="Arial" pitchFamily="34" charset="0"/>
                  <a:ea typeface="Arial"/>
                  <a:cs typeface="Arial"/>
                  <a:sym typeface="Arial"/>
                </a:defRPr>
              </a:lvl8pPr>
              <a:lvl9pPr marL="3886200" marR="0" lvl="8" indent="-228600" algn="l" rtl="0" eaLnBrk="0" fontAlgn="base" hangingPunct="0">
                <a:lnSpc>
                  <a:spcPct val="100000"/>
                </a:lnSpc>
                <a:spcBef>
                  <a:spcPct val="0"/>
                </a:spcBef>
                <a:spcAft>
                  <a:spcPct val="0"/>
                </a:spcAft>
                <a:buClr>
                  <a:srgbClr val="000000"/>
                </a:buClr>
                <a:buFont typeface="Arial"/>
                <a:defRPr sz="2400" b="1" i="0" u="none" strike="noStrike" cap="none">
                  <a:solidFill>
                    <a:schemeClr val="tx1"/>
                  </a:solidFill>
                  <a:latin typeface="Arial" pitchFamily="34" charset="0"/>
                  <a:ea typeface="Arial"/>
                  <a:cs typeface="Arial"/>
                  <a:sym typeface="Arial"/>
                </a:defRPr>
              </a:lvl9pPr>
            </a:lstStyle>
            <a:p>
              <a:pPr algn="ctr"/>
              <a:endParaRPr lang="en-US"/>
            </a:p>
          </p:txBody>
        </p:sp>
        <p:sp>
          <p:nvSpPr>
            <p:cNvPr id="10" name="Rounded Rectangle 1">
              <a:extLst>
                <a:ext uri="{FF2B5EF4-FFF2-40B4-BE49-F238E27FC236}">
                  <a16:creationId xmlns:a16="http://schemas.microsoft.com/office/drawing/2014/main" id="{C63E8646-9932-19B2-1BBD-9F498BD7B886}"/>
                </a:ext>
              </a:extLst>
            </p:cNvPr>
            <p:cNvSpPr>
              <a:spLocks noChangeArrowheads="1"/>
            </p:cNvSpPr>
            <p:nvPr/>
          </p:nvSpPr>
          <p:spPr bwMode="auto">
            <a:xfrm>
              <a:off x="1002803" y="2189462"/>
              <a:ext cx="1930059" cy="463483"/>
            </a:xfrm>
            <a:prstGeom prst="roundRect">
              <a:avLst>
                <a:gd name="adj" fmla="val 16667"/>
              </a:avLst>
            </a:prstGeom>
            <a:solidFill>
              <a:srgbClr val="297B49"/>
            </a:solidFill>
            <a:ln>
              <a:noFill/>
            </a:ln>
          </p:spPr>
          <p:txBody>
            <a:bodyPr lIns="91440" tIns="45720" rIns="91440" bIns="45720" anchor="ctr"/>
            <a:lstStyle>
              <a:defPPr marR="0" lvl="0" algn="l" rtl="0">
                <a:lnSpc>
                  <a:spcPct val="100000"/>
                </a:lnSpc>
                <a:spcBef>
                  <a:spcPts val="0"/>
                </a:spcBef>
                <a:spcAft>
                  <a:spcPts val="0"/>
                </a:spcAft>
              </a:defPPr>
              <a:lvl1pPr marR="0" lvl="0" algn="l" rtl="0" eaLnBrk="0" hangingPunct="0">
                <a:lnSpc>
                  <a:spcPct val="100000"/>
                </a:lnSpc>
                <a:spcBef>
                  <a:spcPts val="0"/>
                </a:spcBef>
                <a:spcAft>
                  <a:spcPts val="0"/>
                </a:spcAft>
                <a:buClr>
                  <a:srgbClr val="000000"/>
                </a:buClr>
                <a:buFont typeface="Arial"/>
                <a:defRPr sz="2400" b="1" i="0" u="none" strike="noStrike" cap="none">
                  <a:solidFill>
                    <a:schemeClr val="tx1"/>
                  </a:solidFill>
                  <a:latin typeface="Arial" pitchFamily="34" charset="0"/>
                  <a:ea typeface="Arial"/>
                  <a:cs typeface="Arial"/>
                  <a:sym typeface="Arial"/>
                </a:defRPr>
              </a:lvl1pPr>
              <a:lvl2pPr marL="742950" marR="0" lvl="1" indent="-285750" algn="l" rtl="0" eaLnBrk="0" hangingPunct="0">
                <a:lnSpc>
                  <a:spcPct val="100000"/>
                </a:lnSpc>
                <a:spcBef>
                  <a:spcPts val="0"/>
                </a:spcBef>
                <a:spcAft>
                  <a:spcPts val="0"/>
                </a:spcAft>
                <a:buClr>
                  <a:srgbClr val="000000"/>
                </a:buClr>
                <a:buFont typeface="Arial"/>
                <a:defRPr sz="2400" b="1" i="0" u="none" strike="noStrike" cap="none">
                  <a:solidFill>
                    <a:schemeClr val="tx1"/>
                  </a:solidFill>
                  <a:latin typeface="Arial" pitchFamily="34" charset="0"/>
                  <a:ea typeface="Arial"/>
                  <a:cs typeface="Arial"/>
                  <a:sym typeface="Arial"/>
                </a:defRPr>
              </a:lvl2pPr>
              <a:lvl3pPr marL="1143000" marR="0" lvl="2" indent="-228600" algn="l" rtl="0" eaLnBrk="0" hangingPunct="0">
                <a:lnSpc>
                  <a:spcPct val="100000"/>
                </a:lnSpc>
                <a:spcBef>
                  <a:spcPts val="0"/>
                </a:spcBef>
                <a:spcAft>
                  <a:spcPts val="0"/>
                </a:spcAft>
                <a:buClr>
                  <a:srgbClr val="000000"/>
                </a:buClr>
                <a:buFont typeface="Arial"/>
                <a:defRPr sz="2400" b="1" i="0" u="none" strike="noStrike" cap="none">
                  <a:solidFill>
                    <a:schemeClr val="tx1"/>
                  </a:solidFill>
                  <a:latin typeface="Arial" pitchFamily="34" charset="0"/>
                  <a:ea typeface="Arial"/>
                  <a:cs typeface="Arial"/>
                  <a:sym typeface="Arial"/>
                </a:defRPr>
              </a:lvl3pPr>
              <a:lvl4pPr marL="1600200" marR="0" lvl="3" indent="-228600" algn="l" rtl="0" eaLnBrk="0" hangingPunct="0">
                <a:lnSpc>
                  <a:spcPct val="100000"/>
                </a:lnSpc>
                <a:spcBef>
                  <a:spcPts val="0"/>
                </a:spcBef>
                <a:spcAft>
                  <a:spcPts val="0"/>
                </a:spcAft>
                <a:buClr>
                  <a:srgbClr val="000000"/>
                </a:buClr>
                <a:buFont typeface="Arial"/>
                <a:defRPr sz="2400" b="1" i="0" u="none" strike="noStrike" cap="none">
                  <a:solidFill>
                    <a:schemeClr val="tx1"/>
                  </a:solidFill>
                  <a:latin typeface="Arial" pitchFamily="34" charset="0"/>
                  <a:ea typeface="Arial"/>
                  <a:cs typeface="Arial"/>
                  <a:sym typeface="Arial"/>
                </a:defRPr>
              </a:lvl4pPr>
              <a:lvl5pPr marL="2057400" marR="0" lvl="4" indent="-228600" algn="l" rtl="0" eaLnBrk="0" hangingPunct="0">
                <a:lnSpc>
                  <a:spcPct val="100000"/>
                </a:lnSpc>
                <a:spcBef>
                  <a:spcPts val="0"/>
                </a:spcBef>
                <a:spcAft>
                  <a:spcPts val="0"/>
                </a:spcAft>
                <a:buClr>
                  <a:srgbClr val="000000"/>
                </a:buClr>
                <a:buFont typeface="Arial"/>
                <a:defRPr sz="2400" b="1" i="0" u="none" strike="noStrike" cap="none">
                  <a:solidFill>
                    <a:schemeClr val="tx1"/>
                  </a:solidFill>
                  <a:latin typeface="Arial" pitchFamily="34" charset="0"/>
                  <a:ea typeface="Arial"/>
                  <a:cs typeface="Arial"/>
                  <a:sym typeface="Arial"/>
                </a:defRPr>
              </a:lvl5pPr>
              <a:lvl6pPr marL="2514600" marR="0" lvl="5" indent="-228600" algn="l" rtl="0" eaLnBrk="0" fontAlgn="base" hangingPunct="0">
                <a:lnSpc>
                  <a:spcPct val="100000"/>
                </a:lnSpc>
                <a:spcBef>
                  <a:spcPct val="0"/>
                </a:spcBef>
                <a:spcAft>
                  <a:spcPct val="0"/>
                </a:spcAft>
                <a:buClr>
                  <a:srgbClr val="000000"/>
                </a:buClr>
                <a:buFont typeface="Arial"/>
                <a:defRPr sz="2400" b="1" i="0" u="none" strike="noStrike" cap="none">
                  <a:solidFill>
                    <a:schemeClr val="tx1"/>
                  </a:solidFill>
                  <a:latin typeface="Arial" pitchFamily="34" charset="0"/>
                  <a:ea typeface="Arial"/>
                  <a:cs typeface="Arial"/>
                  <a:sym typeface="Arial"/>
                </a:defRPr>
              </a:lvl6pPr>
              <a:lvl7pPr marL="2971800" marR="0" lvl="6" indent="-228600" algn="l" rtl="0" eaLnBrk="0" fontAlgn="base" hangingPunct="0">
                <a:lnSpc>
                  <a:spcPct val="100000"/>
                </a:lnSpc>
                <a:spcBef>
                  <a:spcPct val="0"/>
                </a:spcBef>
                <a:spcAft>
                  <a:spcPct val="0"/>
                </a:spcAft>
                <a:buClr>
                  <a:srgbClr val="000000"/>
                </a:buClr>
                <a:buFont typeface="Arial"/>
                <a:defRPr sz="2400" b="1" i="0" u="none" strike="noStrike" cap="none">
                  <a:solidFill>
                    <a:schemeClr val="tx1"/>
                  </a:solidFill>
                  <a:latin typeface="Arial" pitchFamily="34" charset="0"/>
                  <a:ea typeface="Arial"/>
                  <a:cs typeface="Arial"/>
                  <a:sym typeface="Arial"/>
                </a:defRPr>
              </a:lvl7pPr>
              <a:lvl8pPr marL="3429000" marR="0" lvl="7" indent="-228600" algn="l" rtl="0" eaLnBrk="0" fontAlgn="base" hangingPunct="0">
                <a:lnSpc>
                  <a:spcPct val="100000"/>
                </a:lnSpc>
                <a:spcBef>
                  <a:spcPct val="0"/>
                </a:spcBef>
                <a:spcAft>
                  <a:spcPct val="0"/>
                </a:spcAft>
                <a:buClr>
                  <a:srgbClr val="000000"/>
                </a:buClr>
                <a:buFont typeface="Arial"/>
                <a:defRPr sz="2400" b="1" i="0" u="none" strike="noStrike" cap="none">
                  <a:solidFill>
                    <a:schemeClr val="tx1"/>
                  </a:solidFill>
                  <a:latin typeface="Arial" pitchFamily="34" charset="0"/>
                  <a:ea typeface="Arial"/>
                  <a:cs typeface="Arial"/>
                  <a:sym typeface="Arial"/>
                </a:defRPr>
              </a:lvl8pPr>
              <a:lvl9pPr marL="3886200" marR="0" lvl="8" indent="-228600" algn="l" rtl="0" eaLnBrk="0" fontAlgn="base" hangingPunct="0">
                <a:lnSpc>
                  <a:spcPct val="100000"/>
                </a:lnSpc>
                <a:spcBef>
                  <a:spcPct val="0"/>
                </a:spcBef>
                <a:spcAft>
                  <a:spcPct val="0"/>
                </a:spcAft>
                <a:buClr>
                  <a:srgbClr val="000000"/>
                </a:buClr>
                <a:buFont typeface="Arial"/>
                <a:defRPr sz="2400" b="1" i="0" u="none" strike="noStrike" cap="none">
                  <a:solidFill>
                    <a:schemeClr val="tx1"/>
                  </a:solidFill>
                  <a:latin typeface="Arial" pitchFamily="34" charset="0"/>
                  <a:ea typeface="Arial"/>
                  <a:cs typeface="Arial"/>
                  <a:sym typeface="Arial"/>
                </a:defRPr>
              </a:lvl9pPr>
            </a:lstStyle>
            <a:p>
              <a:pPr algn="ctr"/>
              <a:r>
                <a:rPr lang="en-US" sz="1500" err="1">
                  <a:solidFill>
                    <a:schemeClr val="bg1"/>
                  </a:solidFill>
                  <a:latin typeface="Arial"/>
                </a:rPr>
                <a:t>YeastMine</a:t>
              </a:r>
              <a:r>
                <a:rPr lang="en-US" sz="1500">
                  <a:solidFill>
                    <a:schemeClr val="bg1"/>
                  </a:solidFill>
                  <a:latin typeface="Arial"/>
                </a:rPr>
                <a:t> API</a:t>
              </a:r>
              <a:endParaRPr lang="en-US"/>
            </a:p>
          </p:txBody>
        </p:sp>
        <p:sp>
          <p:nvSpPr>
            <p:cNvPr id="11" name="Rounded Rectangle 1">
              <a:extLst>
                <a:ext uri="{FF2B5EF4-FFF2-40B4-BE49-F238E27FC236}">
                  <a16:creationId xmlns:a16="http://schemas.microsoft.com/office/drawing/2014/main" id="{9123F81B-2B97-9A90-D281-38081A52D1C0}"/>
                </a:ext>
              </a:extLst>
            </p:cNvPr>
            <p:cNvSpPr>
              <a:spLocks noChangeArrowheads="1"/>
            </p:cNvSpPr>
            <p:nvPr/>
          </p:nvSpPr>
          <p:spPr bwMode="auto">
            <a:xfrm>
              <a:off x="1013917" y="2881822"/>
              <a:ext cx="1930059" cy="463483"/>
            </a:xfrm>
            <a:prstGeom prst="roundRect">
              <a:avLst>
                <a:gd name="adj" fmla="val 16667"/>
              </a:avLst>
            </a:prstGeom>
            <a:solidFill>
              <a:srgbClr val="297B49"/>
            </a:solidFill>
            <a:ln>
              <a:noFill/>
            </a:ln>
          </p:spPr>
          <p:txBody>
            <a:bodyPr lIns="91440" tIns="45720" rIns="91440" bIns="45720" anchor="ctr"/>
            <a:lstStyle>
              <a:defPPr marR="0" lvl="0" algn="l" rtl="0">
                <a:lnSpc>
                  <a:spcPct val="100000"/>
                </a:lnSpc>
                <a:spcBef>
                  <a:spcPts val="0"/>
                </a:spcBef>
                <a:spcAft>
                  <a:spcPts val="0"/>
                </a:spcAft>
              </a:defPPr>
              <a:lvl1pPr marR="0" lvl="0" algn="l" rtl="0" eaLnBrk="0" hangingPunct="0">
                <a:lnSpc>
                  <a:spcPct val="100000"/>
                </a:lnSpc>
                <a:spcBef>
                  <a:spcPts val="0"/>
                </a:spcBef>
                <a:spcAft>
                  <a:spcPts val="0"/>
                </a:spcAft>
                <a:buClr>
                  <a:srgbClr val="000000"/>
                </a:buClr>
                <a:buFont typeface="Arial"/>
                <a:defRPr sz="2400" b="1" i="0" u="none" strike="noStrike" cap="none">
                  <a:solidFill>
                    <a:schemeClr val="tx1"/>
                  </a:solidFill>
                  <a:latin typeface="Arial" pitchFamily="34" charset="0"/>
                  <a:ea typeface="Arial"/>
                  <a:cs typeface="Arial"/>
                  <a:sym typeface="Arial"/>
                </a:defRPr>
              </a:lvl1pPr>
              <a:lvl2pPr marL="742950" marR="0" lvl="1" indent="-285750" algn="l" rtl="0" eaLnBrk="0" hangingPunct="0">
                <a:lnSpc>
                  <a:spcPct val="100000"/>
                </a:lnSpc>
                <a:spcBef>
                  <a:spcPts val="0"/>
                </a:spcBef>
                <a:spcAft>
                  <a:spcPts val="0"/>
                </a:spcAft>
                <a:buClr>
                  <a:srgbClr val="000000"/>
                </a:buClr>
                <a:buFont typeface="Arial"/>
                <a:defRPr sz="2400" b="1" i="0" u="none" strike="noStrike" cap="none">
                  <a:solidFill>
                    <a:schemeClr val="tx1"/>
                  </a:solidFill>
                  <a:latin typeface="Arial" pitchFamily="34" charset="0"/>
                  <a:ea typeface="Arial"/>
                  <a:cs typeface="Arial"/>
                  <a:sym typeface="Arial"/>
                </a:defRPr>
              </a:lvl2pPr>
              <a:lvl3pPr marL="1143000" marR="0" lvl="2" indent="-228600" algn="l" rtl="0" eaLnBrk="0" hangingPunct="0">
                <a:lnSpc>
                  <a:spcPct val="100000"/>
                </a:lnSpc>
                <a:spcBef>
                  <a:spcPts val="0"/>
                </a:spcBef>
                <a:spcAft>
                  <a:spcPts val="0"/>
                </a:spcAft>
                <a:buClr>
                  <a:srgbClr val="000000"/>
                </a:buClr>
                <a:buFont typeface="Arial"/>
                <a:defRPr sz="2400" b="1" i="0" u="none" strike="noStrike" cap="none">
                  <a:solidFill>
                    <a:schemeClr val="tx1"/>
                  </a:solidFill>
                  <a:latin typeface="Arial" pitchFamily="34" charset="0"/>
                  <a:ea typeface="Arial"/>
                  <a:cs typeface="Arial"/>
                  <a:sym typeface="Arial"/>
                </a:defRPr>
              </a:lvl3pPr>
              <a:lvl4pPr marL="1600200" marR="0" lvl="3" indent="-228600" algn="l" rtl="0" eaLnBrk="0" hangingPunct="0">
                <a:lnSpc>
                  <a:spcPct val="100000"/>
                </a:lnSpc>
                <a:spcBef>
                  <a:spcPts val="0"/>
                </a:spcBef>
                <a:spcAft>
                  <a:spcPts val="0"/>
                </a:spcAft>
                <a:buClr>
                  <a:srgbClr val="000000"/>
                </a:buClr>
                <a:buFont typeface="Arial"/>
                <a:defRPr sz="2400" b="1" i="0" u="none" strike="noStrike" cap="none">
                  <a:solidFill>
                    <a:schemeClr val="tx1"/>
                  </a:solidFill>
                  <a:latin typeface="Arial" pitchFamily="34" charset="0"/>
                  <a:ea typeface="Arial"/>
                  <a:cs typeface="Arial"/>
                  <a:sym typeface="Arial"/>
                </a:defRPr>
              </a:lvl4pPr>
              <a:lvl5pPr marL="2057400" marR="0" lvl="4" indent="-228600" algn="l" rtl="0" eaLnBrk="0" hangingPunct="0">
                <a:lnSpc>
                  <a:spcPct val="100000"/>
                </a:lnSpc>
                <a:spcBef>
                  <a:spcPts val="0"/>
                </a:spcBef>
                <a:spcAft>
                  <a:spcPts val="0"/>
                </a:spcAft>
                <a:buClr>
                  <a:srgbClr val="000000"/>
                </a:buClr>
                <a:buFont typeface="Arial"/>
                <a:defRPr sz="2400" b="1" i="0" u="none" strike="noStrike" cap="none">
                  <a:solidFill>
                    <a:schemeClr val="tx1"/>
                  </a:solidFill>
                  <a:latin typeface="Arial" pitchFamily="34" charset="0"/>
                  <a:ea typeface="Arial"/>
                  <a:cs typeface="Arial"/>
                  <a:sym typeface="Arial"/>
                </a:defRPr>
              </a:lvl5pPr>
              <a:lvl6pPr marL="2514600" marR="0" lvl="5" indent="-228600" algn="l" rtl="0" eaLnBrk="0" fontAlgn="base" hangingPunct="0">
                <a:lnSpc>
                  <a:spcPct val="100000"/>
                </a:lnSpc>
                <a:spcBef>
                  <a:spcPct val="0"/>
                </a:spcBef>
                <a:spcAft>
                  <a:spcPct val="0"/>
                </a:spcAft>
                <a:buClr>
                  <a:srgbClr val="000000"/>
                </a:buClr>
                <a:buFont typeface="Arial"/>
                <a:defRPr sz="2400" b="1" i="0" u="none" strike="noStrike" cap="none">
                  <a:solidFill>
                    <a:schemeClr val="tx1"/>
                  </a:solidFill>
                  <a:latin typeface="Arial" pitchFamily="34" charset="0"/>
                  <a:ea typeface="Arial"/>
                  <a:cs typeface="Arial"/>
                  <a:sym typeface="Arial"/>
                </a:defRPr>
              </a:lvl6pPr>
              <a:lvl7pPr marL="2971800" marR="0" lvl="6" indent="-228600" algn="l" rtl="0" eaLnBrk="0" fontAlgn="base" hangingPunct="0">
                <a:lnSpc>
                  <a:spcPct val="100000"/>
                </a:lnSpc>
                <a:spcBef>
                  <a:spcPct val="0"/>
                </a:spcBef>
                <a:spcAft>
                  <a:spcPct val="0"/>
                </a:spcAft>
                <a:buClr>
                  <a:srgbClr val="000000"/>
                </a:buClr>
                <a:buFont typeface="Arial"/>
                <a:defRPr sz="2400" b="1" i="0" u="none" strike="noStrike" cap="none">
                  <a:solidFill>
                    <a:schemeClr val="tx1"/>
                  </a:solidFill>
                  <a:latin typeface="Arial" pitchFamily="34" charset="0"/>
                  <a:ea typeface="Arial"/>
                  <a:cs typeface="Arial"/>
                  <a:sym typeface="Arial"/>
                </a:defRPr>
              </a:lvl7pPr>
              <a:lvl8pPr marL="3429000" marR="0" lvl="7" indent="-228600" algn="l" rtl="0" eaLnBrk="0" fontAlgn="base" hangingPunct="0">
                <a:lnSpc>
                  <a:spcPct val="100000"/>
                </a:lnSpc>
                <a:spcBef>
                  <a:spcPct val="0"/>
                </a:spcBef>
                <a:spcAft>
                  <a:spcPct val="0"/>
                </a:spcAft>
                <a:buClr>
                  <a:srgbClr val="000000"/>
                </a:buClr>
                <a:buFont typeface="Arial"/>
                <a:defRPr sz="2400" b="1" i="0" u="none" strike="noStrike" cap="none">
                  <a:solidFill>
                    <a:schemeClr val="tx1"/>
                  </a:solidFill>
                  <a:latin typeface="Arial" pitchFamily="34" charset="0"/>
                  <a:ea typeface="Arial"/>
                  <a:cs typeface="Arial"/>
                  <a:sym typeface="Arial"/>
                </a:defRPr>
              </a:lvl8pPr>
              <a:lvl9pPr marL="3886200" marR="0" lvl="8" indent="-228600" algn="l" rtl="0" eaLnBrk="0" fontAlgn="base" hangingPunct="0">
                <a:lnSpc>
                  <a:spcPct val="100000"/>
                </a:lnSpc>
                <a:spcBef>
                  <a:spcPct val="0"/>
                </a:spcBef>
                <a:spcAft>
                  <a:spcPct val="0"/>
                </a:spcAft>
                <a:buClr>
                  <a:srgbClr val="000000"/>
                </a:buClr>
                <a:buFont typeface="Arial"/>
                <a:defRPr sz="2400" b="1" i="0" u="none" strike="noStrike" cap="none">
                  <a:solidFill>
                    <a:schemeClr val="tx1"/>
                  </a:solidFill>
                  <a:latin typeface="Arial" pitchFamily="34" charset="0"/>
                  <a:ea typeface="Arial"/>
                  <a:cs typeface="Arial"/>
                  <a:sym typeface="Arial"/>
                </a:defRPr>
              </a:lvl9pPr>
            </a:lstStyle>
            <a:p>
              <a:pPr algn="ctr"/>
              <a:r>
                <a:rPr lang="en-US" sz="1500" err="1">
                  <a:solidFill>
                    <a:schemeClr val="bg1"/>
                  </a:solidFill>
                  <a:latin typeface="Arial"/>
                </a:rPr>
                <a:t>AllianceMine</a:t>
              </a:r>
              <a:r>
                <a:rPr lang="en-US" sz="1500">
                  <a:solidFill>
                    <a:schemeClr val="bg1"/>
                  </a:solidFill>
                  <a:latin typeface="Arial"/>
                </a:rPr>
                <a:t> API</a:t>
              </a:r>
              <a:endParaRPr lang="en-US"/>
            </a:p>
          </p:txBody>
        </p:sp>
      </p:grpSp>
      <p:grpSp>
        <p:nvGrpSpPr>
          <p:cNvPr id="13" name="Group 12">
            <a:extLst>
              <a:ext uri="{FF2B5EF4-FFF2-40B4-BE49-F238E27FC236}">
                <a16:creationId xmlns:a16="http://schemas.microsoft.com/office/drawing/2014/main" id="{918F559B-14ED-EF27-AE3D-D565B5A174BA}"/>
              </a:ext>
            </a:extLst>
          </p:cNvPr>
          <p:cNvGrpSpPr/>
          <p:nvPr/>
        </p:nvGrpSpPr>
        <p:grpSpPr>
          <a:xfrm>
            <a:off x="5227235" y="1094456"/>
            <a:ext cx="2879768" cy="2577103"/>
            <a:chOff x="527956" y="1025236"/>
            <a:chExt cx="2879768" cy="2577103"/>
          </a:xfrm>
        </p:grpSpPr>
        <p:sp>
          <p:nvSpPr>
            <p:cNvPr id="14" name="Rectangle 13">
              <a:extLst>
                <a:ext uri="{FF2B5EF4-FFF2-40B4-BE49-F238E27FC236}">
                  <a16:creationId xmlns:a16="http://schemas.microsoft.com/office/drawing/2014/main" id="{7E595A8C-286D-5DE4-301A-7AF43F3A8B2D}"/>
                </a:ext>
              </a:extLst>
            </p:cNvPr>
            <p:cNvSpPr/>
            <p:nvPr/>
          </p:nvSpPr>
          <p:spPr>
            <a:xfrm>
              <a:off x="527956" y="1025236"/>
              <a:ext cx="2879768" cy="2577103"/>
            </a:xfrm>
            <a:prstGeom prst="rect">
              <a:avLst/>
            </a:prstGeom>
            <a:noFill/>
            <a:ln>
              <a:solidFill>
                <a:srgbClr val="1669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DA608A1F-092A-BC5A-B731-835C633AC064}"/>
                </a:ext>
              </a:extLst>
            </p:cNvPr>
            <p:cNvSpPr txBox="1"/>
            <p:nvPr/>
          </p:nvSpPr>
          <p:spPr>
            <a:xfrm>
              <a:off x="527956" y="1025236"/>
              <a:ext cx="2879767" cy="3385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600" b="1">
                  <a:solidFill>
                    <a:srgbClr val="16693F"/>
                  </a:solidFill>
                </a:rPr>
                <a:t>PostgreSQL Database</a:t>
              </a:r>
              <a:endParaRPr lang="en-US" sz="1600"/>
            </a:p>
          </p:txBody>
        </p:sp>
        <p:sp>
          <p:nvSpPr>
            <p:cNvPr id="16" name="Rounded Rectangle 1">
              <a:extLst>
                <a:ext uri="{FF2B5EF4-FFF2-40B4-BE49-F238E27FC236}">
                  <a16:creationId xmlns:a16="http://schemas.microsoft.com/office/drawing/2014/main" id="{0777B63E-FAC1-5110-D848-EEC908C66F63}"/>
                </a:ext>
              </a:extLst>
            </p:cNvPr>
            <p:cNvSpPr>
              <a:spLocks noChangeArrowheads="1"/>
            </p:cNvSpPr>
            <p:nvPr/>
          </p:nvSpPr>
          <p:spPr bwMode="auto">
            <a:xfrm>
              <a:off x="765377" y="1497102"/>
              <a:ext cx="2404920" cy="463483"/>
            </a:xfrm>
            <a:prstGeom prst="roundRect">
              <a:avLst>
                <a:gd name="adj" fmla="val 16667"/>
              </a:avLst>
            </a:prstGeom>
            <a:solidFill>
              <a:srgbClr val="297B49"/>
            </a:solidFill>
            <a:ln>
              <a:noFill/>
            </a:ln>
          </p:spPr>
          <p:txBody>
            <a:bodyPr lIns="91440" tIns="45720" rIns="91440" bIns="45720" anchor="ctr"/>
            <a:lstStyle>
              <a:defPPr marR="0" lvl="0" algn="l" rtl="0">
                <a:lnSpc>
                  <a:spcPct val="100000"/>
                </a:lnSpc>
                <a:spcBef>
                  <a:spcPts val="0"/>
                </a:spcBef>
                <a:spcAft>
                  <a:spcPts val="0"/>
                </a:spcAft>
              </a:defPPr>
              <a:lvl1pPr marR="0" lvl="0" algn="l" rtl="0" eaLnBrk="0" hangingPunct="0">
                <a:lnSpc>
                  <a:spcPct val="100000"/>
                </a:lnSpc>
                <a:spcBef>
                  <a:spcPts val="0"/>
                </a:spcBef>
                <a:spcAft>
                  <a:spcPts val="0"/>
                </a:spcAft>
                <a:buClr>
                  <a:srgbClr val="000000"/>
                </a:buClr>
                <a:buFont typeface="Arial"/>
                <a:defRPr sz="2400" b="1" i="0" u="none" strike="noStrike" cap="none">
                  <a:solidFill>
                    <a:schemeClr val="tx1"/>
                  </a:solidFill>
                  <a:latin typeface="Arial" pitchFamily="34" charset="0"/>
                  <a:ea typeface="Arial"/>
                  <a:cs typeface="Arial"/>
                  <a:sym typeface="Arial"/>
                </a:defRPr>
              </a:lvl1pPr>
              <a:lvl2pPr marL="742950" marR="0" lvl="1" indent="-285750" algn="l" rtl="0" eaLnBrk="0" hangingPunct="0">
                <a:lnSpc>
                  <a:spcPct val="100000"/>
                </a:lnSpc>
                <a:spcBef>
                  <a:spcPts val="0"/>
                </a:spcBef>
                <a:spcAft>
                  <a:spcPts val="0"/>
                </a:spcAft>
                <a:buClr>
                  <a:srgbClr val="000000"/>
                </a:buClr>
                <a:buFont typeface="Arial"/>
                <a:defRPr sz="2400" b="1" i="0" u="none" strike="noStrike" cap="none">
                  <a:solidFill>
                    <a:schemeClr val="tx1"/>
                  </a:solidFill>
                  <a:latin typeface="Arial" pitchFamily="34" charset="0"/>
                  <a:ea typeface="Arial"/>
                  <a:cs typeface="Arial"/>
                  <a:sym typeface="Arial"/>
                </a:defRPr>
              </a:lvl2pPr>
              <a:lvl3pPr marL="1143000" marR="0" lvl="2" indent="-228600" algn="l" rtl="0" eaLnBrk="0" hangingPunct="0">
                <a:lnSpc>
                  <a:spcPct val="100000"/>
                </a:lnSpc>
                <a:spcBef>
                  <a:spcPts val="0"/>
                </a:spcBef>
                <a:spcAft>
                  <a:spcPts val="0"/>
                </a:spcAft>
                <a:buClr>
                  <a:srgbClr val="000000"/>
                </a:buClr>
                <a:buFont typeface="Arial"/>
                <a:defRPr sz="2400" b="1" i="0" u="none" strike="noStrike" cap="none">
                  <a:solidFill>
                    <a:schemeClr val="tx1"/>
                  </a:solidFill>
                  <a:latin typeface="Arial" pitchFamily="34" charset="0"/>
                  <a:ea typeface="Arial"/>
                  <a:cs typeface="Arial"/>
                  <a:sym typeface="Arial"/>
                </a:defRPr>
              </a:lvl3pPr>
              <a:lvl4pPr marL="1600200" marR="0" lvl="3" indent="-228600" algn="l" rtl="0" eaLnBrk="0" hangingPunct="0">
                <a:lnSpc>
                  <a:spcPct val="100000"/>
                </a:lnSpc>
                <a:spcBef>
                  <a:spcPts val="0"/>
                </a:spcBef>
                <a:spcAft>
                  <a:spcPts val="0"/>
                </a:spcAft>
                <a:buClr>
                  <a:srgbClr val="000000"/>
                </a:buClr>
                <a:buFont typeface="Arial"/>
                <a:defRPr sz="2400" b="1" i="0" u="none" strike="noStrike" cap="none">
                  <a:solidFill>
                    <a:schemeClr val="tx1"/>
                  </a:solidFill>
                  <a:latin typeface="Arial" pitchFamily="34" charset="0"/>
                  <a:ea typeface="Arial"/>
                  <a:cs typeface="Arial"/>
                  <a:sym typeface="Arial"/>
                </a:defRPr>
              </a:lvl4pPr>
              <a:lvl5pPr marL="2057400" marR="0" lvl="4" indent="-228600" algn="l" rtl="0" eaLnBrk="0" hangingPunct="0">
                <a:lnSpc>
                  <a:spcPct val="100000"/>
                </a:lnSpc>
                <a:spcBef>
                  <a:spcPts val="0"/>
                </a:spcBef>
                <a:spcAft>
                  <a:spcPts val="0"/>
                </a:spcAft>
                <a:buClr>
                  <a:srgbClr val="000000"/>
                </a:buClr>
                <a:buFont typeface="Arial"/>
                <a:defRPr sz="2400" b="1" i="0" u="none" strike="noStrike" cap="none">
                  <a:solidFill>
                    <a:schemeClr val="tx1"/>
                  </a:solidFill>
                  <a:latin typeface="Arial" pitchFamily="34" charset="0"/>
                  <a:ea typeface="Arial"/>
                  <a:cs typeface="Arial"/>
                  <a:sym typeface="Arial"/>
                </a:defRPr>
              </a:lvl5pPr>
              <a:lvl6pPr marL="2514600" marR="0" lvl="5" indent="-228600" algn="l" rtl="0" eaLnBrk="0" fontAlgn="base" hangingPunct="0">
                <a:lnSpc>
                  <a:spcPct val="100000"/>
                </a:lnSpc>
                <a:spcBef>
                  <a:spcPct val="0"/>
                </a:spcBef>
                <a:spcAft>
                  <a:spcPct val="0"/>
                </a:spcAft>
                <a:buClr>
                  <a:srgbClr val="000000"/>
                </a:buClr>
                <a:buFont typeface="Arial"/>
                <a:defRPr sz="2400" b="1" i="0" u="none" strike="noStrike" cap="none">
                  <a:solidFill>
                    <a:schemeClr val="tx1"/>
                  </a:solidFill>
                  <a:latin typeface="Arial" pitchFamily="34" charset="0"/>
                  <a:ea typeface="Arial"/>
                  <a:cs typeface="Arial"/>
                  <a:sym typeface="Arial"/>
                </a:defRPr>
              </a:lvl6pPr>
              <a:lvl7pPr marL="2971800" marR="0" lvl="6" indent="-228600" algn="l" rtl="0" eaLnBrk="0" fontAlgn="base" hangingPunct="0">
                <a:lnSpc>
                  <a:spcPct val="100000"/>
                </a:lnSpc>
                <a:spcBef>
                  <a:spcPct val="0"/>
                </a:spcBef>
                <a:spcAft>
                  <a:spcPct val="0"/>
                </a:spcAft>
                <a:buClr>
                  <a:srgbClr val="000000"/>
                </a:buClr>
                <a:buFont typeface="Arial"/>
                <a:defRPr sz="2400" b="1" i="0" u="none" strike="noStrike" cap="none">
                  <a:solidFill>
                    <a:schemeClr val="tx1"/>
                  </a:solidFill>
                  <a:latin typeface="Arial" pitchFamily="34" charset="0"/>
                  <a:ea typeface="Arial"/>
                  <a:cs typeface="Arial"/>
                  <a:sym typeface="Arial"/>
                </a:defRPr>
              </a:lvl7pPr>
              <a:lvl8pPr marL="3429000" marR="0" lvl="7" indent="-228600" algn="l" rtl="0" eaLnBrk="0" fontAlgn="base" hangingPunct="0">
                <a:lnSpc>
                  <a:spcPct val="100000"/>
                </a:lnSpc>
                <a:spcBef>
                  <a:spcPct val="0"/>
                </a:spcBef>
                <a:spcAft>
                  <a:spcPct val="0"/>
                </a:spcAft>
                <a:buClr>
                  <a:srgbClr val="000000"/>
                </a:buClr>
                <a:buFont typeface="Arial"/>
                <a:defRPr sz="2400" b="1" i="0" u="none" strike="noStrike" cap="none">
                  <a:solidFill>
                    <a:schemeClr val="tx1"/>
                  </a:solidFill>
                  <a:latin typeface="Arial" pitchFamily="34" charset="0"/>
                  <a:ea typeface="Arial"/>
                  <a:cs typeface="Arial"/>
                  <a:sym typeface="Arial"/>
                </a:defRPr>
              </a:lvl8pPr>
              <a:lvl9pPr marL="3886200" marR="0" lvl="8" indent="-228600" algn="l" rtl="0" eaLnBrk="0" fontAlgn="base" hangingPunct="0">
                <a:lnSpc>
                  <a:spcPct val="100000"/>
                </a:lnSpc>
                <a:spcBef>
                  <a:spcPct val="0"/>
                </a:spcBef>
                <a:spcAft>
                  <a:spcPct val="0"/>
                </a:spcAft>
                <a:buClr>
                  <a:srgbClr val="000000"/>
                </a:buClr>
                <a:buFont typeface="Arial"/>
                <a:defRPr sz="2400" b="1" i="0" u="none" strike="noStrike" cap="none">
                  <a:solidFill>
                    <a:schemeClr val="tx1"/>
                  </a:solidFill>
                  <a:latin typeface="Arial" pitchFamily="34" charset="0"/>
                  <a:ea typeface="Arial"/>
                  <a:cs typeface="Arial"/>
                  <a:sym typeface="Arial"/>
                </a:defRPr>
              </a:lvl9pPr>
            </a:lstStyle>
            <a:p>
              <a:pPr algn="ctr"/>
              <a:r>
                <a:rPr lang="en-US" sz="1500">
                  <a:solidFill>
                    <a:schemeClr val="bg1"/>
                  </a:solidFill>
                  <a:latin typeface="Arial"/>
                </a:rPr>
                <a:t>Gene Expression</a:t>
              </a:r>
              <a:endParaRPr lang="en-US"/>
            </a:p>
          </p:txBody>
        </p:sp>
        <p:sp>
          <p:nvSpPr>
            <p:cNvPr id="17" name="Rounded Rectangle 1">
              <a:extLst>
                <a:ext uri="{FF2B5EF4-FFF2-40B4-BE49-F238E27FC236}">
                  <a16:creationId xmlns:a16="http://schemas.microsoft.com/office/drawing/2014/main" id="{1CAD5A0B-60AE-66F9-4281-378465B36729}"/>
                </a:ext>
              </a:extLst>
            </p:cNvPr>
            <p:cNvSpPr>
              <a:spLocks noChangeArrowheads="1"/>
            </p:cNvSpPr>
            <p:nvPr/>
          </p:nvSpPr>
          <p:spPr bwMode="auto">
            <a:xfrm>
              <a:off x="765377" y="2192516"/>
              <a:ext cx="2404917" cy="463483"/>
            </a:xfrm>
            <a:prstGeom prst="roundRect">
              <a:avLst>
                <a:gd name="adj" fmla="val 16667"/>
              </a:avLst>
            </a:prstGeom>
            <a:solidFill>
              <a:srgbClr val="297B49"/>
            </a:solidFill>
            <a:ln>
              <a:noFill/>
            </a:ln>
          </p:spPr>
          <p:txBody>
            <a:bodyPr lIns="91440" tIns="45720" rIns="91440" bIns="45720" anchor="ctr"/>
            <a:lstStyle>
              <a:defPPr marR="0" lvl="0" algn="l" rtl="0">
                <a:lnSpc>
                  <a:spcPct val="100000"/>
                </a:lnSpc>
                <a:spcBef>
                  <a:spcPts val="0"/>
                </a:spcBef>
                <a:spcAft>
                  <a:spcPts val="0"/>
                </a:spcAft>
              </a:defPPr>
              <a:lvl1pPr marR="0" lvl="0" algn="l" rtl="0" eaLnBrk="0" hangingPunct="0">
                <a:lnSpc>
                  <a:spcPct val="100000"/>
                </a:lnSpc>
                <a:spcBef>
                  <a:spcPts val="0"/>
                </a:spcBef>
                <a:spcAft>
                  <a:spcPts val="0"/>
                </a:spcAft>
                <a:buClr>
                  <a:srgbClr val="000000"/>
                </a:buClr>
                <a:buFont typeface="Arial"/>
                <a:defRPr sz="2400" b="1" i="0" u="none" strike="noStrike" cap="none">
                  <a:solidFill>
                    <a:schemeClr val="tx1"/>
                  </a:solidFill>
                  <a:latin typeface="Arial" pitchFamily="34" charset="0"/>
                  <a:ea typeface="Arial"/>
                  <a:cs typeface="Arial"/>
                  <a:sym typeface="Arial"/>
                </a:defRPr>
              </a:lvl1pPr>
              <a:lvl2pPr marL="742950" marR="0" lvl="1" indent="-285750" algn="l" rtl="0" eaLnBrk="0" hangingPunct="0">
                <a:lnSpc>
                  <a:spcPct val="100000"/>
                </a:lnSpc>
                <a:spcBef>
                  <a:spcPts val="0"/>
                </a:spcBef>
                <a:spcAft>
                  <a:spcPts val="0"/>
                </a:spcAft>
                <a:buClr>
                  <a:srgbClr val="000000"/>
                </a:buClr>
                <a:buFont typeface="Arial"/>
                <a:defRPr sz="2400" b="1" i="0" u="none" strike="noStrike" cap="none">
                  <a:solidFill>
                    <a:schemeClr val="tx1"/>
                  </a:solidFill>
                  <a:latin typeface="Arial" pitchFamily="34" charset="0"/>
                  <a:ea typeface="Arial"/>
                  <a:cs typeface="Arial"/>
                  <a:sym typeface="Arial"/>
                </a:defRPr>
              </a:lvl2pPr>
              <a:lvl3pPr marL="1143000" marR="0" lvl="2" indent="-228600" algn="l" rtl="0" eaLnBrk="0" hangingPunct="0">
                <a:lnSpc>
                  <a:spcPct val="100000"/>
                </a:lnSpc>
                <a:spcBef>
                  <a:spcPts val="0"/>
                </a:spcBef>
                <a:spcAft>
                  <a:spcPts val="0"/>
                </a:spcAft>
                <a:buClr>
                  <a:srgbClr val="000000"/>
                </a:buClr>
                <a:buFont typeface="Arial"/>
                <a:defRPr sz="2400" b="1" i="0" u="none" strike="noStrike" cap="none">
                  <a:solidFill>
                    <a:schemeClr val="tx1"/>
                  </a:solidFill>
                  <a:latin typeface="Arial" pitchFamily="34" charset="0"/>
                  <a:ea typeface="Arial"/>
                  <a:cs typeface="Arial"/>
                  <a:sym typeface="Arial"/>
                </a:defRPr>
              </a:lvl3pPr>
              <a:lvl4pPr marL="1600200" marR="0" lvl="3" indent="-228600" algn="l" rtl="0" eaLnBrk="0" hangingPunct="0">
                <a:lnSpc>
                  <a:spcPct val="100000"/>
                </a:lnSpc>
                <a:spcBef>
                  <a:spcPts val="0"/>
                </a:spcBef>
                <a:spcAft>
                  <a:spcPts val="0"/>
                </a:spcAft>
                <a:buClr>
                  <a:srgbClr val="000000"/>
                </a:buClr>
                <a:buFont typeface="Arial"/>
                <a:defRPr sz="2400" b="1" i="0" u="none" strike="noStrike" cap="none">
                  <a:solidFill>
                    <a:schemeClr val="tx1"/>
                  </a:solidFill>
                  <a:latin typeface="Arial" pitchFamily="34" charset="0"/>
                  <a:ea typeface="Arial"/>
                  <a:cs typeface="Arial"/>
                  <a:sym typeface="Arial"/>
                </a:defRPr>
              </a:lvl4pPr>
              <a:lvl5pPr marL="2057400" marR="0" lvl="4" indent="-228600" algn="l" rtl="0" eaLnBrk="0" hangingPunct="0">
                <a:lnSpc>
                  <a:spcPct val="100000"/>
                </a:lnSpc>
                <a:spcBef>
                  <a:spcPts val="0"/>
                </a:spcBef>
                <a:spcAft>
                  <a:spcPts val="0"/>
                </a:spcAft>
                <a:buClr>
                  <a:srgbClr val="000000"/>
                </a:buClr>
                <a:buFont typeface="Arial"/>
                <a:defRPr sz="2400" b="1" i="0" u="none" strike="noStrike" cap="none">
                  <a:solidFill>
                    <a:schemeClr val="tx1"/>
                  </a:solidFill>
                  <a:latin typeface="Arial" pitchFamily="34" charset="0"/>
                  <a:ea typeface="Arial"/>
                  <a:cs typeface="Arial"/>
                  <a:sym typeface="Arial"/>
                </a:defRPr>
              </a:lvl5pPr>
              <a:lvl6pPr marL="2514600" marR="0" lvl="5" indent="-228600" algn="l" rtl="0" eaLnBrk="0" fontAlgn="base" hangingPunct="0">
                <a:lnSpc>
                  <a:spcPct val="100000"/>
                </a:lnSpc>
                <a:spcBef>
                  <a:spcPct val="0"/>
                </a:spcBef>
                <a:spcAft>
                  <a:spcPct val="0"/>
                </a:spcAft>
                <a:buClr>
                  <a:srgbClr val="000000"/>
                </a:buClr>
                <a:buFont typeface="Arial"/>
                <a:defRPr sz="2400" b="1" i="0" u="none" strike="noStrike" cap="none">
                  <a:solidFill>
                    <a:schemeClr val="tx1"/>
                  </a:solidFill>
                  <a:latin typeface="Arial" pitchFamily="34" charset="0"/>
                  <a:ea typeface="Arial"/>
                  <a:cs typeface="Arial"/>
                  <a:sym typeface="Arial"/>
                </a:defRPr>
              </a:lvl6pPr>
              <a:lvl7pPr marL="2971800" marR="0" lvl="6" indent="-228600" algn="l" rtl="0" eaLnBrk="0" fontAlgn="base" hangingPunct="0">
                <a:lnSpc>
                  <a:spcPct val="100000"/>
                </a:lnSpc>
                <a:spcBef>
                  <a:spcPct val="0"/>
                </a:spcBef>
                <a:spcAft>
                  <a:spcPct val="0"/>
                </a:spcAft>
                <a:buClr>
                  <a:srgbClr val="000000"/>
                </a:buClr>
                <a:buFont typeface="Arial"/>
                <a:defRPr sz="2400" b="1" i="0" u="none" strike="noStrike" cap="none">
                  <a:solidFill>
                    <a:schemeClr val="tx1"/>
                  </a:solidFill>
                  <a:latin typeface="Arial" pitchFamily="34" charset="0"/>
                  <a:ea typeface="Arial"/>
                  <a:cs typeface="Arial"/>
                  <a:sym typeface="Arial"/>
                </a:defRPr>
              </a:lvl7pPr>
              <a:lvl8pPr marL="3429000" marR="0" lvl="7" indent="-228600" algn="l" rtl="0" eaLnBrk="0" fontAlgn="base" hangingPunct="0">
                <a:lnSpc>
                  <a:spcPct val="100000"/>
                </a:lnSpc>
                <a:spcBef>
                  <a:spcPct val="0"/>
                </a:spcBef>
                <a:spcAft>
                  <a:spcPct val="0"/>
                </a:spcAft>
                <a:buClr>
                  <a:srgbClr val="000000"/>
                </a:buClr>
                <a:buFont typeface="Arial"/>
                <a:defRPr sz="2400" b="1" i="0" u="none" strike="noStrike" cap="none">
                  <a:solidFill>
                    <a:schemeClr val="tx1"/>
                  </a:solidFill>
                  <a:latin typeface="Arial" pitchFamily="34" charset="0"/>
                  <a:ea typeface="Arial"/>
                  <a:cs typeface="Arial"/>
                  <a:sym typeface="Arial"/>
                </a:defRPr>
              </a:lvl8pPr>
              <a:lvl9pPr marL="3886200" marR="0" lvl="8" indent="-228600" algn="l" rtl="0" eaLnBrk="0" fontAlgn="base" hangingPunct="0">
                <a:lnSpc>
                  <a:spcPct val="100000"/>
                </a:lnSpc>
                <a:spcBef>
                  <a:spcPct val="0"/>
                </a:spcBef>
                <a:spcAft>
                  <a:spcPct val="0"/>
                </a:spcAft>
                <a:buClr>
                  <a:srgbClr val="000000"/>
                </a:buClr>
                <a:buFont typeface="Arial"/>
                <a:defRPr sz="2400" b="1" i="0" u="none" strike="noStrike" cap="none">
                  <a:solidFill>
                    <a:schemeClr val="tx1"/>
                  </a:solidFill>
                  <a:latin typeface="Arial" pitchFamily="34" charset="0"/>
                  <a:ea typeface="Arial"/>
                  <a:cs typeface="Arial"/>
                  <a:sym typeface="Arial"/>
                </a:defRPr>
              </a:lvl9pPr>
            </a:lstStyle>
            <a:p>
              <a:pPr algn="ctr"/>
              <a:r>
                <a:rPr lang="en-US" sz="1500">
                  <a:solidFill>
                    <a:schemeClr val="bg1"/>
                  </a:solidFill>
                  <a:latin typeface="Arial"/>
                </a:rPr>
                <a:t>GRN &amp; PPI (Pre 2025)</a:t>
              </a:r>
              <a:endParaRPr lang="en-US"/>
            </a:p>
          </p:txBody>
        </p:sp>
        <p:sp>
          <p:nvSpPr>
            <p:cNvPr id="18" name="Rounded Rectangle 1">
              <a:extLst>
                <a:ext uri="{FF2B5EF4-FFF2-40B4-BE49-F238E27FC236}">
                  <a16:creationId xmlns:a16="http://schemas.microsoft.com/office/drawing/2014/main" id="{7B439B0D-D010-5D78-9413-AA7CE0CB7845}"/>
                </a:ext>
              </a:extLst>
            </p:cNvPr>
            <p:cNvSpPr>
              <a:spLocks noChangeArrowheads="1"/>
            </p:cNvSpPr>
            <p:nvPr/>
          </p:nvSpPr>
          <p:spPr bwMode="auto">
            <a:xfrm>
              <a:off x="765377" y="2881822"/>
              <a:ext cx="2404917" cy="463483"/>
            </a:xfrm>
            <a:prstGeom prst="roundRect">
              <a:avLst>
                <a:gd name="adj" fmla="val 16667"/>
              </a:avLst>
            </a:prstGeom>
            <a:solidFill>
              <a:srgbClr val="297B49"/>
            </a:solidFill>
            <a:ln>
              <a:noFill/>
            </a:ln>
          </p:spPr>
          <p:txBody>
            <a:bodyPr lIns="91440" tIns="45720" rIns="91440" bIns="45720" anchor="ctr"/>
            <a:lstStyle>
              <a:defPPr marR="0" lvl="0" algn="l" rtl="0">
                <a:lnSpc>
                  <a:spcPct val="100000"/>
                </a:lnSpc>
                <a:spcBef>
                  <a:spcPts val="0"/>
                </a:spcBef>
                <a:spcAft>
                  <a:spcPts val="0"/>
                </a:spcAft>
              </a:defPPr>
              <a:lvl1pPr marR="0" lvl="0" algn="l" rtl="0" eaLnBrk="0" hangingPunct="0">
                <a:lnSpc>
                  <a:spcPct val="100000"/>
                </a:lnSpc>
                <a:spcBef>
                  <a:spcPts val="0"/>
                </a:spcBef>
                <a:spcAft>
                  <a:spcPts val="0"/>
                </a:spcAft>
                <a:buClr>
                  <a:srgbClr val="000000"/>
                </a:buClr>
                <a:buFont typeface="Arial"/>
                <a:defRPr sz="2400" b="1" i="0" u="none" strike="noStrike" cap="none">
                  <a:solidFill>
                    <a:schemeClr val="tx1"/>
                  </a:solidFill>
                  <a:latin typeface="Arial" pitchFamily="34" charset="0"/>
                  <a:ea typeface="Arial"/>
                  <a:cs typeface="Arial"/>
                  <a:sym typeface="Arial"/>
                </a:defRPr>
              </a:lvl1pPr>
              <a:lvl2pPr marL="742950" marR="0" lvl="1" indent="-285750" algn="l" rtl="0" eaLnBrk="0" hangingPunct="0">
                <a:lnSpc>
                  <a:spcPct val="100000"/>
                </a:lnSpc>
                <a:spcBef>
                  <a:spcPts val="0"/>
                </a:spcBef>
                <a:spcAft>
                  <a:spcPts val="0"/>
                </a:spcAft>
                <a:buClr>
                  <a:srgbClr val="000000"/>
                </a:buClr>
                <a:buFont typeface="Arial"/>
                <a:defRPr sz="2400" b="1" i="0" u="none" strike="noStrike" cap="none">
                  <a:solidFill>
                    <a:schemeClr val="tx1"/>
                  </a:solidFill>
                  <a:latin typeface="Arial" pitchFamily="34" charset="0"/>
                  <a:ea typeface="Arial"/>
                  <a:cs typeface="Arial"/>
                  <a:sym typeface="Arial"/>
                </a:defRPr>
              </a:lvl2pPr>
              <a:lvl3pPr marL="1143000" marR="0" lvl="2" indent="-228600" algn="l" rtl="0" eaLnBrk="0" hangingPunct="0">
                <a:lnSpc>
                  <a:spcPct val="100000"/>
                </a:lnSpc>
                <a:spcBef>
                  <a:spcPts val="0"/>
                </a:spcBef>
                <a:spcAft>
                  <a:spcPts val="0"/>
                </a:spcAft>
                <a:buClr>
                  <a:srgbClr val="000000"/>
                </a:buClr>
                <a:buFont typeface="Arial"/>
                <a:defRPr sz="2400" b="1" i="0" u="none" strike="noStrike" cap="none">
                  <a:solidFill>
                    <a:schemeClr val="tx1"/>
                  </a:solidFill>
                  <a:latin typeface="Arial" pitchFamily="34" charset="0"/>
                  <a:ea typeface="Arial"/>
                  <a:cs typeface="Arial"/>
                  <a:sym typeface="Arial"/>
                </a:defRPr>
              </a:lvl3pPr>
              <a:lvl4pPr marL="1600200" marR="0" lvl="3" indent="-228600" algn="l" rtl="0" eaLnBrk="0" hangingPunct="0">
                <a:lnSpc>
                  <a:spcPct val="100000"/>
                </a:lnSpc>
                <a:spcBef>
                  <a:spcPts val="0"/>
                </a:spcBef>
                <a:spcAft>
                  <a:spcPts val="0"/>
                </a:spcAft>
                <a:buClr>
                  <a:srgbClr val="000000"/>
                </a:buClr>
                <a:buFont typeface="Arial"/>
                <a:defRPr sz="2400" b="1" i="0" u="none" strike="noStrike" cap="none">
                  <a:solidFill>
                    <a:schemeClr val="tx1"/>
                  </a:solidFill>
                  <a:latin typeface="Arial" pitchFamily="34" charset="0"/>
                  <a:ea typeface="Arial"/>
                  <a:cs typeface="Arial"/>
                  <a:sym typeface="Arial"/>
                </a:defRPr>
              </a:lvl4pPr>
              <a:lvl5pPr marL="2057400" marR="0" lvl="4" indent="-228600" algn="l" rtl="0" eaLnBrk="0" hangingPunct="0">
                <a:lnSpc>
                  <a:spcPct val="100000"/>
                </a:lnSpc>
                <a:spcBef>
                  <a:spcPts val="0"/>
                </a:spcBef>
                <a:spcAft>
                  <a:spcPts val="0"/>
                </a:spcAft>
                <a:buClr>
                  <a:srgbClr val="000000"/>
                </a:buClr>
                <a:buFont typeface="Arial"/>
                <a:defRPr sz="2400" b="1" i="0" u="none" strike="noStrike" cap="none">
                  <a:solidFill>
                    <a:schemeClr val="tx1"/>
                  </a:solidFill>
                  <a:latin typeface="Arial" pitchFamily="34" charset="0"/>
                  <a:ea typeface="Arial"/>
                  <a:cs typeface="Arial"/>
                  <a:sym typeface="Arial"/>
                </a:defRPr>
              </a:lvl5pPr>
              <a:lvl6pPr marL="2514600" marR="0" lvl="5" indent="-228600" algn="l" rtl="0" eaLnBrk="0" fontAlgn="base" hangingPunct="0">
                <a:lnSpc>
                  <a:spcPct val="100000"/>
                </a:lnSpc>
                <a:spcBef>
                  <a:spcPct val="0"/>
                </a:spcBef>
                <a:spcAft>
                  <a:spcPct val="0"/>
                </a:spcAft>
                <a:buClr>
                  <a:srgbClr val="000000"/>
                </a:buClr>
                <a:buFont typeface="Arial"/>
                <a:defRPr sz="2400" b="1" i="0" u="none" strike="noStrike" cap="none">
                  <a:solidFill>
                    <a:schemeClr val="tx1"/>
                  </a:solidFill>
                  <a:latin typeface="Arial" pitchFamily="34" charset="0"/>
                  <a:ea typeface="Arial"/>
                  <a:cs typeface="Arial"/>
                  <a:sym typeface="Arial"/>
                </a:defRPr>
              </a:lvl6pPr>
              <a:lvl7pPr marL="2971800" marR="0" lvl="6" indent="-228600" algn="l" rtl="0" eaLnBrk="0" fontAlgn="base" hangingPunct="0">
                <a:lnSpc>
                  <a:spcPct val="100000"/>
                </a:lnSpc>
                <a:spcBef>
                  <a:spcPct val="0"/>
                </a:spcBef>
                <a:spcAft>
                  <a:spcPct val="0"/>
                </a:spcAft>
                <a:buClr>
                  <a:srgbClr val="000000"/>
                </a:buClr>
                <a:buFont typeface="Arial"/>
                <a:defRPr sz="2400" b="1" i="0" u="none" strike="noStrike" cap="none">
                  <a:solidFill>
                    <a:schemeClr val="tx1"/>
                  </a:solidFill>
                  <a:latin typeface="Arial" pitchFamily="34" charset="0"/>
                  <a:ea typeface="Arial"/>
                  <a:cs typeface="Arial"/>
                  <a:sym typeface="Arial"/>
                </a:defRPr>
              </a:lvl7pPr>
              <a:lvl8pPr marL="3429000" marR="0" lvl="7" indent="-228600" algn="l" rtl="0" eaLnBrk="0" fontAlgn="base" hangingPunct="0">
                <a:lnSpc>
                  <a:spcPct val="100000"/>
                </a:lnSpc>
                <a:spcBef>
                  <a:spcPct val="0"/>
                </a:spcBef>
                <a:spcAft>
                  <a:spcPct val="0"/>
                </a:spcAft>
                <a:buClr>
                  <a:srgbClr val="000000"/>
                </a:buClr>
                <a:buFont typeface="Arial"/>
                <a:defRPr sz="2400" b="1" i="0" u="none" strike="noStrike" cap="none">
                  <a:solidFill>
                    <a:schemeClr val="tx1"/>
                  </a:solidFill>
                  <a:latin typeface="Arial" pitchFamily="34" charset="0"/>
                  <a:ea typeface="Arial"/>
                  <a:cs typeface="Arial"/>
                  <a:sym typeface="Arial"/>
                </a:defRPr>
              </a:lvl8pPr>
              <a:lvl9pPr marL="3886200" marR="0" lvl="8" indent="-228600" algn="l" rtl="0" eaLnBrk="0" fontAlgn="base" hangingPunct="0">
                <a:lnSpc>
                  <a:spcPct val="100000"/>
                </a:lnSpc>
                <a:spcBef>
                  <a:spcPct val="0"/>
                </a:spcBef>
                <a:spcAft>
                  <a:spcPct val="0"/>
                </a:spcAft>
                <a:buClr>
                  <a:srgbClr val="000000"/>
                </a:buClr>
                <a:buFont typeface="Arial"/>
                <a:defRPr sz="2400" b="1" i="0" u="none" strike="noStrike" cap="none">
                  <a:solidFill>
                    <a:schemeClr val="tx1"/>
                  </a:solidFill>
                  <a:latin typeface="Arial" pitchFamily="34" charset="0"/>
                  <a:ea typeface="Arial"/>
                  <a:cs typeface="Arial"/>
                  <a:sym typeface="Arial"/>
                </a:defRPr>
              </a:lvl9pPr>
            </a:lstStyle>
            <a:p>
              <a:pPr algn="ctr"/>
              <a:r>
                <a:rPr lang="en-US" sz="1500">
                  <a:solidFill>
                    <a:schemeClr val="bg1"/>
                  </a:solidFill>
                  <a:latin typeface="Arial"/>
                </a:rPr>
                <a:t>GRN &amp; PPI (Post 2025)</a:t>
              </a:r>
              <a:endParaRPr lang="en-US" sz="1600"/>
            </a:p>
          </p:txBody>
        </p:sp>
      </p:grpSp>
      <p:cxnSp>
        <p:nvCxnSpPr>
          <p:cNvPr id="19" name="Straight Arrow Connector 18">
            <a:extLst>
              <a:ext uri="{FF2B5EF4-FFF2-40B4-BE49-F238E27FC236}">
                <a16:creationId xmlns:a16="http://schemas.microsoft.com/office/drawing/2014/main" id="{6C914EDA-0683-DF3D-1686-3C57C9C386CB}"/>
              </a:ext>
            </a:extLst>
          </p:cNvPr>
          <p:cNvCxnSpPr>
            <a:cxnSpLocks/>
            <a:endCxn id="16" idx="1"/>
          </p:cNvCxnSpPr>
          <p:nvPr/>
        </p:nvCxnSpPr>
        <p:spPr>
          <a:xfrm flipV="1">
            <a:off x="3588660" y="1798064"/>
            <a:ext cx="1875996" cy="1"/>
          </a:xfrm>
          <a:prstGeom prst="straightConnector1">
            <a:avLst/>
          </a:prstGeom>
          <a:ln>
            <a:solidFill>
              <a:srgbClr val="16693F"/>
            </a:solidFill>
            <a:tailEnd type="triangle"/>
          </a:ln>
        </p:spPr>
        <p:style>
          <a:lnRef idx="3">
            <a:schemeClr val="dk1"/>
          </a:lnRef>
          <a:fillRef idx="0">
            <a:schemeClr val="dk1"/>
          </a:fillRef>
          <a:effectRef idx="2">
            <a:schemeClr val="dk1"/>
          </a:effectRef>
          <a:fontRef idx="minor">
            <a:schemeClr val="tx1"/>
          </a:fontRef>
        </p:style>
      </p:cxnSp>
      <p:cxnSp>
        <p:nvCxnSpPr>
          <p:cNvPr id="22" name="Straight Arrow Connector 21">
            <a:extLst>
              <a:ext uri="{FF2B5EF4-FFF2-40B4-BE49-F238E27FC236}">
                <a16:creationId xmlns:a16="http://schemas.microsoft.com/office/drawing/2014/main" id="{78DDFBCB-15E2-42E8-C69C-82E9656C90D9}"/>
              </a:ext>
            </a:extLst>
          </p:cNvPr>
          <p:cNvCxnSpPr>
            <a:cxnSpLocks/>
          </p:cNvCxnSpPr>
          <p:nvPr/>
        </p:nvCxnSpPr>
        <p:spPr>
          <a:xfrm flipV="1">
            <a:off x="3577546" y="2495405"/>
            <a:ext cx="1876001" cy="1"/>
          </a:xfrm>
          <a:prstGeom prst="straightConnector1">
            <a:avLst/>
          </a:prstGeom>
          <a:ln>
            <a:solidFill>
              <a:srgbClr val="16693F"/>
            </a:solidFill>
            <a:tailEnd type="triangle"/>
          </a:ln>
        </p:spPr>
        <p:style>
          <a:lnRef idx="3">
            <a:schemeClr val="dk1"/>
          </a:lnRef>
          <a:fillRef idx="0">
            <a:schemeClr val="dk1"/>
          </a:fillRef>
          <a:effectRef idx="2">
            <a:schemeClr val="dk1"/>
          </a:effectRef>
          <a:fontRef idx="minor">
            <a:schemeClr val="tx1"/>
          </a:fontRef>
        </p:style>
      </p:cxnSp>
      <p:cxnSp>
        <p:nvCxnSpPr>
          <p:cNvPr id="25" name="Straight Arrow Connector 24">
            <a:extLst>
              <a:ext uri="{FF2B5EF4-FFF2-40B4-BE49-F238E27FC236}">
                <a16:creationId xmlns:a16="http://schemas.microsoft.com/office/drawing/2014/main" id="{E42E0877-AD52-09F8-F408-4F55963D169E}"/>
              </a:ext>
            </a:extLst>
          </p:cNvPr>
          <p:cNvCxnSpPr>
            <a:cxnSpLocks/>
          </p:cNvCxnSpPr>
          <p:nvPr/>
        </p:nvCxnSpPr>
        <p:spPr>
          <a:xfrm flipV="1">
            <a:off x="3588660" y="3164151"/>
            <a:ext cx="1876001" cy="1"/>
          </a:xfrm>
          <a:prstGeom prst="straightConnector1">
            <a:avLst/>
          </a:prstGeom>
          <a:ln>
            <a:solidFill>
              <a:srgbClr val="16693F"/>
            </a:solidFill>
            <a:tailEnd type="triangle"/>
          </a:ln>
        </p:spPr>
        <p:style>
          <a:lnRef idx="3">
            <a:schemeClr val="dk1"/>
          </a:lnRef>
          <a:fillRef idx="0">
            <a:schemeClr val="dk1"/>
          </a:fillRef>
          <a:effectRef idx="2">
            <a:schemeClr val="dk1"/>
          </a:effectRef>
          <a:fontRef idx="minor">
            <a:schemeClr val="tx1"/>
          </a:fontRef>
        </p:style>
      </p:cxnSp>
      <p:pic>
        <p:nvPicPr>
          <p:cNvPr id="3" name="Picture 2">
            <a:extLst>
              <a:ext uri="{FF2B5EF4-FFF2-40B4-BE49-F238E27FC236}">
                <a16:creationId xmlns:a16="http://schemas.microsoft.com/office/drawing/2014/main" id="{A7B1AB32-04A0-AFA9-FE64-55A5D836FDF5}"/>
              </a:ext>
            </a:extLst>
          </p:cNvPr>
          <p:cNvPicPr>
            <a:picLocks noChangeAspect="1"/>
          </p:cNvPicPr>
          <p:nvPr/>
        </p:nvPicPr>
        <p:blipFill>
          <a:blip r:embed="rId4" cstate="hqprint">
            <a:extLst>
              <a:ext uri="{28A0092B-C50C-407E-A947-70E740481C1C}">
                <a14:useLocalDpi xmlns:a14="http://schemas.microsoft.com/office/drawing/2010/main"/>
              </a:ext>
            </a:extLst>
          </a:blip>
          <a:srcRect/>
          <a:stretch>
            <a:fillRect/>
          </a:stretch>
        </p:blipFill>
        <p:spPr>
          <a:xfrm>
            <a:off x="2037254" y="1661887"/>
            <a:ext cx="558041" cy="250618"/>
          </a:xfrm>
          <a:prstGeom prst="rect">
            <a:avLst/>
          </a:prstGeom>
        </p:spPr>
      </p:pic>
      <p:pic>
        <p:nvPicPr>
          <p:cNvPr id="5" name="Picture 4">
            <a:extLst>
              <a:ext uri="{FF2B5EF4-FFF2-40B4-BE49-F238E27FC236}">
                <a16:creationId xmlns:a16="http://schemas.microsoft.com/office/drawing/2014/main" id="{15017444-1D1C-C95B-C3AF-96C00FE6884F}"/>
              </a:ext>
            </a:extLst>
          </p:cNvPr>
          <p:cNvPicPr>
            <a:picLocks noChangeAspect="1"/>
          </p:cNvPicPr>
          <p:nvPr/>
        </p:nvPicPr>
        <p:blipFill>
          <a:blip r:embed="rId5" cstate="hqprint">
            <a:extLst>
              <a:ext uri="{28A0092B-C50C-407E-A947-70E740481C1C}">
                <a14:useLocalDpi xmlns:a14="http://schemas.microsoft.com/office/drawing/2010/main"/>
              </a:ext>
            </a:extLst>
          </a:blip>
          <a:srcRect/>
          <a:stretch>
            <a:fillRect/>
          </a:stretch>
        </p:blipFill>
        <p:spPr>
          <a:xfrm>
            <a:off x="2595295" y="1661887"/>
            <a:ext cx="547967" cy="250618"/>
          </a:xfrm>
          <a:prstGeom prst="rect">
            <a:avLst/>
          </a:prstGeom>
        </p:spPr>
      </p:pic>
      <p:pic>
        <p:nvPicPr>
          <p:cNvPr id="8" name="Picture 7">
            <a:extLst>
              <a:ext uri="{FF2B5EF4-FFF2-40B4-BE49-F238E27FC236}">
                <a16:creationId xmlns:a16="http://schemas.microsoft.com/office/drawing/2014/main" id="{E1927933-B537-7A5B-920D-5B94A2740930}"/>
              </a:ext>
            </a:extLst>
          </p:cNvPr>
          <p:cNvPicPr>
            <a:picLocks noChangeAspect="1"/>
          </p:cNvPicPr>
          <p:nvPr/>
        </p:nvPicPr>
        <p:blipFill>
          <a:blip r:embed="rId6" cstate="hqprint">
            <a:extLst>
              <a:ext uri="{28A0092B-C50C-407E-A947-70E740481C1C}">
                <a14:useLocalDpi xmlns:a14="http://schemas.microsoft.com/office/drawing/2010/main"/>
              </a:ext>
            </a:extLst>
          </a:blip>
          <a:stretch>
            <a:fillRect/>
          </a:stretch>
        </p:blipFill>
        <p:spPr>
          <a:xfrm>
            <a:off x="0" y="3758042"/>
            <a:ext cx="3080636" cy="1388606"/>
          </a:xfrm>
          <a:prstGeom prst="rect">
            <a:avLst/>
          </a:prstGeom>
        </p:spPr>
      </p:pic>
    </p:spTree>
    <p:extLst>
      <p:ext uri="{BB962C8B-B14F-4D97-AF65-F5344CB8AC3E}">
        <p14:creationId xmlns:p14="http://schemas.microsoft.com/office/powerpoint/2010/main" val="2228430632"/>
      </p:ext>
    </p:extLst>
  </p:cSld>
  <p:clrMapOvr>
    <a:masterClrMapping/>
  </p:clrMapOvr>
  <p:extLst>
    <p:ext uri="{6950BFC3-D8DA-4A85-94F7-54DA5524770B}">
      <p188:commentRel xmlns:p188="http://schemas.microsoft.com/office/powerpoint/2018/8/main" r:id="rId3"/>
    </p:ext>
  </p:extLs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DF9996-72CD-B097-036A-5F492B341B59}"/>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17B9863-5F95-5FAD-16A7-80BEF655449C}"/>
              </a:ext>
            </a:extLst>
          </p:cNvPr>
          <p:cNvSpPr txBox="1"/>
          <p:nvPr/>
        </p:nvSpPr>
        <p:spPr>
          <a:xfrm>
            <a:off x="171753" y="113559"/>
            <a:ext cx="8799384" cy="707886"/>
          </a:xfrm>
          <a:prstGeom prst="rect">
            <a:avLst/>
          </a:prstGeom>
          <a:noFill/>
        </p:spPr>
        <p:txBody>
          <a:bodyPr wrap="square" lIns="91440" tIns="45720" rIns="91440" bIns="45720" anchor="t">
            <a:spAutoFit/>
          </a:bodyPr>
          <a:lstStyle/>
          <a:p>
            <a:r>
              <a:rPr lang="en-US" sz="2000" b="1" err="1">
                <a:solidFill>
                  <a:srgbClr val="16693F"/>
                </a:solidFill>
                <a:ea typeface="Sans Serif Collection"/>
              </a:rPr>
              <a:t>GRNsight</a:t>
            </a:r>
            <a:r>
              <a:rPr lang="en-US" sz="2000" b="1">
                <a:solidFill>
                  <a:srgbClr val="16693F"/>
                </a:solidFill>
                <a:ea typeface="Sans Serif Collection"/>
              </a:rPr>
              <a:t> updates data at least once per year so </a:t>
            </a:r>
          </a:p>
          <a:p>
            <a:r>
              <a:rPr lang="en-US" sz="2000" b="1">
                <a:solidFill>
                  <a:srgbClr val="16693F"/>
                </a:solidFill>
                <a:ea typeface="Sans Serif Collection"/>
              </a:rPr>
              <a:t>biologists can have the latest information</a:t>
            </a:r>
            <a:endParaRPr lang="en-US"/>
          </a:p>
        </p:txBody>
      </p:sp>
      <p:pic>
        <p:nvPicPr>
          <p:cNvPr id="3" name="Picture 2">
            <a:extLst>
              <a:ext uri="{FF2B5EF4-FFF2-40B4-BE49-F238E27FC236}">
                <a16:creationId xmlns:a16="http://schemas.microsoft.com/office/drawing/2014/main" id="{584DB304-3C09-E78E-34DE-D2560F0BB132}"/>
              </a:ext>
            </a:extLst>
          </p:cNvPr>
          <p:cNvPicPr>
            <a:picLocks noChangeAspect="1"/>
          </p:cNvPicPr>
          <p:nvPr/>
        </p:nvPicPr>
        <p:blipFill>
          <a:blip r:embed="rId3" cstate="hqprint">
            <a:extLst>
              <a:ext uri="{28A0092B-C50C-407E-A947-70E740481C1C}">
                <a14:useLocalDpi xmlns:a14="http://schemas.microsoft.com/office/drawing/2010/main"/>
              </a:ext>
            </a:extLst>
          </a:blip>
          <a:srcRect/>
          <a:stretch>
            <a:fillRect/>
          </a:stretch>
        </p:blipFill>
        <p:spPr>
          <a:xfrm>
            <a:off x="712571" y="821445"/>
            <a:ext cx="7717748" cy="4223242"/>
          </a:xfrm>
          <a:prstGeom prst="rect">
            <a:avLst/>
          </a:prstGeom>
        </p:spPr>
      </p:pic>
    </p:spTree>
    <p:extLst>
      <p:ext uri="{BB962C8B-B14F-4D97-AF65-F5344CB8AC3E}">
        <p14:creationId xmlns:p14="http://schemas.microsoft.com/office/powerpoint/2010/main" val="293475364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645083-7BF6-7FE3-5F7B-ADEED4466668}"/>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D735CDB-2C8F-DE5E-AC75-54E201C19C3C}"/>
              </a:ext>
            </a:extLst>
          </p:cNvPr>
          <p:cNvSpPr txBox="1"/>
          <p:nvPr/>
        </p:nvSpPr>
        <p:spPr>
          <a:xfrm>
            <a:off x="171753" y="113559"/>
            <a:ext cx="8799384" cy="707886"/>
          </a:xfrm>
          <a:prstGeom prst="rect">
            <a:avLst/>
          </a:prstGeom>
          <a:noFill/>
        </p:spPr>
        <p:txBody>
          <a:bodyPr wrap="square" lIns="91440" tIns="45720" rIns="91440" bIns="45720" anchor="t">
            <a:spAutoFit/>
          </a:bodyPr>
          <a:lstStyle/>
          <a:p>
            <a:r>
              <a:rPr lang="en-US" sz="2000" b="1">
                <a:solidFill>
                  <a:srgbClr val="16693F"/>
                </a:solidFill>
                <a:ea typeface="Sans Serif Collection"/>
              </a:rPr>
              <a:t>Database pipeline is being migrated to a </a:t>
            </a:r>
          </a:p>
          <a:p>
            <a:r>
              <a:rPr lang="en-US" sz="2000" b="1">
                <a:solidFill>
                  <a:srgbClr val="16693F"/>
                </a:solidFill>
                <a:ea typeface="Sans Serif Collection"/>
              </a:rPr>
              <a:t>modular service architecture</a:t>
            </a:r>
            <a:endParaRPr lang="en-US"/>
          </a:p>
        </p:txBody>
      </p:sp>
      <p:grpSp>
        <p:nvGrpSpPr>
          <p:cNvPr id="34" name="Group 33">
            <a:extLst>
              <a:ext uri="{FF2B5EF4-FFF2-40B4-BE49-F238E27FC236}">
                <a16:creationId xmlns:a16="http://schemas.microsoft.com/office/drawing/2014/main" id="{21397A64-F034-E4E1-B849-F1349B8D4C6B}"/>
              </a:ext>
            </a:extLst>
          </p:cNvPr>
          <p:cNvGrpSpPr/>
          <p:nvPr/>
        </p:nvGrpSpPr>
        <p:grpSpPr>
          <a:xfrm>
            <a:off x="1347169" y="1086546"/>
            <a:ext cx="6086694" cy="1260856"/>
            <a:chOff x="544451" y="1021655"/>
            <a:chExt cx="6086694" cy="1260856"/>
          </a:xfrm>
        </p:grpSpPr>
        <p:grpSp>
          <p:nvGrpSpPr>
            <p:cNvPr id="4" name="Group 3">
              <a:extLst>
                <a:ext uri="{FF2B5EF4-FFF2-40B4-BE49-F238E27FC236}">
                  <a16:creationId xmlns:a16="http://schemas.microsoft.com/office/drawing/2014/main" id="{06ACBF06-39F1-95AC-6119-6D7557C743AE}"/>
                </a:ext>
              </a:extLst>
            </p:cNvPr>
            <p:cNvGrpSpPr/>
            <p:nvPr/>
          </p:nvGrpSpPr>
          <p:grpSpPr>
            <a:xfrm>
              <a:off x="544451" y="1021655"/>
              <a:ext cx="4460317" cy="1260856"/>
              <a:chOff x="2558291" y="727364"/>
              <a:chExt cx="4460317" cy="1260856"/>
            </a:xfrm>
          </p:grpSpPr>
          <p:sp>
            <p:nvSpPr>
              <p:cNvPr id="5" name="Rectangle 4">
                <a:extLst>
                  <a:ext uri="{FF2B5EF4-FFF2-40B4-BE49-F238E27FC236}">
                    <a16:creationId xmlns:a16="http://schemas.microsoft.com/office/drawing/2014/main" id="{217E3772-119F-63A8-C9F9-C25A1FC92D0B}"/>
                  </a:ext>
                </a:extLst>
              </p:cNvPr>
              <p:cNvSpPr/>
              <p:nvPr/>
            </p:nvSpPr>
            <p:spPr>
              <a:xfrm>
                <a:off x="2558291" y="727364"/>
                <a:ext cx="4460317" cy="1260856"/>
              </a:xfrm>
              <a:prstGeom prst="rect">
                <a:avLst/>
              </a:prstGeom>
              <a:noFill/>
              <a:ln>
                <a:solidFill>
                  <a:srgbClr val="1669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ounded Rectangle 1">
                <a:extLst>
                  <a:ext uri="{FF2B5EF4-FFF2-40B4-BE49-F238E27FC236}">
                    <a16:creationId xmlns:a16="http://schemas.microsoft.com/office/drawing/2014/main" id="{386C6554-C368-7B48-E4FA-01251ECE5F8A}"/>
                  </a:ext>
                </a:extLst>
              </p:cNvPr>
              <p:cNvSpPr>
                <a:spLocks noChangeArrowheads="1"/>
              </p:cNvSpPr>
              <p:nvPr/>
            </p:nvSpPr>
            <p:spPr bwMode="auto">
              <a:xfrm>
                <a:off x="2715705" y="1254005"/>
                <a:ext cx="1510843" cy="463483"/>
              </a:xfrm>
              <a:prstGeom prst="roundRect">
                <a:avLst>
                  <a:gd name="adj" fmla="val 16667"/>
                </a:avLst>
              </a:prstGeom>
              <a:solidFill>
                <a:srgbClr val="297B49"/>
              </a:solidFill>
              <a:ln>
                <a:noFill/>
              </a:ln>
            </p:spPr>
            <p:txBody>
              <a:bodyPr lIns="91440" tIns="45720" rIns="91440" bIns="45720" anchor="ctr"/>
              <a:lstStyle>
                <a:defPPr marR="0" lvl="0" algn="l" rtl="0">
                  <a:lnSpc>
                    <a:spcPct val="100000"/>
                  </a:lnSpc>
                  <a:spcBef>
                    <a:spcPts val="0"/>
                  </a:spcBef>
                  <a:spcAft>
                    <a:spcPts val="0"/>
                  </a:spcAft>
                </a:defPPr>
                <a:lvl1pPr marR="0" lvl="0" algn="l" rtl="0" eaLnBrk="0" hangingPunct="0">
                  <a:lnSpc>
                    <a:spcPct val="100000"/>
                  </a:lnSpc>
                  <a:spcBef>
                    <a:spcPts val="0"/>
                  </a:spcBef>
                  <a:spcAft>
                    <a:spcPts val="0"/>
                  </a:spcAft>
                  <a:buClr>
                    <a:srgbClr val="000000"/>
                  </a:buClr>
                  <a:buFont typeface="Arial"/>
                  <a:defRPr sz="2400" b="1" i="0" u="none" strike="noStrike" cap="none">
                    <a:solidFill>
                      <a:schemeClr val="tx1"/>
                    </a:solidFill>
                    <a:latin typeface="Arial" pitchFamily="34" charset="0"/>
                    <a:ea typeface="Arial"/>
                    <a:cs typeface="Arial"/>
                    <a:sym typeface="Arial"/>
                  </a:defRPr>
                </a:lvl1pPr>
                <a:lvl2pPr marL="742950" marR="0" lvl="1" indent="-285750" algn="l" rtl="0" eaLnBrk="0" hangingPunct="0">
                  <a:lnSpc>
                    <a:spcPct val="100000"/>
                  </a:lnSpc>
                  <a:spcBef>
                    <a:spcPts val="0"/>
                  </a:spcBef>
                  <a:spcAft>
                    <a:spcPts val="0"/>
                  </a:spcAft>
                  <a:buClr>
                    <a:srgbClr val="000000"/>
                  </a:buClr>
                  <a:buFont typeface="Arial"/>
                  <a:defRPr sz="2400" b="1" i="0" u="none" strike="noStrike" cap="none">
                    <a:solidFill>
                      <a:schemeClr val="tx1"/>
                    </a:solidFill>
                    <a:latin typeface="Arial" pitchFamily="34" charset="0"/>
                    <a:ea typeface="Arial"/>
                    <a:cs typeface="Arial"/>
                    <a:sym typeface="Arial"/>
                  </a:defRPr>
                </a:lvl2pPr>
                <a:lvl3pPr marL="1143000" marR="0" lvl="2" indent="-228600" algn="l" rtl="0" eaLnBrk="0" hangingPunct="0">
                  <a:lnSpc>
                    <a:spcPct val="100000"/>
                  </a:lnSpc>
                  <a:spcBef>
                    <a:spcPts val="0"/>
                  </a:spcBef>
                  <a:spcAft>
                    <a:spcPts val="0"/>
                  </a:spcAft>
                  <a:buClr>
                    <a:srgbClr val="000000"/>
                  </a:buClr>
                  <a:buFont typeface="Arial"/>
                  <a:defRPr sz="2400" b="1" i="0" u="none" strike="noStrike" cap="none">
                    <a:solidFill>
                      <a:schemeClr val="tx1"/>
                    </a:solidFill>
                    <a:latin typeface="Arial" pitchFamily="34" charset="0"/>
                    <a:ea typeface="Arial"/>
                    <a:cs typeface="Arial"/>
                    <a:sym typeface="Arial"/>
                  </a:defRPr>
                </a:lvl3pPr>
                <a:lvl4pPr marL="1600200" marR="0" lvl="3" indent="-228600" algn="l" rtl="0" eaLnBrk="0" hangingPunct="0">
                  <a:lnSpc>
                    <a:spcPct val="100000"/>
                  </a:lnSpc>
                  <a:spcBef>
                    <a:spcPts val="0"/>
                  </a:spcBef>
                  <a:spcAft>
                    <a:spcPts val="0"/>
                  </a:spcAft>
                  <a:buClr>
                    <a:srgbClr val="000000"/>
                  </a:buClr>
                  <a:buFont typeface="Arial"/>
                  <a:defRPr sz="2400" b="1" i="0" u="none" strike="noStrike" cap="none">
                    <a:solidFill>
                      <a:schemeClr val="tx1"/>
                    </a:solidFill>
                    <a:latin typeface="Arial" pitchFamily="34" charset="0"/>
                    <a:ea typeface="Arial"/>
                    <a:cs typeface="Arial"/>
                    <a:sym typeface="Arial"/>
                  </a:defRPr>
                </a:lvl4pPr>
                <a:lvl5pPr marL="2057400" marR="0" lvl="4" indent="-228600" algn="l" rtl="0" eaLnBrk="0" hangingPunct="0">
                  <a:lnSpc>
                    <a:spcPct val="100000"/>
                  </a:lnSpc>
                  <a:spcBef>
                    <a:spcPts val="0"/>
                  </a:spcBef>
                  <a:spcAft>
                    <a:spcPts val="0"/>
                  </a:spcAft>
                  <a:buClr>
                    <a:srgbClr val="000000"/>
                  </a:buClr>
                  <a:buFont typeface="Arial"/>
                  <a:defRPr sz="2400" b="1" i="0" u="none" strike="noStrike" cap="none">
                    <a:solidFill>
                      <a:schemeClr val="tx1"/>
                    </a:solidFill>
                    <a:latin typeface="Arial" pitchFamily="34" charset="0"/>
                    <a:ea typeface="Arial"/>
                    <a:cs typeface="Arial"/>
                    <a:sym typeface="Arial"/>
                  </a:defRPr>
                </a:lvl5pPr>
                <a:lvl6pPr marL="2514600" marR="0" lvl="5" indent="-228600" algn="l" rtl="0" eaLnBrk="0" fontAlgn="base" hangingPunct="0">
                  <a:lnSpc>
                    <a:spcPct val="100000"/>
                  </a:lnSpc>
                  <a:spcBef>
                    <a:spcPct val="0"/>
                  </a:spcBef>
                  <a:spcAft>
                    <a:spcPct val="0"/>
                  </a:spcAft>
                  <a:buClr>
                    <a:srgbClr val="000000"/>
                  </a:buClr>
                  <a:buFont typeface="Arial"/>
                  <a:defRPr sz="2400" b="1" i="0" u="none" strike="noStrike" cap="none">
                    <a:solidFill>
                      <a:schemeClr val="tx1"/>
                    </a:solidFill>
                    <a:latin typeface="Arial" pitchFamily="34" charset="0"/>
                    <a:ea typeface="Arial"/>
                    <a:cs typeface="Arial"/>
                    <a:sym typeface="Arial"/>
                  </a:defRPr>
                </a:lvl6pPr>
                <a:lvl7pPr marL="2971800" marR="0" lvl="6" indent="-228600" algn="l" rtl="0" eaLnBrk="0" fontAlgn="base" hangingPunct="0">
                  <a:lnSpc>
                    <a:spcPct val="100000"/>
                  </a:lnSpc>
                  <a:spcBef>
                    <a:spcPct val="0"/>
                  </a:spcBef>
                  <a:spcAft>
                    <a:spcPct val="0"/>
                  </a:spcAft>
                  <a:buClr>
                    <a:srgbClr val="000000"/>
                  </a:buClr>
                  <a:buFont typeface="Arial"/>
                  <a:defRPr sz="2400" b="1" i="0" u="none" strike="noStrike" cap="none">
                    <a:solidFill>
                      <a:schemeClr val="tx1"/>
                    </a:solidFill>
                    <a:latin typeface="Arial" pitchFamily="34" charset="0"/>
                    <a:ea typeface="Arial"/>
                    <a:cs typeface="Arial"/>
                    <a:sym typeface="Arial"/>
                  </a:defRPr>
                </a:lvl7pPr>
                <a:lvl8pPr marL="3429000" marR="0" lvl="7" indent="-228600" algn="l" rtl="0" eaLnBrk="0" fontAlgn="base" hangingPunct="0">
                  <a:lnSpc>
                    <a:spcPct val="100000"/>
                  </a:lnSpc>
                  <a:spcBef>
                    <a:spcPct val="0"/>
                  </a:spcBef>
                  <a:spcAft>
                    <a:spcPct val="0"/>
                  </a:spcAft>
                  <a:buClr>
                    <a:srgbClr val="000000"/>
                  </a:buClr>
                  <a:buFont typeface="Arial"/>
                  <a:defRPr sz="2400" b="1" i="0" u="none" strike="noStrike" cap="none">
                    <a:solidFill>
                      <a:schemeClr val="tx1"/>
                    </a:solidFill>
                    <a:latin typeface="Arial" pitchFamily="34" charset="0"/>
                    <a:ea typeface="Arial"/>
                    <a:cs typeface="Arial"/>
                    <a:sym typeface="Arial"/>
                  </a:defRPr>
                </a:lvl8pPr>
                <a:lvl9pPr marL="3886200" marR="0" lvl="8" indent="-228600" algn="l" rtl="0" eaLnBrk="0" fontAlgn="base" hangingPunct="0">
                  <a:lnSpc>
                    <a:spcPct val="100000"/>
                  </a:lnSpc>
                  <a:spcBef>
                    <a:spcPct val="0"/>
                  </a:spcBef>
                  <a:spcAft>
                    <a:spcPct val="0"/>
                  </a:spcAft>
                  <a:buClr>
                    <a:srgbClr val="000000"/>
                  </a:buClr>
                  <a:buFont typeface="Arial"/>
                  <a:defRPr sz="2400" b="1" i="0" u="none" strike="noStrike" cap="none">
                    <a:solidFill>
                      <a:schemeClr val="tx1"/>
                    </a:solidFill>
                    <a:latin typeface="Arial" pitchFamily="34" charset="0"/>
                    <a:ea typeface="Arial"/>
                    <a:cs typeface="Arial"/>
                    <a:sym typeface="Arial"/>
                  </a:defRPr>
                </a:lvl9pPr>
              </a:lstStyle>
              <a:p>
                <a:pPr algn="ctr"/>
                <a:r>
                  <a:rPr lang="en-US" altLang="en-US" sz="1200" err="1">
                    <a:solidFill>
                      <a:schemeClr val="bg1"/>
                    </a:solidFill>
                    <a:latin typeface="Arial"/>
                  </a:rPr>
                  <a:t>preprocessing.py</a:t>
                </a:r>
                <a:endParaRPr lang="en-US" altLang="en-US" sz="1200">
                  <a:solidFill>
                    <a:schemeClr val="bg1"/>
                  </a:solidFill>
                </a:endParaRPr>
              </a:p>
            </p:txBody>
          </p:sp>
          <p:sp>
            <p:nvSpPr>
              <p:cNvPr id="7" name="Rounded Rectangle 1">
                <a:extLst>
                  <a:ext uri="{FF2B5EF4-FFF2-40B4-BE49-F238E27FC236}">
                    <a16:creationId xmlns:a16="http://schemas.microsoft.com/office/drawing/2014/main" id="{94A4BA12-43A9-54EC-B89A-AB92488C0B49}"/>
                  </a:ext>
                </a:extLst>
              </p:cNvPr>
              <p:cNvSpPr>
                <a:spLocks noChangeArrowheads="1"/>
              </p:cNvSpPr>
              <p:nvPr/>
            </p:nvSpPr>
            <p:spPr bwMode="auto">
              <a:xfrm>
                <a:off x="4984253" y="1252574"/>
                <a:ext cx="1510843" cy="466344"/>
              </a:xfrm>
              <a:prstGeom prst="roundRect">
                <a:avLst>
                  <a:gd name="adj" fmla="val 16667"/>
                </a:avLst>
              </a:prstGeom>
              <a:solidFill>
                <a:srgbClr val="297B49"/>
              </a:solidFill>
              <a:ln>
                <a:noFill/>
              </a:ln>
            </p:spPr>
            <p:txBody>
              <a:bodyPr lIns="91440" tIns="45720" rIns="91440" bIns="45720" anchor="ctr"/>
              <a:lstStyle>
                <a:defPPr marR="0" lvl="0" algn="l" rtl="0">
                  <a:lnSpc>
                    <a:spcPct val="100000"/>
                  </a:lnSpc>
                  <a:spcBef>
                    <a:spcPts val="0"/>
                  </a:spcBef>
                  <a:spcAft>
                    <a:spcPts val="0"/>
                  </a:spcAft>
                </a:defPPr>
                <a:lvl1pPr marR="0" lvl="0" algn="l" rtl="0" eaLnBrk="0" hangingPunct="0">
                  <a:lnSpc>
                    <a:spcPct val="100000"/>
                  </a:lnSpc>
                  <a:spcBef>
                    <a:spcPts val="0"/>
                  </a:spcBef>
                  <a:spcAft>
                    <a:spcPts val="0"/>
                  </a:spcAft>
                  <a:buClr>
                    <a:srgbClr val="000000"/>
                  </a:buClr>
                  <a:buFont typeface="Arial"/>
                  <a:defRPr sz="2400" b="1" i="0" u="none" strike="noStrike" cap="none">
                    <a:solidFill>
                      <a:schemeClr val="tx1"/>
                    </a:solidFill>
                    <a:latin typeface="Arial" pitchFamily="34" charset="0"/>
                    <a:ea typeface="Arial"/>
                    <a:cs typeface="Arial"/>
                    <a:sym typeface="Arial"/>
                  </a:defRPr>
                </a:lvl1pPr>
                <a:lvl2pPr marL="742950" marR="0" lvl="1" indent="-285750" algn="l" rtl="0" eaLnBrk="0" hangingPunct="0">
                  <a:lnSpc>
                    <a:spcPct val="100000"/>
                  </a:lnSpc>
                  <a:spcBef>
                    <a:spcPts val="0"/>
                  </a:spcBef>
                  <a:spcAft>
                    <a:spcPts val="0"/>
                  </a:spcAft>
                  <a:buClr>
                    <a:srgbClr val="000000"/>
                  </a:buClr>
                  <a:buFont typeface="Arial"/>
                  <a:defRPr sz="2400" b="1" i="0" u="none" strike="noStrike" cap="none">
                    <a:solidFill>
                      <a:schemeClr val="tx1"/>
                    </a:solidFill>
                    <a:latin typeface="Arial" pitchFamily="34" charset="0"/>
                    <a:ea typeface="Arial"/>
                    <a:cs typeface="Arial"/>
                    <a:sym typeface="Arial"/>
                  </a:defRPr>
                </a:lvl2pPr>
                <a:lvl3pPr marL="1143000" marR="0" lvl="2" indent="-228600" algn="l" rtl="0" eaLnBrk="0" hangingPunct="0">
                  <a:lnSpc>
                    <a:spcPct val="100000"/>
                  </a:lnSpc>
                  <a:spcBef>
                    <a:spcPts val="0"/>
                  </a:spcBef>
                  <a:spcAft>
                    <a:spcPts val="0"/>
                  </a:spcAft>
                  <a:buClr>
                    <a:srgbClr val="000000"/>
                  </a:buClr>
                  <a:buFont typeface="Arial"/>
                  <a:defRPr sz="2400" b="1" i="0" u="none" strike="noStrike" cap="none">
                    <a:solidFill>
                      <a:schemeClr val="tx1"/>
                    </a:solidFill>
                    <a:latin typeface="Arial" pitchFamily="34" charset="0"/>
                    <a:ea typeface="Arial"/>
                    <a:cs typeface="Arial"/>
                    <a:sym typeface="Arial"/>
                  </a:defRPr>
                </a:lvl3pPr>
                <a:lvl4pPr marL="1600200" marR="0" lvl="3" indent="-228600" algn="l" rtl="0" eaLnBrk="0" hangingPunct="0">
                  <a:lnSpc>
                    <a:spcPct val="100000"/>
                  </a:lnSpc>
                  <a:spcBef>
                    <a:spcPts val="0"/>
                  </a:spcBef>
                  <a:spcAft>
                    <a:spcPts val="0"/>
                  </a:spcAft>
                  <a:buClr>
                    <a:srgbClr val="000000"/>
                  </a:buClr>
                  <a:buFont typeface="Arial"/>
                  <a:defRPr sz="2400" b="1" i="0" u="none" strike="noStrike" cap="none">
                    <a:solidFill>
                      <a:schemeClr val="tx1"/>
                    </a:solidFill>
                    <a:latin typeface="Arial" pitchFamily="34" charset="0"/>
                    <a:ea typeface="Arial"/>
                    <a:cs typeface="Arial"/>
                    <a:sym typeface="Arial"/>
                  </a:defRPr>
                </a:lvl4pPr>
                <a:lvl5pPr marL="2057400" marR="0" lvl="4" indent="-228600" algn="l" rtl="0" eaLnBrk="0" hangingPunct="0">
                  <a:lnSpc>
                    <a:spcPct val="100000"/>
                  </a:lnSpc>
                  <a:spcBef>
                    <a:spcPts val="0"/>
                  </a:spcBef>
                  <a:spcAft>
                    <a:spcPts val="0"/>
                  </a:spcAft>
                  <a:buClr>
                    <a:srgbClr val="000000"/>
                  </a:buClr>
                  <a:buFont typeface="Arial"/>
                  <a:defRPr sz="2400" b="1" i="0" u="none" strike="noStrike" cap="none">
                    <a:solidFill>
                      <a:schemeClr val="tx1"/>
                    </a:solidFill>
                    <a:latin typeface="Arial" pitchFamily="34" charset="0"/>
                    <a:ea typeface="Arial"/>
                    <a:cs typeface="Arial"/>
                    <a:sym typeface="Arial"/>
                  </a:defRPr>
                </a:lvl5pPr>
                <a:lvl6pPr marL="2514600" marR="0" lvl="5" indent="-228600" algn="l" rtl="0" eaLnBrk="0" fontAlgn="base" hangingPunct="0">
                  <a:lnSpc>
                    <a:spcPct val="100000"/>
                  </a:lnSpc>
                  <a:spcBef>
                    <a:spcPct val="0"/>
                  </a:spcBef>
                  <a:spcAft>
                    <a:spcPct val="0"/>
                  </a:spcAft>
                  <a:buClr>
                    <a:srgbClr val="000000"/>
                  </a:buClr>
                  <a:buFont typeface="Arial"/>
                  <a:defRPr sz="2400" b="1" i="0" u="none" strike="noStrike" cap="none">
                    <a:solidFill>
                      <a:schemeClr val="tx1"/>
                    </a:solidFill>
                    <a:latin typeface="Arial" pitchFamily="34" charset="0"/>
                    <a:ea typeface="Arial"/>
                    <a:cs typeface="Arial"/>
                    <a:sym typeface="Arial"/>
                  </a:defRPr>
                </a:lvl6pPr>
                <a:lvl7pPr marL="2971800" marR="0" lvl="6" indent="-228600" algn="l" rtl="0" eaLnBrk="0" fontAlgn="base" hangingPunct="0">
                  <a:lnSpc>
                    <a:spcPct val="100000"/>
                  </a:lnSpc>
                  <a:spcBef>
                    <a:spcPct val="0"/>
                  </a:spcBef>
                  <a:spcAft>
                    <a:spcPct val="0"/>
                  </a:spcAft>
                  <a:buClr>
                    <a:srgbClr val="000000"/>
                  </a:buClr>
                  <a:buFont typeface="Arial"/>
                  <a:defRPr sz="2400" b="1" i="0" u="none" strike="noStrike" cap="none">
                    <a:solidFill>
                      <a:schemeClr val="tx1"/>
                    </a:solidFill>
                    <a:latin typeface="Arial" pitchFamily="34" charset="0"/>
                    <a:ea typeface="Arial"/>
                    <a:cs typeface="Arial"/>
                    <a:sym typeface="Arial"/>
                  </a:defRPr>
                </a:lvl7pPr>
                <a:lvl8pPr marL="3429000" marR="0" lvl="7" indent="-228600" algn="l" rtl="0" eaLnBrk="0" fontAlgn="base" hangingPunct="0">
                  <a:lnSpc>
                    <a:spcPct val="100000"/>
                  </a:lnSpc>
                  <a:spcBef>
                    <a:spcPct val="0"/>
                  </a:spcBef>
                  <a:spcAft>
                    <a:spcPct val="0"/>
                  </a:spcAft>
                  <a:buClr>
                    <a:srgbClr val="000000"/>
                  </a:buClr>
                  <a:buFont typeface="Arial"/>
                  <a:defRPr sz="2400" b="1" i="0" u="none" strike="noStrike" cap="none">
                    <a:solidFill>
                      <a:schemeClr val="tx1"/>
                    </a:solidFill>
                    <a:latin typeface="Arial" pitchFamily="34" charset="0"/>
                    <a:ea typeface="Arial"/>
                    <a:cs typeface="Arial"/>
                    <a:sym typeface="Arial"/>
                  </a:defRPr>
                </a:lvl8pPr>
                <a:lvl9pPr marL="3886200" marR="0" lvl="8" indent="-228600" algn="l" rtl="0" eaLnBrk="0" fontAlgn="base" hangingPunct="0">
                  <a:lnSpc>
                    <a:spcPct val="100000"/>
                  </a:lnSpc>
                  <a:spcBef>
                    <a:spcPct val="0"/>
                  </a:spcBef>
                  <a:spcAft>
                    <a:spcPct val="0"/>
                  </a:spcAft>
                  <a:buClr>
                    <a:srgbClr val="000000"/>
                  </a:buClr>
                  <a:buFont typeface="Arial"/>
                  <a:defRPr sz="2400" b="1" i="0" u="none" strike="noStrike" cap="none">
                    <a:solidFill>
                      <a:schemeClr val="tx1"/>
                    </a:solidFill>
                    <a:latin typeface="Arial" pitchFamily="34" charset="0"/>
                    <a:ea typeface="Arial"/>
                    <a:cs typeface="Arial"/>
                    <a:sym typeface="Arial"/>
                  </a:defRPr>
                </a:lvl9pPr>
              </a:lstStyle>
              <a:p>
                <a:pPr algn="ctr"/>
                <a:r>
                  <a:rPr lang="en-US" altLang="en-US" sz="1200" err="1">
                    <a:solidFill>
                      <a:schemeClr val="bg1"/>
                    </a:solidFill>
                    <a:latin typeface="Arial"/>
                  </a:rPr>
                  <a:t>loader.py</a:t>
                </a:r>
                <a:endParaRPr lang="en-US" altLang="en-US" sz="1200">
                  <a:solidFill>
                    <a:schemeClr val="bg1"/>
                  </a:solidFill>
                </a:endParaRPr>
              </a:p>
            </p:txBody>
          </p:sp>
          <p:sp>
            <p:nvSpPr>
              <p:cNvPr id="8" name="TextBox 7">
                <a:extLst>
                  <a:ext uri="{FF2B5EF4-FFF2-40B4-BE49-F238E27FC236}">
                    <a16:creationId xmlns:a16="http://schemas.microsoft.com/office/drawing/2014/main" id="{FFD15954-3FBA-4EF3-25B5-B5B8731FC550}"/>
                  </a:ext>
                </a:extLst>
              </p:cNvPr>
              <p:cNvSpPr txBox="1"/>
              <p:nvPr/>
            </p:nvSpPr>
            <p:spPr>
              <a:xfrm>
                <a:off x="2558291" y="772239"/>
                <a:ext cx="4460317" cy="3385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600" b="1">
                    <a:solidFill>
                      <a:srgbClr val="16693F"/>
                    </a:solidFill>
                  </a:rPr>
                  <a:t>Legacy Network (2 files)</a:t>
                </a:r>
              </a:p>
            </p:txBody>
          </p:sp>
        </p:grpSp>
        <p:cxnSp>
          <p:nvCxnSpPr>
            <p:cNvPr id="14" name="Straight Arrow Connector 13">
              <a:extLst>
                <a:ext uri="{FF2B5EF4-FFF2-40B4-BE49-F238E27FC236}">
                  <a16:creationId xmlns:a16="http://schemas.microsoft.com/office/drawing/2014/main" id="{BDECD938-CD34-7559-9C19-EC2798104B4E}"/>
                </a:ext>
              </a:extLst>
            </p:cNvPr>
            <p:cNvCxnSpPr>
              <a:cxnSpLocks/>
            </p:cNvCxnSpPr>
            <p:nvPr/>
          </p:nvCxnSpPr>
          <p:spPr>
            <a:xfrm>
              <a:off x="2332180" y="1780037"/>
              <a:ext cx="561900" cy="0"/>
            </a:xfrm>
            <a:prstGeom prst="straightConnector1">
              <a:avLst/>
            </a:prstGeom>
            <a:ln>
              <a:solidFill>
                <a:srgbClr val="16693F"/>
              </a:solidFill>
              <a:tailEnd type="triangle"/>
            </a:ln>
          </p:spPr>
          <p:style>
            <a:lnRef idx="3">
              <a:schemeClr val="dk1"/>
            </a:lnRef>
            <a:fillRef idx="0">
              <a:schemeClr val="dk1"/>
            </a:fillRef>
            <a:effectRef idx="2">
              <a:schemeClr val="dk1"/>
            </a:effectRef>
            <a:fontRef idx="minor">
              <a:schemeClr val="tx1"/>
            </a:fontRef>
          </p:style>
        </p:cxnSp>
        <p:cxnSp>
          <p:nvCxnSpPr>
            <p:cNvPr id="39" name="Straight Arrow Connector 38">
              <a:extLst>
                <a:ext uri="{FF2B5EF4-FFF2-40B4-BE49-F238E27FC236}">
                  <a16:creationId xmlns:a16="http://schemas.microsoft.com/office/drawing/2014/main" id="{4E77E28F-79F5-AACB-666B-6AB39F9E1D33}"/>
                </a:ext>
              </a:extLst>
            </p:cNvPr>
            <p:cNvCxnSpPr>
              <a:cxnSpLocks/>
            </p:cNvCxnSpPr>
            <p:nvPr/>
          </p:nvCxnSpPr>
          <p:spPr>
            <a:xfrm>
              <a:off x="4543725" y="1780037"/>
              <a:ext cx="2087420" cy="318919"/>
            </a:xfrm>
            <a:prstGeom prst="straightConnector1">
              <a:avLst/>
            </a:prstGeom>
            <a:ln>
              <a:solidFill>
                <a:srgbClr val="16693F"/>
              </a:solidFill>
              <a:tailEnd type="triangle"/>
            </a:ln>
          </p:spPr>
          <p:style>
            <a:lnRef idx="3">
              <a:schemeClr val="dk1"/>
            </a:lnRef>
            <a:fillRef idx="0">
              <a:schemeClr val="dk1"/>
            </a:fillRef>
            <a:effectRef idx="2">
              <a:schemeClr val="dk1"/>
            </a:effectRef>
            <a:fontRef idx="minor">
              <a:schemeClr val="tx1"/>
            </a:fontRef>
          </p:style>
        </p:cxnSp>
      </p:grpSp>
      <p:grpSp>
        <p:nvGrpSpPr>
          <p:cNvPr id="16" name="Group 15">
            <a:extLst>
              <a:ext uri="{FF2B5EF4-FFF2-40B4-BE49-F238E27FC236}">
                <a16:creationId xmlns:a16="http://schemas.microsoft.com/office/drawing/2014/main" id="{31D25713-A935-2CF4-1A40-A55493A87160}"/>
              </a:ext>
            </a:extLst>
          </p:cNvPr>
          <p:cNvGrpSpPr/>
          <p:nvPr/>
        </p:nvGrpSpPr>
        <p:grpSpPr>
          <a:xfrm>
            <a:off x="544451" y="2761890"/>
            <a:ext cx="6065755" cy="1953054"/>
            <a:chOff x="2558291" y="727363"/>
            <a:chExt cx="6065755" cy="1953054"/>
          </a:xfrm>
        </p:grpSpPr>
        <p:sp>
          <p:nvSpPr>
            <p:cNvPr id="17" name="Rectangle 16">
              <a:extLst>
                <a:ext uri="{FF2B5EF4-FFF2-40B4-BE49-F238E27FC236}">
                  <a16:creationId xmlns:a16="http://schemas.microsoft.com/office/drawing/2014/main" id="{532741F0-AAEA-1B92-B3F6-E31D7EBF9C10}"/>
                </a:ext>
              </a:extLst>
            </p:cNvPr>
            <p:cNvSpPr/>
            <p:nvPr/>
          </p:nvSpPr>
          <p:spPr>
            <a:xfrm>
              <a:off x="2558291" y="727363"/>
              <a:ext cx="6065755" cy="1953054"/>
            </a:xfrm>
            <a:prstGeom prst="rect">
              <a:avLst/>
            </a:prstGeom>
            <a:noFill/>
            <a:ln>
              <a:solidFill>
                <a:srgbClr val="1669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ounded Rectangle 1">
              <a:extLst>
                <a:ext uri="{FF2B5EF4-FFF2-40B4-BE49-F238E27FC236}">
                  <a16:creationId xmlns:a16="http://schemas.microsoft.com/office/drawing/2014/main" id="{C5F226BF-95C8-40BB-1FA4-8779E57895FF}"/>
                </a:ext>
              </a:extLst>
            </p:cNvPr>
            <p:cNvSpPr>
              <a:spLocks noChangeArrowheads="1"/>
            </p:cNvSpPr>
            <p:nvPr/>
          </p:nvSpPr>
          <p:spPr bwMode="auto">
            <a:xfrm>
              <a:off x="2715705" y="1254005"/>
              <a:ext cx="1510843" cy="463483"/>
            </a:xfrm>
            <a:prstGeom prst="roundRect">
              <a:avLst>
                <a:gd name="adj" fmla="val 16667"/>
              </a:avLst>
            </a:prstGeom>
            <a:solidFill>
              <a:srgbClr val="297B49"/>
            </a:solidFill>
            <a:ln>
              <a:noFill/>
            </a:ln>
          </p:spPr>
          <p:txBody>
            <a:bodyPr lIns="91440" tIns="45720" rIns="91440" bIns="45720" anchor="ctr"/>
            <a:lstStyle>
              <a:defPPr marR="0" lvl="0" algn="l" rtl="0">
                <a:lnSpc>
                  <a:spcPct val="100000"/>
                </a:lnSpc>
                <a:spcBef>
                  <a:spcPts val="0"/>
                </a:spcBef>
                <a:spcAft>
                  <a:spcPts val="0"/>
                </a:spcAft>
              </a:defPPr>
              <a:lvl1pPr marR="0" lvl="0" algn="l" rtl="0" eaLnBrk="0" hangingPunct="0">
                <a:lnSpc>
                  <a:spcPct val="100000"/>
                </a:lnSpc>
                <a:spcBef>
                  <a:spcPts val="0"/>
                </a:spcBef>
                <a:spcAft>
                  <a:spcPts val="0"/>
                </a:spcAft>
                <a:buClr>
                  <a:srgbClr val="000000"/>
                </a:buClr>
                <a:buFont typeface="Arial"/>
                <a:defRPr sz="2400" b="1" i="0" u="none" strike="noStrike" cap="none">
                  <a:solidFill>
                    <a:schemeClr val="tx1"/>
                  </a:solidFill>
                  <a:latin typeface="Arial" pitchFamily="34" charset="0"/>
                  <a:ea typeface="Arial"/>
                  <a:cs typeface="Arial"/>
                  <a:sym typeface="Arial"/>
                </a:defRPr>
              </a:lvl1pPr>
              <a:lvl2pPr marL="742950" marR="0" lvl="1" indent="-285750" algn="l" rtl="0" eaLnBrk="0" hangingPunct="0">
                <a:lnSpc>
                  <a:spcPct val="100000"/>
                </a:lnSpc>
                <a:spcBef>
                  <a:spcPts val="0"/>
                </a:spcBef>
                <a:spcAft>
                  <a:spcPts val="0"/>
                </a:spcAft>
                <a:buClr>
                  <a:srgbClr val="000000"/>
                </a:buClr>
                <a:buFont typeface="Arial"/>
                <a:defRPr sz="2400" b="1" i="0" u="none" strike="noStrike" cap="none">
                  <a:solidFill>
                    <a:schemeClr val="tx1"/>
                  </a:solidFill>
                  <a:latin typeface="Arial" pitchFamily="34" charset="0"/>
                  <a:ea typeface="Arial"/>
                  <a:cs typeface="Arial"/>
                  <a:sym typeface="Arial"/>
                </a:defRPr>
              </a:lvl2pPr>
              <a:lvl3pPr marL="1143000" marR="0" lvl="2" indent="-228600" algn="l" rtl="0" eaLnBrk="0" hangingPunct="0">
                <a:lnSpc>
                  <a:spcPct val="100000"/>
                </a:lnSpc>
                <a:spcBef>
                  <a:spcPts val="0"/>
                </a:spcBef>
                <a:spcAft>
                  <a:spcPts val="0"/>
                </a:spcAft>
                <a:buClr>
                  <a:srgbClr val="000000"/>
                </a:buClr>
                <a:buFont typeface="Arial"/>
                <a:defRPr sz="2400" b="1" i="0" u="none" strike="noStrike" cap="none">
                  <a:solidFill>
                    <a:schemeClr val="tx1"/>
                  </a:solidFill>
                  <a:latin typeface="Arial" pitchFamily="34" charset="0"/>
                  <a:ea typeface="Arial"/>
                  <a:cs typeface="Arial"/>
                  <a:sym typeface="Arial"/>
                </a:defRPr>
              </a:lvl3pPr>
              <a:lvl4pPr marL="1600200" marR="0" lvl="3" indent="-228600" algn="l" rtl="0" eaLnBrk="0" hangingPunct="0">
                <a:lnSpc>
                  <a:spcPct val="100000"/>
                </a:lnSpc>
                <a:spcBef>
                  <a:spcPts val="0"/>
                </a:spcBef>
                <a:spcAft>
                  <a:spcPts val="0"/>
                </a:spcAft>
                <a:buClr>
                  <a:srgbClr val="000000"/>
                </a:buClr>
                <a:buFont typeface="Arial"/>
                <a:defRPr sz="2400" b="1" i="0" u="none" strike="noStrike" cap="none">
                  <a:solidFill>
                    <a:schemeClr val="tx1"/>
                  </a:solidFill>
                  <a:latin typeface="Arial" pitchFamily="34" charset="0"/>
                  <a:ea typeface="Arial"/>
                  <a:cs typeface="Arial"/>
                  <a:sym typeface="Arial"/>
                </a:defRPr>
              </a:lvl4pPr>
              <a:lvl5pPr marL="2057400" marR="0" lvl="4" indent="-228600" algn="l" rtl="0" eaLnBrk="0" hangingPunct="0">
                <a:lnSpc>
                  <a:spcPct val="100000"/>
                </a:lnSpc>
                <a:spcBef>
                  <a:spcPts val="0"/>
                </a:spcBef>
                <a:spcAft>
                  <a:spcPts val="0"/>
                </a:spcAft>
                <a:buClr>
                  <a:srgbClr val="000000"/>
                </a:buClr>
                <a:buFont typeface="Arial"/>
                <a:defRPr sz="2400" b="1" i="0" u="none" strike="noStrike" cap="none">
                  <a:solidFill>
                    <a:schemeClr val="tx1"/>
                  </a:solidFill>
                  <a:latin typeface="Arial" pitchFamily="34" charset="0"/>
                  <a:ea typeface="Arial"/>
                  <a:cs typeface="Arial"/>
                  <a:sym typeface="Arial"/>
                </a:defRPr>
              </a:lvl5pPr>
              <a:lvl6pPr marL="2514600" marR="0" lvl="5" indent="-228600" algn="l" rtl="0" eaLnBrk="0" fontAlgn="base" hangingPunct="0">
                <a:lnSpc>
                  <a:spcPct val="100000"/>
                </a:lnSpc>
                <a:spcBef>
                  <a:spcPct val="0"/>
                </a:spcBef>
                <a:spcAft>
                  <a:spcPct val="0"/>
                </a:spcAft>
                <a:buClr>
                  <a:srgbClr val="000000"/>
                </a:buClr>
                <a:buFont typeface="Arial"/>
                <a:defRPr sz="2400" b="1" i="0" u="none" strike="noStrike" cap="none">
                  <a:solidFill>
                    <a:schemeClr val="tx1"/>
                  </a:solidFill>
                  <a:latin typeface="Arial" pitchFamily="34" charset="0"/>
                  <a:ea typeface="Arial"/>
                  <a:cs typeface="Arial"/>
                  <a:sym typeface="Arial"/>
                </a:defRPr>
              </a:lvl6pPr>
              <a:lvl7pPr marL="2971800" marR="0" lvl="6" indent="-228600" algn="l" rtl="0" eaLnBrk="0" fontAlgn="base" hangingPunct="0">
                <a:lnSpc>
                  <a:spcPct val="100000"/>
                </a:lnSpc>
                <a:spcBef>
                  <a:spcPct val="0"/>
                </a:spcBef>
                <a:spcAft>
                  <a:spcPct val="0"/>
                </a:spcAft>
                <a:buClr>
                  <a:srgbClr val="000000"/>
                </a:buClr>
                <a:buFont typeface="Arial"/>
                <a:defRPr sz="2400" b="1" i="0" u="none" strike="noStrike" cap="none">
                  <a:solidFill>
                    <a:schemeClr val="tx1"/>
                  </a:solidFill>
                  <a:latin typeface="Arial" pitchFamily="34" charset="0"/>
                  <a:ea typeface="Arial"/>
                  <a:cs typeface="Arial"/>
                  <a:sym typeface="Arial"/>
                </a:defRPr>
              </a:lvl7pPr>
              <a:lvl8pPr marL="3429000" marR="0" lvl="7" indent="-228600" algn="l" rtl="0" eaLnBrk="0" fontAlgn="base" hangingPunct="0">
                <a:lnSpc>
                  <a:spcPct val="100000"/>
                </a:lnSpc>
                <a:spcBef>
                  <a:spcPct val="0"/>
                </a:spcBef>
                <a:spcAft>
                  <a:spcPct val="0"/>
                </a:spcAft>
                <a:buClr>
                  <a:srgbClr val="000000"/>
                </a:buClr>
                <a:buFont typeface="Arial"/>
                <a:defRPr sz="2400" b="1" i="0" u="none" strike="noStrike" cap="none">
                  <a:solidFill>
                    <a:schemeClr val="tx1"/>
                  </a:solidFill>
                  <a:latin typeface="Arial" pitchFamily="34" charset="0"/>
                  <a:ea typeface="Arial"/>
                  <a:cs typeface="Arial"/>
                  <a:sym typeface="Arial"/>
                </a:defRPr>
              </a:lvl8pPr>
              <a:lvl9pPr marL="3886200" marR="0" lvl="8" indent="-228600" algn="l" rtl="0" eaLnBrk="0" fontAlgn="base" hangingPunct="0">
                <a:lnSpc>
                  <a:spcPct val="100000"/>
                </a:lnSpc>
                <a:spcBef>
                  <a:spcPct val="0"/>
                </a:spcBef>
                <a:spcAft>
                  <a:spcPct val="0"/>
                </a:spcAft>
                <a:buClr>
                  <a:srgbClr val="000000"/>
                </a:buClr>
                <a:buFont typeface="Arial"/>
                <a:defRPr sz="2400" b="1" i="0" u="none" strike="noStrike" cap="none">
                  <a:solidFill>
                    <a:schemeClr val="tx1"/>
                  </a:solidFill>
                  <a:latin typeface="Arial" pitchFamily="34" charset="0"/>
                  <a:ea typeface="Arial"/>
                  <a:cs typeface="Arial"/>
                  <a:sym typeface="Arial"/>
                </a:defRPr>
              </a:lvl9pPr>
            </a:lstStyle>
            <a:p>
              <a:pPr algn="ctr"/>
              <a:r>
                <a:rPr lang="en-US" altLang="en-US" sz="1200" err="1">
                  <a:solidFill>
                    <a:schemeClr val="bg1"/>
                  </a:solidFill>
                  <a:latin typeface="Arial"/>
                </a:rPr>
                <a:t>main.py</a:t>
              </a:r>
              <a:endParaRPr lang="en-US" altLang="en-US" sz="1200">
                <a:solidFill>
                  <a:schemeClr val="bg1"/>
                </a:solidFill>
              </a:endParaRPr>
            </a:p>
          </p:txBody>
        </p:sp>
        <p:sp>
          <p:nvSpPr>
            <p:cNvPr id="19" name="Rounded Rectangle 1">
              <a:extLst>
                <a:ext uri="{FF2B5EF4-FFF2-40B4-BE49-F238E27FC236}">
                  <a16:creationId xmlns:a16="http://schemas.microsoft.com/office/drawing/2014/main" id="{E70593DC-7731-E96B-7034-2BECF7659F97}"/>
                </a:ext>
              </a:extLst>
            </p:cNvPr>
            <p:cNvSpPr>
              <a:spLocks noChangeArrowheads="1"/>
            </p:cNvSpPr>
            <p:nvPr/>
          </p:nvSpPr>
          <p:spPr bwMode="auto">
            <a:xfrm>
              <a:off x="2704478" y="2070161"/>
              <a:ext cx="1510843" cy="466344"/>
            </a:xfrm>
            <a:prstGeom prst="roundRect">
              <a:avLst>
                <a:gd name="adj" fmla="val 16667"/>
              </a:avLst>
            </a:prstGeom>
            <a:solidFill>
              <a:srgbClr val="297B49"/>
            </a:solidFill>
            <a:ln>
              <a:noFill/>
            </a:ln>
          </p:spPr>
          <p:txBody>
            <a:bodyPr lIns="91440" tIns="45720" rIns="91440" bIns="45720" anchor="ctr"/>
            <a:lstStyle>
              <a:defPPr marR="0" lvl="0" algn="l" rtl="0">
                <a:lnSpc>
                  <a:spcPct val="100000"/>
                </a:lnSpc>
                <a:spcBef>
                  <a:spcPts val="0"/>
                </a:spcBef>
                <a:spcAft>
                  <a:spcPts val="0"/>
                </a:spcAft>
              </a:defPPr>
              <a:lvl1pPr marR="0" lvl="0" algn="l" rtl="0" eaLnBrk="0" hangingPunct="0">
                <a:lnSpc>
                  <a:spcPct val="100000"/>
                </a:lnSpc>
                <a:spcBef>
                  <a:spcPts val="0"/>
                </a:spcBef>
                <a:spcAft>
                  <a:spcPts val="0"/>
                </a:spcAft>
                <a:buClr>
                  <a:srgbClr val="000000"/>
                </a:buClr>
                <a:buFont typeface="Arial"/>
                <a:defRPr sz="2400" b="1" i="0" u="none" strike="noStrike" cap="none">
                  <a:solidFill>
                    <a:schemeClr val="tx1"/>
                  </a:solidFill>
                  <a:latin typeface="Arial" pitchFamily="34" charset="0"/>
                  <a:ea typeface="Arial"/>
                  <a:cs typeface="Arial"/>
                  <a:sym typeface="Arial"/>
                </a:defRPr>
              </a:lvl1pPr>
              <a:lvl2pPr marL="742950" marR="0" lvl="1" indent="-285750" algn="l" rtl="0" eaLnBrk="0" hangingPunct="0">
                <a:lnSpc>
                  <a:spcPct val="100000"/>
                </a:lnSpc>
                <a:spcBef>
                  <a:spcPts val="0"/>
                </a:spcBef>
                <a:spcAft>
                  <a:spcPts val="0"/>
                </a:spcAft>
                <a:buClr>
                  <a:srgbClr val="000000"/>
                </a:buClr>
                <a:buFont typeface="Arial"/>
                <a:defRPr sz="2400" b="1" i="0" u="none" strike="noStrike" cap="none">
                  <a:solidFill>
                    <a:schemeClr val="tx1"/>
                  </a:solidFill>
                  <a:latin typeface="Arial" pitchFamily="34" charset="0"/>
                  <a:ea typeface="Arial"/>
                  <a:cs typeface="Arial"/>
                  <a:sym typeface="Arial"/>
                </a:defRPr>
              </a:lvl2pPr>
              <a:lvl3pPr marL="1143000" marR="0" lvl="2" indent="-228600" algn="l" rtl="0" eaLnBrk="0" hangingPunct="0">
                <a:lnSpc>
                  <a:spcPct val="100000"/>
                </a:lnSpc>
                <a:spcBef>
                  <a:spcPts val="0"/>
                </a:spcBef>
                <a:spcAft>
                  <a:spcPts val="0"/>
                </a:spcAft>
                <a:buClr>
                  <a:srgbClr val="000000"/>
                </a:buClr>
                <a:buFont typeface="Arial"/>
                <a:defRPr sz="2400" b="1" i="0" u="none" strike="noStrike" cap="none">
                  <a:solidFill>
                    <a:schemeClr val="tx1"/>
                  </a:solidFill>
                  <a:latin typeface="Arial" pitchFamily="34" charset="0"/>
                  <a:ea typeface="Arial"/>
                  <a:cs typeface="Arial"/>
                  <a:sym typeface="Arial"/>
                </a:defRPr>
              </a:lvl3pPr>
              <a:lvl4pPr marL="1600200" marR="0" lvl="3" indent="-228600" algn="l" rtl="0" eaLnBrk="0" hangingPunct="0">
                <a:lnSpc>
                  <a:spcPct val="100000"/>
                </a:lnSpc>
                <a:spcBef>
                  <a:spcPts val="0"/>
                </a:spcBef>
                <a:spcAft>
                  <a:spcPts val="0"/>
                </a:spcAft>
                <a:buClr>
                  <a:srgbClr val="000000"/>
                </a:buClr>
                <a:buFont typeface="Arial"/>
                <a:defRPr sz="2400" b="1" i="0" u="none" strike="noStrike" cap="none">
                  <a:solidFill>
                    <a:schemeClr val="tx1"/>
                  </a:solidFill>
                  <a:latin typeface="Arial" pitchFamily="34" charset="0"/>
                  <a:ea typeface="Arial"/>
                  <a:cs typeface="Arial"/>
                  <a:sym typeface="Arial"/>
                </a:defRPr>
              </a:lvl4pPr>
              <a:lvl5pPr marL="2057400" marR="0" lvl="4" indent="-228600" algn="l" rtl="0" eaLnBrk="0" hangingPunct="0">
                <a:lnSpc>
                  <a:spcPct val="100000"/>
                </a:lnSpc>
                <a:spcBef>
                  <a:spcPts val="0"/>
                </a:spcBef>
                <a:spcAft>
                  <a:spcPts val="0"/>
                </a:spcAft>
                <a:buClr>
                  <a:srgbClr val="000000"/>
                </a:buClr>
                <a:buFont typeface="Arial"/>
                <a:defRPr sz="2400" b="1" i="0" u="none" strike="noStrike" cap="none">
                  <a:solidFill>
                    <a:schemeClr val="tx1"/>
                  </a:solidFill>
                  <a:latin typeface="Arial" pitchFamily="34" charset="0"/>
                  <a:ea typeface="Arial"/>
                  <a:cs typeface="Arial"/>
                  <a:sym typeface="Arial"/>
                </a:defRPr>
              </a:lvl5pPr>
              <a:lvl6pPr marL="2514600" marR="0" lvl="5" indent="-228600" algn="l" rtl="0" eaLnBrk="0" fontAlgn="base" hangingPunct="0">
                <a:lnSpc>
                  <a:spcPct val="100000"/>
                </a:lnSpc>
                <a:spcBef>
                  <a:spcPct val="0"/>
                </a:spcBef>
                <a:spcAft>
                  <a:spcPct val="0"/>
                </a:spcAft>
                <a:buClr>
                  <a:srgbClr val="000000"/>
                </a:buClr>
                <a:buFont typeface="Arial"/>
                <a:defRPr sz="2400" b="1" i="0" u="none" strike="noStrike" cap="none">
                  <a:solidFill>
                    <a:schemeClr val="tx1"/>
                  </a:solidFill>
                  <a:latin typeface="Arial" pitchFamily="34" charset="0"/>
                  <a:ea typeface="Arial"/>
                  <a:cs typeface="Arial"/>
                  <a:sym typeface="Arial"/>
                </a:defRPr>
              </a:lvl6pPr>
              <a:lvl7pPr marL="2971800" marR="0" lvl="6" indent="-228600" algn="l" rtl="0" eaLnBrk="0" fontAlgn="base" hangingPunct="0">
                <a:lnSpc>
                  <a:spcPct val="100000"/>
                </a:lnSpc>
                <a:spcBef>
                  <a:spcPct val="0"/>
                </a:spcBef>
                <a:spcAft>
                  <a:spcPct val="0"/>
                </a:spcAft>
                <a:buClr>
                  <a:srgbClr val="000000"/>
                </a:buClr>
                <a:buFont typeface="Arial"/>
                <a:defRPr sz="2400" b="1" i="0" u="none" strike="noStrike" cap="none">
                  <a:solidFill>
                    <a:schemeClr val="tx1"/>
                  </a:solidFill>
                  <a:latin typeface="Arial" pitchFamily="34" charset="0"/>
                  <a:ea typeface="Arial"/>
                  <a:cs typeface="Arial"/>
                  <a:sym typeface="Arial"/>
                </a:defRPr>
              </a:lvl7pPr>
              <a:lvl8pPr marL="3429000" marR="0" lvl="7" indent="-228600" algn="l" rtl="0" eaLnBrk="0" fontAlgn="base" hangingPunct="0">
                <a:lnSpc>
                  <a:spcPct val="100000"/>
                </a:lnSpc>
                <a:spcBef>
                  <a:spcPct val="0"/>
                </a:spcBef>
                <a:spcAft>
                  <a:spcPct val="0"/>
                </a:spcAft>
                <a:buClr>
                  <a:srgbClr val="000000"/>
                </a:buClr>
                <a:buFont typeface="Arial"/>
                <a:defRPr sz="2400" b="1" i="0" u="none" strike="noStrike" cap="none">
                  <a:solidFill>
                    <a:schemeClr val="tx1"/>
                  </a:solidFill>
                  <a:latin typeface="Arial" pitchFamily="34" charset="0"/>
                  <a:ea typeface="Arial"/>
                  <a:cs typeface="Arial"/>
                  <a:sym typeface="Arial"/>
                </a:defRPr>
              </a:lvl8pPr>
              <a:lvl9pPr marL="3886200" marR="0" lvl="8" indent="-228600" algn="l" rtl="0" eaLnBrk="0" fontAlgn="base" hangingPunct="0">
                <a:lnSpc>
                  <a:spcPct val="100000"/>
                </a:lnSpc>
                <a:spcBef>
                  <a:spcPct val="0"/>
                </a:spcBef>
                <a:spcAft>
                  <a:spcPct val="0"/>
                </a:spcAft>
                <a:buClr>
                  <a:srgbClr val="000000"/>
                </a:buClr>
                <a:buFont typeface="Arial"/>
                <a:defRPr sz="2400" b="1" i="0" u="none" strike="noStrike" cap="none">
                  <a:solidFill>
                    <a:schemeClr val="tx1"/>
                  </a:solidFill>
                  <a:latin typeface="Arial" pitchFamily="34" charset="0"/>
                  <a:ea typeface="Arial"/>
                  <a:cs typeface="Arial"/>
                  <a:sym typeface="Arial"/>
                </a:defRPr>
              </a:lvl9pPr>
            </a:lstStyle>
            <a:p>
              <a:pPr algn="ctr"/>
              <a:r>
                <a:rPr lang="en-US" altLang="en-US" sz="1200">
                  <a:solidFill>
                    <a:schemeClr val="bg1"/>
                  </a:solidFill>
                  <a:latin typeface="Arial"/>
                </a:rPr>
                <a:t>data fetcher</a:t>
              </a:r>
              <a:endParaRPr lang="en-US" altLang="en-US" sz="1200">
                <a:solidFill>
                  <a:schemeClr val="bg1"/>
                </a:solidFill>
              </a:endParaRPr>
            </a:p>
          </p:txBody>
        </p:sp>
        <p:sp>
          <p:nvSpPr>
            <p:cNvPr id="20" name="TextBox 19">
              <a:extLst>
                <a:ext uri="{FF2B5EF4-FFF2-40B4-BE49-F238E27FC236}">
                  <a16:creationId xmlns:a16="http://schemas.microsoft.com/office/drawing/2014/main" id="{BA298735-DA0C-8FBA-2C25-ACA6D88A08A5}"/>
                </a:ext>
              </a:extLst>
            </p:cNvPr>
            <p:cNvSpPr txBox="1"/>
            <p:nvPr/>
          </p:nvSpPr>
          <p:spPr>
            <a:xfrm>
              <a:off x="2558291" y="772239"/>
              <a:ext cx="6065755" cy="3385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600" b="1">
                  <a:solidFill>
                    <a:srgbClr val="16693F"/>
                  </a:solidFill>
                </a:rPr>
                <a:t>Modern Network (modular)</a:t>
              </a:r>
            </a:p>
          </p:txBody>
        </p:sp>
        <p:sp>
          <p:nvSpPr>
            <p:cNvPr id="21" name="Rounded Rectangle 1">
              <a:extLst>
                <a:ext uri="{FF2B5EF4-FFF2-40B4-BE49-F238E27FC236}">
                  <a16:creationId xmlns:a16="http://schemas.microsoft.com/office/drawing/2014/main" id="{E711EB2F-50FE-9AD3-5154-CC98AFC2A53C}"/>
                </a:ext>
              </a:extLst>
            </p:cNvPr>
            <p:cNvSpPr>
              <a:spLocks noChangeArrowheads="1"/>
            </p:cNvSpPr>
            <p:nvPr/>
          </p:nvSpPr>
          <p:spPr bwMode="auto">
            <a:xfrm>
              <a:off x="4763841" y="2070161"/>
              <a:ext cx="1510843" cy="466344"/>
            </a:xfrm>
            <a:prstGeom prst="roundRect">
              <a:avLst>
                <a:gd name="adj" fmla="val 16667"/>
              </a:avLst>
            </a:prstGeom>
            <a:solidFill>
              <a:srgbClr val="297B49"/>
            </a:solidFill>
            <a:ln>
              <a:noFill/>
            </a:ln>
          </p:spPr>
          <p:txBody>
            <a:bodyPr lIns="91440" tIns="45720" rIns="91440" bIns="45720" anchor="ctr"/>
            <a:lstStyle>
              <a:defPPr marR="0" lvl="0" algn="l" rtl="0">
                <a:lnSpc>
                  <a:spcPct val="100000"/>
                </a:lnSpc>
                <a:spcBef>
                  <a:spcPts val="0"/>
                </a:spcBef>
                <a:spcAft>
                  <a:spcPts val="0"/>
                </a:spcAft>
              </a:defPPr>
              <a:lvl1pPr marR="0" lvl="0" algn="l" rtl="0" eaLnBrk="0" hangingPunct="0">
                <a:lnSpc>
                  <a:spcPct val="100000"/>
                </a:lnSpc>
                <a:spcBef>
                  <a:spcPts val="0"/>
                </a:spcBef>
                <a:spcAft>
                  <a:spcPts val="0"/>
                </a:spcAft>
                <a:buClr>
                  <a:srgbClr val="000000"/>
                </a:buClr>
                <a:buFont typeface="Arial"/>
                <a:defRPr sz="2400" b="1" i="0" u="none" strike="noStrike" cap="none">
                  <a:solidFill>
                    <a:schemeClr val="tx1"/>
                  </a:solidFill>
                  <a:latin typeface="Arial" pitchFamily="34" charset="0"/>
                  <a:ea typeface="Arial"/>
                  <a:cs typeface="Arial"/>
                  <a:sym typeface="Arial"/>
                </a:defRPr>
              </a:lvl1pPr>
              <a:lvl2pPr marL="742950" marR="0" lvl="1" indent="-285750" algn="l" rtl="0" eaLnBrk="0" hangingPunct="0">
                <a:lnSpc>
                  <a:spcPct val="100000"/>
                </a:lnSpc>
                <a:spcBef>
                  <a:spcPts val="0"/>
                </a:spcBef>
                <a:spcAft>
                  <a:spcPts val="0"/>
                </a:spcAft>
                <a:buClr>
                  <a:srgbClr val="000000"/>
                </a:buClr>
                <a:buFont typeface="Arial"/>
                <a:defRPr sz="2400" b="1" i="0" u="none" strike="noStrike" cap="none">
                  <a:solidFill>
                    <a:schemeClr val="tx1"/>
                  </a:solidFill>
                  <a:latin typeface="Arial" pitchFamily="34" charset="0"/>
                  <a:ea typeface="Arial"/>
                  <a:cs typeface="Arial"/>
                  <a:sym typeface="Arial"/>
                </a:defRPr>
              </a:lvl2pPr>
              <a:lvl3pPr marL="1143000" marR="0" lvl="2" indent="-228600" algn="l" rtl="0" eaLnBrk="0" hangingPunct="0">
                <a:lnSpc>
                  <a:spcPct val="100000"/>
                </a:lnSpc>
                <a:spcBef>
                  <a:spcPts val="0"/>
                </a:spcBef>
                <a:spcAft>
                  <a:spcPts val="0"/>
                </a:spcAft>
                <a:buClr>
                  <a:srgbClr val="000000"/>
                </a:buClr>
                <a:buFont typeface="Arial"/>
                <a:defRPr sz="2400" b="1" i="0" u="none" strike="noStrike" cap="none">
                  <a:solidFill>
                    <a:schemeClr val="tx1"/>
                  </a:solidFill>
                  <a:latin typeface="Arial" pitchFamily="34" charset="0"/>
                  <a:ea typeface="Arial"/>
                  <a:cs typeface="Arial"/>
                  <a:sym typeface="Arial"/>
                </a:defRPr>
              </a:lvl3pPr>
              <a:lvl4pPr marL="1600200" marR="0" lvl="3" indent="-228600" algn="l" rtl="0" eaLnBrk="0" hangingPunct="0">
                <a:lnSpc>
                  <a:spcPct val="100000"/>
                </a:lnSpc>
                <a:spcBef>
                  <a:spcPts val="0"/>
                </a:spcBef>
                <a:spcAft>
                  <a:spcPts val="0"/>
                </a:spcAft>
                <a:buClr>
                  <a:srgbClr val="000000"/>
                </a:buClr>
                <a:buFont typeface="Arial"/>
                <a:defRPr sz="2400" b="1" i="0" u="none" strike="noStrike" cap="none">
                  <a:solidFill>
                    <a:schemeClr val="tx1"/>
                  </a:solidFill>
                  <a:latin typeface="Arial" pitchFamily="34" charset="0"/>
                  <a:ea typeface="Arial"/>
                  <a:cs typeface="Arial"/>
                  <a:sym typeface="Arial"/>
                </a:defRPr>
              </a:lvl4pPr>
              <a:lvl5pPr marL="2057400" marR="0" lvl="4" indent="-228600" algn="l" rtl="0" eaLnBrk="0" hangingPunct="0">
                <a:lnSpc>
                  <a:spcPct val="100000"/>
                </a:lnSpc>
                <a:spcBef>
                  <a:spcPts val="0"/>
                </a:spcBef>
                <a:spcAft>
                  <a:spcPts val="0"/>
                </a:spcAft>
                <a:buClr>
                  <a:srgbClr val="000000"/>
                </a:buClr>
                <a:buFont typeface="Arial"/>
                <a:defRPr sz="2400" b="1" i="0" u="none" strike="noStrike" cap="none">
                  <a:solidFill>
                    <a:schemeClr val="tx1"/>
                  </a:solidFill>
                  <a:latin typeface="Arial" pitchFamily="34" charset="0"/>
                  <a:ea typeface="Arial"/>
                  <a:cs typeface="Arial"/>
                  <a:sym typeface="Arial"/>
                </a:defRPr>
              </a:lvl5pPr>
              <a:lvl6pPr marL="2514600" marR="0" lvl="5" indent="-228600" algn="l" rtl="0" eaLnBrk="0" fontAlgn="base" hangingPunct="0">
                <a:lnSpc>
                  <a:spcPct val="100000"/>
                </a:lnSpc>
                <a:spcBef>
                  <a:spcPct val="0"/>
                </a:spcBef>
                <a:spcAft>
                  <a:spcPct val="0"/>
                </a:spcAft>
                <a:buClr>
                  <a:srgbClr val="000000"/>
                </a:buClr>
                <a:buFont typeface="Arial"/>
                <a:defRPr sz="2400" b="1" i="0" u="none" strike="noStrike" cap="none">
                  <a:solidFill>
                    <a:schemeClr val="tx1"/>
                  </a:solidFill>
                  <a:latin typeface="Arial" pitchFamily="34" charset="0"/>
                  <a:ea typeface="Arial"/>
                  <a:cs typeface="Arial"/>
                  <a:sym typeface="Arial"/>
                </a:defRPr>
              </a:lvl6pPr>
              <a:lvl7pPr marL="2971800" marR="0" lvl="6" indent="-228600" algn="l" rtl="0" eaLnBrk="0" fontAlgn="base" hangingPunct="0">
                <a:lnSpc>
                  <a:spcPct val="100000"/>
                </a:lnSpc>
                <a:spcBef>
                  <a:spcPct val="0"/>
                </a:spcBef>
                <a:spcAft>
                  <a:spcPct val="0"/>
                </a:spcAft>
                <a:buClr>
                  <a:srgbClr val="000000"/>
                </a:buClr>
                <a:buFont typeface="Arial"/>
                <a:defRPr sz="2400" b="1" i="0" u="none" strike="noStrike" cap="none">
                  <a:solidFill>
                    <a:schemeClr val="tx1"/>
                  </a:solidFill>
                  <a:latin typeface="Arial" pitchFamily="34" charset="0"/>
                  <a:ea typeface="Arial"/>
                  <a:cs typeface="Arial"/>
                  <a:sym typeface="Arial"/>
                </a:defRPr>
              </a:lvl7pPr>
              <a:lvl8pPr marL="3429000" marR="0" lvl="7" indent="-228600" algn="l" rtl="0" eaLnBrk="0" fontAlgn="base" hangingPunct="0">
                <a:lnSpc>
                  <a:spcPct val="100000"/>
                </a:lnSpc>
                <a:spcBef>
                  <a:spcPct val="0"/>
                </a:spcBef>
                <a:spcAft>
                  <a:spcPct val="0"/>
                </a:spcAft>
                <a:buClr>
                  <a:srgbClr val="000000"/>
                </a:buClr>
                <a:buFont typeface="Arial"/>
                <a:defRPr sz="2400" b="1" i="0" u="none" strike="noStrike" cap="none">
                  <a:solidFill>
                    <a:schemeClr val="tx1"/>
                  </a:solidFill>
                  <a:latin typeface="Arial" pitchFamily="34" charset="0"/>
                  <a:ea typeface="Arial"/>
                  <a:cs typeface="Arial"/>
                  <a:sym typeface="Arial"/>
                </a:defRPr>
              </a:lvl8pPr>
              <a:lvl9pPr marL="3886200" marR="0" lvl="8" indent="-228600" algn="l" rtl="0" eaLnBrk="0" fontAlgn="base" hangingPunct="0">
                <a:lnSpc>
                  <a:spcPct val="100000"/>
                </a:lnSpc>
                <a:spcBef>
                  <a:spcPct val="0"/>
                </a:spcBef>
                <a:spcAft>
                  <a:spcPct val="0"/>
                </a:spcAft>
                <a:buClr>
                  <a:srgbClr val="000000"/>
                </a:buClr>
                <a:buFont typeface="Arial"/>
                <a:defRPr sz="2400" b="1" i="0" u="none" strike="noStrike" cap="none">
                  <a:solidFill>
                    <a:schemeClr val="tx1"/>
                  </a:solidFill>
                  <a:latin typeface="Arial" pitchFamily="34" charset="0"/>
                  <a:ea typeface="Arial"/>
                  <a:cs typeface="Arial"/>
                  <a:sym typeface="Arial"/>
                </a:defRPr>
              </a:lvl9pPr>
            </a:lstStyle>
            <a:p>
              <a:pPr algn="ctr"/>
              <a:r>
                <a:rPr lang="en-US" altLang="en-US" sz="1200">
                  <a:solidFill>
                    <a:schemeClr val="bg1"/>
                  </a:solidFill>
                  <a:latin typeface="Arial"/>
                </a:rPr>
                <a:t>preprocessor</a:t>
              </a:r>
              <a:endParaRPr lang="en-US" altLang="en-US" sz="1200">
                <a:solidFill>
                  <a:schemeClr val="bg1"/>
                </a:solidFill>
              </a:endParaRPr>
            </a:p>
          </p:txBody>
        </p:sp>
        <p:sp>
          <p:nvSpPr>
            <p:cNvPr id="22" name="Rounded Rectangle 1">
              <a:extLst>
                <a:ext uri="{FF2B5EF4-FFF2-40B4-BE49-F238E27FC236}">
                  <a16:creationId xmlns:a16="http://schemas.microsoft.com/office/drawing/2014/main" id="{066C3499-FDED-28CE-08CA-6F7A16768640}"/>
                </a:ext>
              </a:extLst>
            </p:cNvPr>
            <p:cNvSpPr>
              <a:spLocks noChangeArrowheads="1"/>
            </p:cNvSpPr>
            <p:nvPr/>
          </p:nvSpPr>
          <p:spPr bwMode="auto">
            <a:xfrm>
              <a:off x="4788449" y="1251144"/>
              <a:ext cx="1510843" cy="466344"/>
            </a:xfrm>
            <a:prstGeom prst="roundRect">
              <a:avLst>
                <a:gd name="adj" fmla="val 16667"/>
              </a:avLst>
            </a:prstGeom>
            <a:solidFill>
              <a:srgbClr val="297B49"/>
            </a:solidFill>
            <a:ln>
              <a:noFill/>
            </a:ln>
          </p:spPr>
          <p:txBody>
            <a:bodyPr lIns="91440" tIns="45720" rIns="91440" bIns="45720" anchor="ctr"/>
            <a:lstStyle>
              <a:defPPr marR="0" lvl="0" algn="l" rtl="0">
                <a:lnSpc>
                  <a:spcPct val="100000"/>
                </a:lnSpc>
                <a:spcBef>
                  <a:spcPts val="0"/>
                </a:spcBef>
                <a:spcAft>
                  <a:spcPts val="0"/>
                </a:spcAft>
              </a:defPPr>
              <a:lvl1pPr marR="0" lvl="0" algn="l" rtl="0" eaLnBrk="0" hangingPunct="0">
                <a:lnSpc>
                  <a:spcPct val="100000"/>
                </a:lnSpc>
                <a:spcBef>
                  <a:spcPts val="0"/>
                </a:spcBef>
                <a:spcAft>
                  <a:spcPts val="0"/>
                </a:spcAft>
                <a:buClr>
                  <a:srgbClr val="000000"/>
                </a:buClr>
                <a:buFont typeface="Arial"/>
                <a:defRPr sz="2400" b="1" i="0" u="none" strike="noStrike" cap="none">
                  <a:solidFill>
                    <a:schemeClr val="tx1"/>
                  </a:solidFill>
                  <a:latin typeface="Arial" pitchFamily="34" charset="0"/>
                  <a:ea typeface="Arial"/>
                  <a:cs typeface="Arial"/>
                  <a:sym typeface="Arial"/>
                </a:defRPr>
              </a:lvl1pPr>
              <a:lvl2pPr marL="742950" marR="0" lvl="1" indent="-285750" algn="l" rtl="0" eaLnBrk="0" hangingPunct="0">
                <a:lnSpc>
                  <a:spcPct val="100000"/>
                </a:lnSpc>
                <a:spcBef>
                  <a:spcPts val="0"/>
                </a:spcBef>
                <a:spcAft>
                  <a:spcPts val="0"/>
                </a:spcAft>
                <a:buClr>
                  <a:srgbClr val="000000"/>
                </a:buClr>
                <a:buFont typeface="Arial"/>
                <a:defRPr sz="2400" b="1" i="0" u="none" strike="noStrike" cap="none">
                  <a:solidFill>
                    <a:schemeClr val="tx1"/>
                  </a:solidFill>
                  <a:latin typeface="Arial" pitchFamily="34" charset="0"/>
                  <a:ea typeface="Arial"/>
                  <a:cs typeface="Arial"/>
                  <a:sym typeface="Arial"/>
                </a:defRPr>
              </a:lvl2pPr>
              <a:lvl3pPr marL="1143000" marR="0" lvl="2" indent="-228600" algn="l" rtl="0" eaLnBrk="0" hangingPunct="0">
                <a:lnSpc>
                  <a:spcPct val="100000"/>
                </a:lnSpc>
                <a:spcBef>
                  <a:spcPts val="0"/>
                </a:spcBef>
                <a:spcAft>
                  <a:spcPts val="0"/>
                </a:spcAft>
                <a:buClr>
                  <a:srgbClr val="000000"/>
                </a:buClr>
                <a:buFont typeface="Arial"/>
                <a:defRPr sz="2400" b="1" i="0" u="none" strike="noStrike" cap="none">
                  <a:solidFill>
                    <a:schemeClr val="tx1"/>
                  </a:solidFill>
                  <a:latin typeface="Arial" pitchFamily="34" charset="0"/>
                  <a:ea typeface="Arial"/>
                  <a:cs typeface="Arial"/>
                  <a:sym typeface="Arial"/>
                </a:defRPr>
              </a:lvl3pPr>
              <a:lvl4pPr marL="1600200" marR="0" lvl="3" indent="-228600" algn="l" rtl="0" eaLnBrk="0" hangingPunct="0">
                <a:lnSpc>
                  <a:spcPct val="100000"/>
                </a:lnSpc>
                <a:spcBef>
                  <a:spcPts val="0"/>
                </a:spcBef>
                <a:spcAft>
                  <a:spcPts val="0"/>
                </a:spcAft>
                <a:buClr>
                  <a:srgbClr val="000000"/>
                </a:buClr>
                <a:buFont typeface="Arial"/>
                <a:defRPr sz="2400" b="1" i="0" u="none" strike="noStrike" cap="none">
                  <a:solidFill>
                    <a:schemeClr val="tx1"/>
                  </a:solidFill>
                  <a:latin typeface="Arial" pitchFamily="34" charset="0"/>
                  <a:ea typeface="Arial"/>
                  <a:cs typeface="Arial"/>
                  <a:sym typeface="Arial"/>
                </a:defRPr>
              </a:lvl4pPr>
              <a:lvl5pPr marL="2057400" marR="0" lvl="4" indent="-228600" algn="l" rtl="0" eaLnBrk="0" hangingPunct="0">
                <a:lnSpc>
                  <a:spcPct val="100000"/>
                </a:lnSpc>
                <a:spcBef>
                  <a:spcPts val="0"/>
                </a:spcBef>
                <a:spcAft>
                  <a:spcPts val="0"/>
                </a:spcAft>
                <a:buClr>
                  <a:srgbClr val="000000"/>
                </a:buClr>
                <a:buFont typeface="Arial"/>
                <a:defRPr sz="2400" b="1" i="0" u="none" strike="noStrike" cap="none">
                  <a:solidFill>
                    <a:schemeClr val="tx1"/>
                  </a:solidFill>
                  <a:latin typeface="Arial" pitchFamily="34" charset="0"/>
                  <a:ea typeface="Arial"/>
                  <a:cs typeface="Arial"/>
                  <a:sym typeface="Arial"/>
                </a:defRPr>
              </a:lvl5pPr>
              <a:lvl6pPr marL="2514600" marR="0" lvl="5" indent="-228600" algn="l" rtl="0" eaLnBrk="0" fontAlgn="base" hangingPunct="0">
                <a:lnSpc>
                  <a:spcPct val="100000"/>
                </a:lnSpc>
                <a:spcBef>
                  <a:spcPct val="0"/>
                </a:spcBef>
                <a:spcAft>
                  <a:spcPct val="0"/>
                </a:spcAft>
                <a:buClr>
                  <a:srgbClr val="000000"/>
                </a:buClr>
                <a:buFont typeface="Arial"/>
                <a:defRPr sz="2400" b="1" i="0" u="none" strike="noStrike" cap="none">
                  <a:solidFill>
                    <a:schemeClr val="tx1"/>
                  </a:solidFill>
                  <a:latin typeface="Arial" pitchFamily="34" charset="0"/>
                  <a:ea typeface="Arial"/>
                  <a:cs typeface="Arial"/>
                  <a:sym typeface="Arial"/>
                </a:defRPr>
              </a:lvl6pPr>
              <a:lvl7pPr marL="2971800" marR="0" lvl="6" indent="-228600" algn="l" rtl="0" eaLnBrk="0" fontAlgn="base" hangingPunct="0">
                <a:lnSpc>
                  <a:spcPct val="100000"/>
                </a:lnSpc>
                <a:spcBef>
                  <a:spcPct val="0"/>
                </a:spcBef>
                <a:spcAft>
                  <a:spcPct val="0"/>
                </a:spcAft>
                <a:buClr>
                  <a:srgbClr val="000000"/>
                </a:buClr>
                <a:buFont typeface="Arial"/>
                <a:defRPr sz="2400" b="1" i="0" u="none" strike="noStrike" cap="none">
                  <a:solidFill>
                    <a:schemeClr val="tx1"/>
                  </a:solidFill>
                  <a:latin typeface="Arial" pitchFamily="34" charset="0"/>
                  <a:ea typeface="Arial"/>
                  <a:cs typeface="Arial"/>
                  <a:sym typeface="Arial"/>
                </a:defRPr>
              </a:lvl7pPr>
              <a:lvl8pPr marL="3429000" marR="0" lvl="7" indent="-228600" algn="l" rtl="0" eaLnBrk="0" fontAlgn="base" hangingPunct="0">
                <a:lnSpc>
                  <a:spcPct val="100000"/>
                </a:lnSpc>
                <a:spcBef>
                  <a:spcPct val="0"/>
                </a:spcBef>
                <a:spcAft>
                  <a:spcPct val="0"/>
                </a:spcAft>
                <a:buClr>
                  <a:srgbClr val="000000"/>
                </a:buClr>
                <a:buFont typeface="Arial"/>
                <a:defRPr sz="2400" b="1" i="0" u="none" strike="noStrike" cap="none">
                  <a:solidFill>
                    <a:schemeClr val="tx1"/>
                  </a:solidFill>
                  <a:latin typeface="Arial" pitchFamily="34" charset="0"/>
                  <a:ea typeface="Arial"/>
                  <a:cs typeface="Arial"/>
                  <a:sym typeface="Arial"/>
                </a:defRPr>
              </a:lvl8pPr>
              <a:lvl9pPr marL="3886200" marR="0" lvl="8" indent="-228600" algn="l" rtl="0" eaLnBrk="0" fontAlgn="base" hangingPunct="0">
                <a:lnSpc>
                  <a:spcPct val="100000"/>
                </a:lnSpc>
                <a:spcBef>
                  <a:spcPct val="0"/>
                </a:spcBef>
                <a:spcAft>
                  <a:spcPct val="0"/>
                </a:spcAft>
                <a:buClr>
                  <a:srgbClr val="000000"/>
                </a:buClr>
                <a:buFont typeface="Arial"/>
                <a:defRPr sz="2400" b="1" i="0" u="none" strike="noStrike" cap="none">
                  <a:solidFill>
                    <a:schemeClr val="tx1"/>
                  </a:solidFill>
                  <a:latin typeface="Arial" pitchFamily="34" charset="0"/>
                  <a:ea typeface="Arial"/>
                  <a:cs typeface="Arial"/>
                  <a:sym typeface="Arial"/>
                </a:defRPr>
              </a:lvl9pPr>
            </a:lstStyle>
            <a:p>
              <a:pPr algn="ctr"/>
              <a:r>
                <a:rPr lang="en-US" altLang="en-US" sz="1200">
                  <a:solidFill>
                    <a:schemeClr val="bg1"/>
                  </a:solidFill>
                  <a:latin typeface="Arial"/>
                </a:rPr>
                <a:t>save service</a:t>
              </a:r>
              <a:endParaRPr lang="en-US" altLang="en-US" sz="1200">
                <a:solidFill>
                  <a:schemeClr val="bg1"/>
                </a:solidFill>
              </a:endParaRPr>
            </a:p>
          </p:txBody>
        </p:sp>
        <p:sp>
          <p:nvSpPr>
            <p:cNvPr id="23" name="Rounded Rectangle 1">
              <a:extLst>
                <a:ext uri="{FF2B5EF4-FFF2-40B4-BE49-F238E27FC236}">
                  <a16:creationId xmlns:a16="http://schemas.microsoft.com/office/drawing/2014/main" id="{3CE9D02C-1327-0267-2308-DBAEE49ADABF}"/>
                </a:ext>
              </a:extLst>
            </p:cNvPr>
            <p:cNvSpPr>
              <a:spLocks noChangeArrowheads="1"/>
            </p:cNvSpPr>
            <p:nvPr/>
          </p:nvSpPr>
          <p:spPr bwMode="auto">
            <a:xfrm>
              <a:off x="6861193" y="1251144"/>
              <a:ext cx="1510843" cy="466344"/>
            </a:xfrm>
            <a:prstGeom prst="roundRect">
              <a:avLst>
                <a:gd name="adj" fmla="val 16667"/>
              </a:avLst>
            </a:prstGeom>
            <a:solidFill>
              <a:srgbClr val="297B49"/>
            </a:solidFill>
            <a:ln>
              <a:noFill/>
            </a:ln>
          </p:spPr>
          <p:txBody>
            <a:bodyPr lIns="91440" tIns="45720" rIns="91440" bIns="45720" anchor="ctr"/>
            <a:lstStyle>
              <a:defPPr marR="0" lvl="0" algn="l" rtl="0">
                <a:lnSpc>
                  <a:spcPct val="100000"/>
                </a:lnSpc>
                <a:spcBef>
                  <a:spcPts val="0"/>
                </a:spcBef>
                <a:spcAft>
                  <a:spcPts val="0"/>
                </a:spcAft>
              </a:defPPr>
              <a:lvl1pPr marR="0" lvl="0" algn="l" rtl="0" eaLnBrk="0" hangingPunct="0">
                <a:lnSpc>
                  <a:spcPct val="100000"/>
                </a:lnSpc>
                <a:spcBef>
                  <a:spcPts val="0"/>
                </a:spcBef>
                <a:spcAft>
                  <a:spcPts val="0"/>
                </a:spcAft>
                <a:buClr>
                  <a:srgbClr val="000000"/>
                </a:buClr>
                <a:buFont typeface="Arial"/>
                <a:defRPr sz="2400" b="1" i="0" u="none" strike="noStrike" cap="none">
                  <a:solidFill>
                    <a:schemeClr val="tx1"/>
                  </a:solidFill>
                  <a:latin typeface="Arial" pitchFamily="34" charset="0"/>
                  <a:ea typeface="Arial"/>
                  <a:cs typeface="Arial"/>
                  <a:sym typeface="Arial"/>
                </a:defRPr>
              </a:lvl1pPr>
              <a:lvl2pPr marL="742950" marR="0" lvl="1" indent="-285750" algn="l" rtl="0" eaLnBrk="0" hangingPunct="0">
                <a:lnSpc>
                  <a:spcPct val="100000"/>
                </a:lnSpc>
                <a:spcBef>
                  <a:spcPts val="0"/>
                </a:spcBef>
                <a:spcAft>
                  <a:spcPts val="0"/>
                </a:spcAft>
                <a:buClr>
                  <a:srgbClr val="000000"/>
                </a:buClr>
                <a:buFont typeface="Arial"/>
                <a:defRPr sz="2400" b="1" i="0" u="none" strike="noStrike" cap="none">
                  <a:solidFill>
                    <a:schemeClr val="tx1"/>
                  </a:solidFill>
                  <a:latin typeface="Arial" pitchFamily="34" charset="0"/>
                  <a:ea typeface="Arial"/>
                  <a:cs typeface="Arial"/>
                  <a:sym typeface="Arial"/>
                </a:defRPr>
              </a:lvl2pPr>
              <a:lvl3pPr marL="1143000" marR="0" lvl="2" indent="-228600" algn="l" rtl="0" eaLnBrk="0" hangingPunct="0">
                <a:lnSpc>
                  <a:spcPct val="100000"/>
                </a:lnSpc>
                <a:spcBef>
                  <a:spcPts val="0"/>
                </a:spcBef>
                <a:spcAft>
                  <a:spcPts val="0"/>
                </a:spcAft>
                <a:buClr>
                  <a:srgbClr val="000000"/>
                </a:buClr>
                <a:buFont typeface="Arial"/>
                <a:defRPr sz="2400" b="1" i="0" u="none" strike="noStrike" cap="none">
                  <a:solidFill>
                    <a:schemeClr val="tx1"/>
                  </a:solidFill>
                  <a:latin typeface="Arial" pitchFamily="34" charset="0"/>
                  <a:ea typeface="Arial"/>
                  <a:cs typeface="Arial"/>
                  <a:sym typeface="Arial"/>
                </a:defRPr>
              </a:lvl3pPr>
              <a:lvl4pPr marL="1600200" marR="0" lvl="3" indent="-228600" algn="l" rtl="0" eaLnBrk="0" hangingPunct="0">
                <a:lnSpc>
                  <a:spcPct val="100000"/>
                </a:lnSpc>
                <a:spcBef>
                  <a:spcPts val="0"/>
                </a:spcBef>
                <a:spcAft>
                  <a:spcPts val="0"/>
                </a:spcAft>
                <a:buClr>
                  <a:srgbClr val="000000"/>
                </a:buClr>
                <a:buFont typeface="Arial"/>
                <a:defRPr sz="2400" b="1" i="0" u="none" strike="noStrike" cap="none">
                  <a:solidFill>
                    <a:schemeClr val="tx1"/>
                  </a:solidFill>
                  <a:latin typeface="Arial" pitchFamily="34" charset="0"/>
                  <a:ea typeface="Arial"/>
                  <a:cs typeface="Arial"/>
                  <a:sym typeface="Arial"/>
                </a:defRPr>
              </a:lvl4pPr>
              <a:lvl5pPr marL="2057400" marR="0" lvl="4" indent="-228600" algn="l" rtl="0" eaLnBrk="0" hangingPunct="0">
                <a:lnSpc>
                  <a:spcPct val="100000"/>
                </a:lnSpc>
                <a:spcBef>
                  <a:spcPts val="0"/>
                </a:spcBef>
                <a:spcAft>
                  <a:spcPts val="0"/>
                </a:spcAft>
                <a:buClr>
                  <a:srgbClr val="000000"/>
                </a:buClr>
                <a:buFont typeface="Arial"/>
                <a:defRPr sz="2400" b="1" i="0" u="none" strike="noStrike" cap="none">
                  <a:solidFill>
                    <a:schemeClr val="tx1"/>
                  </a:solidFill>
                  <a:latin typeface="Arial" pitchFamily="34" charset="0"/>
                  <a:ea typeface="Arial"/>
                  <a:cs typeface="Arial"/>
                  <a:sym typeface="Arial"/>
                </a:defRPr>
              </a:lvl5pPr>
              <a:lvl6pPr marL="2514600" marR="0" lvl="5" indent="-228600" algn="l" rtl="0" eaLnBrk="0" fontAlgn="base" hangingPunct="0">
                <a:lnSpc>
                  <a:spcPct val="100000"/>
                </a:lnSpc>
                <a:spcBef>
                  <a:spcPct val="0"/>
                </a:spcBef>
                <a:spcAft>
                  <a:spcPct val="0"/>
                </a:spcAft>
                <a:buClr>
                  <a:srgbClr val="000000"/>
                </a:buClr>
                <a:buFont typeface="Arial"/>
                <a:defRPr sz="2400" b="1" i="0" u="none" strike="noStrike" cap="none">
                  <a:solidFill>
                    <a:schemeClr val="tx1"/>
                  </a:solidFill>
                  <a:latin typeface="Arial" pitchFamily="34" charset="0"/>
                  <a:ea typeface="Arial"/>
                  <a:cs typeface="Arial"/>
                  <a:sym typeface="Arial"/>
                </a:defRPr>
              </a:lvl6pPr>
              <a:lvl7pPr marL="2971800" marR="0" lvl="6" indent="-228600" algn="l" rtl="0" eaLnBrk="0" fontAlgn="base" hangingPunct="0">
                <a:lnSpc>
                  <a:spcPct val="100000"/>
                </a:lnSpc>
                <a:spcBef>
                  <a:spcPct val="0"/>
                </a:spcBef>
                <a:spcAft>
                  <a:spcPct val="0"/>
                </a:spcAft>
                <a:buClr>
                  <a:srgbClr val="000000"/>
                </a:buClr>
                <a:buFont typeface="Arial"/>
                <a:defRPr sz="2400" b="1" i="0" u="none" strike="noStrike" cap="none">
                  <a:solidFill>
                    <a:schemeClr val="tx1"/>
                  </a:solidFill>
                  <a:latin typeface="Arial" pitchFamily="34" charset="0"/>
                  <a:ea typeface="Arial"/>
                  <a:cs typeface="Arial"/>
                  <a:sym typeface="Arial"/>
                </a:defRPr>
              </a:lvl7pPr>
              <a:lvl8pPr marL="3429000" marR="0" lvl="7" indent="-228600" algn="l" rtl="0" eaLnBrk="0" fontAlgn="base" hangingPunct="0">
                <a:lnSpc>
                  <a:spcPct val="100000"/>
                </a:lnSpc>
                <a:spcBef>
                  <a:spcPct val="0"/>
                </a:spcBef>
                <a:spcAft>
                  <a:spcPct val="0"/>
                </a:spcAft>
                <a:buClr>
                  <a:srgbClr val="000000"/>
                </a:buClr>
                <a:buFont typeface="Arial"/>
                <a:defRPr sz="2400" b="1" i="0" u="none" strike="noStrike" cap="none">
                  <a:solidFill>
                    <a:schemeClr val="tx1"/>
                  </a:solidFill>
                  <a:latin typeface="Arial" pitchFamily="34" charset="0"/>
                  <a:ea typeface="Arial"/>
                  <a:cs typeface="Arial"/>
                  <a:sym typeface="Arial"/>
                </a:defRPr>
              </a:lvl8pPr>
              <a:lvl9pPr marL="3886200" marR="0" lvl="8" indent="-228600" algn="l" rtl="0" eaLnBrk="0" fontAlgn="base" hangingPunct="0">
                <a:lnSpc>
                  <a:spcPct val="100000"/>
                </a:lnSpc>
                <a:spcBef>
                  <a:spcPct val="0"/>
                </a:spcBef>
                <a:spcAft>
                  <a:spcPct val="0"/>
                </a:spcAft>
                <a:buClr>
                  <a:srgbClr val="000000"/>
                </a:buClr>
                <a:buFont typeface="Arial"/>
                <a:defRPr sz="2400" b="1" i="0" u="none" strike="noStrike" cap="none">
                  <a:solidFill>
                    <a:schemeClr val="tx1"/>
                  </a:solidFill>
                  <a:latin typeface="Arial" pitchFamily="34" charset="0"/>
                  <a:ea typeface="Arial"/>
                  <a:cs typeface="Arial"/>
                  <a:sym typeface="Arial"/>
                </a:defRPr>
              </a:lvl9pPr>
            </a:lstStyle>
            <a:p>
              <a:pPr algn="ctr"/>
              <a:r>
                <a:rPr lang="en-US" altLang="en-US" sz="1200">
                  <a:solidFill>
                    <a:schemeClr val="bg1"/>
                  </a:solidFill>
                  <a:latin typeface="Arial"/>
                </a:rPr>
                <a:t>populator</a:t>
              </a:r>
              <a:endParaRPr lang="en-US" altLang="en-US" sz="1200">
                <a:solidFill>
                  <a:schemeClr val="bg1"/>
                </a:solidFill>
              </a:endParaRPr>
            </a:p>
          </p:txBody>
        </p:sp>
      </p:grpSp>
      <p:cxnSp>
        <p:nvCxnSpPr>
          <p:cNvPr id="24" name="Straight Arrow Connector 23">
            <a:extLst>
              <a:ext uri="{FF2B5EF4-FFF2-40B4-BE49-F238E27FC236}">
                <a16:creationId xmlns:a16="http://schemas.microsoft.com/office/drawing/2014/main" id="{859F4532-0DDF-C7A3-BD21-9DB4DEF2A3C3}"/>
              </a:ext>
            </a:extLst>
          </p:cNvPr>
          <p:cNvCxnSpPr>
            <a:cxnSpLocks/>
          </p:cNvCxnSpPr>
          <p:nvPr/>
        </p:nvCxnSpPr>
        <p:spPr>
          <a:xfrm>
            <a:off x="1446059" y="3814300"/>
            <a:ext cx="0" cy="242654"/>
          </a:xfrm>
          <a:prstGeom prst="straightConnector1">
            <a:avLst/>
          </a:prstGeom>
          <a:ln>
            <a:solidFill>
              <a:srgbClr val="16693F"/>
            </a:solidFill>
            <a:tailEnd type="triangle"/>
          </a:ln>
        </p:spPr>
        <p:style>
          <a:lnRef idx="3">
            <a:schemeClr val="dk1"/>
          </a:lnRef>
          <a:fillRef idx="0">
            <a:schemeClr val="dk1"/>
          </a:fillRef>
          <a:effectRef idx="2">
            <a:schemeClr val="dk1"/>
          </a:effectRef>
          <a:fontRef idx="minor">
            <a:schemeClr val="tx1"/>
          </a:fontRef>
        </p:style>
      </p:cxnSp>
      <p:cxnSp>
        <p:nvCxnSpPr>
          <p:cNvPr id="26" name="Straight Arrow Connector 25">
            <a:extLst>
              <a:ext uri="{FF2B5EF4-FFF2-40B4-BE49-F238E27FC236}">
                <a16:creationId xmlns:a16="http://schemas.microsoft.com/office/drawing/2014/main" id="{2698AF0A-6E18-EE39-B663-79DB0BD1BD7F}"/>
              </a:ext>
            </a:extLst>
          </p:cNvPr>
          <p:cNvCxnSpPr>
            <a:cxnSpLocks/>
          </p:cNvCxnSpPr>
          <p:nvPr/>
        </p:nvCxnSpPr>
        <p:spPr>
          <a:xfrm>
            <a:off x="2275530" y="4337860"/>
            <a:ext cx="400422" cy="0"/>
          </a:xfrm>
          <a:prstGeom prst="straightConnector1">
            <a:avLst/>
          </a:prstGeom>
          <a:ln>
            <a:solidFill>
              <a:srgbClr val="16693F"/>
            </a:solidFill>
            <a:tailEnd type="triangle"/>
          </a:ln>
        </p:spPr>
        <p:style>
          <a:lnRef idx="3">
            <a:schemeClr val="dk1"/>
          </a:lnRef>
          <a:fillRef idx="0">
            <a:schemeClr val="dk1"/>
          </a:fillRef>
          <a:effectRef idx="2">
            <a:schemeClr val="dk1"/>
          </a:effectRef>
          <a:fontRef idx="minor">
            <a:schemeClr val="tx1"/>
          </a:fontRef>
        </p:style>
      </p:cxnSp>
      <p:cxnSp>
        <p:nvCxnSpPr>
          <p:cNvPr id="27" name="Straight Arrow Connector 26">
            <a:extLst>
              <a:ext uri="{FF2B5EF4-FFF2-40B4-BE49-F238E27FC236}">
                <a16:creationId xmlns:a16="http://schemas.microsoft.com/office/drawing/2014/main" id="{1583415A-7D6D-370F-F53C-BC4FE5A6599B}"/>
              </a:ext>
            </a:extLst>
          </p:cNvPr>
          <p:cNvCxnSpPr>
            <a:cxnSpLocks/>
          </p:cNvCxnSpPr>
          <p:nvPr/>
        </p:nvCxnSpPr>
        <p:spPr>
          <a:xfrm>
            <a:off x="4334216" y="3501742"/>
            <a:ext cx="440209" cy="0"/>
          </a:xfrm>
          <a:prstGeom prst="straightConnector1">
            <a:avLst/>
          </a:prstGeom>
          <a:ln>
            <a:solidFill>
              <a:srgbClr val="16693F"/>
            </a:solidFill>
            <a:tailEnd type="triangle"/>
          </a:ln>
        </p:spPr>
        <p:style>
          <a:lnRef idx="3">
            <a:schemeClr val="dk1"/>
          </a:lnRef>
          <a:fillRef idx="0">
            <a:schemeClr val="dk1"/>
          </a:fillRef>
          <a:effectRef idx="2">
            <a:schemeClr val="dk1"/>
          </a:effectRef>
          <a:fontRef idx="minor">
            <a:schemeClr val="tx1"/>
          </a:fontRef>
        </p:style>
      </p:cxnSp>
      <p:cxnSp>
        <p:nvCxnSpPr>
          <p:cNvPr id="30" name="Straight Arrow Connector 29">
            <a:extLst>
              <a:ext uri="{FF2B5EF4-FFF2-40B4-BE49-F238E27FC236}">
                <a16:creationId xmlns:a16="http://schemas.microsoft.com/office/drawing/2014/main" id="{FE70A426-C4F3-A273-817D-EBD4A82218D5}"/>
              </a:ext>
            </a:extLst>
          </p:cNvPr>
          <p:cNvCxnSpPr>
            <a:cxnSpLocks/>
          </p:cNvCxnSpPr>
          <p:nvPr/>
        </p:nvCxnSpPr>
        <p:spPr>
          <a:xfrm flipV="1">
            <a:off x="3505422" y="3814300"/>
            <a:ext cx="0" cy="242654"/>
          </a:xfrm>
          <a:prstGeom prst="straightConnector1">
            <a:avLst/>
          </a:prstGeom>
          <a:ln>
            <a:solidFill>
              <a:srgbClr val="16693F"/>
            </a:solidFill>
            <a:tailEnd type="triangle"/>
          </a:ln>
        </p:spPr>
        <p:style>
          <a:lnRef idx="3">
            <a:schemeClr val="dk1"/>
          </a:lnRef>
          <a:fillRef idx="0">
            <a:schemeClr val="dk1"/>
          </a:fillRef>
          <a:effectRef idx="2">
            <a:schemeClr val="dk1"/>
          </a:effectRef>
          <a:fontRef idx="minor">
            <a:schemeClr val="tx1"/>
          </a:fontRef>
        </p:style>
      </p:cxnSp>
      <p:pic>
        <p:nvPicPr>
          <p:cNvPr id="36" name="Graphic 35" descr="Database with solid fill">
            <a:extLst>
              <a:ext uri="{FF2B5EF4-FFF2-40B4-BE49-F238E27FC236}">
                <a16:creationId xmlns:a16="http://schemas.microsoft.com/office/drawing/2014/main" id="{69F3D3DE-46D1-427C-E0F9-86A5B0A3CAE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245754" y="1716974"/>
            <a:ext cx="1260855" cy="1260855"/>
          </a:xfrm>
          <a:prstGeom prst="rect">
            <a:avLst/>
          </a:prstGeom>
        </p:spPr>
      </p:pic>
      <p:sp>
        <p:nvSpPr>
          <p:cNvPr id="38" name="TextBox 37">
            <a:extLst>
              <a:ext uri="{FF2B5EF4-FFF2-40B4-BE49-F238E27FC236}">
                <a16:creationId xmlns:a16="http://schemas.microsoft.com/office/drawing/2014/main" id="{A62C32AA-9A32-31C7-494A-B988A79E2D3E}"/>
              </a:ext>
            </a:extLst>
          </p:cNvPr>
          <p:cNvSpPr txBox="1"/>
          <p:nvPr/>
        </p:nvSpPr>
        <p:spPr>
          <a:xfrm>
            <a:off x="7327319" y="2976043"/>
            <a:ext cx="1260854" cy="307777"/>
          </a:xfrm>
          <a:prstGeom prst="rect">
            <a:avLst/>
          </a:prstGeom>
          <a:noFill/>
        </p:spPr>
        <p:txBody>
          <a:bodyPr wrap="square" rtlCol="0">
            <a:spAutoFit/>
          </a:bodyPr>
          <a:lstStyle/>
          <a:p>
            <a:r>
              <a:rPr lang="en-US" b="1">
                <a:solidFill>
                  <a:srgbClr val="16693F"/>
                </a:solidFill>
              </a:rPr>
              <a:t>PostgreSQL</a:t>
            </a:r>
          </a:p>
        </p:txBody>
      </p:sp>
      <p:cxnSp>
        <p:nvCxnSpPr>
          <p:cNvPr id="41" name="Straight Arrow Connector 40">
            <a:extLst>
              <a:ext uri="{FF2B5EF4-FFF2-40B4-BE49-F238E27FC236}">
                <a16:creationId xmlns:a16="http://schemas.microsoft.com/office/drawing/2014/main" id="{861DA5A5-C873-B8E9-E191-9DC03992D2EB}"/>
              </a:ext>
            </a:extLst>
          </p:cNvPr>
          <p:cNvCxnSpPr>
            <a:cxnSpLocks/>
          </p:cNvCxnSpPr>
          <p:nvPr/>
        </p:nvCxnSpPr>
        <p:spPr>
          <a:xfrm flipV="1">
            <a:off x="6390101" y="2443053"/>
            <a:ext cx="1043762" cy="1001684"/>
          </a:xfrm>
          <a:prstGeom prst="straightConnector1">
            <a:avLst/>
          </a:prstGeom>
          <a:ln>
            <a:solidFill>
              <a:srgbClr val="16693F"/>
            </a:solidFill>
            <a:tailEnd type="triangle"/>
          </a:ln>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1353566188"/>
      </p:ext>
    </p:extLst>
  </p:cSld>
  <p:clrMapOvr>
    <a:masterClrMapping/>
  </p:clrMapOvr>
  <p:extLst>
    <p:ext uri="{6950BFC3-D8DA-4A85-94F7-54DA5524770B}">
      <p188:commentRel xmlns:p188="http://schemas.microsoft.com/office/powerpoint/2018/8/main" r:id="rId3"/>
    </p:ext>
  </p:extLs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89">
          <a:extLst>
            <a:ext uri="{FF2B5EF4-FFF2-40B4-BE49-F238E27FC236}">
              <a16:creationId xmlns:a16="http://schemas.microsoft.com/office/drawing/2014/main" id="{15131686-929D-75C1-66AA-A43472FC1509}"/>
            </a:ext>
          </a:extLst>
        </p:cNvPr>
        <p:cNvGrpSpPr/>
        <p:nvPr/>
      </p:nvGrpSpPr>
      <p:grpSpPr>
        <a:xfrm>
          <a:off x="0" y="0"/>
          <a:ext cx="0" cy="0"/>
          <a:chOff x="0" y="0"/>
          <a:chExt cx="0" cy="0"/>
        </a:xfrm>
      </p:grpSpPr>
      <p:sp>
        <p:nvSpPr>
          <p:cNvPr id="90" name="Google Shape;90;p15">
            <a:extLst>
              <a:ext uri="{FF2B5EF4-FFF2-40B4-BE49-F238E27FC236}">
                <a16:creationId xmlns:a16="http://schemas.microsoft.com/office/drawing/2014/main" id="{F409CF9E-F2B4-5E17-3F25-24F06B4D0B39}"/>
              </a:ext>
            </a:extLst>
          </p:cNvPr>
          <p:cNvSpPr txBox="1">
            <a:spLocks noGrp="1"/>
          </p:cNvSpPr>
          <p:nvPr>
            <p:ph type="title"/>
          </p:nvPr>
        </p:nvSpPr>
        <p:spPr>
          <a:xfrm>
            <a:off x="296527" y="182034"/>
            <a:ext cx="8520600" cy="810403"/>
          </a:xfrm>
          <a:prstGeom prst="rect">
            <a:avLst/>
          </a:prstGeom>
        </p:spPr>
        <p:txBody>
          <a:bodyPr spcFirstLastPara="1" wrap="square" lIns="91425" tIns="91425" rIns="91425" bIns="91425" anchor="t" anchorCtr="0">
            <a:noAutofit/>
          </a:bodyPr>
          <a:lstStyle/>
          <a:p>
            <a:r>
              <a:rPr lang="en" sz="2000" b="1">
                <a:solidFill>
                  <a:srgbClr val="16693F"/>
                </a:solidFill>
              </a:rPr>
              <a:t>Outline</a:t>
            </a:r>
          </a:p>
        </p:txBody>
      </p:sp>
      <p:sp>
        <p:nvSpPr>
          <p:cNvPr id="3" name="Text Placeholder 2">
            <a:extLst>
              <a:ext uri="{FF2B5EF4-FFF2-40B4-BE49-F238E27FC236}">
                <a16:creationId xmlns:a16="http://schemas.microsoft.com/office/drawing/2014/main" id="{143079D6-3A1D-D881-ADEE-13D234DF73AD}"/>
              </a:ext>
            </a:extLst>
          </p:cNvPr>
          <p:cNvSpPr>
            <a:spLocks noGrp="1"/>
          </p:cNvSpPr>
          <p:nvPr>
            <p:ph type="body" idx="1"/>
          </p:nvPr>
        </p:nvSpPr>
        <p:spPr>
          <a:xfrm>
            <a:off x="297293" y="585777"/>
            <a:ext cx="8195543" cy="4372102"/>
          </a:xfrm>
        </p:spPr>
        <p:txBody>
          <a:bodyPr>
            <a:normAutofit/>
          </a:bodyPr>
          <a:lstStyle/>
          <a:p>
            <a:pPr>
              <a:lnSpc>
                <a:spcPct val="114999"/>
              </a:lnSpc>
            </a:pPr>
            <a:r>
              <a:rPr lang="en-US" err="1">
                <a:solidFill>
                  <a:schemeClr val="bg2">
                    <a:lumMod val="40000"/>
                    <a:lumOff val="60000"/>
                  </a:schemeClr>
                </a:solidFill>
              </a:rPr>
              <a:t>GRNsight</a:t>
            </a:r>
            <a:r>
              <a:rPr lang="en-US">
                <a:solidFill>
                  <a:schemeClr val="bg2">
                    <a:lumMod val="40000"/>
                    <a:lumOff val="60000"/>
                  </a:schemeClr>
                </a:solidFill>
              </a:rPr>
              <a:t> is an open-source tool that allows for easier visualization </a:t>
            </a:r>
          </a:p>
          <a:p>
            <a:pPr marL="114300" indent="0">
              <a:lnSpc>
                <a:spcPct val="114999"/>
              </a:lnSpc>
              <a:buNone/>
            </a:pPr>
            <a:r>
              <a:rPr lang="en-US">
                <a:solidFill>
                  <a:schemeClr val="bg2">
                    <a:lumMod val="40000"/>
                    <a:lumOff val="60000"/>
                  </a:schemeClr>
                </a:solidFill>
              </a:rPr>
              <a:t>     of Gene Regulatory Network (GRN) and Protein Protein Interactions (PPI).</a:t>
            </a:r>
          </a:p>
          <a:p>
            <a:pPr>
              <a:lnSpc>
                <a:spcPct val="114999"/>
              </a:lnSpc>
            </a:pPr>
            <a:r>
              <a:rPr lang="en-US" err="1">
                <a:solidFill>
                  <a:schemeClr val="bg2">
                    <a:lumMod val="40000"/>
                    <a:lumOff val="60000"/>
                  </a:schemeClr>
                </a:solidFill>
              </a:rPr>
              <a:t>GRNsight</a:t>
            </a:r>
            <a:r>
              <a:rPr lang="en-US">
                <a:solidFill>
                  <a:schemeClr val="bg2">
                    <a:lumMod val="40000"/>
                    <a:lumOff val="60000"/>
                  </a:schemeClr>
                </a:solidFill>
              </a:rPr>
              <a:t> has migrated from JavaScript frontend to React Vite and Grommet UI.</a:t>
            </a:r>
          </a:p>
          <a:p>
            <a:pPr>
              <a:lnSpc>
                <a:spcPct val="114999"/>
              </a:lnSpc>
            </a:pPr>
            <a:r>
              <a:rPr lang="en-US">
                <a:solidFill>
                  <a:schemeClr val="bg2">
                    <a:lumMod val="40000"/>
                    <a:lumOff val="60000"/>
                  </a:schemeClr>
                </a:solidFill>
              </a:rPr>
              <a:t>We transitioned our primary data source from </a:t>
            </a:r>
            <a:r>
              <a:rPr lang="en-US" err="1">
                <a:solidFill>
                  <a:schemeClr val="bg2">
                    <a:lumMod val="40000"/>
                    <a:lumOff val="60000"/>
                  </a:schemeClr>
                </a:solidFill>
              </a:rPr>
              <a:t>YeastMine</a:t>
            </a:r>
            <a:r>
              <a:rPr lang="en-US">
                <a:solidFill>
                  <a:schemeClr val="bg2">
                    <a:lumMod val="40000"/>
                    <a:lumOff val="60000"/>
                  </a:schemeClr>
                </a:solidFill>
              </a:rPr>
              <a:t> to </a:t>
            </a:r>
            <a:r>
              <a:rPr lang="en-US" err="1">
                <a:solidFill>
                  <a:schemeClr val="bg2">
                    <a:lumMod val="40000"/>
                    <a:lumOff val="60000"/>
                  </a:schemeClr>
                </a:solidFill>
              </a:rPr>
              <a:t>AllianceMine</a:t>
            </a:r>
            <a:endParaRPr lang="en-US">
              <a:solidFill>
                <a:schemeClr val="bg2">
                  <a:lumMod val="40000"/>
                  <a:lumOff val="60000"/>
                </a:schemeClr>
              </a:solidFill>
            </a:endParaRPr>
          </a:p>
          <a:p>
            <a:pPr>
              <a:lnSpc>
                <a:spcPct val="114999"/>
              </a:lnSpc>
            </a:pPr>
            <a:r>
              <a:rPr lang="en-US">
                <a:solidFill>
                  <a:schemeClr val="bg2">
                    <a:lumMod val="40000"/>
                    <a:lumOff val="60000"/>
                  </a:schemeClr>
                </a:solidFill>
              </a:rPr>
              <a:t>We re-engineered database pipeline into a modular architectural pattern. </a:t>
            </a:r>
          </a:p>
          <a:p>
            <a:pPr>
              <a:lnSpc>
                <a:spcPct val="114999"/>
              </a:lnSpc>
            </a:pPr>
            <a:r>
              <a:rPr lang="en-US">
                <a:solidFill>
                  <a:schemeClr val="tx1"/>
                </a:solidFill>
              </a:rPr>
              <a:t>The primary goal of this modernization is to provide a faster, more scalable, and intuitive platform for biological network visualization.</a:t>
            </a:r>
          </a:p>
        </p:txBody>
      </p:sp>
    </p:spTree>
    <p:extLst>
      <p:ext uri="{BB962C8B-B14F-4D97-AF65-F5344CB8AC3E}">
        <p14:creationId xmlns:p14="http://schemas.microsoft.com/office/powerpoint/2010/main" val="184572799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74FF6E-383B-56F2-4862-9ABC5CC3ADCD}"/>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3D1F67CF-5A6E-6240-BE61-BCEE25C643A1}"/>
              </a:ext>
            </a:extLst>
          </p:cNvPr>
          <p:cNvSpPr txBox="1"/>
          <p:nvPr/>
        </p:nvSpPr>
        <p:spPr>
          <a:xfrm>
            <a:off x="171753" y="113559"/>
            <a:ext cx="8799384" cy="707886"/>
          </a:xfrm>
          <a:prstGeom prst="rect">
            <a:avLst/>
          </a:prstGeom>
          <a:noFill/>
        </p:spPr>
        <p:txBody>
          <a:bodyPr wrap="square" lIns="91440" tIns="45720" rIns="91440" bIns="45720" anchor="t">
            <a:spAutoFit/>
          </a:bodyPr>
          <a:lstStyle/>
          <a:p>
            <a:r>
              <a:rPr lang="en-US" sz="2000" b="1">
                <a:solidFill>
                  <a:srgbClr val="16693F"/>
                </a:solidFill>
                <a:ea typeface="Sans Serif Collection"/>
                <a:cs typeface="Sans Serif Collection"/>
              </a:rPr>
              <a:t>React migration resulted in tech stack improvements for developer experience and shorter build time</a:t>
            </a:r>
            <a:endParaRPr lang="en-US"/>
          </a:p>
        </p:txBody>
      </p:sp>
      <p:sp>
        <p:nvSpPr>
          <p:cNvPr id="8" name="Text Placeholder 2">
            <a:extLst>
              <a:ext uri="{FF2B5EF4-FFF2-40B4-BE49-F238E27FC236}">
                <a16:creationId xmlns:a16="http://schemas.microsoft.com/office/drawing/2014/main" id="{2E3C3EAD-09E8-22C6-926B-C82416D71292}"/>
              </a:ext>
            </a:extLst>
          </p:cNvPr>
          <p:cNvSpPr txBox="1">
            <a:spLocks/>
          </p:cNvSpPr>
          <p:nvPr/>
        </p:nvSpPr>
        <p:spPr>
          <a:xfrm>
            <a:off x="171752" y="513669"/>
            <a:ext cx="9105251" cy="2870240"/>
          </a:xfrm>
          <a:prstGeom prst="rect">
            <a:avLst/>
          </a:prstGeom>
        </p:spPr>
        <p:txBody>
          <a:bodyPr>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285750" indent="-285750">
              <a:lnSpc>
                <a:spcPct val="114999"/>
              </a:lnSpc>
              <a:buFont typeface="Arial" panose="020B0604020202020204" pitchFamily="34" charset="0"/>
              <a:buChar char="•"/>
            </a:pPr>
            <a:endParaRPr lang="en-US" sz="2000">
              <a:solidFill>
                <a:schemeClr val="tx1"/>
              </a:solidFill>
            </a:endParaRPr>
          </a:p>
        </p:txBody>
      </p:sp>
      <p:graphicFrame>
        <p:nvGraphicFramePr>
          <p:cNvPr id="10" name="Table 9">
            <a:extLst>
              <a:ext uri="{FF2B5EF4-FFF2-40B4-BE49-F238E27FC236}">
                <a16:creationId xmlns:a16="http://schemas.microsoft.com/office/drawing/2014/main" id="{0AADA06A-14AF-0663-EDD6-2CC0BF48CE16}"/>
              </a:ext>
            </a:extLst>
          </p:cNvPr>
          <p:cNvGraphicFramePr>
            <a:graphicFrameLocks noGrp="1"/>
          </p:cNvGraphicFramePr>
          <p:nvPr>
            <p:extLst>
              <p:ext uri="{D42A27DB-BD31-4B8C-83A1-F6EECF244321}">
                <p14:modId xmlns:p14="http://schemas.microsoft.com/office/powerpoint/2010/main" val="3111956946"/>
              </p:ext>
            </p:extLst>
          </p:nvPr>
        </p:nvGraphicFramePr>
        <p:xfrm>
          <a:off x="111297" y="871662"/>
          <a:ext cx="8920295" cy="3992947"/>
        </p:xfrm>
        <a:graphic>
          <a:graphicData uri="http://schemas.openxmlformats.org/drawingml/2006/table">
            <a:tbl>
              <a:tblPr firstRow="1" bandRow="1">
                <a:tableStyleId>{8799B23B-EC83-4686-B30A-512413B5E67A}</a:tableStyleId>
              </a:tblPr>
              <a:tblGrid>
                <a:gridCol w="1738285">
                  <a:extLst>
                    <a:ext uri="{9D8B030D-6E8A-4147-A177-3AD203B41FA5}">
                      <a16:colId xmlns:a16="http://schemas.microsoft.com/office/drawing/2014/main" val="217355893"/>
                    </a:ext>
                  </a:extLst>
                </a:gridCol>
                <a:gridCol w="3610560">
                  <a:extLst>
                    <a:ext uri="{9D8B030D-6E8A-4147-A177-3AD203B41FA5}">
                      <a16:colId xmlns:a16="http://schemas.microsoft.com/office/drawing/2014/main" val="3238453823"/>
                    </a:ext>
                  </a:extLst>
                </a:gridCol>
                <a:gridCol w="3571450">
                  <a:extLst>
                    <a:ext uri="{9D8B030D-6E8A-4147-A177-3AD203B41FA5}">
                      <a16:colId xmlns:a16="http://schemas.microsoft.com/office/drawing/2014/main" val="3843126171"/>
                    </a:ext>
                  </a:extLst>
                </a:gridCol>
              </a:tblGrid>
              <a:tr h="405245">
                <a:tc>
                  <a:txBody>
                    <a:bodyPr/>
                    <a:lstStyle/>
                    <a:p>
                      <a:r>
                        <a:rPr lang="en-US"/>
                        <a:t>Feature</a:t>
                      </a:r>
                    </a:p>
                  </a:txBody>
                  <a:tcPr/>
                </a:tc>
                <a:tc>
                  <a:txBody>
                    <a:bodyPr/>
                    <a:lstStyle/>
                    <a:p>
                      <a:r>
                        <a:rPr lang="en-US" b="1"/>
                        <a:t>Classic</a:t>
                      </a:r>
                    </a:p>
                  </a:txBody>
                  <a:tcPr/>
                </a:tc>
                <a:tc>
                  <a:txBody>
                    <a:bodyPr/>
                    <a:lstStyle/>
                    <a:p>
                      <a:r>
                        <a:rPr lang="en-US"/>
                        <a:t>React / New Updates</a:t>
                      </a:r>
                    </a:p>
                  </a:txBody>
                  <a:tcPr/>
                </a:tc>
                <a:extLst>
                  <a:ext uri="{0D108BD9-81ED-4DB2-BD59-A6C34878D82A}">
                    <a16:rowId xmlns:a16="http://schemas.microsoft.com/office/drawing/2014/main" val="4287552899"/>
                  </a:ext>
                </a:extLst>
              </a:tr>
              <a:tr h="2625302">
                <a:tc>
                  <a:txBody>
                    <a:bodyPr/>
                    <a:lstStyle/>
                    <a:p>
                      <a:endParaRPr lang="en-US"/>
                    </a:p>
                  </a:txBody>
                  <a:tcPr>
                    <a:solidFill>
                      <a:srgbClr val="008F00">
                        <a:alpha val="20000"/>
                      </a:srgbClr>
                    </a:solidFill>
                  </a:tcPr>
                </a:tc>
                <a:tc>
                  <a:txBody>
                    <a:bodyPr/>
                    <a:lstStyle/>
                    <a:p>
                      <a:endParaRPr lang="en-US"/>
                    </a:p>
                  </a:txBody>
                  <a:tcPr>
                    <a:solidFill>
                      <a:srgbClr val="008F00">
                        <a:alpha val="20000"/>
                      </a:srgbClr>
                    </a:solidFill>
                  </a:tcPr>
                </a:tc>
                <a:tc>
                  <a:txBody>
                    <a:bodyPr/>
                    <a:lstStyle/>
                    <a:p>
                      <a:r>
                        <a:rPr lang="en-US"/>
                        <a:t>  </a:t>
                      </a:r>
                    </a:p>
                  </a:txBody>
                  <a:tcPr>
                    <a:solidFill>
                      <a:srgbClr val="008F00">
                        <a:alpha val="20000"/>
                      </a:srgbClr>
                    </a:solidFill>
                  </a:tcPr>
                </a:tc>
                <a:extLst>
                  <a:ext uri="{0D108BD9-81ED-4DB2-BD59-A6C34878D82A}">
                    <a16:rowId xmlns:a16="http://schemas.microsoft.com/office/drawing/2014/main" val="1110189511"/>
                  </a:ext>
                </a:extLst>
              </a:tr>
              <a:tr h="444240">
                <a:tc>
                  <a:txBody>
                    <a:bodyPr/>
                    <a:lstStyle/>
                    <a:p>
                      <a:r>
                        <a:rPr lang="en-US"/>
                        <a:t>State Management</a:t>
                      </a:r>
                    </a:p>
                  </a:txBody>
                  <a:tcPr/>
                </a:tc>
                <a:tc>
                  <a:txBody>
                    <a:bodyPr/>
                    <a:lstStyle/>
                    <a:p>
                      <a:r>
                        <a:rPr lang="en-US"/>
                        <a:t>Manual DOM manipulation</a:t>
                      </a:r>
                    </a:p>
                  </a:txBody>
                  <a:tcPr/>
                </a:tc>
                <a:tc>
                  <a:txBody>
                    <a:bodyPr/>
                    <a:lstStyle/>
                    <a:p>
                      <a:r>
                        <a:rPr lang="en-US"/>
                        <a:t>Centralized React State</a:t>
                      </a:r>
                    </a:p>
                  </a:txBody>
                  <a:tcPr/>
                </a:tc>
                <a:extLst>
                  <a:ext uri="{0D108BD9-81ED-4DB2-BD59-A6C34878D82A}">
                    <a16:rowId xmlns:a16="http://schemas.microsoft.com/office/drawing/2014/main" val="549696382"/>
                  </a:ext>
                </a:extLst>
              </a:tr>
              <a:tr h="317937">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a:t>Performance</a:t>
                      </a:r>
                    </a:p>
                    <a:p>
                      <a:endParaRPr lang="en-US"/>
                    </a:p>
                  </a:txBody>
                  <a:tcPr>
                    <a:solidFill>
                      <a:srgbClr val="008F00">
                        <a:alpha val="20000"/>
                      </a:srgbClr>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a:t>Slower bundle/re-renders</a:t>
                      </a:r>
                    </a:p>
                    <a:p>
                      <a:endParaRPr lang="en-US"/>
                    </a:p>
                  </a:txBody>
                  <a:tcPr>
                    <a:solidFill>
                      <a:srgbClr val="008F00">
                        <a:alpha val="20000"/>
                      </a:srgbClr>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a:t>Instant development build and optimized production builds</a:t>
                      </a:r>
                    </a:p>
                  </a:txBody>
                  <a:tcPr>
                    <a:solidFill>
                      <a:srgbClr val="008F00">
                        <a:alpha val="20000"/>
                      </a:srgbClr>
                    </a:solidFill>
                  </a:tcPr>
                </a:tc>
                <a:extLst>
                  <a:ext uri="{0D108BD9-81ED-4DB2-BD59-A6C34878D82A}">
                    <a16:rowId xmlns:a16="http://schemas.microsoft.com/office/drawing/2014/main" val="1453755800"/>
                  </a:ext>
                </a:extLst>
              </a:tr>
            </a:tbl>
          </a:graphicData>
        </a:graphic>
      </p:graphicFrame>
      <p:pic>
        <p:nvPicPr>
          <p:cNvPr id="3" name="Picture 2" descr="A hexagon with white text&#10;&#10;AI-generated content may be incorrect.">
            <a:extLst>
              <a:ext uri="{FF2B5EF4-FFF2-40B4-BE49-F238E27FC236}">
                <a16:creationId xmlns:a16="http://schemas.microsoft.com/office/drawing/2014/main" id="{9440B2E2-95F3-B443-C92C-9F2C7F37B01A}"/>
              </a:ext>
            </a:extLst>
          </p:cNvPr>
          <p:cNvPicPr>
            <a:picLocks noChangeAspect="1"/>
          </p:cNvPicPr>
          <p:nvPr/>
        </p:nvPicPr>
        <p:blipFill>
          <a:blip r:embed="rId4" cstate="hqprint">
            <a:extLst>
              <a:ext uri="{28A0092B-C50C-407E-A947-70E740481C1C}">
                <a14:useLocalDpi xmlns:a14="http://schemas.microsoft.com/office/drawing/2010/main"/>
              </a:ext>
            </a:extLst>
          </a:blip>
          <a:srcRect/>
          <a:stretch>
            <a:fillRect/>
          </a:stretch>
        </p:blipFill>
        <p:spPr>
          <a:xfrm>
            <a:off x="4194594" y="1287292"/>
            <a:ext cx="575739" cy="591778"/>
          </a:xfrm>
          <a:prstGeom prst="rect">
            <a:avLst/>
          </a:prstGeom>
        </p:spPr>
      </p:pic>
      <p:pic>
        <p:nvPicPr>
          <p:cNvPr id="11" name="Picture 10" descr="React original wordmark logo - free Icon PNG, SVG">
            <a:extLst>
              <a:ext uri="{FF2B5EF4-FFF2-40B4-BE49-F238E27FC236}">
                <a16:creationId xmlns:a16="http://schemas.microsoft.com/office/drawing/2014/main" id="{1FFC834E-0A4B-D68E-8E30-5C3695B9A4EE}"/>
              </a:ext>
            </a:extLst>
          </p:cNvPr>
          <p:cNvPicPr>
            <a:picLocks noChangeAspect="1"/>
          </p:cNvPicPr>
          <p:nvPr/>
        </p:nvPicPr>
        <p:blipFill>
          <a:blip r:embed="rId5" cstate="hqprint">
            <a:extLst>
              <a:ext uri="{28A0092B-C50C-407E-A947-70E740481C1C}">
                <a14:useLocalDpi xmlns:a14="http://schemas.microsoft.com/office/drawing/2010/main"/>
              </a:ext>
            </a:extLst>
          </a:blip>
          <a:stretch>
            <a:fillRect/>
          </a:stretch>
        </p:blipFill>
        <p:spPr>
          <a:xfrm>
            <a:off x="7439010" y="1355305"/>
            <a:ext cx="551228" cy="551228"/>
          </a:xfrm>
          <a:prstGeom prst="rect">
            <a:avLst/>
          </a:prstGeom>
        </p:spPr>
      </p:pic>
      <p:pic>
        <p:nvPicPr>
          <p:cNvPr id="7" name="Picture 6" descr="A dog with a sad face&#10;&#10;AI-generated content may be incorrect.">
            <a:extLst>
              <a:ext uri="{FF2B5EF4-FFF2-40B4-BE49-F238E27FC236}">
                <a16:creationId xmlns:a16="http://schemas.microsoft.com/office/drawing/2014/main" id="{2DE38191-86EA-DCD8-68C2-410D9A80FC1D}"/>
              </a:ext>
            </a:extLst>
          </p:cNvPr>
          <p:cNvPicPr>
            <a:picLocks noChangeAspect="1"/>
          </p:cNvPicPr>
          <p:nvPr/>
        </p:nvPicPr>
        <p:blipFill>
          <a:blip r:embed="rId6" cstate="hqprint">
            <a:extLst>
              <a:ext uri="{28A0092B-C50C-407E-A947-70E740481C1C}">
                <a14:useLocalDpi xmlns:a14="http://schemas.microsoft.com/office/drawing/2010/main"/>
              </a:ext>
            </a:extLst>
          </a:blip>
          <a:srcRect/>
          <a:stretch>
            <a:fillRect/>
          </a:stretch>
        </p:blipFill>
        <p:spPr>
          <a:xfrm>
            <a:off x="3147808" y="1352614"/>
            <a:ext cx="1072926" cy="400119"/>
          </a:xfrm>
          <a:prstGeom prst="rect">
            <a:avLst/>
          </a:prstGeom>
        </p:spPr>
      </p:pic>
      <p:pic>
        <p:nvPicPr>
          <p:cNvPr id="12" name="Picture 11" descr="A logo with a black background&#10;&#10;AI-generated content may be incorrect.">
            <a:extLst>
              <a:ext uri="{FF2B5EF4-FFF2-40B4-BE49-F238E27FC236}">
                <a16:creationId xmlns:a16="http://schemas.microsoft.com/office/drawing/2014/main" id="{F60186E5-2A6E-4960-52A6-47A0F946628C}"/>
              </a:ext>
            </a:extLst>
          </p:cNvPr>
          <p:cNvPicPr>
            <a:picLocks noChangeAspect="1"/>
          </p:cNvPicPr>
          <p:nvPr/>
        </p:nvPicPr>
        <p:blipFill>
          <a:blip r:embed="rId7" cstate="hqprint">
            <a:extLst>
              <a:ext uri="{28A0092B-C50C-407E-A947-70E740481C1C}">
                <a14:useLocalDpi xmlns:a14="http://schemas.microsoft.com/office/drawing/2010/main"/>
              </a:ext>
            </a:extLst>
          </a:blip>
          <a:stretch>
            <a:fillRect/>
          </a:stretch>
        </p:blipFill>
        <p:spPr>
          <a:xfrm>
            <a:off x="4897116" y="1342975"/>
            <a:ext cx="439222" cy="399067"/>
          </a:xfrm>
          <a:prstGeom prst="rect">
            <a:avLst/>
          </a:prstGeom>
        </p:spPr>
      </p:pic>
      <p:pic>
        <p:nvPicPr>
          <p:cNvPr id="13" name="Picture 12" descr="A logo with a black background&#10;&#10;AI-generated content may be incorrect.">
            <a:extLst>
              <a:ext uri="{FF2B5EF4-FFF2-40B4-BE49-F238E27FC236}">
                <a16:creationId xmlns:a16="http://schemas.microsoft.com/office/drawing/2014/main" id="{6FED39A3-2148-E7E0-CD38-D879D133DF39}"/>
              </a:ext>
            </a:extLst>
          </p:cNvPr>
          <p:cNvPicPr>
            <a:picLocks noChangeAspect="1"/>
          </p:cNvPicPr>
          <p:nvPr/>
        </p:nvPicPr>
        <p:blipFill>
          <a:blip r:embed="rId8" cstate="hqprint">
            <a:extLst>
              <a:ext uri="{28A0092B-C50C-407E-A947-70E740481C1C}">
                <a14:useLocalDpi xmlns:a14="http://schemas.microsoft.com/office/drawing/2010/main"/>
              </a:ext>
            </a:extLst>
          </a:blip>
          <a:stretch>
            <a:fillRect/>
          </a:stretch>
        </p:blipFill>
        <p:spPr>
          <a:xfrm>
            <a:off x="8402572" y="1366861"/>
            <a:ext cx="452132" cy="426871"/>
          </a:xfrm>
          <a:prstGeom prst="rect">
            <a:avLst/>
          </a:prstGeom>
        </p:spPr>
      </p:pic>
      <p:pic>
        <p:nvPicPr>
          <p:cNvPr id="15" name="Picture 2" descr="Report Post - Vite Logo PNG, Vector (AI, EPS, CDR, PDF, SVG)">
            <a:extLst>
              <a:ext uri="{FF2B5EF4-FFF2-40B4-BE49-F238E27FC236}">
                <a16:creationId xmlns:a16="http://schemas.microsoft.com/office/drawing/2014/main" id="{391065C3-DF54-DEC1-7AF9-593A6E3D52CB}"/>
              </a:ext>
            </a:extLst>
          </p:cNvPr>
          <p:cNvPicPr>
            <a:picLocks noChangeAspect="1" noChangeArrowheads="1"/>
          </p:cNvPicPr>
          <p:nvPr/>
        </p:nvPicPr>
        <p:blipFill rotWithShape="1">
          <a:blip r:embed="rId9" cstate="hqprint">
            <a:extLst>
              <a:ext uri="{28A0092B-C50C-407E-A947-70E740481C1C}">
                <a14:useLocalDpi xmlns:a14="http://schemas.microsoft.com/office/drawing/2010/main"/>
              </a:ext>
            </a:extLst>
          </a:blip>
          <a:srcRect/>
          <a:stretch>
            <a:fillRect/>
          </a:stretch>
        </p:blipFill>
        <p:spPr bwMode="auto">
          <a:xfrm>
            <a:off x="5586890" y="2716187"/>
            <a:ext cx="1058510" cy="454989"/>
          </a:xfrm>
          <a:prstGeom prst="rect">
            <a:avLst/>
          </a:prstGeom>
          <a:noFill/>
          <a:extLst>
            <a:ext uri="{909E8E84-426E-40DD-AFC4-6F175D3DCCD1}">
              <a14:hiddenFill xmlns:a14="http://schemas.microsoft.com/office/drawing/2010/main">
                <a:solidFill>
                  <a:srgbClr val="FFFFFF"/>
                </a:solidFill>
              </a14:hiddenFill>
            </a:ext>
          </a:extLst>
        </p:spPr>
      </p:pic>
      <p:pic>
        <p:nvPicPr>
          <p:cNvPr id="17" name="Picture 16" descr="A purple circle with black background&#10;&#10;AI-generated content may be incorrect.">
            <a:extLst>
              <a:ext uri="{FF2B5EF4-FFF2-40B4-BE49-F238E27FC236}">
                <a16:creationId xmlns:a16="http://schemas.microsoft.com/office/drawing/2014/main" id="{1D34CA04-96D4-A60C-AC01-2BB8CA346965}"/>
              </a:ext>
            </a:extLst>
          </p:cNvPr>
          <p:cNvPicPr>
            <a:picLocks noChangeAspect="1"/>
          </p:cNvPicPr>
          <p:nvPr/>
        </p:nvPicPr>
        <p:blipFill>
          <a:blip r:embed="rId10" cstate="hqprint">
            <a:extLst>
              <a:ext uri="{28A0092B-C50C-407E-A947-70E740481C1C}">
                <a14:useLocalDpi xmlns:a14="http://schemas.microsoft.com/office/drawing/2010/main"/>
              </a:ext>
            </a:extLst>
          </a:blip>
          <a:srcRect l="-1757"/>
          <a:stretch>
            <a:fillRect/>
          </a:stretch>
        </p:blipFill>
        <p:spPr>
          <a:xfrm>
            <a:off x="5463121" y="1332749"/>
            <a:ext cx="1563555" cy="500864"/>
          </a:xfrm>
          <a:prstGeom prst="rect">
            <a:avLst/>
          </a:prstGeom>
        </p:spPr>
      </p:pic>
      <p:pic>
        <p:nvPicPr>
          <p:cNvPr id="5" name="Picture 2">
            <a:extLst>
              <a:ext uri="{FF2B5EF4-FFF2-40B4-BE49-F238E27FC236}">
                <a16:creationId xmlns:a16="http://schemas.microsoft.com/office/drawing/2014/main" id="{7F167996-5293-1A8B-699E-548FAADBA943}"/>
              </a:ext>
            </a:extLst>
          </p:cNvPr>
          <p:cNvPicPr>
            <a:picLocks noChangeAspect="1" noChangeArrowheads="1"/>
          </p:cNvPicPr>
          <p:nvPr/>
        </p:nvPicPr>
        <p:blipFill rotWithShape="1">
          <a:blip r:embed="rId11" cstate="hqprint">
            <a:extLst>
              <a:ext uri="{BEBA8EAE-BF5A-486C-A8C5-ECC9F3942E4B}">
                <a14:imgProps xmlns:a14="http://schemas.microsoft.com/office/drawing/2010/main">
                  <a14:imgLayer r:embed="rId12">
                    <a14:imgEffect>
                      <a14:backgroundRemoval t="9677" b="89964" l="2222" r="96000">
                        <a14:foregroundMark x1="8333" y1="28674" x2="18000" y2="63799"/>
                        <a14:foregroundMark x1="7444" y1="37993" x2="10667" y2="47670"/>
                        <a14:foregroundMark x1="8889" y1="48746" x2="8556" y2="68459"/>
                        <a14:foregroundMark x1="10333" y1="32975" x2="14222" y2="33333"/>
                        <a14:foregroundMark x1="39778" y1="36918" x2="39778" y2="36918"/>
                        <a14:foregroundMark x1="46778" y1="40860" x2="46778" y2="40860"/>
                        <a14:foregroundMark x1="56667" y1="44444" x2="56667" y2="44444"/>
                        <a14:foregroundMark x1="60778" y1="37993" x2="60778" y2="37993"/>
                        <a14:foregroundMark x1="69889" y1="54480" x2="69889" y2="54480"/>
                        <a14:foregroundMark x1="72889" y1="41935" x2="72889" y2="41935"/>
                        <a14:foregroundMark x1="77444" y1="47312" x2="77444" y2="47312"/>
                        <a14:foregroundMark x1="87111" y1="44803" x2="87111" y2="44803"/>
                        <a14:foregroundMark x1="90778" y1="45878" x2="90778" y2="45878"/>
                        <a14:foregroundMark x1="96111" y1="55914" x2="96111" y2="55914"/>
                        <a14:foregroundMark x1="2333" y1="31183" x2="2333" y2="31183"/>
                        <a14:backgroundMark x1="31667" y1="17204" x2="31667" y2="17204"/>
                        <a14:backgroundMark x1="18333" y1="99283" x2="18333" y2="99283"/>
                        <a14:backgroundMark x1="1222" y1="96057" x2="1222" y2="96057"/>
                        <a14:backgroundMark x1="45333" y1="79928" x2="66111" y2="82796"/>
                        <a14:backgroundMark x1="44778" y1="77061" x2="46000" y2="69534"/>
                        <a14:backgroundMark x1="49444" y1="79211" x2="45667" y2="78853"/>
                        <a14:backgroundMark x1="66667" y1="45520" x2="67667" y2="47670"/>
                      </a14:backgroundRemoval>
                    </a14:imgEffect>
                  </a14:imgLayer>
                </a14:imgProps>
              </a:ext>
              <a:ext uri="{28A0092B-C50C-407E-A947-70E740481C1C}">
                <a14:useLocalDpi xmlns:a14="http://schemas.microsoft.com/office/drawing/2010/main"/>
              </a:ext>
            </a:extLst>
          </a:blip>
          <a:srcRect/>
          <a:stretch>
            <a:fillRect/>
          </a:stretch>
        </p:blipFill>
        <p:spPr bwMode="auto">
          <a:xfrm>
            <a:off x="1923204" y="1342975"/>
            <a:ext cx="1179490" cy="366348"/>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2" descr="Vitest Logo PNG, Vector (AI, EPS, CDR, PDF, SVG ...">
            <a:extLst>
              <a:ext uri="{FF2B5EF4-FFF2-40B4-BE49-F238E27FC236}">
                <a16:creationId xmlns:a16="http://schemas.microsoft.com/office/drawing/2014/main" id="{3FAEE8CF-FAE5-9ACA-4C6F-BE37370BA0C4}"/>
              </a:ext>
            </a:extLst>
          </p:cNvPr>
          <p:cNvPicPr>
            <a:picLocks noChangeAspect="1" noChangeArrowheads="1"/>
          </p:cNvPicPr>
          <p:nvPr/>
        </p:nvPicPr>
        <p:blipFill rotWithShape="1">
          <a:blip r:embed="rId13" cstate="hqprint">
            <a:extLst>
              <a:ext uri="{28A0092B-C50C-407E-A947-70E740481C1C}">
                <a14:useLocalDpi xmlns:a14="http://schemas.microsoft.com/office/drawing/2010/main"/>
              </a:ext>
            </a:extLst>
          </a:blip>
          <a:srcRect/>
          <a:stretch>
            <a:fillRect/>
          </a:stretch>
        </p:blipFill>
        <p:spPr bwMode="auto">
          <a:xfrm>
            <a:off x="5670327" y="3381829"/>
            <a:ext cx="1104158" cy="327655"/>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a:extLst>
              <a:ext uri="{FF2B5EF4-FFF2-40B4-BE49-F238E27FC236}">
                <a16:creationId xmlns:a16="http://schemas.microsoft.com/office/drawing/2014/main" id="{A9707DF8-9991-0D6E-EFDD-51886EF4D577}"/>
              </a:ext>
            </a:extLst>
          </p:cNvPr>
          <p:cNvPicPr>
            <a:picLocks noChangeAspect="1" noChangeArrowheads="1"/>
          </p:cNvPicPr>
          <p:nvPr/>
        </p:nvPicPr>
        <p:blipFill rotWithShape="1">
          <a:blip r:embed="rId14" cstate="hqprint">
            <a:extLst>
              <a:ext uri="{28A0092B-C50C-407E-A947-70E740481C1C}">
                <a14:useLocalDpi xmlns:a14="http://schemas.microsoft.com/office/drawing/2010/main"/>
              </a:ext>
            </a:extLst>
          </a:blip>
          <a:srcRect/>
          <a:stretch>
            <a:fillRect/>
          </a:stretch>
        </p:blipFill>
        <p:spPr bwMode="auto">
          <a:xfrm>
            <a:off x="1981141" y="3151581"/>
            <a:ext cx="577648" cy="668767"/>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chai - npm">
            <a:extLst>
              <a:ext uri="{FF2B5EF4-FFF2-40B4-BE49-F238E27FC236}">
                <a16:creationId xmlns:a16="http://schemas.microsoft.com/office/drawing/2014/main" id="{49510896-1F91-3CB4-B30E-85503970A66A}"/>
              </a:ext>
            </a:extLst>
          </p:cNvPr>
          <p:cNvPicPr>
            <a:picLocks noChangeAspect="1" noChangeArrowheads="1"/>
          </p:cNvPicPr>
          <p:nvPr/>
        </p:nvPicPr>
        <p:blipFill>
          <a:blip r:embed="rId15">
            <a:extLst>
              <a:ext uri="{28A0092B-C50C-407E-A947-70E740481C1C}">
                <a14:useLocalDpi xmlns:a14="http://schemas.microsoft.com/office/drawing/2010/main"/>
              </a:ext>
            </a:extLst>
          </a:blip>
          <a:srcRect/>
          <a:stretch>
            <a:fillRect/>
          </a:stretch>
        </p:blipFill>
        <p:spPr bwMode="auto">
          <a:xfrm>
            <a:off x="2663855" y="3153829"/>
            <a:ext cx="582491" cy="654925"/>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Node.js Logo PNG Transparent &amp; SVG Vector - Freebie Supply">
            <a:extLst>
              <a:ext uri="{FF2B5EF4-FFF2-40B4-BE49-F238E27FC236}">
                <a16:creationId xmlns:a16="http://schemas.microsoft.com/office/drawing/2014/main" id="{3CF4F086-16E3-3D81-8966-524332B93CF8}"/>
              </a:ext>
            </a:extLst>
          </p:cNvPr>
          <p:cNvPicPr>
            <a:picLocks noChangeAspect="1" noChangeArrowheads="1"/>
          </p:cNvPicPr>
          <p:nvPr/>
        </p:nvPicPr>
        <p:blipFill rotWithShape="1">
          <a:blip r:embed="rId16" cstate="hqprint">
            <a:extLst>
              <a:ext uri="{28A0092B-C50C-407E-A947-70E740481C1C}">
                <a14:useLocalDpi xmlns:a14="http://schemas.microsoft.com/office/drawing/2010/main"/>
              </a:ext>
            </a:extLst>
          </a:blip>
          <a:srcRect/>
          <a:stretch>
            <a:fillRect/>
          </a:stretch>
        </p:blipFill>
        <p:spPr bwMode="auto">
          <a:xfrm>
            <a:off x="1989311" y="2096252"/>
            <a:ext cx="607615" cy="364210"/>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Logo Postgresql - Free Transparent PNG Clipart Images Download">
            <a:extLst>
              <a:ext uri="{FF2B5EF4-FFF2-40B4-BE49-F238E27FC236}">
                <a16:creationId xmlns:a16="http://schemas.microsoft.com/office/drawing/2014/main" id="{CDF260A3-A60D-C5AC-C8BA-DA99F7B5A1A9}"/>
              </a:ext>
            </a:extLst>
          </p:cNvPr>
          <p:cNvPicPr>
            <a:picLocks noChangeAspect="1" noChangeArrowheads="1"/>
          </p:cNvPicPr>
          <p:nvPr/>
        </p:nvPicPr>
        <p:blipFill rotWithShape="1">
          <a:blip r:embed="rId17" cstate="hqprint">
            <a:extLst>
              <a:ext uri="{BEBA8EAE-BF5A-486C-A8C5-ECC9F3942E4B}">
                <a14:imgProps xmlns:a14="http://schemas.microsoft.com/office/drawing/2010/main">
                  <a14:imgLayer r:embed="rId18">
                    <a14:imgEffect>
                      <a14:backgroundRemoval t="1917" b="100000" l="2976" r="95833">
                        <a14:foregroundMark x1="9762" y1="8307" x2="13810" y2="44089"/>
                        <a14:foregroundMark x1="13810" y1="44089" x2="17143" y2="55591"/>
                        <a14:foregroundMark x1="5833" y1="23323" x2="15119" y2="48562"/>
                        <a14:foregroundMark x1="15119" y1="48562" x2="15952" y2="49521"/>
                        <a14:foregroundMark x1="39643" y1="38019" x2="39643" y2="38019"/>
                        <a14:foregroundMark x1="42500" y1="47604" x2="42500" y2="47604"/>
                        <a14:foregroundMark x1="51429" y1="45687" x2="51429" y2="45687"/>
                        <a14:foregroundMark x1="54405" y1="42492" x2="54405" y2="42492"/>
                        <a14:foregroundMark x1="60952" y1="48243" x2="60952" y2="48243"/>
                        <a14:foregroundMark x1="62738" y1="47284" x2="62738" y2="47284"/>
                        <a14:foregroundMark x1="70476" y1="52077" x2="70476" y2="52077"/>
                        <a14:foregroundMark x1="73452" y1="45367" x2="73452" y2="45367"/>
                        <a14:foregroundMark x1="96071" y1="60703" x2="96071" y2="60703"/>
                        <a14:foregroundMark x1="84524" y1="34185" x2="84524" y2="34185"/>
                        <a14:foregroundMark x1="3095" y1="20447" x2="7262" y2="46006"/>
                        <a14:backgroundMark x1="49167" y1="15655" x2="49167" y2="15655"/>
                        <a14:backgroundMark x1="42024" y1="13419" x2="48214" y2="18211"/>
                        <a14:backgroundMark x1="42024" y1="86581" x2="42024" y2="86581"/>
                        <a14:backgroundMark x1="34524" y1="93291" x2="34524" y2="93291"/>
                        <a14:backgroundMark x1="9167" y1="92652" x2="9167" y2="92652"/>
                        <a14:backgroundMark x1="34524" y1="88818" x2="65714" y2="89457"/>
                        <a14:backgroundMark x1="65714" y1="89457" x2="71786" y2="86581"/>
                        <a14:backgroundMark x1="44167" y1="79872" x2="49762" y2="99681"/>
                        <a14:backgroundMark x1="89048" y1="80192" x2="42976" y2="90735"/>
                        <a14:backgroundMark x1="89167" y1="57508" x2="89643" y2="63898"/>
                      </a14:backgroundRemoval>
                    </a14:imgEffect>
                  </a14:imgLayer>
                </a14:imgProps>
              </a:ext>
              <a:ext uri="{28A0092B-C50C-407E-A947-70E740481C1C}">
                <a14:useLocalDpi xmlns:a14="http://schemas.microsoft.com/office/drawing/2010/main"/>
              </a:ext>
            </a:extLst>
          </a:blip>
          <a:srcRect/>
          <a:stretch>
            <a:fillRect/>
          </a:stretch>
        </p:blipFill>
        <p:spPr bwMode="auto">
          <a:xfrm>
            <a:off x="2663855" y="2057013"/>
            <a:ext cx="1244853" cy="463362"/>
          </a:xfrm>
          <a:prstGeom prst="rect">
            <a:avLst/>
          </a:prstGeom>
          <a:noFill/>
          <a:extLst>
            <a:ext uri="{909E8E84-426E-40DD-AFC4-6F175D3DCCD1}">
              <a14:hiddenFill xmlns:a14="http://schemas.microsoft.com/office/drawing/2010/main">
                <a:solidFill>
                  <a:srgbClr val="FFFFFF"/>
                </a:solidFill>
              </a14:hiddenFill>
            </a:ext>
          </a:extLst>
        </p:spPr>
      </p:pic>
      <p:grpSp>
        <p:nvGrpSpPr>
          <p:cNvPr id="16" name="Group 15">
            <a:extLst>
              <a:ext uri="{FF2B5EF4-FFF2-40B4-BE49-F238E27FC236}">
                <a16:creationId xmlns:a16="http://schemas.microsoft.com/office/drawing/2014/main" id="{0C619FDB-FB99-0E2A-0D0C-FC71B5063294}"/>
              </a:ext>
            </a:extLst>
          </p:cNvPr>
          <p:cNvGrpSpPr/>
          <p:nvPr/>
        </p:nvGrpSpPr>
        <p:grpSpPr>
          <a:xfrm>
            <a:off x="3969981" y="2151139"/>
            <a:ext cx="1041521" cy="260652"/>
            <a:chOff x="4205638" y="2267498"/>
            <a:chExt cx="1041521" cy="260652"/>
          </a:xfrm>
        </p:grpSpPr>
        <p:pic>
          <p:nvPicPr>
            <p:cNvPr id="14" name="Picture 8" descr="Behind the Scenes of ExpressJS: A Deep Dive into Nodejs' Most Popular  Library | Level Up Coding">
              <a:extLst>
                <a:ext uri="{FF2B5EF4-FFF2-40B4-BE49-F238E27FC236}">
                  <a16:creationId xmlns:a16="http://schemas.microsoft.com/office/drawing/2014/main" id="{36860AAA-D90F-4021-895A-E1618632D3A2}"/>
                </a:ext>
              </a:extLst>
            </p:cNvPr>
            <p:cNvPicPr>
              <a:picLocks noChangeAspect="1" noChangeArrowheads="1"/>
            </p:cNvPicPr>
            <p:nvPr/>
          </p:nvPicPr>
          <p:blipFill rotWithShape="1">
            <a:blip r:embed="rId19" cstate="hqprint">
              <a:extLst>
                <a:ext uri="{28A0092B-C50C-407E-A947-70E740481C1C}">
                  <a14:useLocalDpi xmlns:a14="http://schemas.microsoft.com/office/drawing/2010/main"/>
                </a:ext>
              </a:extLst>
            </a:blip>
            <a:srcRect/>
            <a:stretch>
              <a:fillRect/>
            </a:stretch>
          </p:blipFill>
          <p:spPr bwMode="auto">
            <a:xfrm>
              <a:off x="5002286" y="2267498"/>
              <a:ext cx="244873" cy="254435"/>
            </a:xfrm>
            <a:prstGeom prst="rect">
              <a:avLst/>
            </a:prstGeom>
            <a:noFill/>
            <a:extLst>
              <a:ext uri="{909E8E84-426E-40DD-AFC4-6F175D3DCCD1}">
                <a14:hiddenFill xmlns:a14="http://schemas.microsoft.com/office/drawing/2010/main">
                  <a:solidFill>
                    <a:srgbClr val="FFFFFF"/>
                  </a:solidFill>
                </a14:hiddenFill>
              </a:ext>
            </a:extLst>
          </p:spPr>
        </p:pic>
        <p:pic>
          <p:nvPicPr>
            <p:cNvPr id="1036" name="Picture 12">
              <a:extLst>
                <a:ext uri="{FF2B5EF4-FFF2-40B4-BE49-F238E27FC236}">
                  <a16:creationId xmlns:a16="http://schemas.microsoft.com/office/drawing/2014/main" id="{6CC40766-613B-5B75-F024-7EF480CAF640}"/>
                </a:ext>
              </a:extLst>
            </p:cNvPr>
            <p:cNvPicPr>
              <a:picLocks noChangeAspect="1" noChangeArrowheads="1"/>
            </p:cNvPicPr>
            <p:nvPr/>
          </p:nvPicPr>
          <p:blipFill rotWithShape="1">
            <a:blip r:embed="rId20" cstate="hqprint">
              <a:extLst>
                <a:ext uri="{28A0092B-C50C-407E-A947-70E740481C1C}">
                  <a14:useLocalDpi xmlns:a14="http://schemas.microsoft.com/office/drawing/2010/main"/>
                </a:ext>
              </a:extLst>
            </a:blip>
            <a:srcRect l="1802" t="-1790" r="7140" b="1790"/>
            <a:stretch>
              <a:fillRect/>
            </a:stretch>
          </p:blipFill>
          <p:spPr bwMode="auto">
            <a:xfrm>
              <a:off x="4205638" y="2273715"/>
              <a:ext cx="764058" cy="254435"/>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8" name="Group 17">
            <a:extLst>
              <a:ext uri="{FF2B5EF4-FFF2-40B4-BE49-F238E27FC236}">
                <a16:creationId xmlns:a16="http://schemas.microsoft.com/office/drawing/2014/main" id="{AFD08421-86D9-9D35-D2D9-112C1164D72E}"/>
              </a:ext>
            </a:extLst>
          </p:cNvPr>
          <p:cNvGrpSpPr/>
          <p:nvPr/>
        </p:nvGrpSpPr>
        <p:grpSpPr>
          <a:xfrm>
            <a:off x="7747456" y="2160471"/>
            <a:ext cx="1041521" cy="260652"/>
            <a:chOff x="4205638" y="2267498"/>
            <a:chExt cx="1041521" cy="260652"/>
          </a:xfrm>
        </p:grpSpPr>
        <p:pic>
          <p:nvPicPr>
            <p:cNvPr id="19" name="Picture 8" descr="Behind the Scenes of ExpressJS: A Deep Dive into Nodejs' Most Popular  Library | Level Up Coding">
              <a:extLst>
                <a:ext uri="{FF2B5EF4-FFF2-40B4-BE49-F238E27FC236}">
                  <a16:creationId xmlns:a16="http://schemas.microsoft.com/office/drawing/2014/main" id="{DF19D02B-3F30-4D4D-BFC7-ED18E0D8D59D}"/>
                </a:ext>
              </a:extLst>
            </p:cNvPr>
            <p:cNvPicPr>
              <a:picLocks noChangeAspect="1" noChangeArrowheads="1"/>
            </p:cNvPicPr>
            <p:nvPr/>
          </p:nvPicPr>
          <p:blipFill rotWithShape="1">
            <a:blip r:embed="rId19" cstate="hqprint">
              <a:extLst>
                <a:ext uri="{28A0092B-C50C-407E-A947-70E740481C1C}">
                  <a14:useLocalDpi xmlns:a14="http://schemas.microsoft.com/office/drawing/2010/main"/>
                </a:ext>
              </a:extLst>
            </a:blip>
            <a:srcRect/>
            <a:stretch>
              <a:fillRect/>
            </a:stretch>
          </p:blipFill>
          <p:spPr bwMode="auto">
            <a:xfrm>
              <a:off x="5002286" y="2267498"/>
              <a:ext cx="244873" cy="254435"/>
            </a:xfrm>
            <a:prstGeom prst="rect">
              <a:avLst/>
            </a:prstGeom>
            <a:noFill/>
            <a:extLst>
              <a:ext uri="{909E8E84-426E-40DD-AFC4-6F175D3DCCD1}">
                <a14:hiddenFill xmlns:a14="http://schemas.microsoft.com/office/drawing/2010/main">
                  <a:solidFill>
                    <a:srgbClr val="FFFFFF"/>
                  </a:solidFill>
                </a14:hiddenFill>
              </a:ext>
            </a:extLst>
          </p:spPr>
        </p:pic>
        <p:pic>
          <p:nvPicPr>
            <p:cNvPr id="20" name="Picture 12">
              <a:extLst>
                <a:ext uri="{FF2B5EF4-FFF2-40B4-BE49-F238E27FC236}">
                  <a16:creationId xmlns:a16="http://schemas.microsoft.com/office/drawing/2014/main" id="{0BB943E8-EEA5-B589-37D2-6A99CBED0C58}"/>
                </a:ext>
              </a:extLst>
            </p:cNvPr>
            <p:cNvPicPr>
              <a:picLocks noChangeAspect="1" noChangeArrowheads="1"/>
            </p:cNvPicPr>
            <p:nvPr/>
          </p:nvPicPr>
          <p:blipFill rotWithShape="1">
            <a:blip r:embed="rId20" cstate="hqprint">
              <a:extLst>
                <a:ext uri="{28A0092B-C50C-407E-A947-70E740481C1C}">
                  <a14:useLocalDpi xmlns:a14="http://schemas.microsoft.com/office/drawing/2010/main"/>
                </a:ext>
              </a:extLst>
            </a:blip>
            <a:srcRect l="1802" t="-1790" r="7140" b="1790"/>
            <a:stretch>
              <a:fillRect/>
            </a:stretch>
          </p:blipFill>
          <p:spPr bwMode="auto">
            <a:xfrm>
              <a:off x="4205638" y="2273715"/>
              <a:ext cx="764058" cy="254435"/>
            </a:xfrm>
            <a:prstGeom prst="rect">
              <a:avLst/>
            </a:prstGeom>
            <a:noFill/>
            <a:extLst>
              <a:ext uri="{909E8E84-426E-40DD-AFC4-6F175D3DCCD1}">
                <a14:hiddenFill xmlns:a14="http://schemas.microsoft.com/office/drawing/2010/main">
                  <a:solidFill>
                    <a:srgbClr val="FFFFFF"/>
                  </a:solidFill>
                </a14:hiddenFill>
              </a:ext>
            </a:extLst>
          </p:spPr>
        </p:pic>
      </p:grpSp>
      <p:pic>
        <p:nvPicPr>
          <p:cNvPr id="21" name="Picture 10" descr="Logo Postgresql - Free Transparent PNG Clipart Images Download">
            <a:extLst>
              <a:ext uri="{FF2B5EF4-FFF2-40B4-BE49-F238E27FC236}">
                <a16:creationId xmlns:a16="http://schemas.microsoft.com/office/drawing/2014/main" id="{D7613977-9506-1509-D2EE-6BAAC6400FA5}"/>
              </a:ext>
            </a:extLst>
          </p:cNvPr>
          <p:cNvPicPr>
            <a:picLocks noChangeAspect="1" noChangeArrowheads="1"/>
          </p:cNvPicPr>
          <p:nvPr/>
        </p:nvPicPr>
        <p:blipFill rotWithShape="1">
          <a:blip r:embed="rId17" cstate="hqprint">
            <a:extLst>
              <a:ext uri="{BEBA8EAE-BF5A-486C-A8C5-ECC9F3942E4B}">
                <a14:imgProps xmlns:a14="http://schemas.microsoft.com/office/drawing/2010/main">
                  <a14:imgLayer r:embed="rId18">
                    <a14:imgEffect>
                      <a14:backgroundRemoval t="1917" b="100000" l="2976" r="95833">
                        <a14:foregroundMark x1="9762" y1="8307" x2="13810" y2="44089"/>
                        <a14:foregroundMark x1="13810" y1="44089" x2="17143" y2="55591"/>
                        <a14:foregroundMark x1="5833" y1="23323" x2="15119" y2="48562"/>
                        <a14:foregroundMark x1="15119" y1="48562" x2="15952" y2="49521"/>
                        <a14:foregroundMark x1="39643" y1="38019" x2="39643" y2="38019"/>
                        <a14:foregroundMark x1="42500" y1="47604" x2="42500" y2="47604"/>
                        <a14:foregroundMark x1="51429" y1="45687" x2="51429" y2="45687"/>
                        <a14:foregroundMark x1="54405" y1="42492" x2="54405" y2="42492"/>
                        <a14:foregroundMark x1="60952" y1="48243" x2="60952" y2="48243"/>
                        <a14:foregroundMark x1="62738" y1="47284" x2="62738" y2="47284"/>
                        <a14:foregroundMark x1="70476" y1="52077" x2="70476" y2="52077"/>
                        <a14:foregroundMark x1="73452" y1="45367" x2="73452" y2="45367"/>
                        <a14:foregroundMark x1="96071" y1="60703" x2="96071" y2="60703"/>
                        <a14:foregroundMark x1="84524" y1="34185" x2="84524" y2="34185"/>
                        <a14:foregroundMark x1="3095" y1="20447" x2="7262" y2="46006"/>
                        <a14:backgroundMark x1="49167" y1="15655" x2="49167" y2="15655"/>
                        <a14:backgroundMark x1="42024" y1="13419" x2="48214" y2="18211"/>
                        <a14:backgroundMark x1="42024" y1="86581" x2="42024" y2="86581"/>
                        <a14:backgroundMark x1="34524" y1="93291" x2="34524" y2="93291"/>
                        <a14:backgroundMark x1="9167" y1="92652" x2="9167" y2="92652"/>
                        <a14:backgroundMark x1="34524" y1="88818" x2="65714" y2="89457"/>
                        <a14:backgroundMark x1="65714" y1="89457" x2="71786" y2="86581"/>
                        <a14:backgroundMark x1="44167" y1="79872" x2="49762" y2="99681"/>
                        <a14:backgroundMark x1="89048" y1="80192" x2="42976" y2="90735"/>
                        <a14:backgroundMark x1="89167" y1="57508" x2="89643" y2="63898"/>
                      </a14:backgroundRemoval>
                    </a14:imgEffect>
                  </a14:imgLayer>
                </a14:imgProps>
              </a:ext>
              <a:ext uri="{28A0092B-C50C-407E-A947-70E740481C1C}">
                <a14:useLocalDpi xmlns:a14="http://schemas.microsoft.com/office/drawing/2010/main"/>
              </a:ext>
            </a:extLst>
          </a:blip>
          <a:srcRect/>
          <a:stretch>
            <a:fillRect/>
          </a:stretch>
        </p:blipFill>
        <p:spPr bwMode="auto">
          <a:xfrm>
            <a:off x="6440151" y="2060122"/>
            <a:ext cx="1244853" cy="463362"/>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E77873EB-F092-FD4E-F2A0-6DBB5BB77F3C}"/>
              </a:ext>
            </a:extLst>
          </p:cNvPr>
          <p:cNvSpPr txBox="1"/>
          <p:nvPr/>
        </p:nvSpPr>
        <p:spPr>
          <a:xfrm>
            <a:off x="289296" y="1443955"/>
            <a:ext cx="899605" cy="307777"/>
          </a:xfrm>
          <a:prstGeom prst="rect">
            <a:avLst/>
          </a:prstGeom>
          <a:noFill/>
        </p:spPr>
        <p:txBody>
          <a:bodyPr wrap="none" rtlCol="0">
            <a:spAutoFit/>
          </a:bodyPr>
          <a:lstStyle/>
          <a:p>
            <a:r>
              <a:rPr lang="en-US"/>
              <a:t>Frontend</a:t>
            </a:r>
          </a:p>
        </p:txBody>
      </p:sp>
      <p:pic>
        <p:nvPicPr>
          <p:cNvPr id="22" name="Picture 2" descr="HTML Webpack Combine Multiple Configs Plugin | @qwtel">
            <a:extLst>
              <a:ext uri="{FF2B5EF4-FFF2-40B4-BE49-F238E27FC236}">
                <a16:creationId xmlns:a16="http://schemas.microsoft.com/office/drawing/2014/main" id="{AA0E13BA-EFFB-5D35-9F08-8A58F4FB2E78}"/>
              </a:ext>
            </a:extLst>
          </p:cNvPr>
          <p:cNvPicPr>
            <a:picLocks noChangeAspect="1" noChangeArrowheads="1"/>
          </p:cNvPicPr>
          <p:nvPr/>
        </p:nvPicPr>
        <p:blipFill rotWithShape="1">
          <a:blip r:embed="rId21" cstate="hqprint">
            <a:extLst>
              <a:ext uri="{28A0092B-C50C-407E-A947-70E740481C1C}">
                <a14:useLocalDpi xmlns:a14="http://schemas.microsoft.com/office/drawing/2010/main"/>
              </a:ext>
            </a:extLst>
          </a:blip>
          <a:srcRect/>
          <a:stretch>
            <a:fillRect/>
          </a:stretch>
        </p:blipFill>
        <p:spPr bwMode="auto">
          <a:xfrm>
            <a:off x="2000735" y="2723444"/>
            <a:ext cx="1285546" cy="394082"/>
          </a:xfrm>
          <a:prstGeom prst="rect">
            <a:avLst/>
          </a:prstGeom>
          <a:noFill/>
          <a:extLst>
            <a:ext uri="{909E8E84-426E-40DD-AFC4-6F175D3DCCD1}">
              <a14:hiddenFill xmlns:a14="http://schemas.microsoft.com/office/drawing/2010/main">
                <a:solidFill>
                  <a:srgbClr val="FFFFFF"/>
                </a:solidFill>
              </a14:hiddenFill>
            </a:ext>
          </a:extLst>
        </p:spPr>
      </p:pic>
      <p:sp>
        <p:nvSpPr>
          <p:cNvPr id="23" name="TextBox 22">
            <a:extLst>
              <a:ext uri="{FF2B5EF4-FFF2-40B4-BE49-F238E27FC236}">
                <a16:creationId xmlns:a16="http://schemas.microsoft.com/office/drawing/2014/main" id="{AF9A8F80-D1B2-C85F-9D20-25BDDD16A6EB}"/>
              </a:ext>
            </a:extLst>
          </p:cNvPr>
          <p:cNvSpPr txBox="1"/>
          <p:nvPr/>
        </p:nvSpPr>
        <p:spPr>
          <a:xfrm>
            <a:off x="289296" y="2107129"/>
            <a:ext cx="881973" cy="307777"/>
          </a:xfrm>
          <a:prstGeom prst="rect">
            <a:avLst/>
          </a:prstGeom>
          <a:noFill/>
        </p:spPr>
        <p:txBody>
          <a:bodyPr wrap="none" rtlCol="0">
            <a:spAutoFit/>
          </a:bodyPr>
          <a:lstStyle/>
          <a:p>
            <a:r>
              <a:rPr lang="en-US"/>
              <a:t>Backend</a:t>
            </a:r>
          </a:p>
        </p:txBody>
      </p:sp>
      <p:sp>
        <p:nvSpPr>
          <p:cNvPr id="24" name="TextBox 23">
            <a:extLst>
              <a:ext uri="{FF2B5EF4-FFF2-40B4-BE49-F238E27FC236}">
                <a16:creationId xmlns:a16="http://schemas.microsoft.com/office/drawing/2014/main" id="{E27E19DC-E7B5-473A-649D-BF7BF2465254}"/>
              </a:ext>
            </a:extLst>
          </p:cNvPr>
          <p:cNvSpPr txBox="1"/>
          <p:nvPr/>
        </p:nvSpPr>
        <p:spPr>
          <a:xfrm>
            <a:off x="344599" y="3428022"/>
            <a:ext cx="771365" cy="307777"/>
          </a:xfrm>
          <a:prstGeom prst="rect">
            <a:avLst/>
          </a:prstGeom>
          <a:noFill/>
        </p:spPr>
        <p:txBody>
          <a:bodyPr wrap="none" rtlCol="0">
            <a:spAutoFit/>
          </a:bodyPr>
          <a:lstStyle/>
          <a:p>
            <a:r>
              <a:rPr lang="en-US"/>
              <a:t>Testing</a:t>
            </a:r>
          </a:p>
        </p:txBody>
      </p:sp>
      <p:sp>
        <p:nvSpPr>
          <p:cNvPr id="25" name="TextBox 24">
            <a:extLst>
              <a:ext uri="{FF2B5EF4-FFF2-40B4-BE49-F238E27FC236}">
                <a16:creationId xmlns:a16="http://schemas.microsoft.com/office/drawing/2014/main" id="{246C71EB-8A4E-26F6-31AE-325FF5CA10E8}"/>
              </a:ext>
            </a:extLst>
          </p:cNvPr>
          <p:cNvSpPr txBox="1"/>
          <p:nvPr/>
        </p:nvSpPr>
        <p:spPr>
          <a:xfrm>
            <a:off x="344599" y="2815016"/>
            <a:ext cx="981359" cy="307777"/>
          </a:xfrm>
          <a:prstGeom prst="rect">
            <a:avLst/>
          </a:prstGeom>
          <a:noFill/>
        </p:spPr>
        <p:txBody>
          <a:bodyPr wrap="none" rtlCol="0">
            <a:spAutoFit/>
          </a:bodyPr>
          <a:lstStyle/>
          <a:p>
            <a:r>
              <a:rPr lang="en-US"/>
              <a:t>Build Tool</a:t>
            </a:r>
          </a:p>
        </p:txBody>
      </p:sp>
      <p:pic>
        <p:nvPicPr>
          <p:cNvPr id="26" name="Picture 8" descr="Node.js Logo PNG Transparent &amp; SVG Vector - Freebie Supply">
            <a:extLst>
              <a:ext uri="{FF2B5EF4-FFF2-40B4-BE49-F238E27FC236}">
                <a16:creationId xmlns:a16="http://schemas.microsoft.com/office/drawing/2014/main" id="{1D5C9228-E370-28EF-5181-456106370B9A}"/>
              </a:ext>
            </a:extLst>
          </p:cNvPr>
          <p:cNvPicPr>
            <a:picLocks noChangeAspect="1" noChangeArrowheads="1"/>
          </p:cNvPicPr>
          <p:nvPr/>
        </p:nvPicPr>
        <p:blipFill rotWithShape="1">
          <a:blip r:embed="rId16" cstate="hqprint">
            <a:extLst>
              <a:ext uri="{28A0092B-C50C-407E-A947-70E740481C1C}">
                <a14:useLocalDpi xmlns:a14="http://schemas.microsoft.com/office/drawing/2010/main"/>
              </a:ext>
            </a:extLst>
          </a:blip>
          <a:srcRect/>
          <a:stretch>
            <a:fillRect/>
          </a:stretch>
        </p:blipFill>
        <p:spPr bwMode="auto">
          <a:xfrm>
            <a:off x="5614791" y="2093796"/>
            <a:ext cx="607615" cy="36421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64786366"/>
      </p:ext>
    </p:extLst>
  </p:cSld>
  <p:clrMapOvr>
    <a:masterClrMapping/>
  </p:clrMapOvr>
  <p:extLst>
    <p:ext uri="{6950BFC3-D8DA-4A85-94F7-54DA5524770B}">
      <p188:commentRel xmlns:p188="http://schemas.microsoft.com/office/powerpoint/2018/8/main" r:id="rId3"/>
    </p:ext>
  </p:extLs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58A87A-0A2D-68A7-0D08-2E507CCFF216}"/>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0BEACC91-8EAA-BC44-A207-235AA61C4B45}"/>
              </a:ext>
            </a:extLst>
          </p:cNvPr>
          <p:cNvSpPr txBox="1"/>
          <p:nvPr/>
        </p:nvSpPr>
        <p:spPr>
          <a:xfrm>
            <a:off x="171753" y="113559"/>
            <a:ext cx="8799384" cy="400110"/>
          </a:xfrm>
          <a:prstGeom prst="rect">
            <a:avLst/>
          </a:prstGeom>
          <a:noFill/>
        </p:spPr>
        <p:txBody>
          <a:bodyPr wrap="square" lIns="91440" tIns="45720" rIns="91440" bIns="45720" anchor="t">
            <a:spAutoFit/>
          </a:bodyPr>
          <a:lstStyle/>
          <a:p>
            <a:r>
              <a:rPr lang="en-US" sz="2000" b="1">
                <a:solidFill>
                  <a:srgbClr val="16693F"/>
                </a:solidFill>
                <a:ea typeface="Sans Serif Collection"/>
                <a:cs typeface="Sans Serif Collection"/>
              </a:rPr>
              <a:t>Impact of database migration includes scalability and data currency </a:t>
            </a:r>
            <a:endParaRPr lang="en-US"/>
          </a:p>
        </p:txBody>
      </p:sp>
      <p:sp>
        <p:nvSpPr>
          <p:cNvPr id="8" name="Text Placeholder 2">
            <a:extLst>
              <a:ext uri="{FF2B5EF4-FFF2-40B4-BE49-F238E27FC236}">
                <a16:creationId xmlns:a16="http://schemas.microsoft.com/office/drawing/2014/main" id="{18F59891-3A8A-83F7-8B67-E2C31397AE49}"/>
              </a:ext>
            </a:extLst>
          </p:cNvPr>
          <p:cNvSpPr txBox="1">
            <a:spLocks/>
          </p:cNvSpPr>
          <p:nvPr/>
        </p:nvSpPr>
        <p:spPr>
          <a:xfrm>
            <a:off x="171752" y="513669"/>
            <a:ext cx="9105251" cy="2870240"/>
          </a:xfrm>
          <a:prstGeom prst="rect">
            <a:avLst/>
          </a:prstGeom>
        </p:spPr>
        <p:txBody>
          <a:bodyPr>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285750" indent="-285750">
              <a:lnSpc>
                <a:spcPct val="114999"/>
              </a:lnSpc>
              <a:buFont typeface="Arial" panose="020B0604020202020204" pitchFamily="34" charset="0"/>
              <a:buChar char="•"/>
            </a:pPr>
            <a:endParaRPr lang="en-US" sz="2000">
              <a:solidFill>
                <a:schemeClr val="tx1"/>
              </a:solidFill>
            </a:endParaRPr>
          </a:p>
        </p:txBody>
      </p:sp>
      <p:grpSp>
        <p:nvGrpSpPr>
          <p:cNvPr id="21" name="Group 20">
            <a:extLst>
              <a:ext uri="{FF2B5EF4-FFF2-40B4-BE49-F238E27FC236}">
                <a16:creationId xmlns:a16="http://schemas.microsoft.com/office/drawing/2014/main" id="{D13EBD52-CDDC-C9E9-E48A-0E9B0B19260A}"/>
              </a:ext>
            </a:extLst>
          </p:cNvPr>
          <p:cNvGrpSpPr/>
          <p:nvPr/>
        </p:nvGrpSpPr>
        <p:grpSpPr>
          <a:xfrm>
            <a:off x="316994" y="1180503"/>
            <a:ext cx="7851155" cy="1015663"/>
            <a:chOff x="268133" y="4014278"/>
            <a:chExt cx="7851155" cy="1015663"/>
          </a:xfrm>
        </p:grpSpPr>
        <p:pic>
          <p:nvPicPr>
            <p:cNvPr id="5" name="Graphic 4" descr="Upward trend with solid fill">
              <a:extLst>
                <a:ext uri="{FF2B5EF4-FFF2-40B4-BE49-F238E27FC236}">
                  <a16:creationId xmlns:a16="http://schemas.microsoft.com/office/drawing/2014/main" id="{112A4B2D-CDDC-A6F3-6FBD-004083E7934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89486" y="4144752"/>
              <a:ext cx="623986" cy="623986"/>
            </a:xfrm>
            <a:prstGeom prst="rect">
              <a:avLst/>
            </a:prstGeom>
          </p:spPr>
        </p:pic>
        <p:grpSp>
          <p:nvGrpSpPr>
            <p:cNvPr id="6" name="Group 5">
              <a:extLst>
                <a:ext uri="{FF2B5EF4-FFF2-40B4-BE49-F238E27FC236}">
                  <a16:creationId xmlns:a16="http://schemas.microsoft.com/office/drawing/2014/main" id="{5E38CF5F-097F-F3B9-9FD8-AE16680FE31A}"/>
                </a:ext>
              </a:extLst>
            </p:cNvPr>
            <p:cNvGrpSpPr/>
            <p:nvPr/>
          </p:nvGrpSpPr>
          <p:grpSpPr>
            <a:xfrm>
              <a:off x="268133" y="4014278"/>
              <a:ext cx="7851155" cy="1015663"/>
              <a:chOff x="323975" y="539345"/>
              <a:chExt cx="7851155" cy="1015663"/>
            </a:xfrm>
          </p:grpSpPr>
          <p:sp>
            <p:nvSpPr>
              <p:cNvPr id="9" name="TextBox 8">
                <a:extLst>
                  <a:ext uri="{FF2B5EF4-FFF2-40B4-BE49-F238E27FC236}">
                    <a16:creationId xmlns:a16="http://schemas.microsoft.com/office/drawing/2014/main" id="{2E14D09A-7CF4-4E55-5F50-3A505FFD2675}"/>
                  </a:ext>
                </a:extLst>
              </p:cNvPr>
              <p:cNvSpPr txBox="1"/>
              <p:nvPr/>
            </p:nvSpPr>
            <p:spPr>
              <a:xfrm>
                <a:off x="1312020" y="539345"/>
                <a:ext cx="6863110" cy="1015663"/>
              </a:xfrm>
              <a:prstGeom prst="rect">
                <a:avLst/>
              </a:prstGeom>
              <a:noFill/>
            </p:spPr>
            <p:txBody>
              <a:bodyPr wrap="square" lIns="91440" tIns="45720" rIns="91440" bIns="45720" rtlCol="0" anchor="t">
                <a:spAutoFit/>
              </a:bodyPr>
              <a:lstStyle/>
              <a:p>
                <a:r>
                  <a:rPr lang="en-US" sz="2000" b="1"/>
                  <a:t>Scalability:</a:t>
                </a:r>
                <a:r>
                  <a:rPr lang="en-US" sz="2000"/>
                  <a:t> The new modular pattern allows for easier integration of future data sources without rewriting the entire core logic.</a:t>
                </a:r>
              </a:p>
            </p:txBody>
          </p:sp>
          <p:sp>
            <p:nvSpPr>
              <p:cNvPr id="16" name="Oval 15">
                <a:extLst>
                  <a:ext uri="{FF2B5EF4-FFF2-40B4-BE49-F238E27FC236}">
                    <a16:creationId xmlns:a16="http://schemas.microsoft.com/office/drawing/2014/main" id="{D15E7B81-4286-882A-D0C9-6F35784658BB}"/>
                  </a:ext>
                </a:extLst>
              </p:cNvPr>
              <p:cNvSpPr/>
              <p:nvPr/>
            </p:nvSpPr>
            <p:spPr>
              <a:xfrm>
                <a:off x="323975" y="580334"/>
                <a:ext cx="866692" cy="802956"/>
              </a:xfrm>
              <a:prstGeom prst="ellipse">
                <a:avLst/>
              </a:prstGeom>
              <a:noFill/>
              <a:ln>
                <a:solidFill>
                  <a:srgbClr val="1669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31" name="Group 30">
            <a:extLst>
              <a:ext uri="{FF2B5EF4-FFF2-40B4-BE49-F238E27FC236}">
                <a16:creationId xmlns:a16="http://schemas.microsoft.com/office/drawing/2014/main" id="{8855A9BD-5A41-1C57-88BB-520CE79BB218}"/>
              </a:ext>
            </a:extLst>
          </p:cNvPr>
          <p:cNvGrpSpPr/>
          <p:nvPr/>
        </p:nvGrpSpPr>
        <p:grpSpPr>
          <a:xfrm>
            <a:off x="316994" y="3119052"/>
            <a:ext cx="7851155" cy="843945"/>
            <a:chOff x="316994" y="2014077"/>
            <a:chExt cx="7851155" cy="843945"/>
          </a:xfrm>
        </p:grpSpPr>
        <p:grpSp>
          <p:nvGrpSpPr>
            <p:cNvPr id="24" name="Group 23">
              <a:extLst>
                <a:ext uri="{FF2B5EF4-FFF2-40B4-BE49-F238E27FC236}">
                  <a16:creationId xmlns:a16="http://schemas.microsoft.com/office/drawing/2014/main" id="{6AED3238-09F2-AA25-C830-C581169665B3}"/>
                </a:ext>
              </a:extLst>
            </p:cNvPr>
            <p:cNvGrpSpPr/>
            <p:nvPr/>
          </p:nvGrpSpPr>
          <p:grpSpPr>
            <a:xfrm>
              <a:off x="316994" y="2014077"/>
              <a:ext cx="7851155" cy="843945"/>
              <a:chOff x="323975" y="539345"/>
              <a:chExt cx="7851155" cy="843945"/>
            </a:xfrm>
          </p:grpSpPr>
          <p:sp>
            <p:nvSpPr>
              <p:cNvPr id="25" name="TextBox 24">
                <a:extLst>
                  <a:ext uri="{FF2B5EF4-FFF2-40B4-BE49-F238E27FC236}">
                    <a16:creationId xmlns:a16="http://schemas.microsoft.com/office/drawing/2014/main" id="{EC9ED499-BF1E-CFA4-3FFF-6A1531A796A1}"/>
                  </a:ext>
                </a:extLst>
              </p:cNvPr>
              <p:cNvSpPr txBox="1"/>
              <p:nvPr/>
            </p:nvSpPr>
            <p:spPr>
              <a:xfrm>
                <a:off x="1312020" y="539345"/>
                <a:ext cx="6863110" cy="707886"/>
              </a:xfrm>
              <a:prstGeom prst="rect">
                <a:avLst/>
              </a:prstGeom>
              <a:noFill/>
            </p:spPr>
            <p:txBody>
              <a:bodyPr wrap="square" lIns="91440" tIns="45720" rIns="91440" bIns="45720" rtlCol="0" anchor="t">
                <a:spAutoFit/>
              </a:bodyPr>
              <a:lstStyle/>
              <a:p>
                <a:r>
                  <a:rPr lang="en-US" sz="2000" b="1"/>
                  <a:t>Data Currency:</a:t>
                </a:r>
                <a:r>
                  <a:rPr lang="en-US" sz="2000"/>
                  <a:t> Ensure biologists always have access to the latest information</a:t>
                </a:r>
              </a:p>
            </p:txBody>
          </p:sp>
          <p:sp>
            <p:nvSpPr>
              <p:cNvPr id="26" name="Oval 25">
                <a:extLst>
                  <a:ext uri="{FF2B5EF4-FFF2-40B4-BE49-F238E27FC236}">
                    <a16:creationId xmlns:a16="http://schemas.microsoft.com/office/drawing/2014/main" id="{1836AC98-A5FE-F892-9DE2-882C91021CB4}"/>
                  </a:ext>
                </a:extLst>
              </p:cNvPr>
              <p:cNvSpPr/>
              <p:nvPr/>
            </p:nvSpPr>
            <p:spPr>
              <a:xfrm>
                <a:off x="323975" y="580334"/>
                <a:ext cx="866692" cy="802956"/>
              </a:xfrm>
              <a:prstGeom prst="ellipse">
                <a:avLst/>
              </a:prstGeom>
              <a:noFill/>
              <a:ln>
                <a:solidFill>
                  <a:srgbClr val="1669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30" name="Graphic 29" descr="Repeat with solid fill">
              <a:extLst>
                <a:ext uri="{FF2B5EF4-FFF2-40B4-BE49-F238E27FC236}">
                  <a16:creationId xmlns:a16="http://schemas.microsoft.com/office/drawing/2014/main" id="{EC2E9D11-6620-B287-531F-A5F9D191944A}"/>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38347" y="2124323"/>
              <a:ext cx="597640" cy="597640"/>
            </a:xfrm>
            <a:prstGeom prst="rect">
              <a:avLst/>
            </a:prstGeom>
          </p:spPr>
        </p:pic>
      </p:grpSp>
    </p:spTree>
    <p:extLst>
      <p:ext uri="{BB962C8B-B14F-4D97-AF65-F5344CB8AC3E}">
        <p14:creationId xmlns:p14="http://schemas.microsoft.com/office/powerpoint/2010/main" val="2015836409"/>
      </p:ext>
    </p:extLst>
  </p:cSld>
  <p:clrMapOvr>
    <a:masterClrMapping/>
  </p:clrMapOvr>
  <p:extLst>
    <p:ext uri="{6950BFC3-D8DA-4A85-94F7-54DA5524770B}">
      <p188:commentRel xmlns:p188="http://schemas.microsoft.com/office/powerpoint/2018/8/main" r:id="rId3"/>
    </p:ext>
  </p:extLs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8EC559-A443-B911-E39A-F0C3754C91D9}"/>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E2D4A420-3432-AC02-C5ED-4B213B9E9D80}"/>
              </a:ext>
            </a:extLst>
          </p:cNvPr>
          <p:cNvSpPr txBox="1"/>
          <p:nvPr/>
        </p:nvSpPr>
        <p:spPr>
          <a:xfrm>
            <a:off x="172308" y="192052"/>
            <a:ext cx="8799384" cy="400110"/>
          </a:xfrm>
          <a:prstGeom prst="rect">
            <a:avLst/>
          </a:prstGeom>
          <a:noFill/>
        </p:spPr>
        <p:txBody>
          <a:bodyPr wrap="square" lIns="91440" tIns="45720" rIns="91440" bIns="45720" anchor="t">
            <a:spAutoFit/>
          </a:bodyPr>
          <a:lstStyle/>
          <a:p>
            <a:r>
              <a:rPr lang="en-US" sz="2000" b="1">
                <a:solidFill>
                  <a:srgbClr val="16693F"/>
                </a:solidFill>
                <a:ea typeface="Sans Serif Collection"/>
                <a:cs typeface="Sans Serif Collection"/>
              </a:rPr>
              <a:t>Future Work</a:t>
            </a:r>
            <a:endParaRPr lang="en-US"/>
          </a:p>
        </p:txBody>
      </p:sp>
      <mc:AlternateContent xmlns:mc="http://schemas.openxmlformats.org/markup-compatibility/2006" xmlns:p14="http://schemas.microsoft.com/office/powerpoint/2010/main">
        <mc:Choice Requires="p14">
          <p:contentPart p14:bwMode="auto" r:id="rId4">
            <p14:nvContentPartPr>
              <p14:cNvPr id="43" name="Ink 42">
                <a:extLst>
                  <a:ext uri="{FF2B5EF4-FFF2-40B4-BE49-F238E27FC236}">
                    <a16:creationId xmlns:a16="http://schemas.microsoft.com/office/drawing/2014/main" id="{E626FFF6-E6A3-CEE7-B015-A4DC4DB7CAAB}"/>
                  </a:ext>
                </a:extLst>
              </p14:cNvPr>
              <p14:cNvContentPartPr/>
              <p14:nvPr/>
            </p14:nvContentPartPr>
            <p14:xfrm>
              <a:off x="7530730" y="465543"/>
              <a:ext cx="360" cy="360"/>
            </p14:xfrm>
          </p:contentPart>
        </mc:Choice>
        <mc:Fallback xmlns="">
          <p:pic>
            <p:nvPicPr>
              <p:cNvPr id="43" name="Ink 42">
                <a:extLst>
                  <a:ext uri="{FF2B5EF4-FFF2-40B4-BE49-F238E27FC236}">
                    <a16:creationId xmlns:a16="http://schemas.microsoft.com/office/drawing/2014/main" id="{E626FFF6-E6A3-CEE7-B015-A4DC4DB7CAAB}"/>
                  </a:ext>
                </a:extLst>
              </p:cNvPr>
              <p:cNvPicPr/>
              <p:nvPr/>
            </p:nvPicPr>
            <p:blipFill>
              <a:blip r:embed="rId5"/>
              <a:stretch>
                <a:fillRect/>
              </a:stretch>
            </p:blipFill>
            <p:spPr>
              <a:xfrm>
                <a:off x="7521730" y="456543"/>
                <a:ext cx="18000" cy="18000"/>
              </a:xfrm>
              <a:prstGeom prst="rect">
                <a:avLst/>
              </a:prstGeom>
            </p:spPr>
          </p:pic>
        </mc:Fallback>
      </mc:AlternateContent>
      <p:graphicFrame>
        <p:nvGraphicFramePr>
          <p:cNvPr id="5" name="Table 4">
            <a:extLst>
              <a:ext uri="{FF2B5EF4-FFF2-40B4-BE49-F238E27FC236}">
                <a16:creationId xmlns:a16="http://schemas.microsoft.com/office/drawing/2014/main" id="{ED07BADD-D738-6428-7295-50D698F1C79B}"/>
              </a:ext>
            </a:extLst>
          </p:cNvPr>
          <p:cNvGraphicFramePr>
            <a:graphicFrameLocks noGrp="1"/>
          </p:cNvGraphicFramePr>
          <p:nvPr>
            <p:extLst>
              <p:ext uri="{D42A27DB-BD31-4B8C-83A1-F6EECF244321}">
                <p14:modId xmlns:p14="http://schemas.microsoft.com/office/powerpoint/2010/main" val="2937702306"/>
              </p:ext>
            </p:extLst>
          </p:nvPr>
        </p:nvGraphicFramePr>
        <p:xfrm>
          <a:off x="1111353" y="813696"/>
          <a:ext cx="6921294" cy="3516107"/>
        </p:xfrm>
        <a:graphic>
          <a:graphicData uri="http://schemas.openxmlformats.org/drawingml/2006/table">
            <a:tbl>
              <a:tblPr firstRow="1" bandRow="1">
                <a:tableStyleId>{5C22544A-7EE6-4342-B048-85BDC9FD1C3A}</a:tableStyleId>
              </a:tblPr>
              <a:tblGrid>
                <a:gridCol w="3460647">
                  <a:extLst>
                    <a:ext uri="{9D8B030D-6E8A-4147-A177-3AD203B41FA5}">
                      <a16:colId xmlns:a16="http://schemas.microsoft.com/office/drawing/2014/main" val="598336939"/>
                    </a:ext>
                  </a:extLst>
                </a:gridCol>
                <a:gridCol w="3460647">
                  <a:extLst>
                    <a:ext uri="{9D8B030D-6E8A-4147-A177-3AD203B41FA5}">
                      <a16:colId xmlns:a16="http://schemas.microsoft.com/office/drawing/2014/main" val="527331870"/>
                    </a:ext>
                  </a:extLst>
                </a:gridCol>
              </a:tblGrid>
              <a:tr h="1077707">
                <a:tc>
                  <a:txBody>
                    <a:bodyPr/>
                    <a:lstStyle/>
                    <a:p>
                      <a:pPr algn="ctr"/>
                      <a:r>
                        <a:rPr lang="en-US" sz="1800"/>
                        <a:t>Migration</a:t>
                      </a:r>
                    </a:p>
                  </a:txBody>
                  <a:tcPr anchor="ctr">
                    <a:solidFill>
                      <a:srgbClr val="16693F"/>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800"/>
                        <a:t>Future Work</a:t>
                      </a:r>
                    </a:p>
                  </a:txBody>
                  <a:tcPr anchor="ctr">
                    <a:solidFill>
                      <a:srgbClr val="16693F"/>
                    </a:solidFill>
                  </a:tcPr>
                </a:tc>
                <a:extLst>
                  <a:ext uri="{0D108BD9-81ED-4DB2-BD59-A6C34878D82A}">
                    <a16:rowId xmlns:a16="http://schemas.microsoft.com/office/drawing/2014/main" val="360395524"/>
                  </a:ext>
                </a:extLst>
              </a:tr>
              <a:tr h="2438400">
                <a:tc>
                  <a:txBody>
                    <a:bodyPr/>
                    <a:lstStyle/>
                    <a:p>
                      <a:pPr marL="285750" indent="-285750" algn="l">
                        <a:buFont typeface="Arial" panose="020B0604020202020204" pitchFamily="34" charset="0"/>
                        <a:buChar char="•"/>
                      </a:pPr>
                      <a:endParaRPr lang="en-US"/>
                    </a:p>
                  </a:txBody>
                  <a:tcPr marL="182880" marT="182880">
                    <a:solidFill>
                      <a:schemeClr val="tx2"/>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20204" pitchFamily="34" charset="0"/>
                        <a:buNone/>
                        <a:tabLst/>
                        <a:defRPr/>
                      </a:pPr>
                      <a:endParaRPr lang="en-US" sz="1400" dirty="0"/>
                    </a:p>
                  </a:txBody>
                  <a:tcPr marL="182880" marT="182880">
                    <a:solidFill>
                      <a:schemeClr val="tx2"/>
                    </a:solidFill>
                  </a:tcPr>
                </a:tc>
                <a:extLst>
                  <a:ext uri="{0D108BD9-81ED-4DB2-BD59-A6C34878D82A}">
                    <a16:rowId xmlns:a16="http://schemas.microsoft.com/office/drawing/2014/main" val="1946271067"/>
                  </a:ext>
                </a:extLst>
              </a:tr>
            </a:tbl>
          </a:graphicData>
        </a:graphic>
      </p:graphicFrame>
      <p:grpSp>
        <p:nvGrpSpPr>
          <p:cNvPr id="3181" name="Group 3180">
            <a:extLst>
              <a:ext uri="{FF2B5EF4-FFF2-40B4-BE49-F238E27FC236}">
                <a16:creationId xmlns:a16="http://schemas.microsoft.com/office/drawing/2014/main" id="{51182BB9-E6CE-9DCE-26D4-B26AF9FFFCFC}"/>
              </a:ext>
            </a:extLst>
          </p:cNvPr>
          <p:cNvGrpSpPr/>
          <p:nvPr/>
        </p:nvGrpSpPr>
        <p:grpSpPr>
          <a:xfrm>
            <a:off x="4668080" y="2714156"/>
            <a:ext cx="3364567" cy="1077218"/>
            <a:chOff x="4670620" y="3288587"/>
            <a:chExt cx="3364567" cy="1077218"/>
          </a:xfrm>
        </p:grpSpPr>
        <p:sp>
          <p:nvSpPr>
            <p:cNvPr id="9" name="TextBox 8">
              <a:extLst>
                <a:ext uri="{FF2B5EF4-FFF2-40B4-BE49-F238E27FC236}">
                  <a16:creationId xmlns:a16="http://schemas.microsoft.com/office/drawing/2014/main" id="{533511F0-B329-45E8-BB8F-A716697A5ADC}"/>
                </a:ext>
              </a:extLst>
            </p:cNvPr>
            <p:cNvSpPr txBox="1"/>
            <p:nvPr/>
          </p:nvSpPr>
          <p:spPr>
            <a:xfrm>
              <a:off x="5300834" y="3288587"/>
              <a:ext cx="2734353" cy="1077218"/>
            </a:xfrm>
            <a:prstGeom prst="rect">
              <a:avLst/>
            </a:prstGeom>
            <a:noFill/>
          </p:spPr>
          <p:txBody>
            <a:bodyPr wrap="square" lIns="91440" tIns="45720" rIns="91440" bIns="45720" rtlCol="0" anchor="t">
              <a:spAutoFit/>
            </a:bodyPr>
            <a:lstStyle/>
            <a:p>
              <a:r>
                <a:rPr lang="en-US" sz="1600" dirty="0"/>
                <a:t>Change server option on Amazon Web Service (AWS) to potentially less </a:t>
              </a:r>
            </a:p>
            <a:p>
              <a:r>
                <a:rPr lang="en-US" sz="1600" dirty="0"/>
                <a:t>expensive one</a:t>
              </a:r>
            </a:p>
          </p:txBody>
        </p:sp>
        <p:grpSp>
          <p:nvGrpSpPr>
            <p:cNvPr id="14" name="Group 13">
              <a:extLst>
                <a:ext uri="{FF2B5EF4-FFF2-40B4-BE49-F238E27FC236}">
                  <a16:creationId xmlns:a16="http://schemas.microsoft.com/office/drawing/2014/main" id="{9DB4DB12-A94D-5DEA-60D7-097DF23104BD}"/>
                </a:ext>
              </a:extLst>
            </p:cNvPr>
            <p:cNvGrpSpPr/>
            <p:nvPr/>
          </p:nvGrpSpPr>
          <p:grpSpPr>
            <a:xfrm>
              <a:off x="4670620" y="3391151"/>
              <a:ext cx="548640" cy="521208"/>
              <a:chOff x="1350275" y="3628940"/>
              <a:chExt cx="917267" cy="899307"/>
            </a:xfrm>
          </p:grpSpPr>
          <p:pic>
            <p:nvPicPr>
              <p:cNvPr id="15" name="Graphic 14" descr="Database with solid fill">
                <a:extLst>
                  <a:ext uri="{FF2B5EF4-FFF2-40B4-BE49-F238E27FC236}">
                    <a16:creationId xmlns:a16="http://schemas.microsoft.com/office/drawing/2014/main" id="{D7342933-BB41-C745-EE4A-A4CC6000E7F0}"/>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428834" y="3726734"/>
                <a:ext cx="737768" cy="737769"/>
              </a:xfrm>
              <a:prstGeom prst="rect">
                <a:avLst/>
              </a:prstGeom>
            </p:spPr>
          </p:pic>
          <p:sp>
            <p:nvSpPr>
              <p:cNvPr id="16" name="Oval 15">
                <a:extLst>
                  <a:ext uri="{FF2B5EF4-FFF2-40B4-BE49-F238E27FC236}">
                    <a16:creationId xmlns:a16="http://schemas.microsoft.com/office/drawing/2014/main" id="{7B894E01-803F-8F33-7292-3B053413803E}"/>
                  </a:ext>
                </a:extLst>
              </p:cNvPr>
              <p:cNvSpPr/>
              <p:nvPr/>
            </p:nvSpPr>
            <p:spPr>
              <a:xfrm>
                <a:off x="1350275" y="3628940"/>
                <a:ext cx="917267" cy="899307"/>
              </a:xfrm>
              <a:prstGeom prst="ellipse">
                <a:avLst/>
              </a:prstGeom>
              <a:noFill/>
              <a:ln>
                <a:solidFill>
                  <a:srgbClr val="1669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3182" name="Group 3181">
            <a:extLst>
              <a:ext uri="{FF2B5EF4-FFF2-40B4-BE49-F238E27FC236}">
                <a16:creationId xmlns:a16="http://schemas.microsoft.com/office/drawing/2014/main" id="{DBFAC033-8D6B-A80A-3651-9902523A9314}"/>
              </a:ext>
            </a:extLst>
          </p:cNvPr>
          <p:cNvGrpSpPr/>
          <p:nvPr/>
        </p:nvGrpSpPr>
        <p:grpSpPr>
          <a:xfrm>
            <a:off x="1286167" y="2814392"/>
            <a:ext cx="2844619" cy="521208"/>
            <a:chOff x="1290126" y="3010575"/>
            <a:chExt cx="2844619" cy="521208"/>
          </a:xfrm>
        </p:grpSpPr>
        <p:sp>
          <p:nvSpPr>
            <p:cNvPr id="22" name="TextBox 21">
              <a:extLst>
                <a:ext uri="{FF2B5EF4-FFF2-40B4-BE49-F238E27FC236}">
                  <a16:creationId xmlns:a16="http://schemas.microsoft.com/office/drawing/2014/main" id="{DDA46809-C4C5-EB9A-52C1-4E716646E86A}"/>
                </a:ext>
              </a:extLst>
            </p:cNvPr>
            <p:cNvSpPr txBox="1"/>
            <p:nvPr/>
          </p:nvSpPr>
          <p:spPr>
            <a:xfrm>
              <a:off x="1885084" y="3114130"/>
              <a:ext cx="2249661" cy="338554"/>
            </a:xfrm>
            <a:prstGeom prst="rect">
              <a:avLst/>
            </a:prstGeom>
            <a:noFill/>
          </p:spPr>
          <p:txBody>
            <a:bodyPr wrap="square" lIns="91440" tIns="45720" rIns="91440" bIns="45720" rtlCol="0" anchor="t">
              <a:spAutoFit/>
            </a:bodyPr>
            <a:lstStyle/>
            <a:p>
              <a:r>
                <a:rPr lang="en-US" sz="1600"/>
                <a:t>Open file functionality</a:t>
              </a:r>
            </a:p>
          </p:txBody>
        </p:sp>
        <p:grpSp>
          <p:nvGrpSpPr>
            <p:cNvPr id="23" name="Group 22">
              <a:extLst>
                <a:ext uri="{FF2B5EF4-FFF2-40B4-BE49-F238E27FC236}">
                  <a16:creationId xmlns:a16="http://schemas.microsoft.com/office/drawing/2014/main" id="{FC1CF3F1-7114-1CDB-2749-2503109C1473}"/>
                </a:ext>
              </a:extLst>
            </p:cNvPr>
            <p:cNvGrpSpPr/>
            <p:nvPr/>
          </p:nvGrpSpPr>
          <p:grpSpPr>
            <a:xfrm>
              <a:off x="1290126" y="3010575"/>
              <a:ext cx="548640" cy="521208"/>
              <a:chOff x="323975" y="2849743"/>
              <a:chExt cx="548640" cy="521208"/>
            </a:xfrm>
          </p:grpSpPr>
          <p:sp>
            <p:nvSpPr>
              <p:cNvPr id="27" name="Oval 26">
                <a:extLst>
                  <a:ext uri="{FF2B5EF4-FFF2-40B4-BE49-F238E27FC236}">
                    <a16:creationId xmlns:a16="http://schemas.microsoft.com/office/drawing/2014/main" id="{BFC484D0-DFE0-649A-B340-A99B60743097}"/>
                  </a:ext>
                </a:extLst>
              </p:cNvPr>
              <p:cNvSpPr/>
              <p:nvPr/>
            </p:nvSpPr>
            <p:spPr>
              <a:xfrm>
                <a:off x="323975" y="2849743"/>
                <a:ext cx="548640" cy="521208"/>
              </a:xfrm>
              <a:prstGeom prst="ellipse">
                <a:avLst/>
              </a:prstGeom>
              <a:noFill/>
              <a:ln>
                <a:solidFill>
                  <a:srgbClr val="1669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8" name="Graphic 27" descr="Folder Search with solid fill">
                <a:extLst>
                  <a:ext uri="{FF2B5EF4-FFF2-40B4-BE49-F238E27FC236}">
                    <a16:creationId xmlns:a16="http://schemas.microsoft.com/office/drawing/2014/main" id="{4A182471-AF62-C90C-AEA1-3E80C9AD8C88}"/>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387974" y="2898568"/>
                <a:ext cx="441174" cy="441174"/>
              </a:xfrm>
              <a:prstGeom prst="rect">
                <a:avLst/>
              </a:prstGeom>
            </p:spPr>
          </p:pic>
        </p:grpSp>
      </p:grpSp>
      <mc:AlternateContent xmlns:mc="http://schemas.openxmlformats.org/markup-compatibility/2006" xmlns:p14="http://schemas.microsoft.com/office/powerpoint/2010/main">
        <mc:Choice Requires="p14">
          <p:contentPart p14:bwMode="auto" r:id="rId8">
            <p14:nvContentPartPr>
              <p14:cNvPr id="37" name="Ink 36">
                <a:extLst>
                  <a:ext uri="{FF2B5EF4-FFF2-40B4-BE49-F238E27FC236}">
                    <a16:creationId xmlns:a16="http://schemas.microsoft.com/office/drawing/2014/main" id="{5BA9668F-725D-0078-228C-268D2005C7CC}"/>
                  </a:ext>
                </a:extLst>
              </p14:cNvPr>
              <p14:cNvContentPartPr/>
              <p14:nvPr/>
            </p14:nvContentPartPr>
            <p14:xfrm>
              <a:off x="6355726" y="764341"/>
              <a:ext cx="23040" cy="9360"/>
            </p14:xfrm>
          </p:contentPart>
        </mc:Choice>
        <mc:Fallback xmlns="">
          <p:pic>
            <p:nvPicPr>
              <p:cNvPr id="37" name="Ink 36">
                <a:extLst>
                  <a:ext uri="{FF2B5EF4-FFF2-40B4-BE49-F238E27FC236}">
                    <a16:creationId xmlns:a16="http://schemas.microsoft.com/office/drawing/2014/main" id="{5BA9668F-725D-0078-228C-268D2005C7CC}"/>
                  </a:ext>
                </a:extLst>
              </p:cNvPr>
              <p:cNvPicPr/>
              <p:nvPr/>
            </p:nvPicPr>
            <p:blipFill>
              <a:blip r:embed="rId11"/>
              <a:stretch>
                <a:fillRect/>
              </a:stretch>
            </p:blipFill>
            <p:spPr>
              <a:xfrm>
                <a:off x="6346726" y="755341"/>
                <a:ext cx="40680" cy="2700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38" name="Ink 37">
                <a:extLst>
                  <a:ext uri="{FF2B5EF4-FFF2-40B4-BE49-F238E27FC236}">
                    <a16:creationId xmlns:a16="http://schemas.microsoft.com/office/drawing/2014/main" id="{E807E141-8D2A-8220-6643-0E446D6DA452}"/>
                  </a:ext>
                </a:extLst>
              </p14:cNvPr>
              <p14:cNvContentPartPr/>
              <p14:nvPr/>
            </p14:nvContentPartPr>
            <p14:xfrm>
              <a:off x="6452376" y="741693"/>
              <a:ext cx="108720" cy="19800"/>
            </p14:xfrm>
          </p:contentPart>
        </mc:Choice>
        <mc:Fallback xmlns="">
          <p:pic>
            <p:nvPicPr>
              <p:cNvPr id="38" name="Ink 37">
                <a:extLst>
                  <a:ext uri="{FF2B5EF4-FFF2-40B4-BE49-F238E27FC236}">
                    <a16:creationId xmlns:a16="http://schemas.microsoft.com/office/drawing/2014/main" id="{E807E141-8D2A-8220-6643-0E446D6DA452}"/>
                  </a:ext>
                </a:extLst>
              </p:cNvPr>
              <p:cNvPicPr/>
              <p:nvPr/>
            </p:nvPicPr>
            <p:blipFill>
              <a:blip r:embed="rId13"/>
              <a:stretch>
                <a:fillRect/>
              </a:stretch>
            </p:blipFill>
            <p:spPr>
              <a:xfrm>
                <a:off x="6443376" y="732693"/>
                <a:ext cx="126360" cy="37440"/>
              </a:xfrm>
              <a:prstGeom prst="rect">
                <a:avLst/>
              </a:prstGeom>
            </p:spPr>
          </p:pic>
        </mc:Fallback>
      </mc:AlternateContent>
      <p:grpSp>
        <p:nvGrpSpPr>
          <p:cNvPr id="3174" name="Group 3173">
            <a:extLst>
              <a:ext uri="{FF2B5EF4-FFF2-40B4-BE49-F238E27FC236}">
                <a16:creationId xmlns:a16="http://schemas.microsoft.com/office/drawing/2014/main" id="{92CA6E21-0307-38F2-9AEA-425B69881B67}"/>
              </a:ext>
            </a:extLst>
          </p:cNvPr>
          <p:cNvGrpSpPr/>
          <p:nvPr/>
        </p:nvGrpSpPr>
        <p:grpSpPr>
          <a:xfrm>
            <a:off x="1286167" y="1937689"/>
            <a:ext cx="2651656" cy="589670"/>
            <a:chOff x="465546" y="529949"/>
            <a:chExt cx="2651656" cy="589670"/>
          </a:xfrm>
        </p:grpSpPr>
        <p:sp>
          <p:nvSpPr>
            <p:cNvPr id="3175" name="TextBox 3174">
              <a:extLst>
                <a:ext uri="{FF2B5EF4-FFF2-40B4-BE49-F238E27FC236}">
                  <a16:creationId xmlns:a16="http://schemas.microsoft.com/office/drawing/2014/main" id="{D8D129AB-0717-A729-89A5-F769B0E410F5}"/>
                </a:ext>
              </a:extLst>
            </p:cNvPr>
            <p:cNvSpPr txBox="1"/>
            <p:nvPr/>
          </p:nvSpPr>
          <p:spPr>
            <a:xfrm>
              <a:off x="1084708" y="693979"/>
              <a:ext cx="2032494" cy="338554"/>
            </a:xfrm>
            <a:prstGeom prst="rect">
              <a:avLst/>
            </a:prstGeom>
            <a:noFill/>
          </p:spPr>
          <p:txBody>
            <a:bodyPr wrap="square" lIns="91440" tIns="45720" rIns="91440" bIns="45720" rtlCol="0" anchor="t">
              <a:spAutoFit/>
            </a:bodyPr>
            <a:lstStyle/>
            <a:p>
              <a:r>
                <a:rPr lang="en-US" sz="1600"/>
                <a:t>Load from database</a:t>
              </a:r>
            </a:p>
          </p:txBody>
        </p:sp>
        <p:grpSp>
          <p:nvGrpSpPr>
            <p:cNvPr id="3176" name="Group 3175">
              <a:extLst>
                <a:ext uri="{FF2B5EF4-FFF2-40B4-BE49-F238E27FC236}">
                  <a16:creationId xmlns:a16="http://schemas.microsoft.com/office/drawing/2014/main" id="{E3190DD8-52B3-8542-F5E5-1E8321A24AAC}"/>
                </a:ext>
              </a:extLst>
            </p:cNvPr>
            <p:cNvGrpSpPr/>
            <p:nvPr/>
          </p:nvGrpSpPr>
          <p:grpSpPr>
            <a:xfrm>
              <a:off x="465546" y="529949"/>
              <a:ext cx="548640" cy="589670"/>
              <a:chOff x="7669608" y="573657"/>
              <a:chExt cx="548640" cy="589670"/>
            </a:xfrm>
          </p:grpSpPr>
          <p:sp>
            <p:nvSpPr>
              <p:cNvPr id="3177" name="Oval 3176">
                <a:extLst>
                  <a:ext uri="{FF2B5EF4-FFF2-40B4-BE49-F238E27FC236}">
                    <a16:creationId xmlns:a16="http://schemas.microsoft.com/office/drawing/2014/main" id="{5DA394AE-6167-CE1B-A8C5-5E950ABF1727}"/>
                  </a:ext>
                </a:extLst>
              </p:cNvPr>
              <p:cNvSpPr/>
              <p:nvPr/>
            </p:nvSpPr>
            <p:spPr>
              <a:xfrm>
                <a:off x="7669608" y="642119"/>
                <a:ext cx="548640" cy="521208"/>
              </a:xfrm>
              <a:prstGeom prst="ellipse">
                <a:avLst/>
              </a:prstGeom>
              <a:noFill/>
              <a:ln>
                <a:solidFill>
                  <a:srgbClr val="1669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178" name="Group 3177">
                <a:extLst>
                  <a:ext uri="{FF2B5EF4-FFF2-40B4-BE49-F238E27FC236}">
                    <a16:creationId xmlns:a16="http://schemas.microsoft.com/office/drawing/2014/main" id="{62A211EB-EFAA-5AEF-7012-F7E325C1FA38}"/>
                  </a:ext>
                </a:extLst>
              </p:cNvPr>
              <p:cNvGrpSpPr/>
              <p:nvPr/>
            </p:nvGrpSpPr>
            <p:grpSpPr>
              <a:xfrm>
                <a:off x="7737567" y="573657"/>
                <a:ext cx="436524" cy="569681"/>
                <a:chOff x="6004628" y="1001268"/>
                <a:chExt cx="746379" cy="918914"/>
              </a:xfrm>
            </p:grpSpPr>
            <p:pic>
              <p:nvPicPr>
                <p:cNvPr id="3179" name="Graphic 3178" descr="Cloud with solid fill">
                  <a:extLst>
                    <a:ext uri="{FF2B5EF4-FFF2-40B4-BE49-F238E27FC236}">
                      <a16:creationId xmlns:a16="http://schemas.microsoft.com/office/drawing/2014/main" id="{A680BF33-9BEB-D56A-8F10-1141680943A6}"/>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6004628" y="1001268"/>
                  <a:ext cx="746379" cy="704131"/>
                </a:xfrm>
                <a:prstGeom prst="rect">
                  <a:avLst/>
                </a:prstGeom>
              </p:spPr>
            </p:pic>
            <p:pic>
              <p:nvPicPr>
                <p:cNvPr id="3180" name="Graphic 3179" descr="Database with solid fill">
                  <a:extLst>
                    <a:ext uri="{FF2B5EF4-FFF2-40B4-BE49-F238E27FC236}">
                      <a16:creationId xmlns:a16="http://schemas.microsoft.com/office/drawing/2014/main" id="{495D641A-0C2A-37BE-2A43-A812BB94418F}"/>
                    </a:ext>
                  </a:extLst>
                </p:cNvPr>
                <p:cNvPicPr>
                  <a:picLocks noChangeAspect="1"/>
                </p:cNvPicPr>
                <p:nvPr/>
              </p:nvPicPr>
              <p:blipFill>
                <a:blip>
                  <a:extLst>
                    <a:ext uri="{96DAC541-7B7A-43D3-8B79-37D633B846F1}">
                      <asvg:svgBlip xmlns:asvg="http://schemas.microsoft.com/office/drawing/2016/SVG/main" r:embed="rId15"/>
                    </a:ext>
                  </a:extLst>
                </a:blip>
                <a:stretch>
                  <a:fillRect/>
                </a:stretch>
              </p:blipFill>
              <p:spPr>
                <a:xfrm>
                  <a:off x="6038046" y="1317511"/>
                  <a:ext cx="638834" cy="602671"/>
                </a:xfrm>
                <a:prstGeom prst="rect">
                  <a:avLst/>
                </a:prstGeom>
              </p:spPr>
            </p:pic>
          </p:grpSp>
        </p:grpSp>
      </p:grpSp>
      <p:sp>
        <p:nvSpPr>
          <p:cNvPr id="30" name="TextBox 29">
            <a:extLst>
              <a:ext uri="{FF2B5EF4-FFF2-40B4-BE49-F238E27FC236}">
                <a16:creationId xmlns:a16="http://schemas.microsoft.com/office/drawing/2014/main" id="{7D798876-F1F0-3D4B-1969-BBB2C0C068F5}"/>
              </a:ext>
            </a:extLst>
          </p:cNvPr>
          <p:cNvSpPr txBox="1"/>
          <p:nvPr/>
        </p:nvSpPr>
        <p:spPr>
          <a:xfrm>
            <a:off x="5317465" y="2029006"/>
            <a:ext cx="2281367" cy="584775"/>
          </a:xfrm>
          <a:prstGeom prst="rect">
            <a:avLst/>
          </a:prstGeom>
          <a:noFill/>
        </p:spPr>
        <p:txBody>
          <a:bodyPr wrap="square" lIns="91440" tIns="45720" rIns="91440" bIns="45720" rtlCol="0" anchor="t">
            <a:spAutoFit/>
          </a:bodyPr>
          <a:lstStyle/>
          <a:p>
            <a:r>
              <a:rPr lang="en-US" sz="1600"/>
              <a:t>Automate deployment </a:t>
            </a:r>
          </a:p>
          <a:p>
            <a:r>
              <a:rPr lang="en-US" sz="1600"/>
              <a:t>of React app</a:t>
            </a:r>
          </a:p>
        </p:txBody>
      </p:sp>
      <p:sp>
        <p:nvSpPr>
          <p:cNvPr id="35" name="Oval 34">
            <a:extLst>
              <a:ext uri="{FF2B5EF4-FFF2-40B4-BE49-F238E27FC236}">
                <a16:creationId xmlns:a16="http://schemas.microsoft.com/office/drawing/2014/main" id="{9715B356-4E46-60B1-F3DA-1DB8E3419AB6}"/>
              </a:ext>
            </a:extLst>
          </p:cNvPr>
          <p:cNvSpPr/>
          <p:nvPr/>
        </p:nvSpPr>
        <p:spPr>
          <a:xfrm>
            <a:off x="4716424" y="2013321"/>
            <a:ext cx="543789" cy="519204"/>
          </a:xfrm>
          <a:prstGeom prst="ellipse">
            <a:avLst/>
          </a:prstGeom>
          <a:noFill/>
          <a:ln>
            <a:solidFill>
              <a:srgbClr val="1669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Graphic 1" descr="Upload with solid fill">
            <a:extLst>
              <a:ext uri="{FF2B5EF4-FFF2-40B4-BE49-F238E27FC236}">
                <a16:creationId xmlns:a16="http://schemas.microsoft.com/office/drawing/2014/main" id="{136D1826-C481-88F8-4FA6-826481742B23}"/>
              </a:ext>
            </a:extLst>
          </p:cNvPr>
          <p:cNvPicPr>
            <a:picLocks noChangeAspect="1"/>
          </p:cNvPicPr>
          <p:nvPr/>
        </p:nvPicPr>
        <p:blipFill>
          <a:blip>
            <a:extLst>
              <a:ext uri="{96DAC541-7B7A-43D3-8B79-37D633B846F1}">
                <asvg:svgBlip xmlns:asvg="http://schemas.microsoft.com/office/drawing/2016/SVG/main" r:embed="rId16"/>
              </a:ext>
            </a:extLst>
          </a:blip>
          <a:stretch>
            <a:fillRect/>
          </a:stretch>
        </p:blipFill>
        <p:spPr>
          <a:xfrm>
            <a:off x="4745083" y="2009952"/>
            <a:ext cx="493514" cy="493514"/>
          </a:xfrm>
          <a:prstGeom prst="rect">
            <a:avLst/>
          </a:prstGeom>
        </p:spPr>
      </p:pic>
    </p:spTree>
    <p:extLst>
      <p:ext uri="{BB962C8B-B14F-4D97-AF65-F5344CB8AC3E}">
        <p14:creationId xmlns:p14="http://schemas.microsoft.com/office/powerpoint/2010/main" val="3079526480"/>
      </p:ext>
    </p:extLst>
  </p:cSld>
  <p:clrMapOvr>
    <a:masterClrMapping/>
  </p:clrMapOvr>
  <p:extLst>
    <p:ext uri="{6950BFC3-D8DA-4A85-94F7-54DA5524770B}">
      <p188:commentRel xmlns:p188="http://schemas.microsoft.com/office/powerpoint/2018/8/main" r:id="rId3"/>
    </p:ext>
  </p:extLs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89">
          <a:extLst>
            <a:ext uri="{FF2B5EF4-FFF2-40B4-BE49-F238E27FC236}">
              <a16:creationId xmlns:a16="http://schemas.microsoft.com/office/drawing/2014/main" id="{A2315BD3-4C0B-8973-DEA1-EB449968FF8C}"/>
            </a:ext>
          </a:extLst>
        </p:cNvPr>
        <p:cNvGrpSpPr/>
        <p:nvPr/>
      </p:nvGrpSpPr>
      <p:grpSpPr>
        <a:xfrm>
          <a:off x="0" y="0"/>
          <a:ext cx="0" cy="0"/>
          <a:chOff x="0" y="0"/>
          <a:chExt cx="0" cy="0"/>
        </a:xfrm>
      </p:grpSpPr>
      <p:sp>
        <p:nvSpPr>
          <p:cNvPr id="90" name="Google Shape;90;p15">
            <a:extLst>
              <a:ext uri="{FF2B5EF4-FFF2-40B4-BE49-F238E27FC236}">
                <a16:creationId xmlns:a16="http://schemas.microsoft.com/office/drawing/2014/main" id="{0948522C-8AEF-D6C6-CECA-7B5B64B5A5D4}"/>
              </a:ext>
            </a:extLst>
          </p:cNvPr>
          <p:cNvSpPr txBox="1">
            <a:spLocks noGrp="1"/>
          </p:cNvSpPr>
          <p:nvPr>
            <p:ph type="title"/>
          </p:nvPr>
        </p:nvSpPr>
        <p:spPr>
          <a:xfrm>
            <a:off x="296527" y="182034"/>
            <a:ext cx="8520600" cy="810403"/>
          </a:xfrm>
          <a:prstGeom prst="rect">
            <a:avLst/>
          </a:prstGeom>
        </p:spPr>
        <p:txBody>
          <a:bodyPr spcFirstLastPara="1" wrap="square" lIns="91425" tIns="91425" rIns="91425" bIns="91425" anchor="t" anchorCtr="0">
            <a:noAutofit/>
          </a:bodyPr>
          <a:lstStyle/>
          <a:p>
            <a:r>
              <a:rPr lang="en" sz="2000" b="1">
                <a:solidFill>
                  <a:srgbClr val="16693F"/>
                </a:solidFill>
              </a:rPr>
              <a:t>Summary</a:t>
            </a:r>
          </a:p>
        </p:txBody>
      </p:sp>
      <p:sp>
        <p:nvSpPr>
          <p:cNvPr id="3" name="Text Placeholder 2">
            <a:extLst>
              <a:ext uri="{FF2B5EF4-FFF2-40B4-BE49-F238E27FC236}">
                <a16:creationId xmlns:a16="http://schemas.microsoft.com/office/drawing/2014/main" id="{0AE71669-7343-1DD2-E2CA-8CD0CE412CFB}"/>
              </a:ext>
            </a:extLst>
          </p:cNvPr>
          <p:cNvSpPr>
            <a:spLocks noGrp="1"/>
          </p:cNvSpPr>
          <p:nvPr>
            <p:ph type="body" idx="1"/>
          </p:nvPr>
        </p:nvSpPr>
        <p:spPr>
          <a:xfrm>
            <a:off x="297293" y="585777"/>
            <a:ext cx="8331700" cy="4372102"/>
          </a:xfrm>
        </p:spPr>
        <p:txBody>
          <a:bodyPr>
            <a:normAutofit/>
          </a:bodyPr>
          <a:lstStyle/>
          <a:p>
            <a:pPr>
              <a:lnSpc>
                <a:spcPct val="114999"/>
              </a:lnSpc>
            </a:pPr>
            <a:r>
              <a:rPr lang="en-US" err="1">
                <a:solidFill>
                  <a:schemeClr val="tx1">
                    <a:lumMod val="95000"/>
                    <a:lumOff val="5000"/>
                  </a:schemeClr>
                </a:solidFill>
              </a:rPr>
              <a:t>GRNsight</a:t>
            </a:r>
            <a:r>
              <a:rPr lang="en-US">
                <a:solidFill>
                  <a:schemeClr val="tx1">
                    <a:lumMod val="95000"/>
                    <a:lumOff val="5000"/>
                  </a:schemeClr>
                </a:solidFill>
              </a:rPr>
              <a:t> is an open-source tool that allows for easier visualization </a:t>
            </a:r>
          </a:p>
          <a:p>
            <a:pPr marL="114300" indent="0">
              <a:lnSpc>
                <a:spcPct val="114999"/>
              </a:lnSpc>
              <a:buNone/>
            </a:pPr>
            <a:r>
              <a:rPr lang="en-US">
                <a:solidFill>
                  <a:schemeClr val="tx1">
                    <a:lumMod val="95000"/>
                    <a:lumOff val="5000"/>
                  </a:schemeClr>
                </a:solidFill>
              </a:rPr>
              <a:t>     of Gene Regulatory Network (GRN) and Protein Protein Interactions (PPI).</a:t>
            </a:r>
          </a:p>
          <a:p>
            <a:pPr>
              <a:lnSpc>
                <a:spcPct val="114999"/>
              </a:lnSpc>
            </a:pPr>
            <a:r>
              <a:rPr lang="en-US" err="1">
                <a:solidFill>
                  <a:schemeClr val="tx1">
                    <a:lumMod val="95000"/>
                    <a:lumOff val="5000"/>
                  </a:schemeClr>
                </a:solidFill>
              </a:rPr>
              <a:t>GRNsight</a:t>
            </a:r>
            <a:r>
              <a:rPr lang="en-US">
                <a:solidFill>
                  <a:schemeClr val="tx1">
                    <a:lumMod val="95000"/>
                    <a:lumOff val="5000"/>
                  </a:schemeClr>
                </a:solidFill>
              </a:rPr>
              <a:t> has migrated from JavaScript frontend to React Vite and Grommet UI.</a:t>
            </a:r>
          </a:p>
          <a:p>
            <a:pPr>
              <a:lnSpc>
                <a:spcPct val="114999"/>
              </a:lnSpc>
            </a:pPr>
            <a:r>
              <a:rPr lang="en-US">
                <a:solidFill>
                  <a:schemeClr val="tx1">
                    <a:lumMod val="95000"/>
                    <a:lumOff val="5000"/>
                  </a:schemeClr>
                </a:solidFill>
              </a:rPr>
              <a:t>We transitioned our primary data source from </a:t>
            </a:r>
            <a:r>
              <a:rPr lang="en-US" err="1">
                <a:solidFill>
                  <a:schemeClr val="tx1">
                    <a:lumMod val="95000"/>
                    <a:lumOff val="5000"/>
                  </a:schemeClr>
                </a:solidFill>
              </a:rPr>
              <a:t>YeastMine</a:t>
            </a:r>
            <a:r>
              <a:rPr lang="en-US">
                <a:solidFill>
                  <a:schemeClr val="tx1">
                    <a:lumMod val="95000"/>
                    <a:lumOff val="5000"/>
                  </a:schemeClr>
                </a:solidFill>
              </a:rPr>
              <a:t> to </a:t>
            </a:r>
            <a:r>
              <a:rPr lang="en-US" err="1">
                <a:solidFill>
                  <a:schemeClr val="tx1">
                    <a:lumMod val="95000"/>
                    <a:lumOff val="5000"/>
                  </a:schemeClr>
                </a:solidFill>
              </a:rPr>
              <a:t>AllianceMine</a:t>
            </a:r>
            <a:r>
              <a:rPr lang="en-US">
                <a:solidFill>
                  <a:schemeClr val="tx1">
                    <a:lumMod val="95000"/>
                    <a:lumOff val="5000"/>
                  </a:schemeClr>
                </a:solidFill>
              </a:rPr>
              <a:t>.</a:t>
            </a:r>
          </a:p>
          <a:p>
            <a:pPr>
              <a:lnSpc>
                <a:spcPct val="114999"/>
              </a:lnSpc>
            </a:pPr>
            <a:r>
              <a:rPr lang="en-US">
                <a:solidFill>
                  <a:schemeClr val="tx1">
                    <a:lumMod val="95000"/>
                    <a:lumOff val="5000"/>
                  </a:schemeClr>
                </a:solidFill>
              </a:rPr>
              <a:t>We re-engineered database pipeline into a modular architectural pattern. </a:t>
            </a:r>
          </a:p>
          <a:p>
            <a:pPr>
              <a:lnSpc>
                <a:spcPct val="114999"/>
              </a:lnSpc>
            </a:pPr>
            <a:r>
              <a:rPr lang="en-US">
                <a:solidFill>
                  <a:schemeClr val="tx1"/>
                </a:solidFill>
              </a:rPr>
              <a:t>The primary result of this modernization is a faster, more scalable, and intuitive platform for biological network visualization.</a:t>
            </a:r>
          </a:p>
        </p:txBody>
      </p:sp>
    </p:spTree>
    <p:extLst>
      <p:ext uri="{BB962C8B-B14F-4D97-AF65-F5344CB8AC3E}">
        <p14:creationId xmlns:p14="http://schemas.microsoft.com/office/powerpoint/2010/main" val="706225231"/>
      </p:ext>
    </p:extLst>
  </p:cSld>
  <p:clrMapOvr>
    <a:masterClrMapping/>
  </p:clrMapOvr>
  <p:extLst>
    <p:ext uri="{6950BFC3-D8DA-4A85-94F7-54DA5524770B}">
      <p188:commentRel xmlns:p188="http://schemas.microsoft.com/office/powerpoint/2018/8/main" r:id="rId3"/>
    </p:ext>
  </p:extLs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Diagram 6">
            <a:extLst>
              <a:ext uri="{FF2B5EF4-FFF2-40B4-BE49-F238E27FC236}">
                <a16:creationId xmlns:a16="http://schemas.microsoft.com/office/drawing/2014/main" id="{98011003-5F42-F2F4-37AC-BAD98E8C1163}"/>
              </a:ext>
            </a:extLst>
          </p:cNvPr>
          <p:cNvGraphicFramePr/>
          <p:nvPr/>
        </p:nvGraphicFramePr>
        <p:xfrm>
          <a:off x="220762" y="1951876"/>
          <a:ext cx="8767790" cy="1196232"/>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8" name="TextBox 7">
            <a:extLst>
              <a:ext uri="{FF2B5EF4-FFF2-40B4-BE49-F238E27FC236}">
                <a16:creationId xmlns:a16="http://schemas.microsoft.com/office/drawing/2014/main" id="{DA14F43F-436F-4DF6-2F6C-BCDEA111EE17}"/>
              </a:ext>
            </a:extLst>
          </p:cNvPr>
          <p:cNvSpPr txBox="1"/>
          <p:nvPr/>
        </p:nvSpPr>
        <p:spPr>
          <a:xfrm>
            <a:off x="1493427" y="295956"/>
            <a:ext cx="6467388" cy="523220"/>
          </a:xfrm>
          <a:prstGeom prst="rect">
            <a:avLst/>
          </a:prstGeom>
          <a:noFill/>
        </p:spPr>
        <p:txBody>
          <a:bodyPr wrap="square" rtlCol="0">
            <a:sp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r>
              <a:rPr lang="en-US" sz="2800" b="1" err="1">
                <a:solidFill>
                  <a:srgbClr val="16693F"/>
                </a:solidFill>
                <a:latin typeface="Arial" panose="020B0604020202020204" pitchFamily="34" charset="0"/>
                <a:cs typeface="Arial" panose="020B0604020202020204" pitchFamily="34" charset="0"/>
              </a:rPr>
              <a:t>GRNsight</a:t>
            </a:r>
            <a:r>
              <a:rPr lang="en-US" sz="2800" b="1">
                <a:solidFill>
                  <a:srgbClr val="16693F"/>
                </a:solidFill>
                <a:latin typeface="Arial" panose="020B0604020202020204" pitchFamily="34" charset="0"/>
                <a:cs typeface="Arial" panose="020B0604020202020204" pitchFamily="34" charset="0"/>
              </a:rPr>
              <a:t> turns 12 years old today!</a:t>
            </a:r>
          </a:p>
        </p:txBody>
      </p:sp>
      <p:sp>
        <p:nvSpPr>
          <p:cNvPr id="9" name="TextBox 8">
            <a:extLst>
              <a:ext uri="{FF2B5EF4-FFF2-40B4-BE49-F238E27FC236}">
                <a16:creationId xmlns:a16="http://schemas.microsoft.com/office/drawing/2014/main" id="{6ABF3716-7601-9719-E0A8-B3F5D7FF5051}"/>
              </a:ext>
            </a:extLst>
          </p:cNvPr>
          <p:cNvSpPr txBox="1"/>
          <p:nvPr/>
        </p:nvSpPr>
        <p:spPr>
          <a:xfrm>
            <a:off x="171777" y="2778919"/>
            <a:ext cx="2289061" cy="2308324"/>
          </a:xfrm>
          <a:prstGeom prst="rect">
            <a:avLst/>
          </a:prstGeom>
          <a:noFill/>
        </p:spPr>
        <p:txBody>
          <a:bodyPr wrap="square" rtlCol="0">
            <a:sp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85725" indent="-85725">
              <a:buFont typeface="Arial" panose="020B0604020202020204" pitchFamily="34" charset="0"/>
              <a:buChar char="•"/>
            </a:pPr>
            <a:r>
              <a:rPr lang="en-US" sz="1600" err="1">
                <a:latin typeface="Arial" panose="020B0604020202020204" pitchFamily="34" charset="0"/>
                <a:cs typeface="Arial" panose="020B0604020202020204" pitchFamily="34" charset="0"/>
              </a:rPr>
              <a:t>GRNsight</a:t>
            </a:r>
            <a:r>
              <a:rPr lang="en-US" sz="1600">
                <a:latin typeface="Arial" panose="020B0604020202020204" pitchFamily="34" charset="0"/>
                <a:cs typeface="Arial" panose="020B0604020202020204" pitchFamily="34" charset="0"/>
              </a:rPr>
              <a:t> server live on </a:t>
            </a:r>
            <a:r>
              <a:rPr lang="en-US" sz="1600" b="1">
                <a:latin typeface="Arial" panose="020B0604020202020204" pitchFamily="34" charset="0"/>
                <a:cs typeface="Arial" panose="020B0604020202020204" pitchFamily="34" charset="0"/>
              </a:rPr>
              <a:t>March 20, 2014</a:t>
            </a:r>
          </a:p>
          <a:p>
            <a:pPr marL="85725" indent="-85725">
              <a:buFont typeface="Arial" panose="020B0604020202020204" pitchFamily="34" charset="0"/>
              <a:buChar char="•"/>
            </a:pPr>
            <a:r>
              <a:rPr lang="en-US" sz="1600">
                <a:latin typeface="Arial" panose="020B0604020202020204" pitchFamily="34" charset="0"/>
                <a:cs typeface="Arial" panose="020B0604020202020204" pitchFamily="34" charset="0"/>
              </a:rPr>
              <a:t>Loads unweighted and weighted GRNs using D3’s force graph layout</a:t>
            </a:r>
          </a:p>
          <a:p>
            <a:pPr marL="85725" indent="-85725">
              <a:buFont typeface="Arial" panose="020B0604020202020204" pitchFamily="34" charset="0"/>
              <a:buChar char="•"/>
            </a:pPr>
            <a:r>
              <a:rPr lang="en-US" sz="1600">
                <a:latin typeface="Arial" panose="020B0604020202020204" pitchFamily="34" charset="0"/>
                <a:cs typeface="Arial" panose="020B0604020202020204" pitchFamily="34" charset="0"/>
              </a:rPr>
              <a:t>Imports Excel, SIF, </a:t>
            </a:r>
            <a:r>
              <a:rPr lang="en-US" sz="1600" err="1">
                <a:latin typeface="Arial" panose="020B0604020202020204" pitchFamily="34" charset="0"/>
                <a:cs typeface="Arial" panose="020B0604020202020204" pitchFamily="34" charset="0"/>
              </a:rPr>
              <a:t>GraphML</a:t>
            </a:r>
            <a:r>
              <a:rPr lang="en-US" sz="1600">
                <a:latin typeface="Arial" panose="020B0604020202020204" pitchFamily="34" charset="0"/>
                <a:cs typeface="Arial" panose="020B0604020202020204" pitchFamily="34" charset="0"/>
              </a:rPr>
              <a:t> formats</a:t>
            </a:r>
          </a:p>
          <a:p>
            <a:pPr marL="85725" indent="-85725">
              <a:buFont typeface="Arial" panose="020B0604020202020204" pitchFamily="34" charset="0"/>
              <a:buChar char="•"/>
            </a:pPr>
            <a:r>
              <a:rPr lang="en-US" sz="1600">
                <a:latin typeface="Arial" panose="020B0604020202020204" pitchFamily="34" charset="0"/>
                <a:cs typeface="Arial" panose="020B0604020202020204" pitchFamily="34" charset="0"/>
              </a:rPr>
              <a:t>Demo files provided</a:t>
            </a:r>
          </a:p>
        </p:txBody>
      </p:sp>
      <p:sp>
        <p:nvSpPr>
          <p:cNvPr id="10" name="TextBox 9">
            <a:extLst>
              <a:ext uri="{FF2B5EF4-FFF2-40B4-BE49-F238E27FC236}">
                <a16:creationId xmlns:a16="http://schemas.microsoft.com/office/drawing/2014/main" id="{FFCE5623-A7CD-35C8-B79C-DB15C0EF7197}"/>
              </a:ext>
            </a:extLst>
          </p:cNvPr>
          <p:cNvSpPr txBox="1"/>
          <p:nvPr/>
        </p:nvSpPr>
        <p:spPr>
          <a:xfrm>
            <a:off x="1168841" y="949353"/>
            <a:ext cx="2542154" cy="1323439"/>
          </a:xfrm>
          <a:prstGeom prst="rect">
            <a:avLst/>
          </a:prstGeom>
          <a:noFill/>
        </p:spPr>
        <p:txBody>
          <a:bodyPr wrap="square" rtlCol="0">
            <a:sp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85725" indent="-85725">
              <a:buFont typeface="Arial" panose="020B0604020202020204" pitchFamily="34" charset="0"/>
              <a:buChar char="•"/>
            </a:pPr>
            <a:r>
              <a:rPr lang="en-US" sz="1600">
                <a:latin typeface="Arial" panose="020B0604020202020204" pitchFamily="34" charset="0"/>
                <a:cs typeface="Arial" panose="020B0604020202020204" pitchFamily="34" charset="0"/>
              </a:rPr>
              <a:t>Viewport and bounding box separated</a:t>
            </a:r>
          </a:p>
          <a:p>
            <a:pPr marL="85725" indent="-85725">
              <a:buFont typeface="Arial" panose="020B0604020202020204" pitchFamily="34" charset="0"/>
              <a:buChar char="•"/>
            </a:pPr>
            <a:r>
              <a:rPr lang="en-US" sz="1600">
                <a:latin typeface="Arial" panose="020B0604020202020204" pitchFamily="34" charset="0"/>
                <a:cs typeface="Arial" panose="020B0604020202020204" pitchFamily="34" charset="0"/>
              </a:rPr>
              <a:t>Zooming and scrolling</a:t>
            </a:r>
          </a:p>
          <a:p>
            <a:pPr marL="85725" indent="-85725">
              <a:buFont typeface="Arial" panose="020B0604020202020204" pitchFamily="34" charset="0"/>
              <a:buChar char="•"/>
            </a:pPr>
            <a:r>
              <a:rPr lang="en-US" sz="1600">
                <a:latin typeface="Arial" panose="020B0604020202020204" pitchFamily="34" charset="0"/>
                <a:cs typeface="Arial" panose="020B0604020202020204" pitchFamily="34" charset="0"/>
              </a:rPr>
              <a:t>Edge weight normalization factor</a:t>
            </a:r>
          </a:p>
        </p:txBody>
      </p:sp>
      <p:sp>
        <p:nvSpPr>
          <p:cNvPr id="11" name="TextBox 10">
            <a:extLst>
              <a:ext uri="{FF2B5EF4-FFF2-40B4-BE49-F238E27FC236}">
                <a16:creationId xmlns:a16="http://schemas.microsoft.com/office/drawing/2014/main" id="{D4AEA37F-9333-780A-86DE-0DD6A5A16767}"/>
              </a:ext>
            </a:extLst>
          </p:cNvPr>
          <p:cNvSpPr txBox="1"/>
          <p:nvPr/>
        </p:nvSpPr>
        <p:spPr>
          <a:xfrm>
            <a:off x="2407260" y="2778919"/>
            <a:ext cx="2289061" cy="1815882"/>
          </a:xfrm>
          <a:prstGeom prst="rect">
            <a:avLst/>
          </a:prstGeom>
          <a:noFill/>
        </p:spPr>
        <p:txBody>
          <a:bodyPr wrap="square" rtlCol="0">
            <a:sp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85725" indent="-85725">
              <a:buFont typeface="Arial" panose="020B0604020202020204" pitchFamily="34" charset="0"/>
              <a:buChar char="•"/>
            </a:pPr>
            <a:r>
              <a:rPr lang="en-US" sz="1600">
                <a:latin typeface="Arial" panose="020B0604020202020204" pitchFamily="34" charset="0"/>
                <a:cs typeface="Arial" panose="020B0604020202020204" pitchFamily="34" charset="0"/>
              </a:rPr>
              <a:t>Import an entire </a:t>
            </a:r>
            <a:r>
              <a:rPr lang="en-US" sz="1600" err="1">
                <a:latin typeface="Arial" panose="020B0604020202020204" pitchFamily="34" charset="0"/>
                <a:cs typeface="Arial" panose="020B0604020202020204" pitchFamily="34" charset="0"/>
              </a:rPr>
              <a:t>GRNmap</a:t>
            </a:r>
            <a:r>
              <a:rPr lang="en-US" sz="1600">
                <a:latin typeface="Arial" panose="020B0604020202020204" pitchFamily="34" charset="0"/>
                <a:cs typeface="Arial" panose="020B0604020202020204" pitchFamily="34" charset="0"/>
              </a:rPr>
              <a:t>-compatible Excel workbook</a:t>
            </a:r>
          </a:p>
          <a:p>
            <a:pPr marL="85725" indent="-85725">
              <a:buFont typeface="Arial" panose="020B0604020202020204" pitchFamily="34" charset="0"/>
              <a:buChar char="•"/>
            </a:pPr>
            <a:r>
              <a:rPr lang="en-US" sz="1600">
                <a:latin typeface="Arial" panose="020B0604020202020204" pitchFamily="34" charset="0"/>
                <a:cs typeface="Arial" panose="020B0604020202020204" pitchFamily="34" charset="0"/>
              </a:rPr>
              <a:t>Node coloring</a:t>
            </a:r>
          </a:p>
          <a:p>
            <a:pPr marL="85725" indent="-85725">
              <a:buFont typeface="Arial" panose="020B0604020202020204" pitchFamily="34" charset="0"/>
              <a:buChar char="•"/>
            </a:pPr>
            <a:r>
              <a:rPr lang="en-US" sz="1600">
                <a:latin typeface="Arial" panose="020B0604020202020204" pitchFamily="34" charset="0"/>
                <a:cs typeface="Arial" panose="020B0604020202020204" pitchFamily="34" charset="0"/>
              </a:rPr>
              <a:t>Expression database</a:t>
            </a:r>
          </a:p>
          <a:p>
            <a:pPr marL="85725" indent="-85725">
              <a:buFont typeface="Arial" panose="020B0604020202020204" pitchFamily="34" charset="0"/>
              <a:buChar char="•"/>
            </a:pPr>
            <a:r>
              <a:rPr lang="en-US" sz="1600">
                <a:latin typeface="Arial" panose="020B0604020202020204" pitchFamily="34" charset="0"/>
                <a:cs typeface="Arial" panose="020B0604020202020204" pitchFamily="34" charset="0"/>
              </a:rPr>
              <a:t>Gene pages</a:t>
            </a:r>
          </a:p>
          <a:p>
            <a:pPr marL="85725" indent="-85725">
              <a:buFont typeface="Arial" panose="020B0604020202020204" pitchFamily="34" charset="0"/>
              <a:buChar char="•"/>
            </a:pPr>
            <a:r>
              <a:rPr lang="en-US" sz="1600">
                <a:latin typeface="Arial" panose="020B0604020202020204" pitchFamily="34" charset="0"/>
                <a:cs typeface="Arial" panose="020B0604020202020204" pitchFamily="34" charset="0"/>
              </a:rPr>
              <a:t>Grid layout</a:t>
            </a:r>
          </a:p>
        </p:txBody>
      </p:sp>
      <p:sp>
        <p:nvSpPr>
          <p:cNvPr id="12" name="TextBox 11">
            <a:extLst>
              <a:ext uri="{FF2B5EF4-FFF2-40B4-BE49-F238E27FC236}">
                <a16:creationId xmlns:a16="http://schemas.microsoft.com/office/drawing/2014/main" id="{D8FC6124-65A0-70A9-4E9C-F6919A08A142}"/>
              </a:ext>
            </a:extLst>
          </p:cNvPr>
          <p:cNvSpPr txBox="1"/>
          <p:nvPr/>
        </p:nvSpPr>
        <p:spPr>
          <a:xfrm>
            <a:off x="3385443" y="1194282"/>
            <a:ext cx="2035969" cy="1077218"/>
          </a:xfrm>
          <a:prstGeom prst="rect">
            <a:avLst/>
          </a:prstGeom>
          <a:noFill/>
        </p:spPr>
        <p:txBody>
          <a:bodyPr wrap="square" rtlCol="0">
            <a:sp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85725" indent="-85725">
              <a:buFont typeface="Arial" panose="020B0604020202020204" pitchFamily="34" charset="0"/>
              <a:buChar char="•"/>
            </a:pPr>
            <a:r>
              <a:rPr lang="en-US" sz="1600">
                <a:latin typeface="Arial" panose="020B0604020202020204" pitchFamily="34" charset="0"/>
                <a:cs typeface="Arial" panose="020B0604020202020204" pitchFamily="34" charset="0"/>
              </a:rPr>
              <a:t>Model-View-Controller paradigm introduced</a:t>
            </a:r>
          </a:p>
        </p:txBody>
      </p:sp>
      <p:sp>
        <p:nvSpPr>
          <p:cNvPr id="13" name="TextBox 12">
            <a:extLst>
              <a:ext uri="{FF2B5EF4-FFF2-40B4-BE49-F238E27FC236}">
                <a16:creationId xmlns:a16="http://schemas.microsoft.com/office/drawing/2014/main" id="{4F39365D-EB4B-54FA-784C-F10753A38BEB}"/>
              </a:ext>
            </a:extLst>
          </p:cNvPr>
          <p:cNvSpPr txBox="1"/>
          <p:nvPr/>
        </p:nvSpPr>
        <p:spPr>
          <a:xfrm>
            <a:off x="4568244" y="2778919"/>
            <a:ext cx="2191090" cy="1323439"/>
          </a:xfrm>
          <a:prstGeom prst="rect">
            <a:avLst/>
          </a:prstGeom>
          <a:noFill/>
        </p:spPr>
        <p:txBody>
          <a:bodyPr wrap="square" rtlCol="0">
            <a:sp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85725" indent="-85725">
              <a:buFont typeface="Arial" panose="020B0604020202020204" pitchFamily="34" charset="0"/>
              <a:buChar char="•"/>
            </a:pPr>
            <a:r>
              <a:rPr lang="en-US" sz="1600">
                <a:latin typeface="Arial" panose="020B0604020202020204" pitchFamily="34" charset="0"/>
                <a:cs typeface="Arial" panose="020B0604020202020204" pitchFamily="34" charset="0"/>
              </a:rPr>
              <a:t>Export to </a:t>
            </a:r>
            <a:r>
              <a:rPr lang="en-US" sz="1600" err="1">
                <a:latin typeface="Arial" panose="020B0604020202020204" pitchFamily="34" charset="0"/>
                <a:cs typeface="Arial" panose="020B0604020202020204" pitchFamily="34" charset="0"/>
              </a:rPr>
              <a:t>GRNmap</a:t>
            </a:r>
            <a:r>
              <a:rPr lang="en-US" sz="1600">
                <a:latin typeface="Arial" panose="020B0604020202020204" pitchFamily="34" charset="0"/>
                <a:cs typeface="Arial" panose="020B0604020202020204" pitchFamily="34" charset="0"/>
              </a:rPr>
              <a:t>-compatible Excel workbook</a:t>
            </a:r>
          </a:p>
          <a:p>
            <a:pPr marL="85725" indent="-85725">
              <a:buFont typeface="Arial" panose="020B0604020202020204" pitchFamily="34" charset="0"/>
              <a:buChar char="•"/>
            </a:pPr>
            <a:r>
              <a:rPr lang="en-US" sz="1600">
                <a:latin typeface="Arial" panose="020B0604020202020204" pitchFamily="34" charset="0"/>
                <a:cs typeface="Arial" panose="020B0604020202020204" pitchFamily="34" charset="0"/>
              </a:rPr>
              <a:t>Refactor expression database</a:t>
            </a:r>
          </a:p>
        </p:txBody>
      </p:sp>
      <p:sp>
        <p:nvSpPr>
          <p:cNvPr id="14" name="TextBox 13">
            <a:extLst>
              <a:ext uri="{FF2B5EF4-FFF2-40B4-BE49-F238E27FC236}">
                <a16:creationId xmlns:a16="http://schemas.microsoft.com/office/drawing/2014/main" id="{E929E624-DB4D-78F0-7734-E8B054A165AE}"/>
              </a:ext>
            </a:extLst>
          </p:cNvPr>
          <p:cNvSpPr txBox="1"/>
          <p:nvPr/>
        </p:nvSpPr>
        <p:spPr>
          <a:xfrm>
            <a:off x="5366814" y="1439211"/>
            <a:ext cx="2035969" cy="830997"/>
          </a:xfrm>
          <a:prstGeom prst="rect">
            <a:avLst/>
          </a:prstGeom>
          <a:noFill/>
        </p:spPr>
        <p:txBody>
          <a:bodyPr wrap="square" rtlCol="0">
            <a:sp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85725" indent="-85725">
              <a:buFont typeface="Arial" panose="020B0604020202020204" pitchFamily="34" charset="0"/>
              <a:buChar char="•"/>
            </a:pPr>
            <a:r>
              <a:rPr lang="en-US" sz="1600">
                <a:latin typeface="Arial" panose="020B0604020202020204" pitchFamily="34" charset="0"/>
                <a:cs typeface="Arial" panose="020B0604020202020204" pitchFamily="34" charset="0"/>
              </a:rPr>
              <a:t>Backend GRN database from </a:t>
            </a:r>
            <a:r>
              <a:rPr lang="en-US" sz="1600" err="1">
                <a:latin typeface="Arial" panose="020B0604020202020204" pitchFamily="34" charset="0"/>
                <a:cs typeface="Arial" panose="020B0604020202020204" pitchFamily="34" charset="0"/>
              </a:rPr>
              <a:t>YeastMine</a:t>
            </a:r>
            <a:endParaRPr lang="en-US" sz="1600">
              <a:latin typeface="Arial" panose="020B0604020202020204" pitchFamily="34" charset="0"/>
              <a:cs typeface="Arial" panose="020B0604020202020204" pitchFamily="34" charset="0"/>
            </a:endParaRPr>
          </a:p>
        </p:txBody>
      </p:sp>
      <p:sp>
        <p:nvSpPr>
          <p:cNvPr id="15" name="TextBox 14">
            <a:extLst>
              <a:ext uri="{FF2B5EF4-FFF2-40B4-BE49-F238E27FC236}">
                <a16:creationId xmlns:a16="http://schemas.microsoft.com/office/drawing/2014/main" id="{83624A5B-27B2-E4F3-AAC8-55B7B17D4B03}"/>
              </a:ext>
            </a:extLst>
          </p:cNvPr>
          <p:cNvSpPr txBox="1"/>
          <p:nvPr/>
        </p:nvSpPr>
        <p:spPr>
          <a:xfrm>
            <a:off x="6760156" y="2778919"/>
            <a:ext cx="1980733" cy="1815882"/>
          </a:xfrm>
          <a:prstGeom prst="rect">
            <a:avLst/>
          </a:prstGeom>
          <a:noFill/>
        </p:spPr>
        <p:txBody>
          <a:bodyPr wrap="square" rtlCol="0">
            <a:sp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85725" indent="-85725">
              <a:buFont typeface="Arial" panose="020B0604020202020204" pitchFamily="34" charset="0"/>
              <a:buChar char="•"/>
            </a:pPr>
            <a:r>
              <a:rPr lang="en-US" sz="1600">
                <a:latin typeface="Arial" panose="020B0604020202020204" pitchFamily="34" charset="0"/>
                <a:cs typeface="Arial" panose="020B0604020202020204" pitchFamily="34" charset="0"/>
              </a:rPr>
              <a:t>Displays PPIs</a:t>
            </a:r>
          </a:p>
          <a:p>
            <a:pPr marL="85725" indent="-85725">
              <a:buFont typeface="Arial" panose="020B0604020202020204" pitchFamily="34" charset="0"/>
              <a:buChar char="•"/>
            </a:pPr>
            <a:r>
              <a:rPr lang="en-US" sz="1600">
                <a:latin typeface="Arial" panose="020B0604020202020204" pitchFamily="34" charset="0"/>
                <a:cs typeface="Arial" panose="020B0604020202020204" pitchFamily="34" charset="0"/>
              </a:rPr>
              <a:t>Backend PPI database from </a:t>
            </a:r>
            <a:r>
              <a:rPr lang="en-US" sz="1600" err="1">
                <a:latin typeface="Arial" panose="020B0604020202020204" pitchFamily="34" charset="0"/>
                <a:cs typeface="Arial" panose="020B0604020202020204" pitchFamily="34" charset="0"/>
              </a:rPr>
              <a:t>YeastMine</a:t>
            </a:r>
            <a:endParaRPr lang="en-US" sz="1600">
              <a:latin typeface="Arial" panose="020B0604020202020204" pitchFamily="34" charset="0"/>
              <a:cs typeface="Arial" panose="020B0604020202020204" pitchFamily="34" charset="0"/>
            </a:endParaRPr>
          </a:p>
          <a:p>
            <a:pPr marL="85725" indent="-85725">
              <a:buFont typeface="Arial" panose="020B0604020202020204" pitchFamily="34" charset="0"/>
              <a:buChar char="•"/>
            </a:pPr>
            <a:r>
              <a:rPr lang="en-US" sz="1600">
                <a:latin typeface="Arial" panose="020B0604020202020204" pitchFamily="34" charset="0"/>
                <a:cs typeface="Arial" panose="020B0604020202020204" pitchFamily="34" charset="0"/>
              </a:rPr>
              <a:t>UI and export improvements</a:t>
            </a:r>
          </a:p>
          <a:p>
            <a:pPr marL="85725" indent="-85725">
              <a:buFont typeface="Arial" panose="020B0604020202020204" pitchFamily="34" charset="0"/>
              <a:buChar char="•"/>
            </a:pPr>
            <a:r>
              <a:rPr lang="en-US" sz="1600">
                <a:latin typeface="Arial" panose="020B0604020202020204" pitchFamily="34" charset="0"/>
                <a:cs typeface="Arial" panose="020B0604020202020204" pitchFamily="34" charset="0"/>
              </a:rPr>
              <a:t>GitHub actions</a:t>
            </a:r>
          </a:p>
        </p:txBody>
      </p:sp>
      <p:sp>
        <p:nvSpPr>
          <p:cNvPr id="16" name="TextBox 15">
            <a:extLst>
              <a:ext uri="{FF2B5EF4-FFF2-40B4-BE49-F238E27FC236}">
                <a16:creationId xmlns:a16="http://schemas.microsoft.com/office/drawing/2014/main" id="{92FB6493-2F7D-E47C-05A0-2B98CC7CE79F}"/>
              </a:ext>
            </a:extLst>
          </p:cNvPr>
          <p:cNvSpPr txBox="1"/>
          <p:nvPr/>
        </p:nvSpPr>
        <p:spPr>
          <a:xfrm>
            <a:off x="7552603" y="1194282"/>
            <a:ext cx="1738355" cy="1077218"/>
          </a:xfrm>
          <a:prstGeom prst="rect">
            <a:avLst/>
          </a:prstGeom>
          <a:noFill/>
        </p:spPr>
        <p:txBody>
          <a:bodyPr wrap="square" rtlCol="0">
            <a:sp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85725" indent="-85725">
              <a:buFont typeface="Arial" panose="020B0604020202020204" pitchFamily="34" charset="0"/>
              <a:buChar char="•"/>
            </a:pPr>
            <a:r>
              <a:rPr lang="en-US" sz="1600">
                <a:latin typeface="Arial" panose="020B0604020202020204" pitchFamily="34" charset="0"/>
                <a:cs typeface="Arial" panose="020B0604020202020204" pitchFamily="34" charset="0"/>
              </a:rPr>
              <a:t>Port to React</a:t>
            </a:r>
          </a:p>
          <a:p>
            <a:pPr marL="85725" indent="-85725">
              <a:buFont typeface="Arial" panose="020B0604020202020204" pitchFamily="34" charset="0"/>
              <a:buChar char="•"/>
            </a:pPr>
            <a:r>
              <a:rPr lang="en-US" sz="1600">
                <a:latin typeface="Arial" panose="020B0604020202020204" pitchFamily="34" charset="0"/>
                <a:cs typeface="Arial" panose="020B0604020202020204" pitchFamily="34" charset="0"/>
              </a:rPr>
              <a:t>Load database from </a:t>
            </a:r>
            <a:r>
              <a:rPr lang="en-US" sz="1600" err="1">
                <a:latin typeface="Arial" panose="020B0604020202020204" pitchFamily="34" charset="0"/>
                <a:cs typeface="Arial" panose="020B0604020202020204" pitchFamily="34" charset="0"/>
              </a:rPr>
              <a:t>Alliancemine</a:t>
            </a:r>
            <a:endParaRPr lang="en-US" sz="1600">
              <a:latin typeface="Arial" panose="020B0604020202020204" pitchFamily="34" charset="0"/>
              <a:cs typeface="Arial" panose="020B0604020202020204" pitchFamily="34" charset="0"/>
            </a:endParaRPr>
          </a:p>
        </p:txBody>
      </p:sp>
      <p:sp>
        <p:nvSpPr>
          <p:cNvPr id="18" name="TextBox 17">
            <a:extLst>
              <a:ext uri="{FF2B5EF4-FFF2-40B4-BE49-F238E27FC236}">
                <a16:creationId xmlns:a16="http://schemas.microsoft.com/office/drawing/2014/main" id="{0EE5D87C-CB0E-62FB-9B0F-8357EAEBE90A}"/>
              </a:ext>
            </a:extLst>
          </p:cNvPr>
          <p:cNvSpPr txBox="1"/>
          <p:nvPr/>
        </p:nvSpPr>
        <p:spPr>
          <a:xfrm>
            <a:off x="825104" y="225296"/>
            <a:ext cx="375047" cy="600164"/>
          </a:xfrm>
          <a:prstGeom prst="rect">
            <a:avLst/>
          </a:prstGeom>
          <a:noFill/>
        </p:spPr>
        <p:txBody>
          <a:bodyPr wrap="square">
            <a:sp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r>
              <a:rPr lang="en-US" sz="3300"/>
              <a:t>🎂</a:t>
            </a:r>
          </a:p>
        </p:txBody>
      </p:sp>
      <p:sp>
        <p:nvSpPr>
          <p:cNvPr id="20" name="TextBox 19">
            <a:extLst>
              <a:ext uri="{FF2B5EF4-FFF2-40B4-BE49-F238E27FC236}">
                <a16:creationId xmlns:a16="http://schemas.microsoft.com/office/drawing/2014/main" id="{EE16E5A3-94A0-2EFC-E682-BEB271731C3D}"/>
              </a:ext>
            </a:extLst>
          </p:cNvPr>
          <p:cNvSpPr txBox="1"/>
          <p:nvPr/>
        </p:nvSpPr>
        <p:spPr>
          <a:xfrm>
            <a:off x="7517083" y="225296"/>
            <a:ext cx="645035" cy="600164"/>
          </a:xfrm>
          <a:prstGeom prst="rect">
            <a:avLst/>
          </a:prstGeom>
          <a:noFill/>
        </p:spPr>
        <p:txBody>
          <a:bodyPr wrap="square">
            <a:sp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r>
              <a:rPr lang="en-US" sz="3300"/>
              <a:t>🎉</a:t>
            </a:r>
          </a:p>
        </p:txBody>
      </p:sp>
      <p:sp>
        <p:nvSpPr>
          <p:cNvPr id="22" name="TextBox 21">
            <a:extLst>
              <a:ext uri="{FF2B5EF4-FFF2-40B4-BE49-F238E27FC236}">
                <a16:creationId xmlns:a16="http://schemas.microsoft.com/office/drawing/2014/main" id="{741C9CB0-7BC5-EF71-5048-BFA1F62A365C}"/>
              </a:ext>
            </a:extLst>
          </p:cNvPr>
          <p:cNvSpPr txBox="1"/>
          <p:nvPr/>
        </p:nvSpPr>
        <p:spPr>
          <a:xfrm>
            <a:off x="8162118" y="271463"/>
            <a:ext cx="367903" cy="600164"/>
          </a:xfrm>
          <a:prstGeom prst="rect">
            <a:avLst/>
          </a:prstGeom>
          <a:noFill/>
        </p:spPr>
        <p:txBody>
          <a:bodyPr wrap="square">
            <a:sp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r>
              <a:rPr lang="en-US" sz="3300"/>
              <a:t>🎈</a:t>
            </a:r>
          </a:p>
        </p:txBody>
      </p:sp>
      <p:sp>
        <p:nvSpPr>
          <p:cNvPr id="24" name="TextBox 23">
            <a:extLst>
              <a:ext uri="{FF2B5EF4-FFF2-40B4-BE49-F238E27FC236}">
                <a16:creationId xmlns:a16="http://schemas.microsoft.com/office/drawing/2014/main" id="{D180CE42-51A3-73A7-658B-9AD062F1E35D}"/>
              </a:ext>
            </a:extLst>
          </p:cNvPr>
          <p:cNvSpPr txBox="1"/>
          <p:nvPr/>
        </p:nvSpPr>
        <p:spPr>
          <a:xfrm>
            <a:off x="123110" y="242887"/>
            <a:ext cx="498206" cy="600164"/>
          </a:xfrm>
          <a:prstGeom prst="rect">
            <a:avLst/>
          </a:prstGeom>
          <a:noFill/>
        </p:spPr>
        <p:txBody>
          <a:bodyPr wrap="square">
            <a:sp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r>
              <a:rPr lang="en-US" sz="3300"/>
              <a:t>🥂</a:t>
            </a:r>
          </a:p>
        </p:txBody>
      </p:sp>
      <p:pic>
        <p:nvPicPr>
          <p:cNvPr id="26" name="Picture 25">
            <a:extLst>
              <a:ext uri="{FF2B5EF4-FFF2-40B4-BE49-F238E27FC236}">
                <a16:creationId xmlns:a16="http://schemas.microsoft.com/office/drawing/2014/main" id="{7E7DB1CB-E8E0-02FC-720E-98D6D4D1C119}"/>
              </a:ext>
            </a:extLst>
          </p:cNvPr>
          <p:cNvPicPr>
            <a:picLocks noChangeAspect="1"/>
          </p:cNvPicPr>
          <p:nvPr/>
        </p:nvPicPr>
        <p:blipFill rotWithShape="1">
          <a:blip r:embed="rId9" cstate="hqprint">
            <a:extLst>
              <a:ext uri="{28A0092B-C50C-407E-A947-70E740481C1C}">
                <a14:useLocalDpi xmlns:a14="http://schemas.microsoft.com/office/drawing/2010/main"/>
              </a:ext>
            </a:extLst>
          </a:blip>
          <a:srcRect/>
          <a:stretch/>
        </p:blipFill>
        <p:spPr>
          <a:xfrm>
            <a:off x="217462" y="1785802"/>
            <a:ext cx="955970" cy="456797"/>
          </a:xfrm>
          <a:prstGeom prst="rect">
            <a:avLst/>
          </a:prstGeom>
          <a:ln>
            <a:noFill/>
          </a:ln>
        </p:spPr>
      </p:pic>
    </p:spTree>
    <p:extLst>
      <p:ext uri="{BB962C8B-B14F-4D97-AF65-F5344CB8AC3E}">
        <p14:creationId xmlns:p14="http://schemas.microsoft.com/office/powerpoint/2010/main" val="2981610544"/>
      </p:ext>
    </p:extLst>
  </p:cSld>
  <p:clrMapOvr>
    <a:masterClrMapping/>
  </p:clrMapOvr>
  <p:extLst>
    <p:ext uri="{6950BFC3-D8DA-4A85-94F7-54DA5524770B}">
      <p188:commentRel xmlns:p188="http://schemas.microsoft.com/office/powerpoint/2018/8/main" r:id="rId3"/>
    </p:ext>
  </p:extLs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92"/>
        <p:cNvGrpSpPr/>
        <p:nvPr/>
      </p:nvGrpSpPr>
      <p:grpSpPr>
        <a:xfrm>
          <a:off x="0" y="0"/>
          <a:ext cx="0" cy="0"/>
          <a:chOff x="0" y="0"/>
          <a:chExt cx="0" cy="0"/>
        </a:xfrm>
      </p:grpSpPr>
      <p:sp>
        <p:nvSpPr>
          <p:cNvPr id="293" name="Google Shape;293;p38"/>
          <p:cNvSpPr txBox="1">
            <a:spLocks noGrp="1"/>
          </p:cNvSpPr>
          <p:nvPr>
            <p:ph type="title"/>
          </p:nvPr>
        </p:nvSpPr>
        <p:spPr>
          <a:xfrm>
            <a:off x="311700" y="112400"/>
            <a:ext cx="8520600" cy="5691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b="1">
                <a:solidFill>
                  <a:srgbClr val="16693F"/>
                </a:solidFill>
              </a:rPr>
              <a:t>Acknowledgements</a:t>
            </a:r>
            <a:endParaRPr b="1">
              <a:solidFill>
                <a:srgbClr val="16693F"/>
              </a:solidFill>
            </a:endParaRPr>
          </a:p>
        </p:txBody>
      </p:sp>
      <p:sp>
        <p:nvSpPr>
          <p:cNvPr id="294" name="Google Shape;294;p38"/>
          <p:cNvSpPr txBox="1"/>
          <p:nvPr/>
        </p:nvSpPr>
        <p:spPr>
          <a:xfrm>
            <a:off x="383415" y="637628"/>
            <a:ext cx="5063954" cy="2704017"/>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1500" b="1">
                <a:solidFill>
                  <a:schemeClr val="dk1"/>
                </a:solidFill>
              </a:rPr>
              <a:t>John David N. Dionisio</a:t>
            </a:r>
            <a:endParaRPr sz="1500" b="1">
              <a:solidFill>
                <a:schemeClr val="dk1"/>
              </a:solidFill>
            </a:endParaRPr>
          </a:p>
          <a:p>
            <a:pPr marL="0" lvl="0" indent="0" algn="l" rtl="0">
              <a:lnSpc>
                <a:spcPct val="115000"/>
              </a:lnSpc>
              <a:spcBef>
                <a:spcPts val="0"/>
              </a:spcBef>
              <a:spcAft>
                <a:spcPts val="0"/>
              </a:spcAft>
              <a:buNone/>
            </a:pPr>
            <a:r>
              <a:rPr lang="en" sz="1500" b="1">
                <a:solidFill>
                  <a:schemeClr val="dk1"/>
                </a:solidFill>
              </a:rPr>
              <a:t>Kam D. Dahlquist</a:t>
            </a:r>
            <a:endParaRPr sz="1500" b="1">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sz="1500" b="1">
                <a:solidFill>
                  <a:schemeClr val="dk1"/>
                </a:solidFill>
              </a:rPr>
              <a:t>Nikki C. Chun</a:t>
            </a:r>
            <a:br>
              <a:rPr lang="en" sz="1500" b="1"/>
            </a:br>
            <a:r>
              <a:rPr lang="en" sz="1500" b="1">
                <a:solidFill>
                  <a:schemeClr val="dk1"/>
                </a:solidFill>
              </a:rPr>
              <a:t>Amelie T. Dinh</a:t>
            </a:r>
            <a:endParaRPr sz="1500" b="1">
              <a:solidFill>
                <a:schemeClr val="dk1"/>
              </a:solidFill>
            </a:endParaRPr>
          </a:p>
          <a:p>
            <a:pPr>
              <a:lnSpc>
                <a:spcPct val="114999"/>
              </a:lnSpc>
            </a:pPr>
            <a:r>
              <a:rPr lang="en" sz="1500" b="1">
                <a:solidFill>
                  <a:schemeClr val="dk1"/>
                </a:solidFill>
              </a:rPr>
              <a:t>Milka Y. Zekarias</a:t>
            </a:r>
          </a:p>
          <a:p>
            <a:pPr>
              <a:lnSpc>
                <a:spcPct val="114999"/>
              </a:lnSpc>
            </a:pPr>
            <a:r>
              <a:rPr lang="en" sz="1500" b="1">
                <a:solidFill>
                  <a:schemeClr val="dk1"/>
                </a:solidFill>
              </a:rPr>
              <a:t>Alex J. Miller</a:t>
            </a:r>
          </a:p>
          <a:p>
            <a:pPr>
              <a:lnSpc>
                <a:spcPct val="114999"/>
              </a:lnSpc>
            </a:pPr>
            <a:r>
              <a:rPr lang="en" sz="1500" b="1">
                <a:solidFill>
                  <a:schemeClr val="dk1"/>
                </a:solidFill>
              </a:rPr>
              <a:t>Jia S. Garcia</a:t>
            </a:r>
          </a:p>
          <a:p>
            <a:pPr>
              <a:lnSpc>
                <a:spcPct val="114999"/>
              </a:lnSpc>
            </a:pPr>
            <a:r>
              <a:rPr lang="en" sz="1500" b="1">
                <a:solidFill>
                  <a:schemeClr val="dk1"/>
                </a:solidFill>
              </a:rPr>
              <a:t>Cindy L. Tong</a:t>
            </a:r>
          </a:p>
          <a:p>
            <a:pPr>
              <a:lnSpc>
                <a:spcPct val="114999"/>
              </a:lnSpc>
            </a:pPr>
            <a:r>
              <a:rPr lang="en" sz="1500" b="1">
                <a:solidFill>
                  <a:schemeClr val="dk1"/>
                </a:solidFill>
              </a:rPr>
              <a:t>LMU Department of Biology</a:t>
            </a:r>
          </a:p>
          <a:p>
            <a:pPr>
              <a:lnSpc>
                <a:spcPct val="114999"/>
              </a:lnSpc>
            </a:pPr>
            <a:r>
              <a:rPr lang="en" sz="1500" b="1">
                <a:solidFill>
                  <a:schemeClr val="dk1"/>
                </a:solidFill>
              </a:rPr>
              <a:t>HHMI STEM Research Learning Community </a:t>
            </a:r>
          </a:p>
          <a:p>
            <a:pPr>
              <a:lnSpc>
                <a:spcPct val="114999"/>
              </a:lnSpc>
            </a:pPr>
            <a:endParaRPr lang="en" sz="1500" b="1">
              <a:solidFill>
                <a:schemeClr val="dk1"/>
              </a:solidFill>
            </a:endParaRPr>
          </a:p>
        </p:txBody>
      </p:sp>
      <p:grpSp>
        <p:nvGrpSpPr>
          <p:cNvPr id="296" name="Google Shape;296;p38"/>
          <p:cNvGrpSpPr/>
          <p:nvPr/>
        </p:nvGrpSpPr>
        <p:grpSpPr>
          <a:xfrm>
            <a:off x="1832465" y="3322073"/>
            <a:ext cx="6362150" cy="1362900"/>
            <a:chOff x="519200" y="3301900"/>
            <a:chExt cx="6362150" cy="1362900"/>
          </a:xfrm>
        </p:grpSpPr>
        <p:sp>
          <p:nvSpPr>
            <p:cNvPr id="297" name="Google Shape;297;p38"/>
            <p:cNvSpPr txBox="1"/>
            <p:nvPr/>
          </p:nvSpPr>
          <p:spPr>
            <a:xfrm>
              <a:off x="519200" y="3301900"/>
              <a:ext cx="5159700" cy="13629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endParaRPr sz="2400" b="1">
                <a:solidFill>
                  <a:srgbClr val="16693F"/>
                </a:solidFill>
              </a:endParaRPr>
            </a:p>
          </p:txBody>
        </p:sp>
        <p:pic>
          <p:nvPicPr>
            <p:cNvPr id="298" name="Google Shape;298;p38"/>
            <p:cNvPicPr preferRelativeResize="0"/>
            <p:nvPr/>
          </p:nvPicPr>
          <p:blipFill>
            <a:blip r:embed="rId4">
              <a:alphaModFix/>
            </a:blip>
            <a:stretch>
              <a:fillRect/>
            </a:stretch>
          </p:blipFill>
          <p:spPr>
            <a:xfrm>
              <a:off x="712200" y="3496600"/>
              <a:ext cx="488475" cy="480325"/>
            </a:xfrm>
            <a:prstGeom prst="rect">
              <a:avLst/>
            </a:prstGeom>
            <a:noFill/>
            <a:ln>
              <a:noFill/>
            </a:ln>
          </p:spPr>
        </p:pic>
        <p:sp>
          <p:nvSpPr>
            <p:cNvPr id="299" name="Google Shape;299;p38"/>
            <p:cNvSpPr txBox="1"/>
            <p:nvPr/>
          </p:nvSpPr>
          <p:spPr>
            <a:xfrm>
              <a:off x="1298050" y="3496502"/>
              <a:ext cx="4835100" cy="4803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0"/>
                </a:spcAft>
                <a:buNone/>
              </a:pPr>
              <a:r>
                <a:rPr lang="en" sz="2400" b="1">
                  <a:solidFill>
                    <a:srgbClr val="16693F"/>
                  </a:solidFill>
                </a:rPr>
                <a:t>http://</a:t>
              </a:r>
              <a:r>
                <a:rPr lang="en" sz="2400" b="1" err="1">
                  <a:solidFill>
                    <a:srgbClr val="16693F"/>
                  </a:solidFill>
                </a:rPr>
                <a:t>dondi.github.io</a:t>
              </a:r>
              <a:r>
                <a:rPr lang="en" sz="2400" b="1">
                  <a:solidFill>
                    <a:srgbClr val="16693F"/>
                  </a:solidFill>
                </a:rPr>
                <a:t>/GRNsight/</a:t>
              </a:r>
              <a:endParaRPr sz="1800">
                <a:solidFill>
                  <a:schemeClr val="dk2"/>
                </a:solidFill>
              </a:endParaRPr>
            </a:p>
          </p:txBody>
        </p:sp>
        <p:pic>
          <p:nvPicPr>
            <p:cNvPr id="300" name="Google Shape;300;p38"/>
            <p:cNvPicPr preferRelativeResize="0"/>
            <p:nvPr/>
          </p:nvPicPr>
          <p:blipFill>
            <a:blip r:embed="rId5">
              <a:alphaModFix/>
            </a:blip>
            <a:stretch>
              <a:fillRect/>
            </a:stretch>
          </p:blipFill>
          <p:spPr>
            <a:xfrm>
              <a:off x="623691" y="4095700"/>
              <a:ext cx="576996" cy="569100"/>
            </a:xfrm>
            <a:prstGeom prst="rect">
              <a:avLst/>
            </a:prstGeom>
            <a:noFill/>
            <a:ln>
              <a:noFill/>
            </a:ln>
          </p:spPr>
        </p:pic>
        <p:sp>
          <p:nvSpPr>
            <p:cNvPr id="301" name="Google Shape;301;p38"/>
            <p:cNvSpPr txBox="1"/>
            <p:nvPr/>
          </p:nvSpPr>
          <p:spPr>
            <a:xfrm>
              <a:off x="1298050" y="4140100"/>
              <a:ext cx="5583300" cy="4803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0"/>
                </a:spcAft>
                <a:buNone/>
              </a:pPr>
              <a:r>
                <a:rPr lang="en" sz="2400" b="1">
                  <a:solidFill>
                    <a:srgbClr val="16693F"/>
                  </a:solidFill>
                </a:rPr>
                <a:t>https://</a:t>
              </a:r>
              <a:r>
                <a:rPr lang="en" sz="2400" b="1" err="1">
                  <a:solidFill>
                    <a:srgbClr val="16693F"/>
                  </a:solidFill>
                </a:rPr>
                <a:t>github.com</a:t>
              </a:r>
              <a:r>
                <a:rPr lang="en" sz="2400" b="1">
                  <a:solidFill>
                    <a:srgbClr val="16693F"/>
                  </a:solidFill>
                </a:rPr>
                <a:t>/</a:t>
              </a:r>
              <a:r>
                <a:rPr lang="en" sz="2400" b="1" err="1">
                  <a:solidFill>
                    <a:srgbClr val="16693F"/>
                  </a:solidFill>
                </a:rPr>
                <a:t>dondi</a:t>
              </a:r>
              <a:r>
                <a:rPr lang="en" sz="2400" b="1">
                  <a:solidFill>
                    <a:srgbClr val="16693F"/>
                  </a:solidFill>
                </a:rPr>
                <a:t>/GRNsight</a:t>
              </a:r>
              <a:endParaRPr sz="2400" b="1">
                <a:solidFill>
                  <a:srgbClr val="16693F"/>
                </a:solidFill>
              </a:endParaRPr>
            </a:p>
          </p:txBody>
        </p:sp>
      </p:grpSp>
      <p:pic>
        <p:nvPicPr>
          <p:cNvPr id="2" name="Picture 1" descr="A qr code on a white background&#10;&#10;AI-generated content may be incorrect.">
            <a:extLst>
              <a:ext uri="{FF2B5EF4-FFF2-40B4-BE49-F238E27FC236}">
                <a16:creationId xmlns:a16="http://schemas.microsoft.com/office/drawing/2014/main" id="{21260796-C0CD-52DC-746F-AD34C99430F1}"/>
              </a:ext>
            </a:extLst>
          </p:cNvPr>
          <p:cNvPicPr>
            <a:picLocks noChangeAspect="1"/>
          </p:cNvPicPr>
          <p:nvPr/>
        </p:nvPicPr>
        <p:blipFill>
          <a:blip r:embed="rId6"/>
          <a:stretch>
            <a:fillRect/>
          </a:stretch>
        </p:blipFill>
        <p:spPr>
          <a:xfrm>
            <a:off x="383415" y="3388316"/>
            <a:ext cx="1352550" cy="1352550"/>
          </a:xfrm>
          <a:prstGeom prst="rect">
            <a:avLst/>
          </a:prstGeom>
        </p:spPr>
      </p:pic>
      <p:pic>
        <p:nvPicPr>
          <p:cNvPr id="5" name="Picture 4" descr="A group of people standing in front of a poster&#10;&#10;AI-generated content may be incorrect.">
            <a:extLst>
              <a:ext uri="{FF2B5EF4-FFF2-40B4-BE49-F238E27FC236}">
                <a16:creationId xmlns:a16="http://schemas.microsoft.com/office/drawing/2014/main" id="{8184E66C-49AA-C7D6-E9F0-9D879229AFF3}"/>
              </a:ext>
            </a:extLst>
          </p:cNvPr>
          <p:cNvPicPr>
            <a:picLocks noChangeAspect="1"/>
          </p:cNvPicPr>
          <p:nvPr/>
        </p:nvPicPr>
        <p:blipFill>
          <a:blip r:embed="rId7" cstate="hqprint">
            <a:extLst>
              <a:ext uri="{28A0092B-C50C-407E-A947-70E740481C1C}">
                <a14:useLocalDpi xmlns:a14="http://schemas.microsoft.com/office/drawing/2010/main"/>
              </a:ext>
            </a:extLst>
          </a:blip>
          <a:srcRect/>
          <a:stretch>
            <a:fillRect/>
          </a:stretch>
        </p:blipFill>
        <p:spPr>
          <a:xfrm>
            <a:off x="5165124" y="295948"/>
            <a:ext cx="3667176" cy="2513456"/>
          </a:xfrm>
          <a:prstGeom prst="rect">
            <a:avLst/>
          </a:prstGeom>
        </p:spPr>
      </p:pic>
    </p:spTree>
  </p:cSld>
  <p:clrMapOvr>
    <a:masterClrMapping/>
  </p:clrMapOvr>
  <p:extLst>
    <p:ext uri="{6950BFC3-D8DA-4A85-94F7-54DA5524770B}">
      <p188:commentRel xmlns:p188="http://schemas.microsoft.com/office/powerpoint/2018/8/main" r:id="rId3"/>
    </p:ext>
  </p:extLs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286">
          <a:extLst>
            <a:ext uri="{FF2B5EF4-FFF2-40B4-BE49-F238E27FC236}">
              <a16:creationId xmlns:a16="http://schemas.microsoft.com/office/drawing/2014/main" id="{C0987B69-4D7C-0B00-262C-E11E050EF7A0}"/>
            </a:ext>
          </a:extLst>
        </p:cNvPr>
        <p:cNvGrpSpPr/>
        <p:nvPr/>
      </p:nvGrpSpPr>
      <p:grpSpPr>
        <a:xfrm>
          <a:off x="0" y="0"/>
          <a:ext cx="0" cy="0"/>
          <a:chOff x="0" y="0"/>
          <a:chExt cx="0" cy="0"/>
        </a:xfrm>
      </p:grpSpPr>
      <p:sp>
        <p:nvSpPr>
          <p:cNvPr id="287" name="Google Shape;287;p37">
            <a:extLst>
              <a:ext uri="{FF2B5EF4-FFF2-40B4-BE49-F238E27FC236}">
                <a16:creationId xmlns:a16="http://schemas.microsoft.com/office/drawing/2014/main" id="{CD2C2F03-F9FA-93FA-F1C4-64D4404C1B2F}"/>
              </a:ext>
            </a:extLst>
          </p:cNvPr>
          <p:cNvSpPr txBox="1">
            <a:spLocks noGrp="1"/>
          </p:cNvSpPr>
          <p:nvPr>
            <p:ph type="title"/>
          </p:nvPr>
        </p:nvSpPr>
        <p:spPr>
          <a:xfrm>
            <a:off x="311700" y="112400"/>
            <a:ext cx="8520600" cy="918000"/>
          </a:xfrm>
          <a:prstGeom prst="rect">
            <a:avLst/>
          </a:prstGeom>
        </p:spPr>
        <p:txBody>
          <a:bodyPr spcFirstLastPara="1" wrap="square" lIns="91425" tIns="91425" rIns="91425" bIns="91425" anchor="t" anchorCtr="0">
            <a:normAutofit/>
          </a:bodyPr>
          <a:lstStyle/>
          <a:p>
            <a:r>
              <a:rPr lang="en" sz="2000" b="1">
                <a:solidFill>
                  <a:srgbClr val="16693F"/>
                </a:solidFill>
              </a:rPr>
              <a:t>References</a:t>
            </a:r>
          </a:p>
        </p:txBody>
      </p:sp>
      <p:sp>
        <p:nvSpPr>
          <p:cNvPr id="3" name="Google Shape;239;p30">
            <a:extLst>
              <a:ext uri="{FF2B5EF4-FFF2-40B4-BE49-F238E27FC236}">
                <a16:creationId xmlns:a16="http://schemas.microsoft.com/office/drawing/2014/main" id="{F7C0137B-D853-C3BA-BCC9-D8CCE934309E}"/>
              </a:ext>
            </a:extLst>
          </p:cNvPr>
          <p:cNvSpPr txBox="1"/>
          <p:nvPr/>
        </p:nvSpPr>
        <p:spPr>
          <a:xfrm>
            <a:off x="434145" y="812527"/>
            <a:ext cx="8275709" cy="2142389"/>
          </a:xfrm>
          <a:prstGeom prst="rect">
            <a:avLst/>
          </a:prstGeom>
          <a:noFill/>
          <a:ln>
            <a:noFill/>
          </a:ln>
        </p:spPr>
        <p:txBody>
          <a:bodyPr spcFirstLastPara="1" wrap="square" lIns="85475" tIns="85475" rIns="85475" bIns="85475" anchor="t" anchorCtr="0">
            <a:spAutoFit/>
          </a:bodyPr>
          <a:lstStyle/>
          <a:p>
            <a:pPr marL="171450" indent="-171450">
              <a:buChar char="•"/>
            </a:pPr>
            <a:r>
              <a:rPr lang="en-US" sz="1600" err="1">
                <a:solidFill>
                  <a:schemeClr val="tx1"/>
                </a:solidFill>
                <a:cs typeface="Times New Roman"/>
              </a:rPr>
              <a:t>AZoLifeSciences</a:t>
            </a:r>
            <a:r>
              <a:rPr lang="en-US" sz="1600">
                <a:solidFill>
                  <a:schemeClr val="tx1"/>
                </a:solidFill>
                <a:cs typeface="Times New Roman"/>
              </a:rPr>
              <a:t>. “A Guide to Understanding Gene Expression.” </a:t>
            </a:r>
            <a:r>
              <a:rPr lang="en-US" sz="1600" i="1" err="1">
                <a:solidFill>
                  <a:schemeClr val="tx1"/>
                </a:solidFill>
                <a:cs typeface="Times New Roman"/>
              </a:rPr>
              <a:t>AZoLifeSciences</a:t>
            </a:r>
            <a:r>
              <a:rPr lang="en-US" sz="1600">
                <a:solidFill>
                  <a:schemeClr val="tx1"/>
                </a:solidFill>
                <a:cs typeface="Times New Roman"/>
              </a:rPr>
              <a:t>, 27 Jan. 2021, </a:t>
            </a:r>
            <a:r>
              <a:rPr lang="en-US" sz="1600" err="1">
                <a:solidFill>
                  <a:schemeClr val="tx1"/>
                </a:solidFill>
                <a:cs typeface="Times New Roman"/>
              </a:rPr>
              <a:t>www.azolifesciences.com</a:t>
            </a:r>
            <a:r>
              <a:rPr lang="en-US" sz="1600">
                <a:solidFill>
                  <a:schemeClr val="tx1"/>
                </a:solidFill>
                <a:cs typeface="Times New Roman"/>
              </a:rPr>
              <a:t>/article/A-Guide-to-Understanding-Gene-</a:t>
            </a:r>
            <a:r>
              <a:rPr lang="en-US" sz="1600" err="1">
                <a:solidFill>
                  <a:schemeClr val="tx1"/>
                </a:solidFill>
                <a:cs typeface="Times New Roman"/>
              </a:rPr>
              <a:t>Expression.aspx</a:t>
            </a:r>
            <a:r>
              <a:rPr lang="en-US" sz="1600">
                <a:solidFill>
                  <a:schemeClr val="tx1"/>
                </a:solidFill>
                <a:cs typeface="Times New Roman"/>
              </a:rPr>
              <a:t>.</a:t>
            </a:r>
          </a:p>
          <a:p>
            <a:pPr marL="171450" indent="-171450">
              <a:buFont typeface="Arial"/>
              <a:buChar char="•"/>
            </a:pPr>
            <a:r>
              <a:rPr lang="en-US" sz="1600">
                <a:solidFill>
                  <a:schemeClr val="tx1"/>
                </a:solidFill>
                <a:cs typeface="Times New Roman"/>
              </a:rPr>
              <a:t>“PDB101: Molecule of the Month: Vitamin D Receptor.” </a:t>
            </a:r>
            <a:r>
              <a:rPr lang="en-US" sz="1600" i="1">
                <a:solidFill>
                  <a:schemeClr val="tx1"/>
                </a:solidFill>
                <a:cs typeface="Times New Roman"/>
              </a:rPr>
              <a:t>RCSB: PDB-101</a:t>
            </a:r>
            <a:r>
              <a:rPr lang="en-US" sz="1600">
                <a:solidFill>
                  <a:schemeClr val="tx1"/>
                </a:solidFill>
                <a:cs typeface="Times New Roman"/>
              </a:rPr>
              <a:t>, pdb101.rcsb.org/</a:t>
            </a:r>
            <a:r>
              <a:rPr lang="en-US" sz="1600" err="1">
                <a:solidFill>
                  <a:schemeClr val="tx1"/>
                </a:solidFill>
                <a:cs typeface="Times New Roman"/>
              </a:rPr>
              <a:t>motm</a:t>
            </a:r>
            <a:r>
              <a:rPr lang="en-US" sz="1600">
                <a:solidFill>
                  <a:schemeClr val="tx1"/>
                </a:solidFill>
                <a:cs typeface="Times New Roman"/>
              </a:rPr>
              <a:t>/155.</a:t>
            </a:r>
          </a:p>
          <a:p>
            <a:pPr marL="171450" indent="-171450">
              <a:buFont typeface="Arial"/>
              <a:buChar char="•"/>
            </a:pPr>
            <a:r>
              <a:rPr lang="en-US" sz="1600">
                <a:solidFill>
                  <a:schemeClr val="tx1"/>
                </a:solidFill>
                <a:cs typeface="Times New Roman"/>
              </a:rPr>
              <a:t>“PDB101: Molecule of the Month: Cyclin and Cyclin-dependent Kinase.” </a:t>
            </a:r>
            <a:r>
              <a:rPr lang="en-US" sz="1600" i="1">
                <a:solidFill>
                  <a:schemeClr val="tx1"/>
                </a:solidFill>
                <a:cs typeface="Times New Roman"/>
              </a:rPr>
              <a:t>RCSB: PDB-101</a:t>
            </a:r>
            <a:r>
              <a:rPr lang="en-US" sz="1600">
                <a:solidFill>
                  <a:schemeClr val="tx1"/>
                </a:solidFill>
                <a:cs typeface="Times New Roman"/>
              </a:rPr>
              <a:t>, pdb101.rcsb.org/</a:t>
            </a:r>
            <a:r>
              <a:rPr lang="en-US" sz="1600" err="1">
                <a:solidFill>
                  <a:schemeClr val="tx1"/>
                </a:solidFill>
                <a:cs typeface="Times New Roman"/>
              </a:rPr>
              <a:t>motm</a:t>
            </a:r>
            <a:r>
              <a:rPr lang="en-US" sz="1600">
                <a:solidFill>
                  <a:schemeClr val="tx1"/>
                </a:solidFill>
                <a:cs typeface="Times New Roman"/>
              </a:rPr>
              <a:t>/236.</a:t>
            </a:r>
          </a:p>
          <a:p>
            <a:pPr marL="171450" indent="-171450">
              <a:buFont typeface="Arial"/>
              <a:buChar char="•"/>
            </a:pPr>
            <a:endParaRPr lang="en-US" sz="1600">
              <a:solidFill>
                <a:schemeClr val="tx1"/>
              </a:solidFill>
              <a:cs typeface="Times New Roman"/>
            </a:endParaRPr>
          </a:p>
        </p:txBody>
      </p:sp>
    </p:spTree>
    <p:extLst>
      <p:ext uri="{BB962C8B-B14F-4D97-AF65-F5344CB8AC3E}">
        <p14:creationId xmlns:p14="http://schemas.microsoft.com/office/powerpoint/2010/main" val="3278846309"/>
      </p:ext>
    </p:extLst>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lnDef>
      <a:spPr>
        <a:ln>
          <a:solidFill>
            <a:srgbClr val="16693F"/>
          </a:solidFill>
          <a:tailEnd type="triangle"/>
        </a:ln>
      </a:spPr>
      <a:bodyPr/>
      <a:lstStyle/>
      <a:style>
        <a:lnRef idx="3">
          <a:schemeClr val="dk1"/>
        </a:lnRef>
        <a:fillRef idx="0">
          <a:schemeClr val="dk1"/>
        </a:fillRef>
        <a:effectRef idx="2">
          <a:schemeClr val="dk1"/>
        </a:effectRef>
        <a:fontRef idx="minor">
          <a:schemeClr val="tx1"/>
        </a:fontRef>
      </a:style>
    </a:lnDef>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TotalTime>
  <Words>2305</Words>
  <Application>Microsoft Macintosh PowerPoint</Application>
  <PresentationFormat>On-screen Show (16:9)</PresentationFormat>
  <Paragraphs>300</Paragraphs>
  <Slides>32</Slides>
  <Notes>32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32</vt:i4>
      </vt:variant>
    </vt:vector>
  </HeadingPairs>
  <TitlesOfParts>
    <vt:vector size="38" baseType="lpstr">
      <vt:lpstr>Arial,Sans-Serif</vt:lpstr>
      <vt:lpstr>Arial</vt:lpstr>
      <vt:lpstr>Sans Serif Collection</vt:lpstr>
      <vt:lpstr>Times New Roman</vt:lpstr>
      <vt:lpstr>Courier New,monospace</vt:lpstr>
      <vt:lpstr>Simple Light</vt:lpstr>
      <vt:lpstr>Major Code and Data Migrations for GRNsight, a Web Application for Visualizing Gene Regulatory and Protein-Protein Interaction Network Models</vt:lpstr>
      <vt:lpstr>Outline</vt:lpstr>
      <vt:lpstr>Outline</vt:lpstr>
      <vt:lpstr>Gene expression is the flow of information in a cell from  DNA to RNA to protein</vt:lpstr>
      <vt:lpstr>A Gene Regulatory Network (GRN) consists of genes, transcription factors and the regulatory connections between them which govern the level of expression of mRNA and protein from genes </vt:lpstr>
      <vt:lpstr>Protein-Protein Interactions refer to physical interactions of proteins binding to each other - the basis of nearly all cell functions</vt:lpstr>
      <vt:lpstr>PowerPoint Presentation</vt:lpstr>
      <vt:lpstr>PowerPoint Presentation</vt:lpstr>
      <vt:lpstr>PowerPoint Presentation</vt:lpstr>
      <vt:lpstr>PowerPoint Presentation</vt:lpstr>
      <vt:lpstr>PowerPoint Presentation</vt:lpstr>
      <vt:lpstr>Outline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Outline</vt:lpstr>
      <vt:lpstr>PowerPoint Presentation</vt:lpstr>
      <vt:lpstr>PowerPoint Presentation</vt:lpstr>
      <vt:lpstr>PowerPoint Presentation</vt:lpstr>
      <vt:lpstr>Outline</vt:lpstr>
      <vt:lpstr>PowerPoint Presentation</vt:lpstr>
      <vt:lpstr>PowerPoint Presentation</vt:lpstr>
      <vt:lpstr>PowerPoint Presentation</vt:lpstr>
      <vt:lpstr>Summary</vt:lpstr>
      <vt:lpstr>PowerPoint Presentation</vt:lpstr>
      <vt:lpstr>Acknowledgements</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Dahlquist, Kam</dc:creator>
  <cp:lastModifiedBy>Trần Ngọc Kim Ngân</cp:lastModifiedBy>
  <cp:revision>4</cp:revision>
  <dcterms:modified xsi:type="dcterms:W3CDTF">2026-03-24T05:02:40Z</dcterms:modified>
</cp:coreProperties>
</file>