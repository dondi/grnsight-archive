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1"/>
  </p:sldMasterIdLst>
  <p:notesMasterIdLst>
    <p:notesMasterId r:id="rId66"/>
  </p:notesMasterIdLst>
  <p:sldIdLst>
    <p:sldId id="336" r:id="rId2"/>
    <p:sldId id="330" r:id="rId3"/>
    <p:sldId id="408" r:id="rId4"/>
    <p:sldId id="328" r:id="rId5"/>
    <p:sldId id="331" r:id="rId6"/>
    <p:sldId id="332" r:id="rId7"/>
    <p:sldId id="333" r:id="rId8"/>
    <p:sldId id="334" r:id="rId9"/>
    <p:sldId id="335" r:id="rId10"/>
    <p:sldId id="351" r:id="rId11"/>
    <p:sldId id="410" r:id="rId12"/>
    <p:sldId id="411" r:id="rId13"/>
    <p:sldId id="402" r:id="rId14"/>
    <p:sldId id="273" r:id="rId15"/>
    <p:sldId id="452" r:id="rId16"/>
    <p:sldId id="453" r:id="rId17"/>
    <p:sldId id="514" r:id="rId18"/>
    <p:sldId id="512" r:id="rId19"/>
    <p:sldId id="454" r:id="rId20"/>
    <p:sldId id="433" r:id="rId21"/>
    <p:sldId id="455" r:id="rId22"/>
    <p:sldId id="431" r:id="rId23"/>
    <p:sldId id="436" r:id="rId24"/>
    <p:sldId id="456" r:id="rId25"/>
    <p:sldId id="265" r:id="rId26"/>
    <p:sldId id="270" r:id="rId27"/>
    <p:sldId id="298" r:id="rId28"/>
    <p:sldId id="564" r:id="rId29"/>
    <p:sldId id="299" r:id="rId30"/>
    <p:sldId id="376" r:id="rId31"/>
    <p:sldId id="398" r:id="rId32"/>
    <p:sldId id="446" r:id="rId33"/>
    <p:sldId id="563" r:id="rId34"/>
    <p:sldId id="348" r:id="rId35"/>
    <p:sldId id="394" r:id="rId36"/>
    <p:sldId id="561" r:id="rId37"/>
    <p:sldId id="562" r:id="rId38"/>
    <p:sldId id="304" r:id="rId39"/>
    <p:sldId id="428" r:id="rId40"/>
    <p:sldId id="371" r:id="rId41"/>
    <p:sldId id="372" r:id="rId42"/>
    <p:sldId id="438" r:id="rId43"/>
    <p:sldId id="439" r:id="rId44"/>
    <p:sldId id="516" r:id="rId45"/>
    <p:sldId id="440" r:id="rId46"/>
    <p:sldId id="511" r:id="rId47"/>
    <p:sldId id="523" r:id="rId48"/>
    <p:sldId id="520" r:id="rId49"/>
    <p:sldId id="521" r:id="rId50"/>
    <p:sldId id="518" r:id="rId51"/>
    <p:sldId id="525" r:id="rId52"/>
    <p:sldId id="527" r:id="rId53"/>
    <p:sldId id="529" r:id="rId54"/>
    <p:sldId id="531" r:id="rId55"/>
    <p:sldId id="537" r:id="rId56"/>
    <p:sldId id="538" r:id="rId57"/>
    <p:sldId id="539" r:id="rId58"/>
    <p:sldId id="540" r:id="rId59"/>
    <p:sldId id="541" r:id="rId60"/>
    <p:sldId id="543" r:id="rId61"/>
    <p:sldId id="545" r:id="rId62"/>
    <p:sldId id="556" r:id="rId63"/>
    <p:sldId id="432" r:id="rId64"/>
    <p:sldId id="434" r:id="rId6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David N. Dionisio" initials="JD" lastIdx="5" clrIdx="0"/>
  <p:cmAuthor id="1" name="Kelly, Lauren" initials="KL" lastIdx="37" clrIdx="1">
    <p:extLst>
      <p:ext uri="{19B8F6BF-5375-455C-9EA6-DF929625EA0E}">
        <p15:presenceInfo xmlns:p15="http://schemas.microsoft.com/office/powerpoint/2012/main" userId="S::lkelly9@lion.lmu.edu::4028fd01-6ffc-44f7-9bee-a1c8108f27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93F"/>
    <a:srgbClr val="05CDDA"/>
    <a:srgbClr val="9C9C9C"/>
    <a:srgbClr val="C51789"/>
    <a:srgbClr val="F9238E"/>
    <a:srgbClr val="FA54A7"/>
    <a:srgbClr val="E38D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17480" autoAdjust="0"/>
    <p:restoredTop sz="96247" autoAdjust="0"/>
  </p:normalViewPr>
  <p:slideViewPr>
    <p:cSldViewPr snapToGrid="0" snapToObjects="1">
      <p:cViewPr>
        <p:scale>
          <a:sx n="100" d="100"/>
          <a:sy n="100" d="100"/>
        </p:scale>
        <p:origin x="2616" y="24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oleObject" Target="Untitled:Users:Natalie:Downloads:pvalue_MSE_comparison%20(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brandonklein:Desktop:GRNmap:2017-S2/PRESENT:db5%20Random%20Network%20Analysis:db5-random-network_edge-analysis_BK20171018.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Users\laurenkelly\Downloads\Edge%20Analysis%20Master%20Fi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96158128313719E-2"/>
          <c:y val="5.3140831346200151E-2"/>
          <c:w val="0.90191191147360483"/>
          <c:h val="0.79381638062555793"/>
        </c:manualLayout>
      </c:layout>
      <c:barChart>
        <c:barDir val="col"/>
        <c:grouping val="clustered"/>
        <c:varyColors val="0"/>
        <c:ser>
          <c:idx val="0"/>
          <c:order val="0"/>
          <c:tx>
            <c:strRef>
              <c:f>Graphs!$B$1</c:f>
              <c:strCache>
                <c:ptCount val="1"/>
                <c:pt idx="0">
                  <c:v>LSE:minLSE Ratio</c:v>
                </c:pt>
              </c:strCache>
            </c:strRef>
          </c:tx>
          <c:spPr>
            <a:solidFill>
              <a:schemeClr val="accent1"/>
            </a:solidFill>
            <a:ln>
              <a:noFill/>
            </a:ln>
            <a:effectLst/>
          </c:spPr>
          <c:invertIfNegative val="0"/>
          <c:cat>
            <c:strRef>
              <c:f>Graphs!$A$2:$A$37</c:f>
              <c:strCache>
                <c:ptCount val="36"/>
                <c:pt idx="0">
                  <c:v>db1</c:v>
                </c:pt>
                <c:pt idx="1">
                  <c:v>db2</c:v>
                </c:pt>
                <c:pt idx="2">
                  <c:v>db3</c:v>
                </c:pt>
                <c:pt idx="3">
                  <c:v>db4</c:v>
                </c:pt>
                <c:pt idx="4">
                  <c:v>db6</c:v>
                </c:pt>
                <c:pt idx="5">
                  <c:v>db5</c:v>
                </c:pt>
                <c:pt idx="6">
                  <c:v>rand1</c:v>
                </c:pt>
                <c:pt idx="7">
                  <c:v>rand2</c:v>
                </c:pt>
                <c:pt idx="8">
                  <c:v>rand3</c:v>
                </c:pt>
                <c:pt idx="9">
                  <c:v>rand4</c:v>
                </c:pt>
                <c:pt idx="10">
                  <c:v>rand6</c:v>
                </c:pt>
                <c:pt idx="11">
                  <c:v>rand7</c:v>
                </c:pt>
                <c:pt idx="12">
                  <c:v>rand8</c:v>
                </c:pt>
                <c:pt idx="13">
                  <c:v>rand9</c:v>
                </c:pt>
                <c:pt idx="14">
                  <c:v>rand10</c:v>
                </c:pt>
                <c:pt idx="15">
                  <c:v>rand11</c:v>
                </c:pt>
                <c:pt idx="16">
                  <c:v>rand12</c:v>
                </c:pt>
                <c:pt idx="17">
                  <c:v>rand13</c:v>
                </c:pt>
                <c:pt idx="18">
                  <c:v>rand14</c:v>
                </c:pt>
                <c:pt idx="19">
                  <c:v>rand15</c:v>
                </c:pt>
                <c:pt idx="20">
                  <c:v>rand16</c:v>
                </c:pt>
                <c:pt idx="21">
                  <c:v>rand17</c:v>
                </c:pt>
                <c:pt idx="22">
                  <c:v>rand18</c:v>
                </c:pt>
                <c:pt idx="23">
                  <c:v>rand19</c:v>
                </c:pt>
                <c:pt idx="24">
                  <c:v>rand20</c:v>
                </c:pt>
                <c:pt idx="25">
                  <c:v>rand21</c:v>
                </c:pt>
                <c:pt idx="26">
                  <c:v>rand22</c:v>
                </c:pt>
                <c:pt idx="27">
                  <c:v>rand23</c:v>
                </c:pt>
                <c:pt idx="28">
                  <c:v>rand24</c:v>
                </c:pt>
                <c:pt idx="29">
                  <c:v>rand25</c:v>
                </c:pt>
                <c:pt idx="30">
                  <c:v>rand26</c:v>
                </c:pt>
                <c:pt idx="31">
                  <c:v>rand27</c:v>
                </c:pt>
                <c:pt idx="32">
                  <c:v>rand28</c:v>
                </c:pt>
                <c:pt idx="33">
                  <c:v>rand29</c:v>
                </c:pt>
                <c:pt idx="34">
                  <c:v>rand30</c:v>
                </c:pt>
                <c:pt idx="35">
                  <c:v>rand31</c:v>
                </c:pt>
              </c:strCache>
            </c:strRef>
          </c:cat>
          <c:val>
            <c:numRef>
              <c:f>Graphs!$B$2:$B$37</c:f>
              <c:numCache>
                <c:formatCode>0.0000</c:formatCode>
                <c:ptCount val="36"/>
                <c:pt idx="0" formatCode="General">
                  <c:v>1.4206000000000001</c:v>
                </c:pt>
                <c:pt idx="1">
                  <c:v>1.3580000000000001</c:v>
                </c:pt>
                <c:pt idx="2">
                  <c:v>1.41</c:v>
                </c:pt>
                <c:pt idx="3">
                  <c:v>1.3</c:v>
                </c:pt>
                <c:pt idx="4" formatCode="General">
                  <c:v>1.3973</c:v>
                </c:pt>
                <c:pt idx="5" formatCode="General">
                  <c:v>1.4262899447569051</c:v>
                </c:pt>
                <c:pt idx="6" formatCode="General">
                  <c:v>1.4529772496030109</c:v>
                </c:pt>
                <c:pt idx="7" formatCode="General">
                  <c:v>1.4277504444793809</c:v>
                </c:pt>
                <c:pt idx="8" formatCode="General">
                  <c:v>1.4302051790725401</c:v>
                </c:pt>
                <c:pt idx="9" formatCode="General">
                  <c:v>1.493268683665407</c:v>
                </c:pt>
                <c:pt idx="10" formatCode="General">
                  <c:v>1.4312963121043709</c:v>
                </c:pt>
                <c:pt idx="11" formatCode="General">
                  <c:v>1.5202127530724621</c:v>
                </c:pt>
                <c:pt idx="12" formatCode="General">
                  <c:v>1.4772793948104259</c:v>
                </c:pt>
                <c:pt idx="13" formatCode="General">
                  <c:v>1.4247047673594271</c:v>
                </c:pt>
                <c:pt idx="14" formatCode="General">
                  <c:v>1.4920723175922099</c:v>
                </c:pt>
                <c:pt idx="15" formatCode="General">
                  <c:v>1.474130371093106</c:v>
                </c:pt>
                <c:pt idx="16" formatCode="General">
                  <c:v>1.50802490023544</c:v>
                </c:pt>
                <c:pt idx="17" formatCode="General">
                  <c:v>1.437326432858917</c:v>
                </c:pt>
                <c:pt idx="18" formatCode="General">
                  <c:v>1.4585603192939991</c:v>
                </c:pt>
                <c:pt idx="19" formatCode="General">
                  <c:v>1.406274906534285</c:v>
                </c:pt>
                <c:pt idx="20" formatCode="General">
                  <c:v>1.4164661667032179</c:v>
                </c:pt>
                <c:pt idx="21" formatCode="General">
                  <c:v>1.4929661684491691</c:v>
                </c:pt>
                <c:pt idx="22" formatCode="General">
                  <c:v>1.4318481493703139</c:v>
                </c:pt>
                <c:pt idx="23" formatCode="General">
                  <c:v>1.430550446590096</c:v>
                </c:pt>
                <c:pt idx="24" formatCode="General">
                  <c:v>1.4817458907365531</c:v>
                </c:pt>
                <c:pt idx="25" formatCode="General">
                  <c:v>1.4527745613945511</c:v>
                </c:pt>
                <c:pt idx="26" formatCode="General">
                  <c:v>1.4839400290137399</c:v>
                </c:pt>
                <c:pt idx="27" formatCode="General">
                  <c:v>1.4332184572675251</c:v>
                </c:pt>
                <c:pt idx="28" formatCode="General">
                  <c:v>1.3880085624760621</c:v>
                </c:pt>
                <c:pt idx="29" formatCode="General">
                  <c:v>1.4433091987442901</c:v>
                </c:pt>
                <c:pt idx="30" formatCode="General">
                  <c:v>1.420561799242408</c:v>
                </c:pt>
                <c:pt idx="31" formatCode="General">
                  <c:v>1.451985022002058</c:v>
                </c:pt>
                <c:pt idx="32" formatCode="General">
                  <c:v>1.4318485216486621</c:v>
                </c:pt>
                <c:pt idx="33" formatCode="General">
                  <c:v>1.4434426448330231</c:v>
                </c:pt>
                <c:pt idx="34" formatCode="General">
                  <c:v>1.4760844231147059</c:v>
                </c:pt>
                <c:pt idx="35" formatCode="General">
                  <c:v>1.500948370377672</c:v>
                </c:pt>
              </c:numCache>
            </c:numRef>
          </c:val>
          <c:extLst>
            <c:ext xmlns:c16="http://schemas.microsoft.com/office/drawing/2014/chart" uri="{C3380CC4-5D6E-409C-BE32-E72D297353CC}">
              <c16:uniqueId val="{00000000-BB72-1441-AC73-202618724177}"/>
            </c:ext>
          </c:extLst>
        </c:ser>
        <c:dLbls>
          <c:showLegendKey val="0"/>
          <c:showVal val="0"/>
          <c:showCatName val="0"/>
          <c:showSerName val="0"/>
          <c:showPercent val="0"/>
          <c:showBubbleSize val="0"/>
        </c:dLbls>
        <c:gapWidth val="219"/>
        <c:axId val="198949152"/>
        <c:axId val="198949712"/>
      </c:barChart>
      <c:lineChart>
        <c:grouping val="standard"/>
        <c:varyColors val="0"/>
        <c:ser>
          <c:idx val="1"/>
          <c:order val="1"/>
          <c:spPr>
            <a:ln w="44450" cap="rnd">
              <a:solidFill>
                <a:srgbClr val="C00000"/>
              </a:solidFill>
              <a:round/>
            </a:ln>
            <a:effectLst/>
          </c:spPr>
          <c:marker>
            <c:symbol val="none"/>
          </c:marker>
          <c:val>
            <c:numRef>
              <c:f>Graphs!$C$2:$C$37</c:f>
              <c:numCache>
                <c:formatCode>General</c:formatCode>
                <c:ptCount val="36"/>
                <c:pt idx="0">
                  <c:v>1.4262899447569051</c:v>
                </c:pt>
                <c:pt idx="1">
                  <c:v>1.4262899447569051</c:v>
                </c:pt>
                <c:pt idx="2">
                  <c:v>1.4262899447569051</c:v>
                </c:pt>
                <c:pt idx="3">
                  <c:v>1.4262899447569051</c:v>
                </c:pt>
                <c:pt idx="4">
                  <c:v>1.4262899447569051</c:v>
                </c:pt>
                <c:pt idx="5">
                  <c:v>1.4262899447569051</c:v>
                </c:pt>
                <c:pt idx="6">
                  <c:v>1.4262899447569051</c:v>
                </c:pt>
                <c:pt idx="7">
                  <c:v>1.4262899447569051</c:v>
                </c:pt>
                <c:pt idx="8">
                  <c:v>1.4262899447569051</c:v>
                </c:pt>
                <c:pt idx="9">
                  <c:v>1.4262899447569051</c:v>
                </c:pt>
                <c:pt idx="10">
                  <c:v>1.4262899447569051</c:v>
                </c:pt>
                <c:pt idx="11">
                  <c:v>1.4262899447569051</c:v>
                </c:pt>
                <c:pt idx="12">
                  <c:v>1.4262899447569051</c:v>
                </c:pt>
                <c:pt idx="13">
                  <c:v>1.4262899447569051</c:v>
                </c:pt>
                <c:pt idx="14">
                  <c:v>1.4262899447569051</c:v>
                </c:pt>
                <c:pt idx="15">
                  <c:v>1.4262899447569051</c:v>
                </c:pt>
                <c:pt idx="16">
                  <c:v>1.4262899447569051</c:v>
                </c:pt>
                <c:pt idx="17">
                  <c:v>1.4262899447569051</c:v>
                </c:pt>
                <c:pt idx="18">
                  <c:v>1.4262899447569051</c:v>
                </c:pt>
                <c:pt idx="19">
                  <c:v>1.4262899447569051</c:v>
                </c:pt>
                <c:pt idx="20">
                  <c:v>1.4262899447569051</c:v>
                </c:pt>
                <c:pt idx="21">
                  <c:v>1.4262899447569051</c:v>
                </c:pt>
                <c:pt idx="22">
                  <c:v>1.4262899447569051</c:v>
                </c:pt>
                <c:pt idx="23">
                  <c:v>1.4262899447569051</c:v>
                </c:pt>
                <c:pt idx="24">
                  <c:v>1.4262899447569051</c:v>
                </c:pt>
                <c:pt idx="25">
                  <c:v>1.4262899447569051</c:v>
                </c:pt>
                <c:pt idx="26">
                  <c:v>1.4262899447569051</c:v>
                </c:pt>
                <c:pt idx="27">
                  <c:v>1.4262899447569051</c:v>
                </c:pt>
                <c:pt idx="28">
                  <c:v>1.4262899447569051</c:v>
                </c:pt>
                <c:pt idx="29">
                  <c:v>1.42628994475691</c:v>
                </c:pt>
                <c:pt idx="30">
                  <c:v>1.42628994475691</c:v>
                </c:pt>
                <c:pt idx="31">
                  <c:v>1.42628994475691</c:v>
                </c:pt>
                <c:pt idx="32">
                  <c:v>1.42628994475691</c:v>
                </c:pt>
                <c:pt idx="33">
                  <c:v>1.42628994475691</c:v>
                </c:pt>
                <c:pt idx="34">
                  <c:v>1.42628994475691</c:v>
                </c:pt>
                <c:pt idx="35">
                  <c:v>1.42628994475691</c:v>
                </c:pt>
              </c:numCache>
            </c:numRef>
          </c:val>
          <c:smooth val="0"/>
          <c:extLst>
            <c:ext xmlns:c16="http://schemas.microsoft.com/office/drawing/2014/chart" uri="{C3380CC4-5D6E-409C-BE32-E72D297353CC}">
              <c16:uniqueId val="{00000001-BB72-1441-AC73-202618724177}"/>
            </c:ext>
          </c:extLst>
        </c:ser>
        <c:dLbls>
          <c:showLegendKey val="0"/>
          <c:showVal val="0"/>
          <c:showCatName val="0"/>
          <c:showSerName val="0"/>
          <c:showPercent val="0"/>
          <c:showBubbleSize val="0"/>
        </c:dLbls>
        <c:marker val="1"/>
        <c:smooth val="0"/>
        <c:axId val="198949152"/>
        <c:axId val="198949712"/>
      </c:lineChart>
      <c:catAx>
        <c:axId val="198949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98949712"/>
        <c:crosses val="autoZero"/>
        <c:auto val="1"/>
        <c:lblAlgn val="ctr"/>
        <c:lblOffset val="100"/>
        <c:noMultiLvlLbl val="0"/>
      </c:catAx>
      <c:valAx>
        <c:axId val="198949712"/>
        <c:scaling>
          <c:orientation val="minMax"/>
          <c:min val="1.2849999999999999"/>
        </c:scaling>
        <c:delete val="0"/>
        <c:axPos val="l"/>
        <c:majorGridlines>
          <c:spPr>
            <a:ln w="9525" cap="flat" cmpd="sng" algn="ctr">
              <a:solidFill>
                <a:schemeClr val="tx1">
                  <a:lumMod val="15000"/>
                  <a:lumOff val="85000"/>
                </a:schemeClr>
              </a:solidFill>
              <a:round/>
            </a:ln>
            <a:effectLst/>
          </c:spPr>
        </c:majorGridlines>
        <c:title>
          <c:tx>
            <c:rich>
              <a:bodyPr/>
              <a:lstStyle/>
              <a:p>
                <a:pPr>
                  <a:defRPr sz="1050"/>
                </a:pPr>
                <a:r>
                  <a:rPr lang="en-US" sz="1050" dirty="0" err="1"/>
                  <a:t>LSE:minLSE</a:t>
                </a:r>
                <a:r>
                  <a:rPr lang="en-US" sz="1050" dirty="0"/>
                  <a:t> Ratio</a:t>
                </a:r>
              </a:p>
            </c:rich>
          </c:tx>
          <c:overlay val="0"/>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50"/>
            </a:pPr>
            <a:endParaRPr lang="en-US"/>
          </a:p>
        </c:txPr>
        <c:crossAx val="19894915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scatterChart>
        <c:scatterStyle val="lineMarker"/>
        <c:varyColors val="0"/>
        <c:ser>
          <c:idx val="0"/>
          <c:order val="0"/>
          <c:tx>
            <c:strRef>
              <c:f>Summary!#REF!</c:f>
              <c:strCache>
                <c:ptCount val="1"/>
                <c:pt idx="0">
                  <c:v>#REF!</c:v>
                </c:pt>
              </c:strCache>
            </c:strRef>
          </c:tx>
          <c:spPr>
            <a:ln w="47625">
              <a:noFill/>
            </a:ln>
          </c:spPr>
          <c:marker>
            <c:symbol val="circle"/>
            <c:size val="6"/>
            <c:spPr>
              <a:noFill/>
              <a:ln>
                <a:solidFill>
                  <a:schemeClr val="bg1">
                    <a:lumMod val="50000"/>
                  </a:schemeClr>
                </a:solidFill>
              </a:ln>
            </c:spPr>
          </c:marker>
          <c:xVal>
            <c:numRef>
              <c:f>Summary!$F$2:$F$32</c:f>
              <c:numCache>
                <c:formatCode>General</c:formatCode>
                <c:ptCount val="31"/>
                <c:pt idx="0">
                  <c:v>1</c:v>
                </c:pt>
                <c:pt idx="1">
                  <c:v>0</c:v>
                </c:pt>
                <c:pt idx="2">
                  <c:v>2</c:v>
                </c:pt>
                <c:pt idx="3">
                  <c:v>7</c:v>
                </c:pt>
                <c:pt idx="4">
                  <c:v>1</c:v>
                </c:pt>
                <c:pt idx="6">
                  <c:v>0</c:v>
                </c:pt>
                <c:pt idx="7">
                  <c:v>0</c:v>
                </c:pt>
                <c:pt idx="8">
                  <c:v>3</c:v>
                </c:pt>
                <c:pt idx="9">
                  <c:v>3</c:v>
                </c:pt>
                <c:pt idx="10">
                  <c:v>3</c:v>
                </c:pt>
                <c:pt idx="11">
                  <c:v>5</c:v>
                </c:pt>
                <c:pt idx="12">
                  <c:v>6</c:v>
                </c:pt>
                <c:pt idx="13">
                  <c:v>2</c:v>
                </c:pt>
                <c:pt idx="14">
                  <c:v>5</c:v>
                </c:pt>
                <c:pt idx="15">
                  <c:v>3</c:v>
                </c:pt>
                <c:pt idx="16">
                  <c:v>3</c:v>
                </c:pt>
                <c:pt idx="17">
                  <c:v>5</c:v>
                </c:pt>
                <c:pt idx="18">
                  <c:v>2</c:v>
                </c:pt>
                <c:pt idx="19">
                  <c:v>2</c:v>
                </c:pt>
                <c:pt idx="20">
                  <c:v>4</c:v>
                </c:pt>
                <c:pt idx="21">
                  <c:v>5</c:v>
                </c:pt>
                <c:pt idx="22">
                  <c:v>3</c:v>
                </c:pt>
                <c:pt idx="23">
                  <c:v>1</c:v>
                </c:pt>
                <c:pt idx="24">
                  <c:v>0</c:v>
                </c:pt>
                <c:pt idx="25">
                  <c:v>1</c:v>
                </c:pt>
                <c:pt idx="26">
                  <c:v>1</c:v>
                </c:pt>
                <c:pt idx="27">
                  <c:v>3</c:v>
                </c:pt>
                <c:pt idx="28">
                  <c:v>0</c:v>
                </c:pt>
                <c:pt idx="29">
                  <c:v>1</c:v>
                </c:pt>
                <c:pt idx="30">
                  <c:v>0</c:v>
                </c:pt>
              </c:numCache>
            </c:numRef>
          </c:xVal>
          <c:yVal>
            <c:numRef>
              <c:f>Summary!$B$2:$B$32</c:f>
              <c:numCache>
                <c:formatCode>General</c:formatCode>
                <c:ptCount val="31"/>
                <c:pt idx="0">
                  <c:v>1.3880085624760621</c:v>
                </c:pt>
                <c:pt idx="1">
                  <c:v>1.406274907536079</c:v>
                </c:pt>
                <c:pt idx="2">
                  <c:v>1.4164661667032179</c:v>
                </c:pt>
                <c:pt idx="3">
                  <c:v>1.420561799242408</c:v>
                </c:pt>
                <c:pt idx="4">
                  <c:v>1.4247047673594271</c:v>
                </c:pt>
                <c:pt idx="5">
                  <c:v>1.426289944756906</c:v>
                </c:pt>
                <c:pt idx="6">
                  <c:v>1.4277504444465581</c:v>
                </c:pt>
                <c:pt idx="7">
                  <c:v>1.4302051790725401</c:v>
                </c:pt>
                <c:pt idx="8">
                  <c:v>1.430550446590096</c:v>
                </c:pt>
                <c:pt idx="9">
                  <c:v>1.4312963121043709</c:v>
                </c:pt>
                <c:pt idx="10">
                  <c:v>1.4318481493703139</c:v>
                </c:pt>
                <c:pt idx="11">
                  <c:v>1.4318485216486621</c:v>
                </c:pt>
                <c:pt idx="12">
                  <c:v>1.4332184572675251</c:v>
                </c:pt>
                <c:pt idx="13">
                  <c:v>1.437326432858917</c:v>
                </c:pt>
                <c:pt idx="14">
                  <c:v>1.4433091987442901</c:v>
                </c:pt>
                <c:pt idx="15">
                  <c:v>1.4434426448330231</c:v>
                </c:pt>
                <c:pt idx="16">
                  <c:v>1.451985022002058</c:v>
                </c:pt>
                <c:pt idx="17">
                  <c:v>1.4527745613945511</c:v>
                </c:pt>
                <c:pt idx="18">
                  <c:v>1.4529772496030109</c:v>
                </c:pt>
                <c:pt idx="19">
                  <c:v>1.458560319150398</c:v>
                </c:pt>
                <c:pt idx="20">
                  <c:v>1.4741303702964981</c:v>
                </c:pt>
                <c:pt idx="21">
                  <c:v>1.4760844231147059</c:v>
                </c:pt>
                <c:pt idx="22">
                  <c:v>1.4772793948104259</c:v>
                </c:pt>
                <c:pt idx="23">
                  <c:v>1.4817458904056711</c:v>
                </c:pt>
                <c:pt idx="24">
                  <c:v>1.4839400290137399</c:v>
                </c:pt>
                <c:pt idx="25">
                  <c:v>1.49207231679314</c:v>
                </c:pt>
                <c:pt idx="26">
                  <c:v>1.4929661684491691</c:v>
                </c:pt>
                <c:pt idx="27">
                  <c:v>1.493268683665407</c:v>
                </c:pt>
                <c:pt idx="28">
                  <c:v>1.500948370377672</c:v>
                </c:pt>
                <c:pt idx="29">
                  <c:v>1.508024899788045</c:v>
                </c:pt>
                <c:pt idx="30">
                  <c:v>1.5202127530724621</c:v>
                </c:pt>
              </c:numCache>
            </c:numRef>
          </c:yVal>
          <c:smooth val="0"/>
          <c:extLst>
            <c:ext xmlns:c16="http://schemas.microsoft.com/office/drawing/2014/chart" uri="{C3380CC4-5D6E-409C-BE32-E72D297353CC}">
              <c16:uniqueId val="{00000000-5B5F-934E-8F4B-ED4EE5802889}"/>
            </c:ext>
          </c:extLst>
        </c:ser>
        <c:ser>
          <c:idx val="1"/>
          <c:order val="1"/>
          <c:tx>
            <c:v>Line: X=2</c:v>
          </c:tx>
          <c:spPr>
            <a:ln w="19050">
              <a:solidFill>
                <a:schemeClr val="tx1"/>
              </a:solidFill>
            </a:ln>
          </c:spPr>
          <c:marker>
            <c:symbol val="none"/>
          </c:marker>
          <c:xVal>
            <c:numRef>
              <c:f>Summary!$J$6:$J$7</c:f>
              <c:numCache>
                <c:formatCode>General</c:formatCode>
                <c:ptCount val="2"/>
                <c:pt idx="0">
                  <c:v>2</c:v>
                </c:pt>
                <c:pt idx="1">
                  <c:v>2</c:v>
                </c:pt>
              </c:numCache>
            </c:numRef>
          </c:xVal>
          <c:yVal>
            <c:numRef>
              <c:f>Summary!$K$6:$K$7</c:f>
              <c:numCache>
                <c:formatCode>General</c:formatCode>
                <c:ptCount val="2"/>
                <c:pt idx="0">
                  <c:v>0</c:v>
                </c:pt>
                <c:pt idx="1">
                  <c:v>1.6</c:v>
                </c:pt>
              </c:numCache>
            </c:numRef>
          </c:yVal>
          <c:smooth val="0"/>
          <c:extLst>
            <c:ext xmlns:c16="http://schemas.microsoft.com/office/drawing/2014/chart" uri="{C3380CC4-5D6E-409C-BE32-E72D297353CC}">
              <c16:uniqueId val="{00000001-5B5F-934E-8F4B-ED4EE5802889}"/>
            </c:ext>
          </c:extLst>
        </c:ser>
        <c:ser>
          <c:idx val="2"/>
          <c:order val="2"/>
          <c:tx>
            <c:v>Line: Y=1.4263</c:v>
          </c:tx>
          <c:spPr>
            <a:ln w="19050">
              <a:solidFill>
                <a:schemeClr val="tx1"/>
              </a:solidFill>
            </a:ln>
          </c:spPr>
          <c:marker>
            <c:symbol val="none"/>
          </c:marker>
          <c:xVal>
            <c:numRef>
              <c:f>Summary!$L$6:$L$7</c:f>
              <c:numCache>
                <c:formatCode>General</c:formatCode>
                <c:ptCount val="2"/>
                <c:pt idx="0">
                  <c:v>0</c:v>
                </c:pt>
                <c:pt idx="1">
                  <c:v>8</c:v>
                </c:pt>
              </c:numCache>
            </c:numRef>
          </c:xVal>
          <c:yVal>
            <c:numRef>
              <c:f>Summary!$M$6:$M$7</c:f>
              <c:numCache>
                <c:formatCode>General</c:formatCode>
                <c:ptCount val="2"/>
                <c:pt idx="0">
                  <c:v>1.426289944756906</c:v>
                </c:pt>
                <c:pt idx="1">
                  <c:v>1.426289944756906</c:v>
                </c:pt>
              </c:numCache>
            </c:numRef>
          </c:yVal>
          <c:smooth val="0"/>
          <c:extLst>
            <c:ext xmlns:c16="http://schemas.microsoft.com/office/drawing/2014/chart" uri="{C3380CC4-5D6E-409C-BE32-E72D297353CC}">
              <c16:uniqueId val="{00000002-5B5F-934E-8F4B-ED4EE5802889}"/>
            </c:ext>
          </c:extLst>
        </c:ser>
        <c:dLbls>
          <c:showLegendKey val="0"/>
          <c:showVal val="0"/>
          <c:showCatName val="0"/>
          <c:showSerName val="0"/>
          <c:showPercent val="0"/>
          <c:showBubbleSize val="0"/>
        </c:dLbls>
        <c:axId val="199091504"/>
        <c:axId val="199092064"/>
      </c:scatterChart>
      <c:valAx>
        <c:axId val="199091504"/>
        <c:scaling>
          <c:orientation val="minMax"/>
          <c:max val="7"/>
        </c:scaling>
        <c:delete val="0"/>
        <c:axPos val="b"/>
        <c:title>
          <c:tx>
            <c:rich>
              <a:bodyPr/>
              <a:lstStyle/>
              <a:p>
                <a:pPr>
                  <a:defRPr sz="1800"/>
                </a:pPr>
                <a:r>
                  <a:rPr lang="en-US" sz="1800"/>
                  <a:t>Number of Regulatory</a:t>
                </a:r>
                <a:r>
                  <a:rPr lang="en-US" sz="1800" baseline="0"/>
                  <a:t> Relationships Shared with db5</a:t>
                </a:r>
                <a:endParaRPr lang="en-US" sz="1800"/>
              </a:p>
            </c:rich>
          </c:tx>
          <c:layout>
            <c:manualLayout>
              <c:xMode val="edge"/>
              <c:yMode val="edge"/>
              <c:x val="0.1717220791459238"/>
              <c:y val="0.92234018877111179"/>
            </c:manualLayout>
          </c:layout>
          <c:overlay val="0"/>
        </c:title>
        <c:numFmt formatCode="General" sourceLinked="1"/>
        <c:majorTickMark val="out"/>
        <c:minorTickMark val="none"/>
        <c:tickLblPos val="nextTo"/>
        <c:txPr>
          <a:bodyPr/>
          <a:lstStyle/>
          <a:p>
            <a:pPr>
              <a:defRPr sz="1400"/>
            </a:pPr>
            <a:endParaRPr lang="en-US"/>
          </a:p>
        </c:txPr>
        <c:crossAx val="199092064"/>
        <c:crosses val="autoZero"/>
        <c:crossBetween val="midCat"/>
      </c:valAx>
      <c:valAx>
        <c:axId val="199092064"/>
        <c:scaling>
          <c:orientation val="minMax"/>
          <c:max val="1.53"/>
          <c:min val="1.35"/>
        </c:scaling>
        <c:delete val="0"/>
        <c:axPos val="l"/>
        <c:majorGridlines>
          <c:spPr>
            <a:ln>
              <a:noFill/>
            </a:ln>
          </c:spPr>
        </c:majorGridlines>
        <c:title>
          <c:tx>
            <c:rich>
              <a:bodyPr rot="-5400000" vert="horz"/>
              <a:lstStyle/>
              <a:p>
                <a:pPr>
                  <a:defRPr sz="1800"/>
                </a:pPr>
                <a:r>
                  <a:rPr lang="en-US" sz="1800"/>
                  <a:t>LSE : minLSE</a:t>
                </a:r>
                <a:r>
                  <a:rPr lang="en-US" sz="1800" baseline="0"/>
                  <a:t> Ratio</a:t>
                </a:r>
                <a:endParaRPr lang="en-US" sz="1800"/>
              </a:p>
            </c:rich>
          </c:tx>
          <c:layout>
            <c:manualLayout>
              <c:xMode val="edge"/>
              <c:yMode val="edge"/>
              <c:x val="4.5660542432195981E-3"/>
              <c:y val="0.28634033082725907"/>
            </c:manualLayout>
          </c:layout>
          <c:overlay val="0"/>
        </c:title>
        <c:numFmt formatCode="General" sourceLinked="1"/>
        <c:majorTickMark val="out"/>
        <c:minorTickMark val="none"/>
        <c:tickLblPos val="nextTo"/>
        <c:txPr>
          <a:bodyPr/>
          <a:lstStyle/>
          <a:p>
            <a:pPr>
              <a:defRPr sz="1400"/>
            </a:pPr>
            <a:endParaRPr lang="en-US"/>
          </a:p>
        </c:txPr>
        <c:crossAx val="199091504"/>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a:t>LSE:minLSE</a:t>
            </a:r>
            <a:r>
              <a:rPr lang="en-US" dirty="0"/>
              <a:t> ratios</a:t>
            </a:r>
            <a:r>
              <a:rPr lang="en-US" baseline="0" dirty="0"/>
              <a:t> a</a:t>
            </a:r>
            <a:r>
              <a:rPr lang="en-US" dirty="0"/>
              <a:t>rranged from smallest to largest</a:t>
            </a:r>
          </a:p>
        </c:rich>
      </c:tx>
      <c:overlay val="0"/>
    </c:title>
    <c:autoTitleDeleted val="0"/>
    <c:plotArea>
      <c:layout>
        <c:manualLayout>
          <c:layoutTarget val="inner"/>
          <c:xMode val="edge"/>
          <c:yMode val="edge"/>
          <c:x val="6.9145576675680095E-2"/>
          <c:y val="0.121173769507741"/>
          <c:w val="0.92922144566857501"/>
          <c:h val="0.66543063326587404"/>
        </c:manualLayout>
      </c:layout>
      <c:barChart>
        <c:barDir val="col"/>
        <c:grouping val="clustered"/>
        <c:varyColors val="0"/>
        <c:ser>
          <c:idx val="0"/>
          <c:order val="0"/>
          <c:tx>
            <c:strRef>
              <c:f>'LSE|minLSE Ratios'!$A$1</c:f>
              <c:strCache>
                <c:ptCount val="1"/>
                <c:pt idx="0">
                  <c:v>Network</c:v>
                </c:pt>
              </c:strCache>
            </c:strRef>
          </c:tx>
          <c:spPr>
            <a:solidFill>
              <a:schemeClr val="accent2"/>
            </a:solidFill>
          </c:spPr>
          <c:invertIfNegative val="0"/>
          <c:dPt>
            <c:idx val="6"/>
            <c:invertIfNegative val="0"/>
            <c:bubble3D val="0"/>
            <c:spPr>
              <a:solidFill>
                <a:srgbClr val="7030A0"/>
              </a:solidFill>
            </c:spPr>
            <c:extLst>
              <c:ext xmlns:c16="http://schemas.microsoft.com/office/drawing/2014/chart" uri="{C3380CC4-5D6E-409C-BE32-E72D297353CC}">
                <c16:uniqueId val="{00000001-39B1-E649-97E7-93912E6ABDC9}"/>
              </c:ext>
            </c:extLst>
          </c:dPt>
          <c:cat>
            <c:strRef>
              <c:f>'LSE|minLSE Ratios'!$AF$2:$AF$30</c:f>
              <c:strCache>
                <c:ptCount val="29"/>
                <c:pt idx="0">
                  <c:v>dZAP1-ACE2</c:v>
                </c:pt>
                <c:pt idx="1">
                  <c:v>dHMO1-YOX1</c:v>
                </c:pt>
                <c:pt idx="2">
                  <c:v>dMSN2-CIN5</c:v>
                </c:pt>
                <c:pt idx="3">
                  <c:v>dHMO1-CIN5</c:v>
                </c:pt>
                <c:pt idx="4">
                  <c:v>dMSN2-YOX1</c:v>
                </c:pt>
                <c:pt idx="5">
                  <c:v>dMSN2-HAP4</c:v>
                </c:pt>
                <c:pt idx="6">
                  <c:v>db5</c:v>
                </c:pt>
                <c:pt idx="7">
                  <c:v>dSWI4-YHP1</c:v>
                </c:pt>
                <c:pt idx="8">
                  <c:v>dMSN2-YHP1</c:v>
                </c:pt>
                <c:pt idx="9">
                  <c:v>dSWI4-YOX1</c:v>
                </c:pt>
                <c:pt idx="10">
                  <c:v>dSWI4-HAP4</c:v>
                </c:pt>
                <c:pt idx="11">
                  <c:v>dSTB5-HAP4</c:v>
                </c:pt>
                <c:pt idx="12">
                  <c:v>dMSN2-SWI4</c:v>
                </c:pt>
                <c:pt idx="13">
                  <c:v>dCIN5-HAP4</c:v>
                </c:pt>
                <c:pt idx="14">
                  <c:v>dCIN5-YHP1</c:v>
                </c:pt>
                <c:pt idx="15">
                  <c:v>dACE2-ASH1</c:v>
                </c:pt>
                <c:pt idx="16">
                  <c:v>dGCR2-MSN2</c:v>
                </c:pt>
                <c:pt idx="17">
                  <c:v>dMSN2-ASH1</c:v>
                </c:pt>
                <c:pt idx="18">
                  <c:v>dYHP1-GLN3</c:v>
                </c:pt>
                <c:pt idx="19">
                  <c:v>dSTB5-SFP1</c:v>
                </c:pt>
                <c:pt idx="20">
                  <c:v>dHMO1-HMO1</c:v>
                </c:pt>
                <c:pt idx="21">
                  <c:v>dMSN2-SFP1</c:v>
                </c:pt>
                <c:pt idx="22">
                  <c:v>dHMO1-HAP4</c:v>
                </c:pt>
                <c:pt idx="23">
                  <c:v>dCIN5-STB5</c:v>
                </c:pt>
                <c:pt idx="24">
                  <c:v>dSFP1-SWI5</c:v>
                </c:pt>
                <c:pt idx="25">
                  <c:v>dCIN5-SFP1</c:v>
                </c:pt>
                <c:pt idx="26">
                  <c:v>dASH1-YHP1</c:v>
                </c:pt>
                <c:pt idx="27">
                  <c:v>dHMO1-MSN2</c:v>
                </c:pt>
                <c:pt idx="28">
                  <c:v>dSWI5-ASH1</c:v>
                </c:pt>
              </c:strCache>
            </c:strRef>
          </c:cat>
          <c:val>
            <c:numRef>
              <c:f>'LSE|minLSE Ratios'!$AI$2:$AI$30</c:f>
              <c:numCache>
                <c:formatCode>General</c:formatCode>
                <c:ptCount val="29"/>
                <c:pt idx="0">
                  <c:v>1.3742067140144141</c:v>
                </c:pt>
                <c:pt idx="1">
                  <c:v>1.3989673536183598</c:v>
                </c:pt>
                <c:pt idx="2">
                  <c:v>1.400224779314331</c:v>
                </c:pt>
                <c:pt idx="3">
                  <c:v>1.4002984052134957</c:v>
                </c:pt>
                <c:pt idx="4">
                  <c:v>1.4023305640707213</c:v>
                </c:pt>
                <c:pt idx="5">
                  <c:v>1.4079948881564637</c:v>
                </c:pt>
                <c:pt idx="6">
                  <c:v>1.4081816811294412</c:v>
                </c:pt>
                <c:pt idx="7">
                  <c:v>1.4082515482889733</c:v>
                </c:pt>
                <c:pt idx="8">
                  <c:v>1.4082644279096166</c:v>
                </c:pt>
                <c:pt idx="9">
                  <c:v>1.4082994097687975</c:v>
                </c:pt>
                <c:pt idx="10">
                  <c:v>1.4088041764522077</c:v>
                </c:pt>
                <c:pt idx="11">
                  <c:v>1.4090227797585746</c:v>
                </c:pt>
                <c:pt idx="12">
                  <c:v>1.4092504661001926</c:v>
                </c:pt>
                <c:pt idx="13">
                  <c:v>1.4113818950549304</c:v>
                </c:pt>
                <c:pt idx="14">
                  <c:v>1.4118329336431361</c:v>
                </c:pt>
                <c:pt idx="15">
                  <c:v>1.4127972217530411</c:v>
                </c:pt>
                <c:pt idx="16">
                  <c:v>1.4129104943287887</c:v>
                </c:pt>
                <c:pt idx="17">
                  <c:v>1.4134604414848957</c:v>
                </c:pt>
                <c:pt idx="18">
                  <c:v>1.4145204518857237</c:v>
                </c:pt>
                <c:pt idx="19">
                  <c:v>1.4158532662603609</c:v>
                </c:pt>
                <c:pt idx="20">
                  <c:v>1.4166474189974112</c:v>
                </c:pt>
                <c:pt idx="21">
                  <c:v>1.4187655293444257</c:v>
                </c:pt>
                <c:pt idx="22">
                  <c:v>1.4195066939984522</c:v>
                </c:pt>
                <c:pt idx="23">
                  <c:v>1.4202897378012751</c:v>
                </c:pt>
                <c:pt idx="24">
                  <c:v>1.4220025894516051</c:v>
                </c:pt>
                <c:pt idx="25">
                  <c:v>1.422774674146819</c:v>
                </c:pt>
                <c:pt idx="26">
                  <c:v>1.4252044925466569</c:v>
                </c:pt>
                <c:pt idx="27">
                  <c:v>1.431246769714579</c:v>
                </c:pt>
                <c:pt idx="28">
                  <c:v>1.4416027225504167</c:v>
                </c:pt>
              </c:numCache>
            </c:numRef>
          </c:val>
          <c:extLst>
            <c:ext xmlns:c16="http://schemas.microsoft.com/office/drawing/2014/chart" uri="{C3380CC4-5D6E-409C-BE32-E72D297353CC}">
              <c16:uniqueId val="{00000002-39B1-E649-97E7-93912E6ABDC9}"/>
            </c:ext>
          </c:extLst>
        </c:ser>
        <c:dLbls>
          <c:showLegendKey val="0"/>
          <c:showVal val="0"/>
          <c:showCatName val="0"/>
          <c:showSerName val="0"/>
          <c:showPercent val="0"/>
          <c:showBubbleSize val="0"/>
        </c:dLbls>
        <c:gapWidth val="150"/>
        <c:axId val="-2131224360"/>
        <c:axId val="-2131472312"/>
      </c:barChart>
      <c:catAx>
        <c:axId val="-2131224360"/>
        <c:scaling>
          <c:orientation val="minMax"/>
        </c:scaling>
        <c:delete val="0"/>
        <c:axPos val="b"/>
        <c:numFmt formatCode="General" sourceLinked="0"/>
        <c:majorTickMark val="out"/>
        <c:minorTickMark val="none"/>
        <c:tickLblPos val="nextTo"/>
        <c:txPr>
          <a:bodyPr rot="-5400000" vert="horz"/>
          <a:lstStyle/>
          <a:p>
            <a:pPr>
              <a:defRPr/>
            </a:pPr>
            <a:endParaRPr lang="en-US"/>
          </a:p>
        </c:txPr>
        <c:crossAx val="-2131472312"/>
        <c:crosses val="autoZero"/>
        <c:auto val="1"/>
        <c:lblAlgn val="ctr"/>
        <c:lblOffset val="100"/>
        <c:noMultiLvlLbl val="0"/>
      </c:catAx>
      <c:valAx>
        <c:axId val="-2131472312"/>
        <c:scaling>
          <c:orientation val="minMax"/>
        </c:scaling>
        <c:delete val="0"/>
        <c:axPos val="l"/>
        <c:title>
          <c:tx>
            <c:rich>
              <a:bodyPr rot="-5400000" vert="horz"/>
              <a:lstStyle/>
              <a:p>
                <a:pPr>
                  <a:defRPr sz="1600"/>
                </a:pPr>
                <a:r>
                  <a:rPr lang="en-US" sz="1600"/>
                  <a:t>LSE:minLSE ratio</a:t>
                </a:r>
              </a:p>
            </c:rich>
          </c:tx>
          <c:overlay val="0"/>
        </c:title>
        <c:numFmt formatCode="General" sourceLinked="1"/>
        <c:majorTickMark val="out"/>
        <c:minorTickMark val="none"/>
        <c:tickLblPos val="nextTo"/>
        <c:crossAx val="-2131224360"/>
        <c:crosses val="autoZero"/>
        <c:crossBetween val="between"/>
      </c:valAx>
    </c:plotArea>
    <c:plotVisOnly val="1"/>
    <c:dispBlanksAs val="gap"/>
    <c:showDLblsOverMax val="0"/>
  </c:chart>
  <c:spPr>
    <a:ln>
      <a:noFill/>
    </a:ln>
  </c:sp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0.05674</cdr:x>
      <cdr:y>0.40585</cdr:y>
    </cdr:from>
    <cdr:to>
      <cdr:x>1</cdr:x>
      <cdr:y>0.40585</cdr:y>
    </cdr:to>
    <cdr:cxnSp macro="">
      <cdr:nvCxnSpPr>
        <cdr:cNvPr id="3" name="Straight Connector 2">
          <a:extLst xmlns:a="http://schemas.openxmlformats.org/drawingml/2006/main">
            <a:ext uri="{FF2B5EF4-FFF2-40B4-BE49-F238E27FC236}">
              <a16:creationId xmlns:a16="http://schemas.microsoft.com/office/drawing/2014/main" id="{5A4849C9-BAA4-034E-BE58-4590BE6AD67F}"/>
            </a:ext>
          </a:extLst>
        </cdr:cNvPr>
        <cdr:cNvCxnSpPr/>
      </cdr:nvCxnSpPr>
      <cdr:spPr>
        <a:xfrm xmlns:a="http://schemas.openxmlformats.org/drawingml/2006/main">
          <a:off x="637099" y="1971518"/>
          <a:ext cx="10591290" cy="0"/>
        </a:xfrm>
        <a:prstGeom xmlns:a="http://schemas.openxmlformats.org/drawingml/2006/main" prst="line">
          <a:avLst/>
        </a:prstGeom>
        <a:ln xmlns:a="http://schemas.openxmlformats.org/drawingml/2006/main">
          <a:solidFill>
            <a:srgbClr val="7030A0"/>
          </a:solidFill>
        </a:ln>
      </cdr:spPr>
      <cdr: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16B39F3F-B769-4086-9379-2E97F0DE416C}" type="datetimeFigureOut">
              <a:rPr lang="en-US" smtClean="0"/>
              <a:t>3/15/2024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AA71EC1C-5ADC-44AF-BC95-94CFA2649419}" type="slidenum">
              <a:rPr lang="en-US" smtClean="0"/>
              <a:t>‹#›</a:t>
            </a:fld>
            <a:endParaRPr lang="en-US"/>
          </a:p>
        </p:txBody>
      </p:sp>
    </p:spTree>
    <p:extLst>
      <p:ext uri="{BB962C8B-B14F-4D97-AF65-F5344CB8AC3E}">
        <p14:creationId xmlns:p14="http://schemas.microsoft.com/office/powerpoint/2010/main" val="1694492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A71EC1C-5ADC-44AF-BC95-94CFA2649419}" type="slidenum">
              <a:rPr lang="en-US" smtClean="0"/>
              <a:t>13</a:t>
            </a:fld>
            <a:endParaRPr lang="en-US"/>
          </a:p>
        </p:txBody>
      </p:sp>
    </p:spTree>
    <p:extLst>
      <p:ext uri="{BB962C8B-B14F-4D97-AF65-F5344CB8AC3E}">
        <p14:creationId xmlns:p14="http://schemas.microsoft.com/office/powerpoint/2010/main" val="2344272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pitchFamily="34" charset="0"/>
              </a:defRPr>
            </a:lvl1pPr>
            <a:lvl2pPr marL="757066" indent="-291179" eaLnBrk="0" hangingPunct="0">
              <a:defRPr sz="2400" b="1">
                <a:solidFill>
                  <a:schemeClr val="tx1"/>
                </a:solidFill>
                <a:latin typeface="Arial" pitchFamily="34" charset="0"/>
              </a:defRPr>
            </a:lvl2pPr>
            <a:lvl3pPr marL="1164717" indent="-232943" eaLnBrk="0" hangingPunct="0">
              <a:defRPr sz="2400" b="1">
                <a:solidFill>
                  <a:schemeClr val="tx1"/>
                </a:solidFill>
                <a:latin typeface="Arial" pitchFamily="34" charset="0"/>
              </a:defRPr>
            </a:lvl3pPr>
            <a:lvl4pPr marL="1630604" indent="-232943" eaLnBrk="0" hangingPunct="0">
              <a:defRPr sz="2400" b="1">
                <a:solidFill>
                  <a:schemeClr val="tx1"/>
                </a:solidFill>
                <a:latin typeface="Arial" pitchFamily="34" charset="0"/>
              </a:defRPr>
            </a:lvl4pPr>
            <a:lvl5pPr marL="2096491" indent="-232943" eaLnBrk="0" hangingPunct="0">
              <a:defRPr sz="2400" b="1">
                <a:solidFill>
                  <a:schemeClr val="tx1"/>
                </a:solidFill>
                <a:latin typeface="Arial" pitchFamily="34" charset="0"/>
              </a:defRPr>
            </a:lvl5pPr>
            <a:lvl6pPr marL="2562377" indent="-232943" eaLnBrk="0" fontAlgn="base" hangingPunct="0">
              <a:spcBef>
                <a:spcPct val="0"/>
              </a:spcBef>
              <a:spcAft>
                <a:spcPct val="0"/>
              </a:spcAft>
              <a:defRPr sz="2400" b="1">
                <a:solidFill>
                  <a:schemeClr val="tx1"/>
                </a:solidFill>
                <a:latin typeface="Arial" pitchFamily="34" charset="0"/>
              </a:defRPr>
            </a:lvl6pPr>
            <a:lvl7pPr marL="3028264" indent="-232943" eaLnBrk="0" fontAlgn="base" hangingPunct="0">
              <a:spcBef>
                <a:spcPct val="0"/>
              </a:spcBef>
              <a:spcAft>
                <a:spcPct val="0"/>
              </a:spcAft>
              <a:defRPr sz="2400" b="1">
                <a:solidFill>
                  <a:schemeClr val="tx1"/>
                </a:solidFill>
                <a:latin typeface="Arial" pitchFamily="34" charset="0"/>
              </a:defRPr>
            </a:lvl7pPr>
            <a:lvl8pPr marL="3494151" indent="-232943" eaLnBrk="0" fontAlgn="base" hangingPunct="0">
              <a:spcBef>
                <a:spcPct val="0"/>
              </a:spcBef>
              <a:spcAft>
                <a:spcPct val="0"/>
              </a:spcAft>
              <a:defRPr sz="2400" b="1">
                <a:solidFill>
                  <a:schemeClr val="tx1"/>
                </a:solidFill>
                <a:latin typeface="Arial" pitchFamily="34" charset="0"/>
              </a:defRPr>
            </a:lvl8pPr>
            <a:lvl9pPr marL="3960038" indent="-232943" eaLnBrk="0" fontAlgn="base" hangingPunct="0">
              <a:spcBef>
                <a:spcPct val="0"/>
              </a:spcBef>
              <a:spcAft>
                <a:spcPct val="0"/>
              </a:spcAft>
              <a:defRPr sz="2400" b="1">
                <a:solidFill>
                  <a:schemeClr val="tx1"/>
                </a:solidFill>
                <a:latin typeface="Arial" pitchFamily="34" charset="0"/>
              </a:defRPr>
            </a:lvl9pPr>
          </a:lstStyle>
          <a:p>
            <a:pPr eaLnBrk="1" hangingPunct="1"/>
            <a:fld id="{05D76FD0-E76A-4225-BE14-FC0E681E9920}" type="slidenum">
              <a:rPr lang="en-US" altLang="en-US" sz="1200" b="0"/>
              <a:pPr eaLnBrk="1" hangingPunct="1"/>
              <a:t>15</a:t>
            </a:fld>
            <a:endParaRPr lang="en-US" altLang="en-US" sz="1200" b="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Define alpha and beta and K</a:t>
            </a:r>
          </a:p>
        </p:txBody>
      </p:sp>
    </p:spTree>
    <p:extLst>
      <p:ext uri="{BB962C8B-B14F-4D97-AF65-F5344CB8AC3E}">
        <p14:creationId xmlns:p14="http://schemas.microsoft.com/office/powerpoint/2010/main" val="205769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pitchFamily="34" charset="0"/>
              </a:defRPr>
            </a:lvl1pPr>
            <a:lvl2pPr marL="757066" indent="-291179" eaLnBrk="0" hangingPunct="0">
              <a:defRPr sz="2400" b="1">
                <a:solidFill>
                  <a:schemeClr val="tx1"/>
                </a:solidFill>
                <a:latin typeface="Arial" pitchFamily="34" charset="0"/>
              </a:defRPr>
            </a:lvl2pPr>
            <a:lvl3pPr marL="1164717" indent="-232943" eaLnBrk="0" hangingPunct="0">
              <a:defRPr sz="2400" b="1">
                <a:solidFill>
                  <a:schemeClr val="tx1"/>
                </a:solidFill>
                <a:latin typeface="Arial" pitchFamily="34" charset="0"/>
              </a:defRPr>
            </a:lvl3pPr>
            <a:lvl4pPr marL="1630604" indent="-232943" eaLnBrk="0" hangingPunct="0">
              <a:defRPr sz="2400" b="1">
                <a:solidFill>
                  <a:schemeClr val="tx1"/>
                </a:solidFill>
                <a:latin typeface="Arial" pitchFamily="34" charset="0"/>
              </a:defRPr>
            </a:lvl4pPr>
            <a:lvl5pPr marL="2096491" indent="-232943" eaLnBrk="0" hangingPunct="0">
              <a:defRPr sz="2400" b="1">
                <a:solidFill>
                  <a:schemeClr val="tx1"/>
                </a:solidFill>
                <a:latin typeface="Arial" pitchFamily="34" charset="0"/>
              </a:defRPr>
            </a:lvl5pPr>
            <a:lvl6pPr marL="2562377" indent="-232943" eaLnBrk="0" fontAlgn="base" hangingPunct="0">
              <a:spcBef>
                <a:spcPct val="0"/>
              </a:spcBef>
              <a:spcAft>
                <a:spcPct val="0"/>
              </a:spcAft>
              <a:defRPr sz="2400" b="1">
                <a:solidFill>
                  <a:schemeClr val="tx1"/>
                </a:solidFill>
                <a:latin typeface="Arial" pitchFamily="34" charset="0"/>
              </a:defRPr>
            </a:lvl6pPr>
            <a:lvl7pPr marL="3028264" indent="-232943" eaLnBrk="0" fontAlgn="base" hangingPunct="0">
              <a:spcBef>
                <a:spcPct val="0"/>
              </a:spcBef>
              <a:spcAft>
                <a:spcPct val="0"/>
              </a:spcAft>
              <a:defRPr sz="2400" b="1">
                <a:solidFill>
                  <a:schemeClr val="tx1"/>
                </a:solidFill>
                <a:latin typeface="Arial" pitchFamily="34" charset="0"/>
              </a:defRPr>
            </a:lvl7pPr>
            <a:lvl8pPr marL="3494151" indent="-232943" eaLnBrk="0" fontAlgn="base" hangingPunct="0">
              <a:spcBef>
                <a:spcPct val="0"/>
              </a:spcBef>
              <a:spcAft>
                <a:spcPct val="0"/>
              </a:spcAft>
              <a:defRPr sz="2400" b="1">
                <a:solidFill>
                  <a:schemeClr val="tx1"/>
                </a:solidFill>
                <a:latin typeface="Arial" pitchFamily="34" charset="0"/>
              </a:defRPr>
            </a:lvl8pPr>
            <a:lvl9pPr marL="3960038" indent="-232943" eaLnBrk="0" fontAlgn="base" hangingPunct="0">
              <a:spcBef>
                <a:spcPct val="0"/>
              </a:spcBef>
              <a:spcAft>
                <a:spcPct val="0"/>
              </a:spcAft>
              <a:defRPr sz="2400" b="1">
                <a:solidFill>
                  <a:schemeClr val="tx1"/>
                </a:solidFill>
                <a:latin typeface="Arial" pitchFamily="34" charset="0"/>
              </a:defRPr>
            </a:lvl9pPr>
          </a:lstStyle>
          <a:p>
            <a:pPr eaLnBrk="1" hangingPunct="1"/>
            <a:fld id="{05D76FD0-E76A-4225-BE14-FC0E681E9920}" type="slidenum">
              <a:rPr lang="en-US" altLang="en-US" sz="1200" b="0"/>
              <a:pPr eaLnBrk="1" hangingPunct="1"/>
              <a:t>16</a:t>
            </a:fld>
            <a:endParaRPr lang="en-US" altLang="en-US" sz="1200" b="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Define alpha and beta and K</a:t>
            </a:r>
          </a:p>
        </p:txBody>
      </p:sp>
    </p:spTree>
    <p:extLst>
      <p:ext uri="{BB962C8B-B14F-4D97-AF65-F5344CB8AC3E}">
        <p14:creationId xmlns:p14="http://schemas.microsoft.com/office/powerpoint/2010/main" val="914704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GRNsight visualization highlights salient features of db1-db6. Transcription factors are represented by boxes and arranged in a consistent array. Regulatory relationships are represented by arrows directed from regulator to target. Pointed arrowheads and magenta coloration indicate activation, whereas flat arrowheads and cyan coloration indicate repression. Edges colored in grey exhibit small influence, meaning their associated weights are &lt;5% of the maximum edge weight in the network.</a:t>
            </a:r>
          </a:p>
          <a:p>
            <a:r>
              <a:rPr lang="en-US" sz="1200" kern="1200" dirty="0">
                <a:solidFill>
                  <a:schemeClr val="tx1"/>
                </a:solidFill>
                <a:effectLst/>
                <a:latin typeface="+mn-lt"/>
                <a:ea typeface="+mn-ea"/>
                <a:cs typeface="+mn-cs"/>
              </a:rPr>
              <a:t> Enlarge images of networks, present 2 per row, or rotate CCW 90 degrees.</a:t>
            </a:r>
          </a:p>
        </p:txBody>
      </p:sp>
      <p:sp>
        <p:nvSpPr>
          <p:cNvPr id="4" name="Slide Number Placeholder 3"/>
          <p:cNvSpPr>
            <a:spLocks noGrp="1"/>
          </p:cNvSpPr>
          <p:nvPr>
            <p:ph type="sldNum" sz="quarter" idx="10"/>
          </p:nvPr>
        </p:nvSpPr>
        <p:spPr/>
        <p:txBody>
          <a:bodyPr/>
          <a:lstStyle/>
          <a:p>
            <a:fld id="{AA71EC1C-5ADC-44AF-BC95-94CFA2649419}" type="slidenum">
              <a:rPr lang="en-US" smtClean="0"/>
              <a:t>19</a:t>
            </a:fld>
            <a:endParaRPr lang="en-US"/>
          </a:p>
        </p:txBody>
      </p:sp>
    </p:spTree>
    <p:extLst>
      <p:ext uri="{BB962C8B-B14F-4D97-AF65-F5344CB8AC3E}">
        <p14:creationId xmlns:p14="http://schemas.microsoft.com/office/powerpoint/2010/main" val="2359174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Table 5. </a:t>
            </a:r>
            <a:r>
              <a:rPr lang="en-US" sz="1200" kern="1200" dirty="0">
                <a:solidFill>
                  <a:schemeClr val="tx1"/>
                </a:solidFill>
                <a:effectLst/>
                <a:latin typeface="+mn-lt"/>
                <a:ea typeface="+mn-ea"/>
                <a:cs typeface="+mn-cs"/>
              </a:rPr>
              <a:t>Heat map visualizing regulatory weights for each of the sixty-nine edges represented in db1-db6. Positive weights are indicated by red and negative weights by blue. Darker shades correspond to higher magnitude weights. All values were normalized to the largest magnitude weight, MSN2</a:t>
            </a:r>
            <a:r>
              <a:rPr lang="en-US" sz="1200" kern="1200" dirty="0">
                <a:solidFill>
                  <a:schemeClr val="tx1"/>
                </a:solidFill>
                <a:effectLst/>
                <a:latin typeface="+mn-lt"/>
                <a:ea typeface="+mn-ea"/>
                <a:cs typeface="+mn-cs"/>
                <a:sym typeface="Wingdings" pitchFamily="2" charset="2"/>
              </a:rPr>
              <a:t></a:t>
            </a:r>
            <a:r>
              <a:rPr lang="en-US" sz="1200" kern="1200" dirty="0">
                <a:solidFill>
                  <a:schemeClr val="tx1"/>
                </a:solidFill>
                <a:effectLst/>
                <a:latin typeface="+mn-lt"/>
                <a:ea typeface="+mn-ea"/>
                <a:cs typeface="+mn-cs"/>
              </a:rPr>
              <a:t>AFT2, in db1.</a:t>
            </a:r>
          </a:p>
        </p:txBody>
      </p:sp>
      <p:sp>
        <p:nvSpPr>
          <p:cNvPr id="4" name="Slide Number Placeholder 3"/>
          <p:cNvSpPr>
            <a:spLocks noGrp="1"/>
          </p:cNvSpPr>
          <p:nvPr>
            <p:ph type="sldNum" sz="quarter" idx="10"/>
          </p:nvPr>
        </p:nvSpPr>
        <p:spPr/>
        <p:txBody>
          <a:bodyPr/>
          <a:lstStyle/>
          <a:p>
            <a:fld id="{AA71EC1C-5ADC-44AF-BC95-94CFA2649419}" type="slidenum">
              <a:rPr lang="en-US" smtClean="0"/>
              <a:t>20</a:t>
            </a:fld>
            <a:endParaRPr lang="en-US"/>
          </a:p>
        </p:txBody>
      </p:sp>
    </p:spTree>
    <p:extLst>
      <p:ext uri="{BB962C8B-B14F-4D97-AF65-F5344CB8AC3E}">
        <p14:creationId xmlns:p14="http://schemas.microsoft.com/office/powerpoint/2010/main" val="504822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8. </a:t>
            </a:r>
            <a:r>
              <a:rPr lang="en-US" sz="1200" kern="1200" dirty="0">
                <a:solidFill>
                  <a:schemeClr val="tx1"/>
                </a:solidFill>
                <a:effectLst/>
                <a:latin typeface="+mn-lt"/>
                <a:ea typeface="+mn-ea"/>
                <a:cs typeface="+mn-cs"/>
              </a:rPr>
              <a:t>The network derived from ∆hap4 strain data, db5, generally outperformed 30 random networks composed of the same transcription factors and containing the same number of edges. The </a:t>
            </a:r>
            <a:r>
              <a:rPr lang="en-US" sz="1200" kern="1200" dirty="0" err="1">
                <a:solidFill>
                  <a:schemeClr val="tx1"/>
                </a:solidFill>
                <a:effectLst/>
                <a:latin typeface="+mn-lt"/>
                <a:ea typeface="+mn-ea"/>
                <a:cs typeface="+mn-cs"/>
              </a:rPr>
              <a:t>LSE:minLSE</a:t>
            </a:r>
            <a:r>
              <a:rPr lang="en-US" sz="1200" kern="1200" dirty="0">
                <a:solidFill>
                  <a:schemeClr val="tx1"/>
                </a:solidFill>
                <a:effectLst/>
                <a:latin typeface="+mn-lt"/>
                <a:ea typeface="+mn-ea"/>
                <a:cs typeface="+mn-cs"/>
              </a:rPr>
              <a:t> ratios for db1-db6 are reported on the left and for the thirty random networks on the right. The arrows indicate the bars corresponding to db5 (black), the three best performing random networks (green), and the three worst performing random networks (purple). A horizontal line is drawn demarcating the </a:t>
            </a:r>
            <a:r>
              <a:rPr lang="en-US" sz="1200" kern="1200" dirty="0" err="1">
                <a:solidFill>
                  <a:schemeClr val="tx1"/>
                </a:solidFill>
                <a:effectLst/>
                <a:latin typeface="+mn-lt"/>
                <a:ea typeface="+mn-ea"/>
                <a:cs typeface="+mn-cs"/>
              </a:rPr>
              <a:t>LSE:minLSE</a:t>
            </a:r>
            <a:r>
              <a:rPr lang="en-US" sz="1200" kern="1200" dirty="0">
                <a:solidFill>
                  <a:schemeClr val="tx1"/>
                </a:solidFill>
                <a:effectLst/>
                <a:latin typeface="+mn-lt"/>
                <a:ea typeface="+mn-ea"/>
                <a:cs typeface="+mn-cs"/>
              </a:rPr>
              <a:t> ratio of db5 for comparison.</a:t>
            </a:r>
          </a:p>
        </p:txBody>
      </p:sp>
      <p:sp>
        <p:nvSpPr>
          <p:cNvPr id="4" name="Slide Number Placeholder 3"/>
          <p:cNvSpPr>
            <a:spLocks noGrp="1"/>
          </p:cNvSpPr>
          <p:nvPr>
            <p:ph type="sldNum" sz="quarter" idx="10"/>
          </p:nvPr>
        </p:nvSpPr>
        <p:spPr/>
        <p:txBody>
          <a:bodyPr/>
          <a:lstStyle/>
          <a:p>
            <a:fld id="{AA71EC1C-5ADC-44AF-BC95-94CFA2649419}" type="slidenum">
              <a:rPr lang="en-US" smtClean="0"/>
              <a:t>21</a:t>
            </a:fld>
            <a:endParaRPr lang="en-US"/>
          </a:p>
        </p:txBody>
      </p:sp>
    </p:spTree>
    <p:extLst>
      <p:ext uri="{BB962C8B-B14F-4D97-AF65-F5344CB8AC3E}">
        <p14:creationId xmlns:p14="http://schemas.microsoft.com/office/powerpoint/2010/main" val="2926364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9. </a:t>
            </a:r>
            <a:r>
              <a:rPr lang="en-US" sz="1200" kern="1200" dirty="0" err="1">
                <a:solidFill>
                  <a:schemeClr val="tx1"/>
                </a:solidFill>
                <a:effectLst/>
                <a:latin typeface="+mn-lt"/>
                <a:ea typeface="+mn-ea"/>
                <a:cs typeface="+mn-cs"/>
              </a:rPr>
              <a:t>LSE:minLSE</a:t>
            </a:r>
            <a:r>
              <a:rPr lang="en-US" sz="1200" kern="1200" dirty="0">
                <a:solidFill>
                  <a:schemeClr val="tx1"/>
                </a:solidFill>
                <a:effectLst/>
                <a:latin typeface="+mn-lt"/>
                <a:ea typeface="+mn-ea"/>
                <a:cs typeface="+mn-cs"/>
              </a:rPr>
              <a:t> Ratio of Random Networks vs. # of Regulatory Relationships Shared with db5. The vertical line indicated the median number of regulatory relationships shared with db5 (2). The horizontal line marks the LSE:minLSE ratio of db5 (1.4263).</a:t>
            </a:r>
          </a:p>
          <a:p>
            <a:endParaRPr lang="en-US" sz="1200" kern="1200" dirty="0">
              <a:solidFill>
                <a:schemeClr val="tx1"/>
              </a:solidFill>
              <a:effectLst/>
              <a:latin typeface="+mn-lt"/>
              <a:ea typeface="+mn-ea"/>
              <a:cs typeface="+mn-cs"/>
            </a:endParaRPr>
          </a:p>
          <a:p>
            <a:r>
              <a:rPr lang="en-US" dirty="0"/>
              <a:t>Q4</a:t>
            </a:r>
            <a:r>
              <a:rPr lang="en-US" baseline="0" dirty="0"/>
              <a:t> is conspicuously empty (except for point where x=7), whereas Q3 contains several points. However, in Q1 &amp; Q2, points appear to slope downwards.</a:t>
            </a:r>
          </a:p>
          <a:p>
            <a:r>
              <a:rPr lang="en-US" baseline="0" dirty="0"/>
              <a:t>Suggests that for networks that performed worse than db5, having common edges tended to boost performance. However, to exceed db5, rewiring of the network was required.</a:t>
            </a:r>
          </a:p>
        </p:txBody>
      </p:sp>
      <p:sp>
        <p:nvSpPr>
          <p:cNvPr id="4" name="Slide Number Placeholder 3"/>
          <p:cNvSpPr>
            <a:spLocks noGrp="1"/>
          </p:cNvSpPr>
          <p:nvPr>
            <p:ph type="sldNum" sz="quarter" idx="10"/>
          </p:nvPr>
        </p:nvSpPr>
        <p:spPr/>
        <p:txBody>
          <a:bodyPr/>
          <a:lstStyle/>
          <a:p>
            <a:fld id="{AA71EC1C-5ADC-44AF-BC95-94CFA2649419}" type="slidenum">
              <a:rPr lang="en-US" smtClean="0"/>
              <a:t>22</a:t>
            </a:fld>
            <a:endParaRPr lang="en-US"/>
          </a:p>
        </p:txBody>
      </p:sp>
    </p:spTree>
    <p:extLst>
      <p:ext uri="{BB962C8B-B14F-4D97-AF65-F5344CB8AC3E}">
        <p14:creationId xmlns:p14="http://schemas.microsoft.com/office/powerpoint/2010/main" val="238684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genes, 34 edges (highly connected; most similar to db4 in this respect, which had lowest LSE:minLSE ratio but also included TEC1).</a:t>
            </a:r>
          </a:p>
          <a:p>
            <a:endParaRPr lang="en-US" dirty="0"/>
          </a:p>
          <a:p>
            <a:r>
              <a:rPr lang="en-US" dirty="0"/>
              <a:t>Colored pairs = paralogs.</a:t>
            </a:r>
          </a:p>
          <a:p>
            <a:r>
              <a:rPr lang="en-US" dirty="0"/>
              <a:t>Orange borders = known cold-sensitive phenotypes on SGD.</a:t>
            </a:r>
          </a:p>
          <a:p>
            <a:r>
              <a:rPr lang="en-US" dirty="0"/>
              <a:t>Green borders = tested by Dahlquist lab.</a:t>
            </a:r>
          </a:p>
          <a:p>
            <a:r>
              <a:rPr lang="en-US" dirty="0"/>
              <a:t>Light grey shading = appears distinct from ESR (not MSN2/4 mediated).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GCN4</a:t>
            </a:r>
            <a:r>
              <a:rPr lang="en-US" dirty="0"/>
              <a:t> has </a:t>
            </a:r>
            <a:r>
              <a:rPr lang="en-US" b="1" dirty="0" err="1"/>
              <a:t>eigen</a:t>
            </a:r>
            <a:r>
              <a:rPr lang="en-US" dirty="0"/>
              <a:t> of 1 in both n</a:t>
            </a:r>
            <a:r>
              <a:rPr lang="en-US" b="1" dirty="0"/>
              <a:t>SFP1</a:t>
            </a:r>
            <a:r>
              <a:rPr lang="en-US" dirty="0"/>
              <a:t> in 5/6 networks + high </a:t>
            </a:r>
            <a:r>
              <a:rPr lang="en-US" b="1" dirty="0" err="1"/>
              <a:t>eigen</a:t>
            </a:r>
            <a:r>
              <a:rPr lang="en-US" dirty="0"/>
              <a:t> + consistent repression of SWI5.</a:t>
            </a:r>
          </a:p>
          <a:p>
            <a:r>
              <a:rPr lang="en-US" dirty="0" err="1"/>
              <a:t>etworks</a:t>
            </a:r>
            <a:r>
              <a:rPr lang="en-US" dirty="0"/>
              <a:t> where it appears… connects disparate “modules” and created negative feedback loop.</a:t>
            </a:r>
          </a:p>
          <a:p>
            <a:endParaRPr lang="en-US" dirty="0"/>
          </a:p>
          <a:p>
            <a:r>
              <a:rPr lang="en-US" dirty="0"/>
              <a:t>Nodes that did not make it: </a:t>
            </a:r>
            <a:r>
              <a:rPr lang="en-US" b="1" dirty="0"/>
              <a:t>TEC1</a:t>
            </a:r>
            <a:r>
              <a:rPr lang="en-US" dirty="0"/>
              <a:t> (highly connected, but 1 network), </a:t>
            </a:r>
            <a:r>
              <a:rPr lang="en-US" b="1" dirty="0"/>
              <a:t>GCR2</a:t>
            </a:r>
            <a:r>
              <a:rPr lang="en-US" dirty="0"/>
              <a:t> (5/6, but negligible experimental expression ∆), </a:t>
            </a:r>
            <a:r>
              <a:rPr lang="en-US" b="1" dirty="0"/>
              <a:t>CST6</a:t>
            </a:r>
            <a:r>
              <a:rPr lang="en-US" dirty="0"/>
              <a:t> (known cold phenotype, but only connected to </a:t>
            </a:r>
            <a:r>
              <a:rPr lang="en-US" b="1" dirty="0"/>
              <a:t>ABF1</a:t>
            </a:r>
            <a:r>
              <a:rPr lang="en-US" dirty="0"/>
              <a:t>, which is not in this GRN).</a:t>
            </a:r>
          </a:p>
        </p:txBody>
      </p:sp>
      <p:sp>
        <p:nvSpPr>
          <p:cNvPr id="4" name="Slide Number Placeholder 3"/>
          <p:cNvSpPr>
            <a:spLocks noGrp="1"/>
          </p:cNvSpPr>
          <p:nvPr>
            <p:ph type="sldNum" sz="quarter" idx="10"/>
          </p:nvPr>
        </p:nvSpPr>
        <p:spPr/>
        <p:txBody>
          <a:bodyPr/>
          <a:lstStyle/>
          <a:p>
            <a:fld id="{AA71EC1C-5ADC-44AF-BC95-94CFA2649419}" type="slidenum">
              <a:rPr lang="en-US" smtClean="0"/>
              <a:t>23</a:t>
            </a:fld>
            <a:endParaRPr lang="en-US"/>
          </a:p>
        </p:txBody>
      </p:sp>
    </p:spTree>
    <p:extLst>
      <p:ext uri="{BB962C8B-B14F-4D97-AF65-F5344CB8AC3E}">
        <p14:creationId xmlns:p14="http://schemas.microsoft.com/office/powerpoint/2010/main" val="215242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genes, 34 edges (highly connected; most similar to db4 in this respect, which had lowest LSE:minLSE ratio but also included TEC1).</a:t>
            </a:r>
          </a:p>
          <a:p>
            <a:endParaRPr lang="en-US" dirty="0"/>
          </a:p>
          <a:p>
            <a:r>
              <a:rPr lang="en-US" dirty="0"/>
              <a:t>Colored pairs = paralogs.</a:t>
            </a:r>
          </a:p>
          <a:p>
            <a:r>
              <a:rPr lang="en-US" dirty="0"/>
              <a:t>Orange borders = known cold-sensitive phenotypes on SGD.</a:t>
            </a:r>
          </a:p>
          <a:p>
            <a:r>
              <a:rPr lang="en-US" dirty="0"/>
              <a:t>Green borders = tested by Dahlquist lab.</a:t>
            </a:r>
          </a:p>
          <a:p>
            <a:r>
              <a:rPr lang="en-US" dirty="0"/>
              <a:t>Light grey shading = appears distinct from ESR (not MSN2/4 mediated).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GCN4</a:t>
            </a:r>
            <a:r>
              <a:rPr lang="en-US" dirty="0"/>
              <a:t> has </a:t>
            </a:r>
            <a:r>
              <a:rPr lang="en-US" b="1" dirty="0" err="1"/>
              <a:t>eigen</a:t>
            </a:r>
            <a:r>
              <a:rPr lang="en-US" dirty="0"/>
              <a:t> of 1 in both n</a:t>
            </a:r>
            <a:r>
              <a:rPr lang="en-US" b="1" dirty="0"/>
              <a:t>SFP1</a:t>
            </a:r>
            <a:r>
              <a:rPr lang="en-US" dirty="0"/>
              <a:t> in 5/6 networks + high </a:t>
            </a:r>
            <a:r>
              <a:rPr lang="en-US" b="1" dirty="0" err="1"/>
              <a:t>eigen</a:t>
            </a:r>
            <a:r>
              <a:rPr lang="en-US" dirty="0"/>
              <a:t> + consistent repression of SWI5.</a:t>
            </a:r>
          </a:p>
          <a:p>
            <a:r>
              <a:rPr lang="en-US" dirty="0" err="1"/>
              <a:t>etworks</a:t>
            </a:r>
            <a:r>
              <a:rPr lang="en-US" dirty="0"/>
              <a:t> where it appears… connects disparate “modules” and created negative feedback loop.</a:t>
            </a:r>
          </a:p>
          <a:p>
            <a:endParaRPr lang="en-US" dirty="0"/>
          </a:p>
          <a:p>
            <a:r>
              <a:rPr lang="en-US" dirty="0"/>
              <a:t>Nodes that did not make it: </a:t>
            </a:r>
            <a:r>
              <a:rPr lang="en-US" b="1" dirty="0"/>
              <a:t>TEC1</a:t>
            </a:r>
            <a:r>
              <a:rPr lang="en-US" dirty="0"/>
              <a:t> (highly connected, but 1 network), </a:t>
            </a:r>
            <a:r>
              <a:rPr lang="en-US" b="1" dirty="0"/>
              <a:t>GCR2</a:t>
            </a:r>
            <a:r>
              <a:rPr lang="en-US" dirty="0"/>
              <a:t> (5/6, but negligible experimental expression ∆), </a:t>
            </a:r>
            <a:r>
              <a:rPr lang="en-US" b="1" dirty="0"/>
              <a:t>CST6</a:t>
            </a:r>
            <a:r>
              <a:rPr lang="en-US" dirty="0"/>
              <a:t> (known cold phenotype, but only connected to </a:t>
            </a:r>
            <a:r>
              <a:rPr lang="en-US" b="1" dirty="0"/>
              <a:t>ABF1</a:t>
            </a:r>
            <a:r>
              <a:rPr lang="en-US" dirty="0"/>
              <a:t>, which is not in this GRN).</a:t>
            </a:r>
          </a:p>
        </p:txBody>
      </p:sp>
      <p:sp>
        <p:nvSpPr>
          <p:cNvPr id="4" name="Slide Number Placeholder 3"/>
          <p:cNvSpPr>
            <a:spLocks noGrp="1"/>
          </p:cNvSpPr>
          <p:nvPr>
            <p:ph type="sldNum" sz="quarter" idx="10"/>
          </p:nvPr>
        </p:nvSpPr>
        <p:spPr/>
        <p:txBody>
          <a:bodyPr/>
          <a:lstStyle/>
          <a:p>
            <a:fld id="{AA71EC1C-5ADC-44AF-BC95-94CFA2649419}" type="slidenum">
              <a:rPr lang="en-US" smtClean="0"/>
              <a:t>24</a:t>
            </a:fld>
            <a:endParaRPr lang="en-US"/>
          </a:p>
        </p:txBody>
      </p:sp>
    </p:spTree>
    <p:extLst>
      <p:ext uri="{BB962C8B-B14F-4D97-AF65-F5344CB8AC3E}">
        <p14:creationId xmlns:p14="http://schemas.microsoft.com/office/powerpoint/2010/main" val="2514533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US" sz="1200" b="1" dirty="0">
                <a:latin typeface="Arial"/>
                <a:cs typeface="Arial"/>
              </a:rPr>
              <a:t>The </a:t>
            </a:r>
            <a:r>
              <a:rPr lang="en-US" sz="1200" b="1" dirty="0" err="1">
                <a:latin typeface="Arial"/>
                <a:cs typeface="Arial"/>
              </a:rPr>
              <a:t>LSE:minLSE</a:t>
            </a:r>
            <a:r>
              <a:rPr lang="en-US" sz="1200" b="1" dirty="0">
                <a:latin typeface="Arial"/>
                <a:cs typeface="Arial"/>
              </a:rPr>
              <a:t> ratio describes how well the GRN was modeled by </a:t>
            </a:r>
            <a:r>
              <a:rPr lang="en-US" sz="1200" b="1" dirty="0" err="1">
                <a:latin typeface="Arial"/>
                <a:cs typeface="Arial"/>
              </a:rPr>
              <a:t>GRNmap</a:t>
            </a:r>
            <a:r>
              <a:rPr lang="en-US" sz="1200" b="1" dirty="0">
                <a:latin typeface="Arial"/>
                <a:cs typeface="Arial"/>
              </a:rPr>
              <a:t> and allows for the comparison of the intact network to each of the edge deletion networks.</a:t>
            </a:r>
          </a:p>
          <a:p>
            <a:pPr marL="285750" indent="-285750">
              <a:buFont typeface="Arial" charset="0"/>
              <a:buChar char="•"/>
            </a:pPr>
            <a:r>
              <a:rPr lang="en-US" sz="1200" b="1" dirty="0">
                <a:latin typeface="Arial"/>
                <a:cs typeface="Arial"/>
              </a:rPr>
              <a:t>A lower </a:t>
            </a:r>
            <a:r>
              <a:rPr lang="en-US" sz="1200" b="1" dirty="0" err="1">
                <a:latin typeface="Arial"/>
                <a:cs typeface="Arial"/>
              </a:rPr>
              <a:t>LSE:minLSE</a:t>
            </a:r>
            <a:r>
              <a:rPr lang="en-US" sz="1200" b="1" dirty="0">
                <a:latin typeface="Arial"/>
                <a:cs typeface="Arial"/>
              </a:rPr>
              <a:t> ratio (a ratio closer to 1) means that the GRN that resulted from the edge deletion is a better fit to the experimental data.  </a:t>
            </a:r>
          </a:p>
          <a:p>
            <a:pPr marL="285750" indent="-285750">
              <a:buFont typeface="Arial" charset="0"/>
              <a:buChar char="•"/>
            </a:pPr>
            <a:r>
              <a:rPr lang="en-US" sz="1200" b="1" dirty="0">
                <a:latin typeface="Arial"/>
                <a:cs typeface="Arial"/>
              </a:rPr>
              <a:t>The deletions of HMO1</a:t>
            </a:r>
            <a:r>
              <a:rPr lang="en-US" sz="1200" b="1" dirty="0">
                <a:latin typeface="Arial"/>
                <a:cs typeface="Arial"/>
                <a:sym typeface="Wingdings" pitchFamily="2" charset="2"/>
              </a:rPr>
              <a:t>CIN5 (C) and ZAP1ACE2 (D) both </a:t>
            </a:r>
            <a:r>
              <a:rPr lang="en-US" sz="1200" b="1" dirty="0">
                <a:latin typeface="Arial"/>
                <a:cs typeface="Arial"/>
              </a:rPr>
              <a:t>improved the fit of the model.  The deletion of ZAP1</a:t>
            </a:r>
            <a:r>
              <a:rPr lang="en-US" sz="1200" b="1" dirty="0">
                <a:latin typeface="Arial"/>
                <a:cs typeface="Arial"/>
                <a:sym typeface="Wingdings"/>
              </a:rPr>
              <a:t></a:t>
            </a:r>
            <a:r>
              <a:rPr lang="en-US" sz="1200" b="1" dirty="0">
                <a:latin typeface="Arial"/>
                <a:cs typeface="Arial"/>
              </a:rPr>
              <a:t>ACE2 resulted in the largest drop in </a:t>
            </a:r>
            <a:r>
              <a:rPr lang="en-US" sz="1200" b="1" dirty="0" err="1">
                <a:latin typeface="Arial"/>
                <a:cs typeface="Arial"/>
              </a:rPr>
              <a:t>LSE:minLSE</a:t>
            </a:r>
            <a:r>
              <a:rPr lang="en-US" sz="1200" b="1" dirty="0">
                <a:latin typeface="Arial"/>
                <a:cs typeface="Arial"/>
              </a:rPr>
              <a:t> ratio, therefore it is likely not a crucial edge in the network.  </a:t>
            </a:r>
          </a:p>
          <a:p>
            <a:pPr marL="285750" indent="-285750">
              <a:buFont typeface="Arial" charset="0"/>
              <a:buChar char="•"/>
            </a:pPr>
            <a:r>
              <a:rPr lang="en-US" sz="1200" b="1" dirty="0">
                <a:latin typeface="Arial"/>
                <a:cs typeface="Arial"/>
              </a:rPr>
              <a:t>The deletions of SWI5</a:t>
            </a:r>
            <a:r>
              <a:rPr lang="en-US" sz="1200" b="1" dirty="0">
                <a:latin typeface="Arial"/>
                <a:cs typeface="Arial"/>
                <a:sym typeface="Wingdings"/>
              </a:rPr>
              <a:t></a:t>
            </a:r>
            <a:r>
              <a:rPr lang="en-US" sz="1200" b="1" dirty="0">
                <a:latin typeface="Arial"/>
                <a:cs typeface="Arial"/>
              </a:rPr>
              <a:t>ASH1 (E) and GCR2</a:t>
            </a:r>
            <a:r>
              <a:rPr lang="en-US" sz="1200" b="1" dirty="0">
                <a:latin typeface="Arial"/>
                <a:cs typeface="Arial"/>
                <a:sym typeface="Wingdings" pitchFamily="2" charset="2"/>
              </a:rPr>
              <a:t>MSN2 (F) both</a:t>
            </a:r>
            <a:r>
              <a:rPr lang="en-US" sz="1200" b="1" dirty="0">
                <a:latin typeface="Arial"/>
                <a:cs typeface="Arial"/>
              </a:rPr>
              <a:t> result in a larger </a:t>
            </a:r>
            <a:r>
              <a:rPr lang="en-US" sz="1200" b="1" dirty="0" err="1">
                <a:latin typeface="Arial"/>
                <a:cs typeface="Arial"/>
              </a:rPr>
              <a:t>LSE:minLSE</a:t>
            </a:r>
            <a:r>
              <a:rPr lang="en-US" sz="1200" b="1" dirty="0">
                <a:latin typeface="Arial"/>
                <a:cs typeface="Arial"/>
              </a:rPr>
              <a:t> than the intact network, which suggest that those edges are important to the network.</a:t>
            </a:r>
          </a:p>
          <a:p>
            <a:endParaRPr lang="en-US" dirty="0"/>
          </a:p>
        </p:txBody>
      </p:sp>
      <p:sp>
        <p:nvSpPr>
          <p:cNvPr id="4" name="Slide Number Placeholder 3"/>
          <p:cNvSpPr>
            <a:spLocks noGrp="1"/>
          </p:cNvSpPr>
          <p:nvPr>
            <p:ph type="sldNum" sz="quarter" idx="5"/>
          </p:nvPr>
        </p:nvSpPr>
        <p:spPr/>
        <p:txBody>
          <a:bodyPr/>
          <a:lstStyle/>
          <a:p>
            <a:fld id="{0592DFA9-5F42-3B40-BF91-B25EA6EB9108}" type="slidenum">
              <a:rPr lang="en-US" smtClean="0"/>
              <a:t>26</a:t>
            </a:fld>
            <a:endParaRPr lang="en-US"/>
          </a:p>
        </p:txBody>
      </p:sp>
    </p:spTree>
    <p:extLst>
      <p:ext uri="{BB962C8B-B14F-4D97-AF65-F5344CB8AC3E}">
        <p14:creationId xmlns:p14="http://schemas.microsoft.com/office/powerpoint/2010/main" val="3811675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92DFA9-5F42-3B40-BF91-B25EA6EB9108}" type="slidenum">
              <a:rPr lang="en-US" smtClean="0"/>
              <a:t>27</a:t>
            </a:fld>
            <a:endParaRPr lang="en-US"/>
          </a:p>
        </p:txBody>
      </p:sp>
    </p:spTree>
    <p:extLst>
      <p:ext uri="{BB962C8B-B14F-4D97-AF65-F5344CB8AC3E}">
        <p14:creationId xmlns:p14="http://schemas.microsoft.com/office/powerpoint/2010/main" val="889603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92DFA9-5F42-3B40-BF91-B25EA6EB9108}" type="slidenum">
              <a:rPr lang="en-US" smtClean="0"/>
              <a:t>28</a:t>
            </a:fld>
            <a:endParaRPr lang="en-US"/>
          </a:p>
        </p:txBody>
      </p:sp>
    </p:spTree>
    <p:extLst>
      <p:ext uri="{BB962C8B-B14F-4D97-AF65-F5344CB8AC3E}">
        <p14:creationId xmlns:p14="http://schemas.microsoft.com/office/powerpoint/2010/main" val="1122309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summarizing a lot of data, but visually what we </a:t>
            </a:r>
            <a:r>
              <a:rPr lang="en-US" dirty="0" err="1"/>
              <a:t>arw</a:t>
            </a:r>
            <a:r>
              <a:rPr lang="en-US" dirty="0"/>
              <a:t> looking at is that CIN5, MSN2, and HMO1 seem to be critical hubs</a:t>
            </a:r>
          </a:p>
        </p:txBody>
      </p:sp>
      <p:sp>
        <p:nvSpPr>
          <p:cNvPr id="4" name="Slide Number Placeholder 3"/>
          <p:cNvSpPr>
            <a:spLocks noGrp="1"/>
          </p:cNvSpPr>
          <p:nvPr>
            <p:ph type="sldNum" sz="quarter" idx="5"/>
          </p:nvPr>
        </p:nvSpPr>
        <p:spPr/>
        <p:txBody>
          <a:bodyPr/>
          <a:lstStyle/>
          <a:p>
            <a:fld id="{0592DFA9-5F42-3B40-BF91-B25EA6EB9108}" type="slidenum">
              <a:rPr lang="en-US" smtClean="0"/>
              <a:t>29</a:t>
            </a:fld>
            <a:endParaRPr lang="en-US"/>
          </a:p>
        </p:txBody>
      </p:sp>
    </p:spTree>
    <p:extLst>
      <p:ext uri="{BB962C8B-B14F-4D97-AF65-F5344CB8AC3E}">
        <p14:creationId xmlns:p14="http://schemas.microsoft.com/office/powerpoint/2010/main" val="932264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pitchFamily="34" charset="0"/>
              </a:defRPr>
            </a:lvl1pPr>
            <a:lvl2pPr marL="757066" indent="-291179" eaLnBrk="0" hangingPunct="0">
              <a:defRPr sz="2400" b="1">
                <a:solidFill>
                  <a:schemeClr val="tx1"/>
                </a:solidFill>
                <a:latin typeface="Arial" pitchFamily="34" charset="0"/>
              </a:defRPr>
            </a:lvl2pPr>
            <a:lvl3pPr marL="1164717" indent="-232943" eaLnBrk="0" hangingPunct="0">
              <a:defRPr sz="2400" b="1">
                <a:solidFill>
                  <a:schemeClr val="tx1"/>
                </a:solidFill>
                <a:latin typeface="Arial" pitchFamily="34" charset="0"/>
              </a:defRPr>
            </a:lvl3pPr>
            <a:lvl4pPr marL="1630604" indent="-232943" eaLnBrk="0" hangingPunct="0">
              <a:defRPr sz="2400" b="1">
                <a:solidFill>
                  <a:schemeClr val="tx1"/>
                </a:solidFill>
                <a:latin typeface="Arial" pitchFamily="34" charset="0"/>
              </a:defRPr>
            </a:lvl4pPr>
            <a:lvl5pPr marL="2096491" indent="-232943" eaLnBrk="0" hangingPunct="0">
              <a:defRPr sz="2400" b="1">
                <a:solidFill>
                  <a:schemeClr val="tx1"/>
                </a:solidFill>
                <a:latin typeface="Arial" pitchFamily="34" charset="0"/>
              </a:defRPr>
            </a:lvl5pPr>
            <a:lvl6pPr marL="2562377" indent="-232943" eaLnBrk="0" fontAlgn="base" hangingPunct="0">
              <a:spcBef>
                <a:spcPct val="0"/>
              </a:spcBef>
              <a:spcAft>
                <a:spcPct val="0"/>
              </a:spcAft>
              <a:defRPr sz="2400" b="1">
                <a:solidFill>
                  <a:schemeClr val="tx1"/>
                </a:solidFill>
                <a:latin typeface="Arial" pitchFamily="34" charset="0"/>
              </a:defRPr>
            </a:lvl6pPr>
            <a:lvl7pPr marL="3028264" indent="-232943" eaLnBrk="0" fontAlgn="base" hangingPunct="0">
              <a:spcBef>
                <a:spcPct val="0"/>
              </a:spcBef>
              <a:spcAft>
                <a:spcPct val="0"/>
              </a:spcAft>
              <a:defRPr sz="2400" b="1">
                <a:solidFill>
                  <a:schemeClr val="tx1"/>
                </a:solidFill>
                <a:latin typeface="Arial" pitchFamily="34" charset="0"/>
              </a:defRPr>
            </a:lvl7pPr>
            <a:lvl8pPr marL="3494151" indent="-232943" eaLnBrk="0" fontAlgn="base" hangingPunct="0">
              <a:spcBef>
                <a:spcPct val="0"/>
              </a:spcBef>
              <a:spcAft>
                <a:spcPct val="0"/>
              </a:spcAft>
              <a:defRPr sz="2400" b="1">
                <a:solidFill>
                  <a:schemeClr val="tx1"/>
                </a:solidFill>
                <a:latin typeface="Arial" pitchFamily="34" charset="0"/>
              </a:defRPr>
            </a:lvl8pPr>
            <a:lvl9pPr marL="3960038" indent="-232943" eaLnBrk="0" fontAlgn="base" hangingPunct="0">
              <a:spcBef>
                <a:spcPct val="0"/>
              </a:spcBef>
              <a:spcAft>
                <a:spcPct val="0"/>
              </a:spcAft>
              <a:defRPr sz="2400" b="1">
                <a:solidFill>
                  <a:schemeClr val="tx1"/>
                </a:solidFill>
                <a:latin typeface="Arial" pitchFamily="34" charset="0"/>
              </a:defRPr>
            </a:lvl9pPr>
          </a:lstStyle>
          <a:p>
            <a:pPr eaLnBrk="1" hangingPunct="1"/>
            <a:fld id="{05D76FD0-E76A-4225-BE14-FC0E681E9920}" type="slidenum">
              <a:rPr lang="en-US" altLang="en-US" sz="1200" b="0"/>
              <a:pPr eaLnBrk="1" hangingPunct="1"/>
              <a:t>38</a:t>
            </a:fld>
            <a:endParaRPr lang="en-US" altLang="en-US" sz="1200" b="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itchFamily="34" charset="0"/>
              </a:rPr>
              <a:t>Define alpha and beta and K</a:t>
            </a:r>
          </a:p>
        </p:txBody>
      </p:sp>
    </p:spTree>
    <p:extLst>
      <p:ext uri="{BB962C8B-B14F-4D97-AF65-F5344CB8AC3E}">
        <p14:creationId xmlns:p14="http://schemas.microsoft.com/office/powerpoint/2010/main" val="3698419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2. </a:t>
            </a:r>
            <a:r>
              <a:rPr lang="en-US" sz="1200" kern="1200" dirty="0">
                <a:solidFill>
                  <a:schemeClr val="tx1"/>
                </a:solidFill>
                <a:effectLst/>
                <a:latin typeface="+mn-lt"/>
                <a:ea typeface="+mn-ea"/>
                <a:cs typeface="+mn-cs"/>
              </a:rPr>
              <a:t>Forward simulation of the wild-type derived network in GRNmap accurately modeled common expression profiles. Within-strain ANOVA p-values are overlain onto the expression plots automatically output by GRNmap, with color coding indicating individual strains from which input data was derived. </a:t>
            </a:r>
            <a:r>
              <a:rPr lang="en-US" sz="1200" kern="1200" dirty="0" err="1">
                <a:solidFill>
                  <a:schemeClr val="tx1"/>
                </a:solidFill>
                <a:effectLst/>
                <a:latin typeface="+mn-lt"/>
                <a:ea typeface="+mn-ea"/>
                <a:cs typeface="+mn-cs"/>
              </a:rPr>
              <a:t>MSE:minMSE</a:t>
            </a:r>
            <a:r>
              <a:rPr lang="en-US" sz="1200" kern="1200" dirty="0">
                <a:solidFill>
                  <a:schemeClr val="tx1"/>
                </a:solidFill>
                <a:effectLst/>
                <a:latin typeface="+mn-lt"/>
                <a:ea typeface="+mn-ea"/>
                <a:cs typeface="+mn-cs"/>
              </a:rPr>
              <a:t> ratio values averaged across all six strains are also reported, indicating the goodness-of-fit of the model data (lines) to the actual expression of each gene (circles).</a:t>
            </a:r>
          </a:p>
          <a:p>
            <a:endParaRPr lang="en-US" dirty="0"/>
          </a:p>
        </p:txBody>
      </p:sp>
      <p:sp>
        <p:nvSpPr>
          <p:cNvPr id="4" name="Slide Number Placeholder 3"/>
          <p:cNvSpPr>
            <a:spLocks noGrp="1"/>
          </p:cNvSpPr>
          <p:nvPr>
            <p:ph type="sldNum" sz="quarter" idx="10"/>
          </p:nvPr>
        </p:nvSpPr>
        <p:spPr/>
        <p:txBody>
          <a:bodyPr/>
          <a:lstStyle/>
          <a:p>
            <a:fld id="{AA71EC1C-5ADC-44AF-BC95-94CFA2649419}" type="slidenum">
              <a:rPr lang="en-US" smtClean="0"/>
              <a:t>39</a:t>
            </a:fld>
            <a:endParaRPr lang="en-US"/>
          </a:p>
        </p:txBody>
      </p:sp>
    </p:spTree>
    <p:extLst>
      <p:ext uri="{BB962C8B-B14F-4D97-AF65-F5344CB8AC3E}">
        <p14:creationId xmlns:p14="http://schemas.microsoft.com/office/powerpoint/2010/main" val="1977445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GRNsight visualization highlights salient features of db1-db6. Transcription factors are represented by boxes and arranged in a consistent array. Regulatory relationships are represented by arrows directed from regulator to target. Pointed arrowheads and magenta coloration indicate activation, whereas flat arrowheads and cyan coloration indicate repression. Edges colored in grey exhibit small influence, meaning their associated weights are &lt;5% of the maximum edge weight in the network.</a:t>
            </a:r>
          </a:p>
          <a:p>
            <a:r>
              <a:rPr lang="en-US" sz="1200" kern="1200" dirty="0">
                <a:solidFill>
                  <a:schemeClr val="tx1"/>
                </a:solidFill>
                <a:effectLst/>
                <a:latin typeface="+mn-lt"/>
                <a:ea typeface="+mn-ea"/>
                <a:cs typeface="+mn-cs"/>
              </a:rPr>
              <a:t> Enlarge images of networks, present 2 per row, or rotate CCW 90 degrees.</a:t>
            </a:r>
          </a:p>
        </p:txBody>
      </p:sp>
      <p:sp>
        <p:nvSpPr>
          <p:cNvPr id="4" name="Slide Number Placeholder 3"/>
          <p:cNvSpPr>
            <a:spLocks noGrp="1"/>
          </p:cNvSpPr>
          <p:nvPr>
            <p:ph type="sldNum" sz="quarter" idx="10"/>
          </p:nvPr>
        </p:nvSpPr>
        <p:spPr/>
        <p:txBody>
          <a:bodyPr/>
          <a:lstStyle/>
          <a:p>
            <a:fld id="{AA71EC1C-5ADC-44AF-BC95-94CFA2649419}" type="slidenum">
              <a:rPr lang="en-US" smtClean="0"/>
              <a:t>62</a:t>
            </a:fld>
            <a:endParaRPr lang="en-US"/>
          </a:p>
        </p:txBody>
      </p:sp>
    </p:spTree>
    <p:extLst>
      <p:ext uri="{BB962C8B-B14F-4D97-AF65-F5344CB8AC3E}">
        <p14:creationId xmlns:p14="http://schemas.microsoft.com/office/powerpoint/2010/main" val="75576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9. </a:t>
            </a:r>
            <a:r>
              <a:rPr lang="en-US" sz="1200" kern="1200" dirty="0" err="1">
                <a:solidFill>
                  <a:schemeClr val="tx1"/>
                </a:solidFill>
                <a:effectLst/>
                <a:latin typeface="+mn-lt"/>
                <a:ea typeface="+mn-ea"/>
                <a:cs typeface="+mn-cs"/>
              </a:rPr>
              <a:t>LSE:minLSE</a:t>
            </a:r>
            <a:r>
              <a:rPr lang="en-US" sz="1200" kern="1200" dirty="0">
                <a:solidFill>
                  <a:schemeClr val="tx1"/>
                </a:solidFill>
                <a:effectLst/>
                <a:latin typeface="+mn-lt"/>
                <a:ea typeface="+mn-ea"/>
                <a:cs typeface="+mn-cs"/>
              </a:rPr>
              <a:t> Ratio of Random Networks vs. # of Regulatory Relationships Shared with db5. The vertical line indicated the median number of regulatory relationships shared with db5 (2). The horizontal line marks the </a:t>
            </a:r>
            <a:r>
              <a:rPr lang="en-US" sz="1200" kern="1200" dirty="0" err="1">
                <a:solidFill>
                  <a:schemeClr val="tx1"/>
                </a:solidFill>
                <a:effectLst/>
                <a:latin typeface="+mn-lt"/>
                <a:ea typeface="+mn-ea"/>
                <a:cs typeface="+mn-cs"/>
              </a:rPr>
              <a:t>LSE:minLSE</a:t>
            </a:r>
            <a:r>
              <a:rPr lang="en-US" sz="1200" kern="1200" dirty="0">
                <a:solidFill>
                  <a:schemeClr val="tx1"/>
                </a:solidFill>
                <a:effectLst/>
                <a:latin typeface="+mn-lt"/>
                <a:ea typeface="+mn-ea"/>
                <a:cs typeface="+mn-cs"/>
              </a:rPr>
              <a:t> ratio of db5 (1.4263).</a:t>
            </a:r>
          </a:p>
        </p:txBody>
      </p:sp>
      <p:sp>
        <p:nvSpPr>
          <p:cNvPr id="4" name="Slide Number Placeholder 3"/>
          <p:cNvSpPr>
            <a:spLocks noGrp="1"/>
          </p:cNvSpPr>
          <p:nvPr>
            <p:ph type="sldNum" sz="quarter" idx="10"/>
          </p:nvPr>
        </p:nvSpPr>
        <p:spPr/>
        <p:txBody>
          <a:bodyPr/>
          <a:lstStyle/>
          <a:p>
            <a:fld id="{AA71EC1C-5ADC-44AF-BC95-94CFA2649419}" type="slidenum">
              <a:rPr lang="en-US" smtClean="0"/>
              <a:t>63</a:t>
            </a:fld>
            <a:endParaRPr lang="en-US"/>
          </a:p>
        </p:txBody>
      </p:sp>
    </p:spTree>
    <p:extLst>
      <p:ext uri="{BB962C8B-B14F-4D97-AF65-F5344CB8AC3E}">
        <p14:creationId xmlns:p14="http://schemas.microsoft.com/office/powerpoint/2010/main" val="1504067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6. </a:t>
            </a:r>
            <a:r>
              <a:rPr lang="en-US" sz="1200" kern="1200" dirty="0">
                <a:solidFill>
                  <a:schemeClr val="tx1"/>
                </a:solidFill>
                <a:effectLst/>
                <a:latin typeface="+mn-lt"/>
                <a:ea typeface="+mn-ea"/>
                <a:cs typeface="+mn-cs"/>
              </a:rPr>
              <a:t>Conserved motifs in the six database-derived GRNs include regulatory chains and feedforward loops (FFLs). A regulatory chain comprised of HMO1, CIN5, YHP1, and GLN3 exhibited consistent activation in five GRNs (A). Addition of MSN2, YOX1, and their associated edges (which were weighted based on frequency) to the regulatory chain yielded a system of 3 FFLs (B). MSN2 also forms symmetrical FFLs mediated by SWI4 that terminate on the paralogs YHP1 and YOX1, which most frequently appear as incoherent type 1 FFLs (C). Addition of the described motifs (A-C) yields a conserved system containing 5 FFLs and a regulatory chain (D). Boxes indicate genes and arrows indicate edges, with pointed arrowheads representing activation (magenta) and flat arrowheads repression (cyan).</a:t>
            </a:r>
          </a:p>
        </p:txBody>
      </p:sp>
      <p:sp>
        <p:nvSpPr>
          <p:cNvPr id="4" name="Slide Number Placeholder 3"/>
          <p:cNvSpPr>
            <a:spLocks noGrp="1"/>
          </p:cNvSpPr>
          <p:nvPr>
            <p:ph type="sldNum" sz="quarter" idx="10"/>
          </p:nvPr>
        </p:nvSpPr>
        <p:spPr/>
        <p:txBody>
          <a:bodyPr/>
          <a:lstStyle/>
          <a:p>
            <a:fld id="{AA71EC1C-5ADC-44AF-BC95-94CFA2649419}" type="slidenum">
              <a:rPr lang="en-US" smtClean="0"/>
              <a:t>64</a:t>
            </a:fld>
            <a:endParaRPr lang="en-US"/>
          </a:p>
        </p:txBody>
      </p:sp>
    </p:spTree>
    <p:extLst>
      <p:ext uri="{BB962C8B-B14F-4D97-AF65-F5344CB8AC3E}">
        <p14:creationId xmlns:p14="http://schemas.microsoft.com/office/powerpoint/2010/main" val="4078054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8D91A-A2EE-4B54-B3C6-F6C67903BA9C}" type="datetime1">
              <a:rPr lang="en-US" smtClean="0"/>
              <a:pPr/>
              <a:t>3/15/2024</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59A7B8-0EC4-44C9-AFEF-25E144F11C06}" type="datetime1">
              <a:rPr lang="en-US" smtClean="0"/>
              <a:pPr/>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B47B5-C739-4DAE-AACD-CC58CA843AC4}" type="datetime1">
              <a:rPr lang="en-US" smtClean="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72AE48-94E6-46E0-BE32-5F0716DE9115}" type="datetime1">
              <a:rPr lang="en-US" smtClean="0"/>
              <a:pPr/>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84C285-8BCE-48FC-97D9-E2837AF38351}" type="datetime1">
              <a:rPr lang="en-US" smtClean="0"/>
              <a:pPr/>
              <a:t>3/15/2024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84A37A-AFC2-4A01-80A1-FC20F2C0D5B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70D3E6-EF16-4488-94A4-211508FE4682}" type="datetime1">
              <a:rPr lang="en-US" smtClean="0"/>
              <a:pPr/>
              <a:t>3/15/2024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77FB3B-20DA-4D0E-BF16-8262B7156612}" type="datetime1">
              <a:rPr lang="en-US" smtClean="0"/>
              <a:pPr/>
              <a:t>3/15/2024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273C2C-6BD0-40EC-8D8D-4D51F089C5EB}" type="datetime1">
              <a:rPr lang="en-US" smtClean="0"/>
              <a:pPr/>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377F5C-EDA7-4864-9756-35769B0E62CF}" type="datetime1">
              <a:rPr lang="en-US" smtClean="0"/>
              <a:pPr/>
              <a:t>3/15/2024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9785C6-EBAF-49D5-AD4D-BABF4DFAAD59}" type="datetime1">
              <a:rPr lang="en-US" smtClean="0"/>
              <a:pPr/>
              <a:t>3/15/2024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04122-9A3A-4FD8-98B8-22631F32846C}" type="datetime1">
              <a:rPr lang="en-US" smtClean="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84A37A-AFC2-4A01-80A1-FC20F2C0D5B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88B99C93-F56F-46AB-9EB8-53614A95B15F}" type="datetime1">
              <a:rPr lang="en-US" smtClean="0"/>
              <a:pPr/>
              <a:t>3/15/2024</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A84A37A-AFC2-4A01-80A1-FC20F2C0D5B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emf"/><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emf"/><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wmf"/></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30.png"/></Relationships>
</file>

<file path=ppt/slides/_rels/slide16.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3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emf"/><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1371600"/>
            <a:ext cx="7588956" cy="1927225"/>
          </a:xfrm>
        </p:spPr>
        <p:txBody>
          <a:bodyPr>
            <a:noAutofit/>
          </a:bodyPr>
          <a:lstStyle/>
          <a:p>
            <a:r>
              <a:rPr lang="en-US" sz="3200" b="1" cap="none" dirty="0">
                <a:latin typeface="+mn-lt"/>
              </a:rPr>
              <a:t>Dynamical Systems Modeling and Visualization of Yeast Cold Shock </a:t>
            </a:r>
            <a:br>
              <a:rPr lang="en-US" sz="3200" b="1" cap="none" dirty="0">
                <a:latin typeface="+mn-lt"/>
              </a:rPr>
            </a:br>
            <a:r>
              <a:rPr lang="en-US" sz="3200" b="1" cap="none" dirty="0">
                <a:latin typeface="+mn-lt"/>
              </a:rPr>
              <a:t>Gene Regulatory Networks</a:t>
            </a:r>
          </a:p>
        </p:txBody>
      </p:sp>
      <p:sp>
        <p:nvSpPr>
          <p:cNvPr id="2" name="Subtitle 1"/>
          <p:cNvSpPr>
            <a:spLocks noGrp="1"/>
          </p:cNvSpPr>
          <p:nvPr>
            <p:ph type="subTitle" idx="1"/>
          </p:nvPr>
        </p:nvSpPr>
        <p:spPr>
          <a:xfrm>
            <a:off x="642805" y="3781355"/>
            <a:ext cx="6553200" cy="2306830"/>
          </a:xfrm>
        </p:spPr>
        <p:txBody>
          <a:bodyPr>
            <a:noAutofit/>
          </a:bodyPr>
          <a:lstStyle/>
          <a:p>
            <a:r>
              <a:rPr lang="en-US" b="1" dirty="0" err="1"/>
              <a:t>Kam</a:t>
            </a:r>
            <a:r>
              <a:rPr lang="en-US" b="1" dirty="0"/>
              <a:t> D. </a:t>
            </a:r>
            <a:r>
              <a:rPr lang="en-US" b="1" dirty="0" err="1"/>
              <a:t>Dahlquist</a:t>
            </a:r>
            <a:r>
              <a:rPr lang="en-US" b="1" dirty="0"/>
              <a:t>, Ph.D.</a:t>
            </a:r>
          </a:p>
          <a:p>
            <a:r>
              <a:rPr lang="en-US" b="1" dirty="0"/>
              <a:t>Department of Biology</a:t>
            </a:r>
          </a:p>
          <a:p>
            <a:r>
              <a:rPr lang="en-US" b="1" dirty="0"/>
              <a:t>Loyola Marymount University</a:t>
            </a:r>
          </a:p>
        </p:txBody>
      </p:sp>
      <p:sp>
        <p:nvSpPr>
          <p:cNvPr id="4" name="TextBox 3"/>
          <p:cNvSpPr txBox="1"/>
          <p:nvPr/>
        </p:nvSpPr>
        <p:spPr>
          <a:xfrm>
            <a:off x="642805" y="5786451"/>
            <a:ext cx="1826141" cy="923330"/>
          </a:xfrm>
          <a:prstGeom prst="rect">
            <a:avLst/>
          </a:prstGeom>
          <a:noFill/>
        </p:spPr>
        <p:txBody>
          <a:bodyPr wrap="none" rtlCol="0">
            <a:spAutoFit/>
          </a:bodyPr>
          <a:lstStyle/>
          <a:p>
            <a:r>
              <a:rPr lang="en-US" b="1" dirty="0" err="1">
                <a:solidFill>
                  <a:schemeClr val="tx1">
                    <a:lumMod val="75000"/>
                    <a:lumOff val="25000"/>
                  </a:schemeClr>
                </a:solidFill>
              </a:rPr>
              <a:t>SoCalSysBio</a:t>
            </a:r>
            <a:endParaRPr lang="en-US" b="1" dirty="0">
              <a:solidFill>
                <a:schemeClr val="tx1">
                  <a:lumMod val="75000"/>
                  <a:lumOff val="25000"/>
                </a:schemeClr>
              </a:solidFill>
            </a:endParaRPr>
          </a:p>
          <a:p>
            <a:r>
              <a:rPr lang="en-US" b="1" dirty="0">
                <a:solidFill>
                  <a:schemeClr val="tx1">
                    <a:lumMod val="75000"/>
                    <a:lumOff val="25000"/>
                  </a:schemeClr>
                </a:solidFill>
              </a:rPr>
              <a:t>UCI</a:t>
            </a:r>
          </a:p>
          <a:p>
            <a:r>
              <a:rPr lang="en-US" b="1" dirty="0">
                <a:solidFill>
                  <a:schemeClr val="tx1">
                    <a:lumMod val="75000"/>
                    <a:lumOff val="25000"/>
                  </a:schemeClr>
                </a:solidFill>
              </a:rPr>
              <a:t>March 16, 2024</a:t>
            </a:r>
          </a:p>
        </p:txBody>
      </p:sp>
      <p:pic>
        <p:nvPicPr>
          <p:cNvPr id="6" name="Picture 5">
            <a:extLst>
              <a:ext uri="{FF2B5EF4-FFF2-40B4-BE49-F238E27FC236}">
                <a16:creationId xmlns:a16="http://schemas.microsoft.com/office/drawing/2014/main" id="{58C140CD-CDC6-5209-5743-56AEC292D61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667374" y="5614613"/>
            <a:ext cx="2912681" cy="1095168"/>
          </a:xfrm>
          <a:prstGeom prst="rect">
            <a:avLst/>
          </a:prstGeom>
        </p:spPr>
      </p:pic>
    </p:spTree>
    <p:extLst>
      <p:ext uri="{BB962C8B-B14F-4D97-AF65-F5344CB8AC3E}">
        <p14:creationId xmlns:p14="http://schemas.microsoft.com/office/powerpoint/2010/main" val="1808006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01_32_model eucaryote"/>
          <p:cNvPicPr>
            <a:picLocks noChangeAspect="1" noChangeArrowheads="1"/>
          </p:cNvPicPr>
          <p:nvPr/>
        </p:nvPicPr>
        <p:blipFill>
          <a:blip r:embed="rId2" cstate="email">
            <a:extLst>
              <a:ext uri="{28A0092B-C50C-407E-A947-70E740481C1C}">
                <a14:useLocalDpi xmlns:a14="http://schemas.microsoft.com/office/drawing/2010/main" val="0"/>
              </a:ext>
            </a:extLst>
          </a:blip>
          <a:srcRect l="19539" t="9818" r="20116" b="15782"/>
          <a:stretch>
            <a:fillRect/>
          </a:stretch>
        </p:blipFill>
        <p:spPr bwMode="auto">
          <a:xfrm>
            <a:off x="321592" y="1633290"/>
            <a:ext cx="3061137" cy="2806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389901" y="4101584"/>
            <a:ext cx="15937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1200" dirty="0" err="1"/>
              <a:t>Alberts</a:t>
            </a:r>
            <a:r>
              <a:rPr lang="en-US" altLang="en-US" sz="1200" dirty="0"/>
              <a:t> </a:t>
            </a:r>
            <a:r>
              <a:rPr lang="en-US" altLang="en-US" sz="1200" i="1" dirty="0"/>
              <a:t>et al</a:t>
            </a:r>
            <a:r>
              <a:rPr lang="en-US" altLang="en-US" sz="1200" dirty="0"/>
              <a:t>. (2004)</a:t>
            </a:r>
          </a:p>
        </p:txBody>
      </p:sp>
      <p:sp>
        <p:nvSpPr>
          <p:cNvPr id="10" name="Content Placeholder 2"/>
          <p:cNvSpPr txBox="1">
            <a:spLocks/>
          </p:cNvSpPr>
          <p:nvPr/>
        </p:nvSpPr>
        <p:spPr>
          <a:xfrm>
            <a:off x="3382729" y="1722069"/>
            <a:ext cx="5418326" cy="3316206"/>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234950" indent="-234950"/>
            <a:r>
              <a:rPr lang="en-US" sz="3600" b="1"/>
              <a:t>Cold shock temperature range for yeast</a:t>
            </a:r>
          </a:p>
          <a:p>
            <a:pPr marL="234950" indent="-234950">
              <a:buNone/>
            </a:pPr>
            <a:r>
              <a:rPr lang="en-US" sz="3600" b="1"/>
              <a:t>	is 10-18</a:t>
            </a:r>
            <a:r>
              <a:rPr lang="en-US" sz="3600" b="1" kern="0"/>
              <a:t>°</a:t>
            </a:r>
            <a:r>
              <a:rPr lang="en-US" sz="3600" b="1"/>
              <a:t>C.</a:t>
            </a:r>
          </a:p>
          <a:p>
            <a:pPr marL="234950" indent="-234950"/>
            <a:r>
              <a:rPr lang="en-US" sz="3600" b="1"/>
              <a:t>The cold shock response can be divided into an early and late response.</a:t>
            </a:r>
          </a:p>
          <a:p>
            <a:pPr lvl="1"/>
            <a:r>
              <a:rPr lang="en-US" sz="3300" b="1"/>
              <a:t>General Environmental Stress Response (ESR) genes are induced in the late response.</a:t>
            </a:r>
          </a:p>
          <a:p>
            <a:pPr lvl="1"/>
            <a:r>
              <a:rPr lang="en-US" sz="3300" b="1"/>
              <a:t>Late response is regulated by the Msn2/Msn4 transcription factors.</a:t>
            </a:r>
          </a:p>
          <a:p>
            <a:pPr lvl="1"/>
            <a:r>
              <a:rPr lang="en-US" sz="3300" b="1"/>
              <a:t>No “canonical” transcription factor responsible for the early response.</a:t>
            </a:r>
            <a:endParaRPr lang="en-US" sz="3300" b="1" dirty="0"/>
          </a:p>
        </p:txBody>
      </p:sp>
      <p:sp>
        <p:nvSpPr>
          <p:cNvPr id="6" name="Title 1">
            <a:extLst>
              <a:ext uri="{FF2B5EF4-FFF2-40B4-BE49-F238E27FC236}">
                <a16:creationId xmlns:a16="http://schemas.microsoft.com/office/drawing/2014/main" id="{9BC8728F-52DA-2BF9-82BA-187410931DF1}"/>
              </a:ext>
            </a:extLst>
          </p:cNvPr>
          <p:cNvSpPr txBox="1">
            <a:spLocks/>
          </p:cNvSpPr>
          <p:nvPr/>
        </p:nvSpPr>
        <p:spPr>
          <a:xfrm>
            <a:off x="457200" y="365620"/>
            <a:ext cx="8229600"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200" b="1" dirty="0"/>
              <a:t>Cold shock is an environmental stress</a:t>
            </a:r>
          </a:p>
          <a:p>
            <a:r>
              <a:rPr lang="en-US" sz="3200" b="1" dirty="0"/>
              <a:t>that is not well-studied</a:t>
            </a:r>
          </a:p>
        </p:txBody>
      </p:sp>
    </p:spTree>
    <p:extLst>
      <p:ext uri="{BB962C8B-B14F-4D97-AF65-F5344CB8AC3E}">
        <p14:creationId xmlns:p14="http://schemas.microsoft.com/office/powerpoint/2010/main" val="250833433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18971" y="533400"/>
            <a:ext cx="7467600" cy="990600"/>
          </a:xfrm>
        </p:spPr>
        <p:txBody>
          <a:bodyPr>
            <a:noAutofit/>
          </a:bodyPr>
          <a:lstStyle/>
          <a:p>
            <a:pPr eaLnBrk="1" hangingPunct="1"/>
            <a:r>
              <a:rPr lang="en-US" altLang="en-US" sz="3200" b="1" dirty="0">
                <a:solidFill>
                  <a:srgbClr val="16693F"/>
                </a:solidFill>
              </a:rPr>
              <a:t>Yeast respond to cold shock by changing gene expression</a:t>
            </a:r>
          </a:p>
        </p:txBody>
      </p:sp>
      <p:pic>
        <p:nvPicPr>
          <p:cNvPr id="4" name="Picture 3" descr="01_32_model eucaryote"/>
          <p:cNvPicPr>
            <a:picLocks noChangeAspect="1" noChangeArrowheads="1"/>
          </p:cNvPicPr>
          <p:nvPr/>
        </p:nvPicPr>
        <p:blipFill>
          <a:blip r:embed="rId2" cstate="email">
            <a:extLst>
              <a:ext uri="{28A0092B-C50C-407E-A947-70E740481C1C}">
                <a14:useLocalDpi xmlns:a14="http://schemas.microsoft.com/office/drawing/2010/main" val="0"/>
              </a:ext>
            </a:extLst>
          </a:blip>
          <a:srcRect l="19539" t="9818" r="20116" b="15782"/>
          <a:stretch>
            <a:fillRect/>
          </a:stretch>
        </p:blipFill>
        <p:spPr bwMode="auto">
          <a:xfrm>
            <a:off x="321592" y="1633290"/>
            <a:ext cx="3061137" cy="2806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p:cNvSpPr txBox="1">
            <a:spLocks noChangeArrowheads="1"/>
          </p:cNvSpPr>
          <p:nvPr/>
        </p:nvSpPr>
        <p:spPr bwMode="auto">
          <a:xfrm>
            <a:off x="389901" y="4101584"/>
            <a:ext cx="15937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1200" dirty="0" err="1"/>
              <a:t>Alberts</a:t>
            </a:r>
            <a:r>
              <a:rPr lang="en-US" altLang="en-US" sz="1200" dirty="0"/>
              <a:t> </a:t>
            </a:r>
            <a:r>
              <a:rPr lang="en-US" altLang="en-US" sz="1200" i="1" dirty="0"/>
              <a:t>et al</a:t>
            </a:r>
            <a:r>
              <a:rPr lang="en-US" altLang="en-US" sz="1200" dirty="0"/>
              <a:t>. (2004)</a:t>
            </a:r>
          </a:p>
        </p:txBody>
      </p:sp>
      <p:sp>
        <p:nvSpPr>
          <p:cNvPr id="9" name="Content Placeholder 2"/>
          <p:cNvSpPr txBox="1">
            <a:spLocks/>
          </p:cNvSpPr>
          <p:nvPr/>
        </p:nvSpPr>
        <p:spPr>
          <a:xfrm>
            <a:off x="389900" y="4703766"/>
            <a:ext cx="8653431" cy="2161401"/>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344488" indent="-344488">
              <a:buFont typeface="+mj-lt"/>
              <a:buAutoNum type="arabicPeriod"/>
            </a:pPr>
            <a:r>
              <a:rPr lang="en-US" b="1">
                <a:solidFill>
                  <a:srgbClr val="16693F"/>
                </a:solidFill>
              </a:rPr>
              <a:t>Which </a:t>
            </a:r>
            <a:r>
              <a:rPr lang="en-US" b="1" dirty="0">
                <a:solidFill>
                  <a:srgbClr val="16693F"/>
                </a:solidFill>
              </a:rPr>
              <a:t>transcription factors control the </a:t>
            </a:r>
            <a:r>
              <a:rPr lang="en-US" b="1">
                <a:solidFill>
                  <a:srgbClr val="16693F"/>
                </a:solidFill>
              </a:rPr>
              <a:t>early response</a:t>
            </a:r>
            <a:r>
              <a:rPr lang="en-US" b="1" dirty="0">
                <a:solidFill>
                  <a:srgbClr val="16693F"/>
                </a:solidFill>
              </a:rPr>
              <a:t>?</a:t>
            </a:r>
          </a:p>
          <a:p>
            <a:pPr marL="344488" indent="-344488">
              <a:buFont typeface="+mj-lt"/>
              <a:buAutoNum type="arabicPeriod"/>
            </a:pPr>
            <a:r>
              <a:rPr lang="en-US" b="1">
                <a:solidFill>
                  <a:srgbClr val="16693F"/>
                </a:solidFill>
              </a:rPr>
              <a:t>What are their relative levels of influence?</a:t>
            </a:r>
          </a:p>
          <a:p>
            <a:pPr marL="344488" indent="-344488">
              <a:buFont typeface="+mj-lt"/>
              <a:buAutoNum type="arabicPeriod"/>
            </a:pPr>
            <a:r>
              <a:rPr lang="en-US" b="1">
                <a:solidFill>
                  <a:srgbClr val="16693F"/>
                </a:solidFill>
              </a:rPr>
              <a:t>What are the indirect effects of other transcription factors in the </a:t>
            </a:r>
            <a:r>
              <a:rPr lang="en-US" b="1" i="1">
                <a:solidFill>
                  <a:srgbClr val="16693F"/>
                </a:solidFill>
              </a:rPr>
              <a:t>gene regulatory network</a:t>
            </a:r>
            <a:r>
              <a:rPr lang="en-US" b="1">
                <a:solidFill>
                  <a:srgbClr val="16693F"/>
                </a:solidFill>
              </a:rPr>
              <a:t>?</a:t>
            </a:r>
            <a:endParaRPr lang="en-US" b="1" dirty="0">
              <a:solidFill>
                <a:srgbClr val="16693F"/>
              </a:solidFill>
            </a:endParaRPr>
          </a:p>
        </p:txBody>
      </p:sp>
      <p:sp>
        <p:nvSpPr>
          <p:cNvPr id="10" name="Content Placeholder 2"/>
          <p:cNvSpPr txBox="1">
            <a:spLocks/>
          </p:cNvSpPr>
          <p:nvPr/>
        </p:nvSpPr>
        <p:spPr>
          <a:xfrm>
            <a:off x="3382729" y="1722069"/>
            <a:ext cx="5418326" cy="3316206"/>
          </a:xfrm>
          <a:prstGeom prst="rect">
            <a:avLst/>
          </a:prstGeom>
        </p:spPr>
        <p:txBody>
          <a:bodyPr vert="horz" lIns="91440" tIns="45720" rIns="91440" bIns="45720" rtlCol="0">
            <a:normAutofit fontScale="550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234950" indent="-234950"/>
            <a:r>
              <a:rPr lang="en-US" sz="3600" b="1"/>
              <a:t>Cold shock temperature range for yeast</a:t>
            </a:r>
          </a:p>
          <a:p>
            <a:pPr marL="234950" indent="-234950">
              <a:buNone/>
            </a:pPr>
            <a:r>
              <a:rPr lang="en-US" sz="3600" b="1"/>
              <a:t>	is 10-18</a:t>
            </a:r>
            <a:r>
              <a:rPr lang="en-US" sz="3600" b="1" kern="0"/>
              <a:t>°</a:t>
            </a:r>
            <a:r>
              <a:rPr lang="en-US" sz="3600" b="1"/>
              <a:t>C.</a:t>
            </a:r>
          </a:p>
          <a:p>
            <a:pPr marL="234950" indent="-234950"/>
            <a:r>
              <a:rPr lang="en-US" sz="3600" b="1"/>
              <a:t>The cold shock response can be divided into an early and late response.</a:t>
            </a:r>
          </a:p>
          <a:p>
            <a:pPr lvl="1"/>
            <a:r>
              <a:rPr lang="en-US" sz="3300" b="1"/>
              <a:t>General Environmental Stress Response (ESR) genes are induced in the late response.</a:t>
            </a:r>
          </a:p>
          <a:p>
            <a:pPr lvl="1"/>
            <a:r>
              <a:rPr lang="en-US" sz="3300" b="1"/>
              <a:t>Late response is regulated by the Msn2/Msn4 transcription factors.</a:t>
            </a:r>
          </a:p>
          <a:p>
            <a:pPr lvl="1"/>
            <a:r>
              <a:rPr lang="en-US" sz="3300" b="1"/>
              <a:t>No “canonical” transcription factor responsible for the early response.</a:t>
            </a:r>
            <a:endParaRPr lang="en-US" sz="3300" b="1" dirty="0"/>
          </a:p>
        </p:txBody>
      </p:sp>
    </p:spTree>
    <p:extLst>
      <p:ext uri="{BB962C8B-B14F-4D97-AF65-F5344CB8AC3E}">
        <p14:creationId xmlns:p14="http://schemas.microsoft.com/office/powerpoint/2010/main" val="399463071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sp>
        <p:nvSpPr>
          <p:cNvPr id="25" name="Text Box 4"/>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pic>
        <p:nvPicPr>
          <p:cNvPr id="52" name="Picture 2" descr="ColdShockArrays"/>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06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pic>
        <p:nvPicPr>
          <p:cNvPr id="52" name="Picture 2" descr="ColdShockArrays"/>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3"/>
          <a:srcRect l="2236" t="13149" r="4919" b="13625"/>
          <a:stretch/>
        </p:blipFill>
        <p:spPr>
          <a:xfrm>
            <a:off x="7202082" y="1222149"/>
            <a:ext cx="1858009" cy="1099053"/>
          </a:xfrm>
          <a:prstGeom prst="rect">
            <a:avLst/>
          </a:prstGeom>
        </p:spPr>
      </p:pic>
      <p:sp>
        <p:nvSpPr>
          <p:cNvPr id="2" name="Text Box 4">
            <a:extLst>
              <a:ext uri="{FF2B5EF4-FFF2-40B4-BE49-F238E27FC236}">
                <a16:creationId xmlns:a16="http://schemas.microsoft.com/office/drawing/2014/main" id="{2779DFFB-3867-08A2-20DD-4DCC611BCCC3}"/>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3243360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pic>
        <p:nvPicPr>
          <p:cNvPr id="52" name="Picture 2" descr="ColdShockArrays"/>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3"/>
          <a:srcRect l="2236" t="13149" r="4919" b="13625"/>
          <a:stretch/>
        </p:blipFill>
        <p:spPr>
          <a:xfrm>
            <a:off x="7202082" y="1222149"/>
            <a:ext cx="1858009" cy="1099053"/>
          </a:xfrm>
          <a:prstGeom prst="rect">
            <a:avLst/>
          </a:prstGeom>
        </p:spPr>
      </p:pic>
      <p:sp>
        <p:nvSpPr>
          <p:cNvPr id="2" name="Text Box 4">
            <a:extLst>
              <a:ext uri="{FF2B5EF4-FFF2-40B4-BE49-F238E27FC236}">
                <a16:creationId xmlns:a16="http://schemas.microsoft.com/office/drawing/2014/main" id="{0C76BDED-CA74-9CD4-A10A-AE112F1B79BA}"/>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69741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grpSp>
        <p:nvGrpSpPr>
          <p:cNvPr id="7" name="Group 6"/>
          <p:cNvGrpSpPr/>
          <p:nvPr/>
        </p:nvGrpSpPr>
        <p:grpSpPr>
          <a:xfrm>
            <a:off x="3361021" y="5796803"/>
            <a:ext cx="2509815" cy="923619"/>
            <a:chOff x="3313295" y="5796803"/>
            <a:chExt cx="2509815" cy="923619"/>
          </a:xfrm>
        </p:grpSpPr>
        <p:sp>
          <p:nvSpPr>
            <p:cNvPr id="28"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9"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Dynamical systems modeling using GRNmap</a:t>
              </a:r>
              <a:endParaRPr lang="en-US" altLang="en-US" sz="1800" b="1" dirty="0">
                <a:solidFill>
                  <a:schemeClr val="bg1"/>
                </a:solidFill>
              </a:endParaRPr>
            </a:p>
          </p:txBody>
        </p:sp>
      </p:grpSp>
      <p:cxnSp>
        <p:nvCxnSpPr>
          <p:cNvPr id="47" name="Straight Arrow Connector 46"/>
          <p:cNvCxnSpPr/>
          <p:nvPr/>
        </p:nvCxnSpPr>
        <p:spPr bwMode="auto">
          <a:xfrm flipH="1">
            <a:off x="6182623"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51"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91249" y="4305930"/>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2" descr="ColdShockArrays"/>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4"/>
          <a:srcRect l="2236" t="13149" r="4919" b="13625"/>
          <a:stretch/>
        </p:blipFill>
        <p:spPr>
          <a:xfrm>
            <a:off x="7202082" y="1222149"/>
            <a:ext cx="1858009" cy="1099053"/>
          </a:xfrm>
          <a:prstGeom prst="rect">
            <a:avLst/>
          </a:prstGeom>
        </p:spPr>
      </p:pic>
      <p:sp>
        <p:nvSpPr>
          <p:cNvPr id="2" name="Text Box 4">
            <a:extLst>
              <a:ext uri="{FF2B5EF4-FFF2-40B4-BE49-F238E27FC236}">
                <a16:creationId xmlns:a16="http://schemas.microsoft.com/office/drawing/2014/main" id="{56ACF5C5-60D2-D816-BCB8-91865F6E4E52}"/>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1469892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grpSp>
        <p:nvGrpSpPr>
          <p:cNvPr id="7" name="Group 6"/>
          <p:cNvGrpSpPr/>
          <p:nvPr/>
        </p:nvGrpSpPr>
        <p:grpSpPr>
          <a:xfrm>
            <a:off x="3361021" y="5796803"/>
            <a:ext cx="2509815" cy="923619"/>
            <a:chOff x="3313295" y="5796803"/>
            <a:chExt cx="2509815" cy="923619"/>
          </a:xfrm>
        </p:grpSpPr>
        <p:sp>
          <p:nvSpPr>
            <p:cNvPr id="28"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9"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Dynamical systems modeling using GRNmap</a:t>
              </a:r>
              <a:endParaRPr lang="en-US" altLang="en-US" sz="1800" b="1" dirty="0">
                <a:solidFill>
                  <a:schemeClr val="bg1"/>
                </a:solidFill>
              </a:endParaRPr>
            </a:p>
          </p:txBody>
        </p:sp>
      </p:grpSp>
      <p:grpSp>
        <p:nvGrpSpPr>
          <p:cNvPr id="8" name="Group 7"/>
          <p:cNvGrpSpPr/>
          <p:nvPr/>
        </p:nvGrpSpPr>
        <p:grpSpPr>
          <a:xfrm>
            <a:off x="539706" y="4545708"/>
            <a:ext cx="2509815" cy="923619"/>
            <a:chOff x="534387" y="4504947"/>
            <a:chExt cx="2509815" cy="923619"/>
          </a:xfrm>
        </p:grpSpPr>
        <p:sp>
          <p:nvSpPr>
            <p:cNvPr id="31" name="Rounded Rectangle 1"/>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2" name="TextBox 5"/>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Visualization of  modeling results using GRNsight</a:t>
              </a:r>
              <a:endParaRPr lang="en-US" altLang="en-US" sz="1800" b="1" dirty="0">
                <a:solidFill>
                  <a:schemeClr val="bg1"/>
                </a:solidFill>
              </a:endParaRPr>
            </a:p>
          </p:txBody>
        </p:sp>
      </p:grpSp>
      <p:cxnSp>
        <p:nvCxnSpPr>
          <p:cNvPr id="47" name="Straight Arrow Connector 46"/>
          <p:cNvCxnSpPr/>
          <p:nvPr/>
        </p:nvCxnSpPr>
        <p:spPr bwMode="auto">
          <a:xfrm flipH="1">
            <a:off x="6182623"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51"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91249" y="4305930"/>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2" descr="ColdShockArrays"/>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4"/>
          <a:srcRect l="2236" t="13149" r="4919" b="13625"/>
          <a:stretch/>
        </p:blipFill>
        <p:spPr>
          <a:xfrm>
            <a:off x="7202082" y="1222149"/>
            <a:ext cx="1858009" cy="1099053"/>
          </a:xfrm>
          <a:prstGeom prst="rect">
            <a:avLst/>
          </a:prstGeom>
        </p:spPr>
      </p:pic>
      <p:cxnSp>
        <p:nvCxnSpPr>
          <p:cNvPr id="48" name="Straight Arrow Connector 47"/>
          <p:cNvCxnSpPr/>
          <p:nvPr/>
        </p:nvCxnSpPr>
        <p:spPr bwMode="auto">
          <a:xfrm flipH="1" flipV="1">
            <a:off x="1954108"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33" name="Group 32"/>
          <p:cNvGrpSpPr/>
          <p:nvPr/>
        </p:nvGrpSpPr>
        <p:grpSpPr>
          <a:xfrm>
            <a:off x="342148" y="5736566"/>
            <a:ext cx="1611841" cy="879894"/>
            <a:chOff x="3096883" y="3252158"/>
            <a:chExt cx="5357004" cy="2924355"/>
          </a:xfrm>
        </p:grpSpPr>
        <p:pic>
          <p:nvPicPr>
            <p:cNvPr id="34" name="Picture 33"/>
            <p:cNvPicPr>
              <a:picLocks noChangeAspect="1"/>
            </p:cNvPicPr>
            <p:nvPr/>
          </p:nvPicPr>
          <p:blipFill rotWithShape="1">
            <a:blip r:embed="rId5"/>
            <a:srcRect l="33867" t="47104" r="7548" b="5013"/>
            <a:stretch/>
          </p:blipFill>
          <p:spPr>
            <a:xfrm>
              <a:off x="3096883" y="3252158"/>
              <a:ext cx="5357004" cy="2924355"/>
            </a:xfrm>
            <a:prstGeom prst="rect">
              <a:avLst/>
            </a:prstGeom>
          </p:spPr>
        </p:pic>
        <p:sp>
          <p:nvSpPr>
            <p:cNvPr id="35" name="Rectangle 34"/>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Box 4">
            <a:extLst>
              <a:ext uri="{FF2B5EF4-FFF2-40B4-BE49-F238E27FC236}">
                <a16:creationId xmlns:a16="http://schemas.microsoft.com/office/drawing/2014/main" id="{9E9B7629-6332-845D-6098-DAAC98ED82A9}"/>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125021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grpSp>
        <p:nvGrpSpPr>
          <p:cNvPr id="7" name="Group 6"/>
          <p:cNvGrpSpPr/>
          <p:nvPr/>
        </p:nvGrpSpPr>
        <p:grpSpPr>
          <a:xfrm>
            <a:off x="3361021" y="5796803"/>
            <a:ext cx="2509815" cy="923619"/>
            <a:chOff x="3313295" y="5796803"/>
            <a:chExt cx="2509815" cy="923619"/>
          </a:xfrm>
        </p:grpSpPr>
        <p:sp>
          <p:nvSpPr>
            <p:cNvPr id="28"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9"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Dynamical systems modeling using GRNmap</a:t>
              </a:r>
              <a:endParaRPr lang="en-US" altLang="en-US" sz="1800" b="1" dirty="0">
                <a:solidFill>
                  <a:schemeClr val="bg1"/>
                </a:solidFill>
              </a:endParaRPr>
            </a:p>
          </p:txBody>
        </p:sp>
      </p:grpSp>
      <p:grpSp>
        <p:nvGrpSpPr>
          <p:cNvPr id="8" name="Group 7"/>
          <p:cNvGrpSpPr/>
          <p:nvPr/>
        </p:nvGrpSpPr>
        <p:grpSpPr>
          <a:xfrm>
            <a:off x="539706" y="4545708"/>
            <a:ext cx="2509815" cy="923619"/>
            <a:chOff x="534387" y="4504947"/>
            <a:chExt cx="2509815" cy="923619"/>
          </a:xfrm>
        </p:grpSpPr>
        <p:sp>
          <p:nvSpPr>
            <p:cNvPr id="31" name="Rounded Rectangle 1"/>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2" name="TextBox 5"/>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Visualization of  modeling results using GRNsight</a:t>
              </a:r>
              <a:endParaRPr lang="en-US" altLang="en-US" sz="1800" b="1" dirty="0">
                <a:solidFill>
                  <a:schemeClr val="bg1"/>
                </a:solidFill>
              </a:endParaRPr>
            </a:p>
          </p:txBody>
        </p:sp>
      </p:grpSp>
      <p:grpSp>
        <p:nvGrpSpPr>
          <p:cNvPr id="9" name="Group 8"/>
          <p:cNvGrpSpPr/>
          <p:nvPr/>
        </p:nvGrpSpPr>
        <p:grpSpPr>
          <a:xfrm>
            <a:off x="539706" y="2722333"/>
            <a:ext cx="2509815" cy="923619"/>
            <a:chOff x="545024" y="2899435"/>
            <a:chExt cx="2509815" cy="923619"/>
          </a:xfrm>
        </p:grpSpPr>
        <p:sp>
          <p:nvSpPr>
            <p:cNvPr id="36" name="Rounded Rectangle 1"/>
            <p:cNvSpPr>
              <a:spLocks noChangeArrowheads="1"/>
            </p:cNvSpPr>
            <p:nvPr/>
          </p:nvSpPr>
          <p:spPr bwMode="auto">
            <a:xfrm>
              <a:off x="545024" y="2899435"/>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8" name="TextBox 5"/>
            <p:cNvSpPr txBox="1">
              <a:spLocks noChangeArrowheads="1"/>
            </p:cNvSpPr>
            <p:nvPr/>
          </p:nvSpPr>
          <p:spPr bwMode="auto">
            <a:xfrm>
              <a:off x="648200" y="2899579"/>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Interpretation, </a:t>
              </a:r>
            </a:p>
            <a:p>
              <a:pPr algn="ctr" eaLnBrk="1" hangingPunct="1">
                <a:spcBef>
                  <a:spcPct val="0"/>
                </a:spcBef>
                <a:buFontTx/>
                <a:buNone/>
              </a:pPr>
              <a:r>
                <a:rPr lang="en-US" altLang="en-US" sz="1800" b="1">
                  <a:solidFill>
                    <a:schemeClr val="bg1"/>
                  </a:solidFill>
                </a:rPr>
                <a:t>new questions, new experiments</a:t>
              </a:r>
              <a:endParaRPr lang="en-US" altLang="en-US" sz="1800" b="1" dirty="0">
                <a:solidFill>
                  <a:schemeClr val="bg1"/>
                </a:solidFill>
              </a:endParaRPr>
            </a:p>
          </p:txBody>
        </p:sp>
      </p:grpSp>
      <p:cxnSp>
        <p:nvCxnSpPr>
          <p:cNvPr id="46" name="Straight Arrow Connector 45"/>
          <p:cNvCxnSpPr/>
          <p:nvPr/>
        </p:nvCxnSpPr>
        <p:spPr bwMode="auto">
          <a:xfrm flipV="1">
            <a:off x="1794613"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bwMode="auto">
          <a:xfrm flipH="1">
            <a:off x="6182623"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bwMode="auto">
          <a:xfrm flipV="1">
            <a:off x="1954108"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51"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91249" y="4305930"/>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2" descr="ColdShockArrays"/>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4"/>
          <a:srcRect l="2236" t="13149" r="4919" b="13625"/>
          <a:stretch/>
        </p:blipFill>
        <p:spPr>
          <a:xfrm>
            <a:off x="7202082" y="1222149"/>
            <a:ext cx="1858009" cy="1099053"/>
          </a:xfrm>
          <a:prstGeom prst="rect">
            <a:avLst/>
          </a:prstGeom>
        </p:spPr>
      </p:pic>
      <p:cxnSp>
        <p:nvCxnSpPr>
          <p:cNvPr id="48" name="Straight Arrow Connector 47"/>
          <p:cNvCxnSpPr/>
          <p:nvPr/>
        </p:nvCxnSpPr>
        <p:spPr bwMode="auto">
          <a:xfrm flipH="1" flipV="1">
            <a:off x="1954108"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12" name="Group 11"/>
          <p:cNvGrpSpPr/>
          <p:nvPr/>
        </p:nvGrpSpPr>
        <p:grpSpPr>
          <a:xfrm>
            <a:off x="754379" y="1435748"/>
            <a:ext cx="1480410" cy="789758"/>
            <a:chOff x="-914930" y="1531444"/>
            <a:chExt cx="2310796" cy="1232746"/>
          </a:xfrm>
        </p:grpSpPr>
        <p:pic>
          <p:nvPicPr>
            <p:cNvPr id="55" name="Picture 8" descr="C:\Users\GRNmap\Desktop\wt_dnrg1_dphd1_20150922\wt_15deg_20150926.JPG"/>
            <p:cNvPicPr>
              <a:picLocks noChangeAspect="1" noChangeArrowheads="1"/>
            </p:cNvPicPr>
            <p:nvPr/>
          </p:nvPicPr>
          <p:blipFill rotWithShape="1">
            <a:blip r:embed="rId5" cstate="email">
              <a:extLst>
                <a:ext uri="{28A0092B-C50C-407E-A947-70E740481C1C}">
                  <a14:useLocalDpi xmlns:a14="http://schemas.microsoft.com/office/drawing/2010/main" val="0"/>
                </a:ext>
              </a:extLst>
            </a:blip>
            <a:srcRect l="4761" t="58155" r="18423" b="29318"/>
            <a:stretch/>
          </p:blipFill>
          <p:spPr bwMode="auto">
            <a:xfrm>
              <a:off x="-912362" y="1531444"/>
              <a:ext cx="2305659" cy="58169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C:\Users\GRNmap\Desktop\wt_dash1_dgcr2_20160120\dash1_15deg_day5_20160124.JPG"/>
            <p:cNvPicPr>
              <a:picLocks noChangeAspect="1" noChangeArrowheads="1"/>
            </p:cNvPicPr>
            <p:nvPr/>
          </p:nvPicPr>
          <p:blipFill rotWithShape="1">
            <a:blip r:embed="rId6" cstate="email">
              <a:extLst>
                <a:ext uri="{28A0092B-C50C-407E-A947-70E740481C1C}">
                  <a14:useLocalDpi xmlns:a14="http://schemas.microsoft.com/office/drawing/2010/main" val="0"/>
                </a:ext>
              </a:extLst>
            </a:blip>
            <a:srcRect l="19504" t="6155" r="65086" b="1380"/>
            <a:stretch/>
          </p:blipFill>
          <p:spPr bwMode="auto">
            <a:xfrm rot="5400000">
              <a:off x="-48683" y="1319642"/>
              <a:ext cx="578301" cy="2310796"/>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p:cNvSpPr txBox="1"/>
          <p:nvPr/>
        </p:nvSpPr>
        <p:spPr>
          <a:xfrm>
            <a:off x="93297" y="1871325"/>
            <a:ext cx="752129" cy="307777"/>
          </a:xfrm>
          <a:prstGeom prst="rect">
            <a:avLst/>
          </a:prstGeom>
          <a:noFill/>
        </p:spPr>
        <p:txBody>
          <a:bodyPr wrap="none" rtlCol="0">
            <a:spAutoFit/>
          </a:bodyPr>
          <a:lstStyle/>
          <a:p>
            <a:r>
              <a:rPr lang="en-US" sz="1400" b="1" i="1">
                <a:latin typeface="Symbol" panose="05050102010706020507" pitchFamily="18" charset="2"/>
              </a:rPr>
              <a:t>D</a:t>
            </a:r>
            <a:r>
              <a:rPr lang="en-US" sz="1400" b="1" i="1"/>
              <a:t>ash1</a:t>
            </a:r>
            <a:r>
              <a:rPr lang="en-US" sz="1400" b="1"/>
              <a:t> </a:t>
            </a:r>
          </a:p>
        </p:txBody>
      </p:sp>
      <p:sp>
        <p:nvSpPr>
          <p:cNvPr id="14" name="Rectangle 13"/>
          <p:cNvSpPr/>
          <p:nvPr/>
        </p:nvSpPr>
        <p:spPr>
          <a:xfrm>
            <a:off x="2159339" y="1641033"/>
            <a:ext cx="641522" cy="338554"/>
          </a:xfrm>
          <a:prstGeom prst="rect">
            <a:avLst/>
          </a:prstGeom>
        </p:spPr>
        <p:txBody>
          <a:bodyPr wrap="none">
            <a:spAutoFit/>
          </a:bodyPr>
          <a:lstStyle/>
          <a:p>
            <a:r>
              <a:rPr lang="en-US" sz="1600" b="1"/>
              <a:t>15°C</a:t>
            </a:r>
          </a:p>
        </p:txBody>
      </p:sp>
      <p:sp>
        <p:nvSpPr>
          <p:cNvPr id="15" name="TextBox 14"/>
          <p:cNvSpPr txBox="1"/>
          <p:nvPr/>
        </p:nvSpPr>
        <p:spPr>
          <a:xfrm>
            <a:off x="408823" y="1470906"/>
            <a:ext cx="383438" cy="307777"/>
          </a:xfrm>
          <a:prstGeom prst="rect">
            <a:avLst/>
          </a:prstGeom>
          <a:noFill/>
        </p:spPr>
        <p:txBody>
          <a:bodyPr wrap="none" rtlCol="0">
            <a:spAutoFit/>
          </a:bodyPr>
          <a:lstStyle/>
          <a:p>
            <a:r>
              <a:rPr lang="en-US" sz="1400" b="1"/>
              <a:t>wt</a:t>
            </a:r>
          </a:p>
        </p:txBody>
      </p:sp>
      <p:grpSp>
        <p:nvGrpSpPr>
          <p:cNvPr id="37" name="Group 36"/>
          <p:cNvGrpSpPr/>
          <p:nvPr/>
        </p:nvGrpSpPr>
        <p:grpSpPr>
          <a:xfrm>
            <a:off x="342148" y="5736566"/>
            <a:ext cx="1611841" cy="879894"/>
            <a:chOff x="3096883" y="3252158"/>
            <a:chExt cx="5357004" cy="2924355"/>
          </a:xfrm>
        </p:grpSpPr>
        <p:pic>
          <p:nvPicPr>
            <p:cNvPr id="39" name="Picture 38"/>
            <p:cNvPicPr>
              <a:picLocks noChangeAspect="1"/>
            </p:cNvPicPr>
            <p:nvPr/>
          </p:nvPicPr>
          <p:blipFill rotWithShape="1">
            <a:blip r:embed="rId7"/>
            <a:srcRect l="33867" t="47104" r="7548" b="5013"/>
            <a:stretch/>
          </p:blipFill>
          <p:spPr>
            <a:xfrm>
              <a:off x="3096883" y="3252158"/>
              <a:ext cx="5357004" cy="2924355"/>
            </a:xfrm>
            <a:prstGeom prst="rect">
              <a:avLst/>
            </a:prstGeom>
          </p:spPr>
        </p:pic>
        <p:sp>
          <p:nvSpPr>
            <p:cNvPr id="40" name="Rectangle 39"/>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Box 4">
            <a:extLst>
              <a:ext uri="{FF2B5EF4-FFF2-40B4-BE49-F238E27FC236}">
                <a16:creationId xmlns:a16="http://schemas.microsoft.com/office/drawing/2014/main" id="{113CECFC-7B16-1935-DD59-4ECE7533B6FC}"/>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3932317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Picture 5" descr="YeastGrowthCurve.jpg"/>
          <p:cNvPicPr>
            <a:picLocks noChangeAspect="1"/>
          </p:cNvPicPr>
          <p:nvPr/>
        </p:nvPicPr>
        <p:blipFill>
          <a:blip r:embed="rId2">
            <a:extLst>
              <a:ext uri="{28A0092B-C50C-407E-A947-70E740481C1C}">
                <a14:useLocalDpi xmlns:a14="http://schemas.microsoft.com/office/drawing/2010/main" val="0"/>
              </a:ext>
            </a:extLst>
          </a:blip>
          <a:srcRect t="16597"/>
          <a:stretch>
            <a:fillRect/>
          </a:stretch>
        </p:blipFill>
        <p:spPr bwMode="auto">
          <a:xfrm>
            <a:off x="685800" y="1791749"/>
            <a:ext cx="75453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p:cNvSpPr txBox="1">
            <a:spLocks noChangeArrowheads="1"/>
          </p:cNvSpPr>
          <p:nvPr/>
        </p:nvSpPr>
        <p:spPr bwMode="auto">
          <a:xfrm>
            <a:off x="342148" y="369270"/>
            <a:ext cx="8335127" cy="1384995"/>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Yeast cells were harvested for microarrays before, during, and after a cold shock and during recovery</a:t>
            </a:r>
            <a:endParaRPr lang="en-US" altLang="en-US" sz="2800" i="1" dirty="0">
              <a:solidFill>
                <a:srgbClr val="16693F"/>
              </a:solidFill>
            </a:endParaRPr>
          </a:p>
        </p:txBody>
      </p:sp>
    </p:spTree>
    <p:extLst>
      <p:ext uri="{BB962C8B-B14F-4D97-AF65-F5344CB8AC3E}">
        <p14:creationId xmlns:p14="http://schemas.microsoft.com/office/powerpoint/2010/main" val="1968486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p:cNvSpPr txBox="1">
            <a:spLocks noChangeArrowheads="1"/>
          </p:cNvSpPr>
          <p:nvPr/>
        </p:nvSpPr>
        <p:spPr bwMode="auto">
          <a:xfrm>
            <a:off x="304800" y="360086"/>
            <a:ext cx="782682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2800" dirty="0">
                <a:solidFill>
                  <a:srgbClr val="16693F"/>
                </a:solidFill>
              </a:rPr>
              <a:t>Two dominant expression profiles respond to cold shock and recovery</a:t>
            </a:r>
          </a:p>
        </p:txBody>
      </p:sp>
      <p:pic>
        <p:nvPicPr>
          <p:cNvPr id="3"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l="1785" t="4762" r="5357" b="7143"/>
          <a:stretch>
            <a:fillRect/>
          </a:stretch>
        </p:blipFill>
        <p:spPr bwMode="auto">
          <a:xfrm>
            <a:off x="838200" y="1524000"/>
            <a:ext cx="3962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l="1785" t="4762" r="5357" b="7143"/>
          <a:stretch>
            <a:fillRect/>
          </a:stretch>
        </p:blipFill>
        <p:spPr bwMode="auto">
          <a:xfrm>
            <a:off x="4876800" y="1524000"/>
            <a:ext cx="3962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5"/>
          <p:cNvSpPr txBox="1">
            <a:spLocks noChangeArrowheads="1"/>
          </p:cNvSpPr>
          <p:nvPr/>
        </p:nvSpPr>
        <p:spPr bwMode="auto">
          <a:xfrm rot="-5400000">
            <a:off x="-1143794" y="2790032"/>
            <a:ext cx="3114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1600"/>
              <a:t>Expression (log</a:t>
            </a:r>
            <a:r>
              <a:rPr lang="en-US" altLang="en-US" sz="1600" baseline="-25000"/>
              <a:t>2</a:t>
            </a:r>
            <a:r>
              <a:rPr lang="en-US" altLang="en-US" sz="1600"/>
              <a:t> fold change)</a:t>
            </a:r>
          </a:p>
        </p:txBody>
      </p:sp>
      <p:sp>
        <p:nvSpPr>
          <p:cNvPr id="6" name="TextBox 16"/>
          <p:cNvSpPr txBox="1">
            <a:spLocks noChangeArrowheads="1"/>
          </p:cNvSpPr>
          <p:nvPr/>
        </p:nvSpPr>
        <p:spPr bwMode="auto">
          <a:xfrm>
            <a:off x="3740150" y="4419600"/>
            <a:ext cx="1643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1600"/>
              <a:t>Time (minutes)</a:t>
            </a:r>
          </a:p>
        </p:txBody>
      </p:sp>
      <p:sp>
        <p:nvSpPr>
          <p:cNvPr id="7" name="TextBox 6"/>
          <p:cNvSpPr txBox="1"/>
          <p:nvPr/>
        </p:nvSpPr>
        <p:spPr>
          <a:xfrm>
            <a:off x="838200" y="4800600"/>
            <a:ext cx="5429692" cy="1446550"/>
          </a:xfrm>
          <a:prstGeom prst="rect">
            <a:avLst/>
          </a:prstGeom>
          <a:noFill/>
        </p:spPr>
        <p:txBody>
          <a:bodyPr wrap="none">
            <a:spAutoFit/>
          </a:bodyPr>
          <a:lstStyle/>
          <a:p>
            <a:pPr>
              <a:defRPr/>
            </a:pPr>
            <a:r>
              <a:rPr lang="en-US" b="1" u="sng">
                <a:latin typeface="Arial" charset="0"/>
              </a:rPr>
              <a:t>Gene Ontology categories assigned to clusters:</a:t>
            </a:r>
          </a:p>
          <a:p>
            <a:pPr>
              <a:defRPr/>
            </a:pPr>
            <a:endParaRPr lang="en-US" sz="1000" b="1">
              <a:latin typeface="Arial" charset="0"/>
            </a:endParaRPr>
          </a:p>
          <a:p>
            <a:pPr marL="227013" indent="-227013">
              <a:buFont typeface="Arial" pitchFamily="34" charset="0"/>
              <a:buChar char="•"/>
              <a:defRPr/>
            </a:pPr>
            <a:r>
              <a:rPr lang="en-US" sz="2000" b="1">
                <a:latin typeface="Arial" charset="0"/>
              </a:rPr>
              <a:t>Ribosome biogenesis</a:t>
            </a:r>
          </a:p>
          <a:p>
            <a:pPr marL="227013" indent="-227013">
              <a:buFont typeface="Arial" pitchFamily="34" charset="0"/>
              <a:buChar char="•"/>
              <a:defRPr/>
            </a:pPr>
            <a:r>
              <a:rPr lang="en-US" sz="2000" b="1">
                <a:latin typeface="Arial" charset="0"/>
              </a:rPr>
              <a:t>Zinc ion homeostasis</a:t>
            </a:r>
          </a:p>
          <a:p>
            <a:pPr marL="227013" indent="-227013">
              <a:buFont typeface="Arial" pitchFamily="34" charset="0"/>
              <a:buChar char="•"/>
              <a:defRPr/>
            </a:pPr>
            <a:r>
              <a:rPr lang="en-US" sz="2000" b="1">
                <a:latin typeface="Arial" charset="0"/>
              </a:rPr>
              <a:t>Hexose transport</a:t>
            </a:r>
          </a:p>
        </p:txBody>
      </p:sp>
      <p:sp>
        <p:nvSpPr>
          <p:cNvPr id="8" name="TextBox 7"/>
          <p:cNvSpPr txBox="1"/>
          <p:nvPr/>
        </p:nvSpPr>
        <p:spPr>
          <a:xfrm>
            <a:off x="4800600" y="5227549"/>
            <a:ext cx="4202112" cy="1323439"/>
          </a:xfrm>
          <a:prstGeom prst="rect">
            <a:avLst/>
          </a:prstGeom>
          <a:noFill/>
        </p:spPr>
        <p:txBody>
          <a:bodyPr wrap="none">
            <a:spAutoFit/>
          </a:bodyPr>
          <a:lstStyle/>
          <a:p>
            <a:pPr marL="227013" indent="-227013">
              <a:buFont typeface="Arial" pitchFamily="34" charset="0"/>
              <a:buChar char="•"/>
              <a:defRPr/>
            </a:pPr>
            <a:r>
              <a:rPr lang="en-US" sz="2000" b="1">
                <a:latin typeface="Arial" charset="0"/>
              </a:rPr>
              <a:t>Endomembrane system</a:t>
            </a:r>
          </a:p>
          <a:p>
            <a:pPr marL="227013" indent="-227013">
              <a:buFont typeface="Arial" pitchFamily="34" charset="0"/>
              <a:buChar char="•"/>
              <a:defRPr/>
            </a:pPr>
            <a:r>
              <a:rPr lang="en-US" sz="2000" b="1">
                <a:latin typeface="Arial" charset="0"/>
              </a:rPr>
              <a:t>Protein and vesicle transport</a:t>
            </a:r>
          </a:p>
          <a:p>
            <a:pPr marL="227013" indent="-227013">
              <a:buFont typeface="Arial" pitchFamily="34" charset="0"/>
              <a:buChar char="•"/>
              <a:defRPr/>
            </a:pPr>
            <a:r>
              <a:rPr lang="en-US" sz="2000" b="1">
                <a:latin typeface="Arial" charset="0"/>
              </a:rPr>
              <a:t>Negative regulation of nitrogen</a:t>
            </a:r>
          </a:p>
          <a:p>
            <a:pPr marL="227013" indent="-227013">
              <a:defRPr/>
            </a:pPr>
            <a:r>
              <a:rPr lang="en-US" sz="2000" b="1">
                <a:latin typeface="Arial" charset="0"/>
              </a:rPr>
              <a:t>	compound process</a:t>
            </a:r>
          </a:p>
        </p:txBody>
      </p:sp>
      <p:sp>
        <p:nvSpPr>
          <p:cNvPr id="9" name="TextBox 8"/>
          <p:cNvSpPr txBox="1"/>
          <p:nvPr/>
        </p:nvSpPr>
        <p:spPr>
          <a:xfrm>
            <a:off x="12458" y="6469035"/>
            <a:ext cx="3735318" cy="307777"/>
          </a:xfrm>
          <a:prstGeom prst="rect">
            <a:avLst/>
          </a:prstGeom>
          <a:noFill/>
        </p:spPr>
        <p:txBody>
          <a:bodyPr wrap="none" rtlCol="0">
            <a:spAutoFit/>
          </a:bodyPr>
          <a:lstStyle/>
          <a:p>
            <a:r>
              <a:rPr lang="en-US" sz="1400" b="1"/>
              <a:t>stem software: Ernst &amp; Bar-Joseph (2006)</a:t>
            </a:r>
          </a:p>
        </p:txBody>
      </p:sp>
    </p:spTree>
    <p:extLst>
      <p:ext uri="{BB962C8B-B14F-4D97-AF65-F5344CB8AC3E}">
        <p14:creationId xmlns:p14="http://schemas.microsoft.com/office/powerpoint/2010/main" val="1567541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p:cNvSpPr txBox="1">
            <a:spLocks noChangeArrowheads="1"/>
          </p:cNvSpPr>
          <p:nvPr/>
        </p:nvSpPr>
        <p:spPr bwMode="auto">
          <a:xfrm>
            <a:off x="304800" y="360086"/>
            <a:ext cx="782413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2800" dirty="0">
                <a:solidFill>
                  <a:srgbClr val="16693F"/>
                </a:solidFill>
              </a:rPr>
              <a:t>Genes with similar expression profiles are regulated by the same transcription factor</a:t>
            </a:r>
          </a:p>
        </p:txBody>
      </p:sp>
      <p:pic>
        <p:nvPicPr>
          <p:cNvPr id="3"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l="1785" t="4762" r="5357" b="7143"/>
          <a:stretch>
            <a:fillRect/>
          </a:stretch>
        </p:blipFill>
        <p:spPr bwMode="auto">
          <a:xfrm>
            <a:off x="838200" y="1524000"/>
            <a:ext cx="3962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l="1785" t="4762" r="5357" b="7143"/>
          <a:stretch>
            <a:fillRect/>
          </a:stretch>
        </p:blipFill>
        <p:spPr bwMode="auto">
          <a:xfrm>
            <a:off x="4876800" y="1524000"/>
            <a:ext cx="3962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5"/>
          <p:cNvSpPr txBox="1">
            <a:spLocks noChangeArrowheads="1"/>
          </p:cNvSpPr>
          <p:nvPr/>
        </p:nvSpPr>
        <p:spPr bwMode="auto">
          <a:xfrm rot="-5400000">
            <a:off x="-1143794" y="2790032"/>
            <a:ext cx="3114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1600"/>
              <a:t>Expression (log</a:t>
            </a:r>
            <a:r>
              <a:rPr lang="en-US" altLang="en-US" sz="1600" baseline="-25000"/>
              <a:t>2</a:t>
            </a:r>
            <a:r>
              <a:rPr lang="en-US" altLang="en-US" sz="1600"/>
              <a:t> fold change)</a:t>
            </a:r>
          </a:p>
        </p:txBody>
      </p:sp>
      <p:sp>
        <p:nvSpPr>
          <p:cNvPr id="6" name="TextBox 16"/>
          <p:cNvSpPr txBox="1">
            <a:spLocks noChangeArrowheads="1"/>
          </p:cNvSpPr>
          <p:nvPr/>
        </p:nvSpPr>
        <p:spPr bwMode="auto">
          <a:xfrm>
            <a:off x="3740150" y="4419600"/>
            <a:ext cx="1643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Arial" panose="020B0604020202020204" pitchFamily="34" charset="0"/>
              </a:defRPr>
            </a:lvl1pPr>
            <a:lvl2pPr marL="742950" indent="-285750" eaLnBrk="0" hangingPunct="0">
              <a:defRPr sz="2400" b="1">
                <a:solidFill>
                  <a:schemeClr val="tx1"/>
                </a:solidFill>
                <a:latin typeface="Arial" panose="020B0604020202020204" pitchFamily="34" charset="0"/>
              </a:defRPr>
            </a:lvl2pPr>
            <a:lvl3pPr marL="1143000" indent="-228600" eaLnBrk="0" hangingPunct="0">
              <a:defRPr sz="2400" b="1">
                <a:solidFill>
                  <a:schemeClr val="tx1"/>
                </a:solidFill>
                <a:latin typeface="Arial" panose="020B0604020202020204" pitchFamily="34" charset="0"/>
              </a:defRPr>
            </a:lvl3pPr>
            <a:lvl4pPr marL="1600200" indent="-228600" eaLnBrk="0" hangingPunct="0">
              <a:defRPr sz="2400" b="1">
                <a:solidFill>
                  <a:schemeClr val="tx1"/>
                </a:solidFill>
                <a:latin typeface="Arial" panose="020B0604020202020204" pitchFamily="34" charset="0"/>
              </a:defRPr>
            </a:lvl4pPr>
            <a:lvl5pPr marL="2057400" indent="-228600" eaLnBrk="0" hangingPunct="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eaLnBrk="1" hangingPunct="1"/>
            <a:r>
              <a:rPr lang="en-US" altLang="en-US" sz="1600"/>
              <a:t>Time (minutes)</a:t>
            </a:r>
          </a:p>
        </p:txBody>
      </p:sp>
      <p:sp>
        <p:nvSpPr>
          <p:cNvPr id="7" name="Rectangle 2"/>
          <p:cNvSpPr txBox="1">
            <a:spLocks noChangeArrowheads="1"/>
          </p:cNvSpPr>
          <p:nvPr/>
        </p:nvSpPr>
        <p:spPr>
          <a:xfrm>
            <a:off x="806743" y="5354972"/>
            <a:ext cx="7489970" cy="635000"/>
          </a:xfrm>
          <a:prstGeom prst="rect">
            <a:avLst/>
          </a:prstGeom>
        </p:spPr>
        <p:txBody>
          <a:bodyPr vert="horz" lIns="91440" tIns="45720" rIns="132080" bIns="45720" rtlCol="0">
            <a:normAutofit/>
          </a:bodyPr>
          <a:lstStyle>
            <a:lvl1pPr marL="0" indent="0" algn="l" defTabSz="914400" rtl="0" eaLnBrk="1" latinLnBrk="0" hangingPunct="1">
              <a:spcBef>
                <a:spcPct val="20000"/>
              </a:spcBef>
              <a:buClr>
                <a:schemeClr val="accent1"/>
              </a:buClr>
              <a:buSzPct val="85000"/>
              <a:buFont typeface="Arial" pitchFamily="34" charset="0"/>
              <a:buNone/>
              <a:defRPr sz="2400" kern="1200">
                <a:solidFill>
                  <a:schemeClr val="tx1">
                    <a:lumMod val="75000"/>
                    <a:lumOff val="25000"/>
                  </a:schemeClr>
                </a:solidFill>
                <a:latin typeface="+mn-lt"/>
                <a:ea typeface="+mn-ea"/>
                <a:cs typeface="+mn-cs"/>
              </a:defRPr>
            </a:lvl1pPr>
            <a:lvl2pPr marL="457200" indent="0" algn="ctr" defTabSz="914400" rtl="0" eaLnBrk="1" latinLnBrk="0" hangingPunct="1">
              <a:spcBef>
                <a:spcPct val="20000"/>
              </a:spcBef>
              <a:buClr>
                <a:schemeClr val="accent1"/>
              </a:buClr>
              <a:buSzPct val="85000"/>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90000"/>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100000"/>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Font typeface="Arial" pitchFamily="34" charset="0"/>
              <a:buNone/>
              <a:defRPr sz="1300" kern="1200">
                <a:solidFill>
                  <a:schemeClr val="tx1">
                    <a:tint val="75000"/>
                  </a:schemeClr>
                </a:solidFill>
                <a:latin typeface="+mn-lt"/>
                <a:ea typeface="+mn-ea"/>
                <a:cs typeface="+mn-cs"/>
              </a:defRPr>
            </a:lvl9pPr>
          </a:lstStyle>
          <a:p>
            <a:pPr>
              <a:buFontTx/>
              <a:buNone/>
            </a:pPr>
            <a:r>
              <a:rPr lang="en-US" altLang="en-US" b="1" i="1">
                <a:solidFill>
                  <a:srgbClr val="C00000"/>
                </a:solidFill>
              </a:rPr>
              <a:t>Which transcription factors regulate these genes?</a:t>
            </a:r>
          </a:p>
        </p:txBody>
      </p:sp>
    </p:spTree>
    <p:extLst>
      <p:ext uri="{BB962C8B-B14F-4D97-AF65-F5344CB8AC3E}">
        <p14:creationId xmlns:p14="http://schemas.microsoft.com/office/powerpoint/2010/main" val="293379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366" y="338951"/>
            <a:ext cx="8697341" cy="954107"/>
          </a:xfrm>
          <a:prstGeom prst="rect">
            <a:avLst/>
          </a:prstGeom>
          <a:noFill/>
        </p:spPr>
        <p:txBody>
          <a:bodyPr wrap="square" rtlCol="0">
            <a:spAutoFit/>
          </a:bodyPr>
          <a:lstStyle/>
          <a:p>
            <a:r>
              <a:rPr lang="en-US" sz="2800" b="1" dirty="0">
                <a:solidFill>
                  <a:srgbClr val="16693F"/>
                </a:solidFill>
                <a:latin typeface="Arial" panose="020B0604020202020204" pitchFamily="34" charset="0"/>
                <a:cs typeface="Arial" panose="020B0604020202020204" pitchFamily="34" charset="0"/>
              </a:rPr>
              <a:t>Six candidate GRNs were derived from the YEASTRACT database</a:t>
            </a:r>
          </a:p>
        </p:txBody>
      </p:sp>
      <p:sp>
        <p:nvSpPr>
          <p:cNvPr id="16" name="Content Placeholder 2"/>
          <p:cNvSpPr>
            <a:spLocks noGrp="1"/>
          </p:cNvSpPr>
          <p:nvPr/>
        </p:nvSpPr>
        <p:spPr>
          <a:xfrm>
            <a:off x="152400" y="4703495"/>
            <a:ext cx="8512095" cy="201802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31775" indent="-231775"/>
            <a:r>
              <a:rPr lang="en-US" sz="1900" b="1"/>
              <a:t>Clusters of genes from each strain’s stem analysis were input into YEASTRACT to find potential regulators.</a:t>
            </a:r>
            <a:endParaRPr lang="en-US" sz="1900" b="1" dirty="0"/>
          </a:p>
          <a:p>
            <a:pPr marL="231775" indent="-231775"/>
            <a:r>
              <a:rPr lang="en-US" sz="1900" b="1"/>
              <a:t>The top 15 potential regulators for each strain’s data were used to generate a regulation matrix.</a:t>
            </a:r>
          </a:p>
          <a:p>
            <a:pPr marL="231775" indent="-231775"/>
            <a:r>
              <a:rPr lang="en-US" sz="1900" b="1"/>
              <a:t>Transcription factors for which we had deletion strain microarray data were also included.</a:t>
            </a:r>
            <a:endParaRPr lang="en-US" sz="1900" b="1" dirty="0"/>
          </a:p>
          <a:p>
            <a:pPr lvl="2"/>
            <a:endParaRPr lang="en-US" sz="1400" b="1" dirty="0"/>
          </a:p>
          <a:p>
            <a:pPr lvl="1"/>
            <a:endParaRPr lang="en-US" sz="1800" b="1" dirty="0"/>
          </a:p>
        </p:txBody>
      </p:sp>
      <p:pic>
        <p:nvPicPr>
          <p:cNvPr id="4" name="Picture 3"/>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45406" y="1293058"/>
            <a:ext cx="2676181" cy="1658739"/>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176461" y="1293058"/>
            <a:ext cx="2657683" cy="1658739"/>
          </a:xfrm>
          <a:prstGeom prst="rect">
            <a:avLst/>
          </a:prstGeom>
        </p:spPr>
      </p:pic>
      <p:pic>
        <p:nvPicPr>
          <p:cNvPr id="6" name="Pictur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130867" y="1293058"/>
            <a:ext cx="2620684" cy="1658739"/>
          </a:xfrm>
          <a:prstGeom prst="rect">
            <a:avLst/>
          </a:prstGeom>
        </p:spPr>
      </p:pic>
      <p:pic>
        <p:nvPicPr>
          <p:cNvPr id="7" name="Picture 6"/>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245406" y="3067271"/>
            <a:ext cx="2670015" cy="1658739"/>
          </a:xfrm>
          <a:prstGeom prst="rect">
            <a:avLst/>
          </a:prstGeom>
        </p:spPr>
      </p:pic>
      <p:pic>
        <p:nvPicPr>
          <p:cNvPr id="8" name="Picture 7"/>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3170295" y="3073437"/>
            <a:ext cx="2670015" cy="1652573"/>
          </a:xfrm>
          <a:prstGeom prst="rect">
            <a:avLst/>
          </a:prstGeom>
        </p:spPr>
      </p:pic>
      <p:pic>
        <p:nvPicPr>
          <p:cNvPr id="9" name="Picture 8"/>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6081536" y="3067271"/>
            <a:ext cx="2670015" cy="1658739"/>
          </a:xfrm>
          <a:prstGeom prst="rect">
            <a:avLst/>
          </a:prstGeom>
        </p:spPr>
      </p:pic>
    </p:spTree>
    <p:extLst>
      <p:ext uri="{BB962C8B-B14F-4D97-AF65-F5344CB8AC3E}">
        <p14:creationId xmlns:p14="http://schemas.microsoft.com/office/powerpoint/2010/main" val="414490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err="1"/>
              <a:t>GRNmap</a:t>
            </a:r>
            <a:r>
              <a:rPr lang="en-US" sz="2800" b="1" dirty="0"/>
              <a:t>: </a:t>
            </a:r>
            <a:r>
              <a:rPr lang="en-US" sz="2800" b="1" u="sng" dirty="0"/>
              <a:t>G</a:t>
            </a:r>
            <a:r>
              <a:rPr lang="en-US" sz="2800" b="1" dirty="0"/>
              <a:t>ene </a:t>
            </a:r>
            <a:r>
              <a:rPr lang="en-US" sz="2800" b="1" u="sng" dirty="0"/>
              <a:t>R</a:t>
            </a:r>
            <a:r>
              <a:rPr lang="en-US" sz="2800" b="1" dirty="0"/>
              <a:t>egulatory </a:t>
            </a:r>
            <a:r>
              <a:rPr lang="en-US" sz="2800" b="1" u="sng" dirty="0"/>
              <a:t>N</a:t>
            </a:r>
            <a:r>
              <a:rPr lang="en-US" sz="2800" b="1" dirty="0"/>
              <a:t>etwork </a:t>
            </a:r>
            <a:r>
              <a:rPr lang="en-US" sz="2800" b="1" u="sng" dirty="0"/>
              <a:t>M</a:t>
            </a:r>
            <a:r>
              <a:rPr lang="en-US" sz="2800" b="1" dirty="0"/>
              <a:t>odeling </a:t>
            </a:r>
            <a:r>
              <a:rPr lang="en-US" sz="2800" b="1" u="sng" dirty="0"/>
              <a:t>A</a:t>
            </a:r>
            <a:r>
              <a:rPr lang="en-US" sz="2800" b="1" dirty="0"/>
              <a:t>nd </a:t>
            </a:r>
            <a:r>
              <a:rPr lang="en-US" sz="2800" b="1" u="sng" dirty="0"/>
              <a:t>P</a:t>
            </a:r>
            <a:r>
              <a:rPr lang="en-US" sz="2800" b="1" dirty="0"/>
              <a:t>arameter estimation</a:t>
            </a:r>
          </a:p>
        </p:txBody>
      </p:sp>
      <p:sp>
        <p:nvSpPr>
          <p:cNvPr id="3" name="Content Placeholder 2"/>
          <p:cNvSpPr>
            <a:spLocks noGrp="1"/>
          </p:cNvSpPr>
          <p:nvPr>
            <p:ph idx="1"/>
          </p:nvPr>
        </p:nvSpPr>
        <p:spPr>
          <a:xfrm>
            <a:off x="4455041" y="4124129"/>
            <a:ext cx="4348717" cy="1851368"/>
          </a:xfrm>
        </p:spPr>
        <p:txBody>
          <a:bodyPr>
            <a:noAutofit/>
          </a:bodyPr>
          <a:lstStyle/>
          <a:p>
            <a:r>
              <a:rPr lang="en-US" sz="1800" b="1" dirty="0"/>
              <a:t>The change in expression of one gene is </a:t>
            </a:r>
            <a:r>
              <a:rPr lang="en-US" sz="1800" b="1" i="1" dirty="0"/>
              <a:t>production</a:t>
            </a:r>
            <a:r>
              <a:rPr lang="en-US" sz="1800" b="1" dirty="0"/>
              <a:t> – </a:t>
            </a:r>
            <a:r>
              <a:rPr lang="en-US" sz="1800" b="1" i="1" dirty="0"/>
              <a:t>degradation</a:t>
            </a:r>
            <a:r>
              <a:rPr lang="en-US" sz="1800" b="1" dirty="0"/>
              <a:t>. </a:t>
            </a:r>
          </a:p>
          <a:p>
            <a:r>
              <a:rPr lang="en-US" sz="1800" b="1" dirty="0"/>
              <a:t>Weight parameter, </a:t>
            </a:r>
            <a:r>
              <a:rPr lang="en-US" sz="1800" b="1" i="1" dirty="0">
                <a:latin typeface="Times New Roman"/>
                <a:cs typeface="Times New Roman"/>
              </a:rPr>
              <a:t>w</a:t>
            </a:r>
            <a:r>
              <a:rPr lang="en-US" sz="1800" b="1" dirty="0"/>
              <a:t>, gives the direction (activation or repression) and magnitude of regulatory relationship.</a:t>
            </a:r>
          </a:p>
        </p:txBody>
      </p:sp>
      <p:sp>
        <p:nvSpPr>
          <p:cNvPr id="4" name="TextBox 3"/>
          <p:cNvSpPr txBox="1"/>
          <p:nvPr/>
        </p:nvSpPr>
        <p:spPr>
          <a:xfrm>
            <a:off x="3128149" y="1017902"/>
            <a:ext cx="184666" cy="369332"/>
          </a:xfrm>
          <a:prstGeom prst="rect">
            <a:avLst/>
          </a:prstGeom>
          <a:noFill/>
        </p:spPr>
        <p:txBody>
          <a:bodyPr wrap="none" rtlCol="0">
            <a:spAutoFit/>
          </a:bodyPr>
          <a:lstStyle/>
          <a:p>
            <a:endParaRPr lang="en-US" b="1" dirty="0"/>
          </a:p>
        </p:txBody>
      </p:sp>
      <p:pic>
        <p:nvPicPr>
          <p:cNvPr id="8"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494215" y="1084246"/>
            <a:ext cx="3650008" cy="2737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433764" y="6487264"/>
            <a:ext cx="3700052" cy="338554"/>
          </a:xfrm>
          <a:prstGeom prst="rect">
            <a:avLst/>
          </a:prstGeom>
        </p:spPr>
        <p:txBody>
          <a:bodyPr wrap="none">
            <a:spAutoFit/>
          </a:bodyPr>
          <a:lstStyle/>
          <a:p>
            <a:r>
              <a:rPr lang="en-US" sz="1600" b="1"/>
              <a:t>http://kdahlquist.github.io/GRNmap/</a:t>
            </a:r>
          </a:p>
        </p:txBody>
      </p:sp>
      <p:graphicFrame>
        <p:nvGraphicFramePr>
          <p:cNvPr id="9" name="Object 8"/>
          <p:cNvGraphicFramePr>
            <a:graphicFrameLocks noChangeAspect="1"/>
          </p:cNvGraphicFramePr>
          <p:nvPr>
            <p:extLst>
              <p:ext uri="{D42A27DB-BD31-4B8C-83A1-F6EECF244321}">
                <p14:modId xmlns:p14="http://schemas.microsoft.com/office/powerpoint/2010/main" val="2093918296"/>
              </p:ext>
            </p:extLst>
          </p:nvPr>
        </p:nvGraphicFramePr>
        <p:xfrm>
          <a:off x="304800" y="1996666"/>
          <a:ext cx="4800600" cy="1188267"/>
        </p:xfrm>
        <a:graphic>
          <a:graphicData uri="http://schemas.openxmlformats.org/presentationml/2006/ole">
            <mc:AlternateContent xmlns:mc="http://schemas.openxmlformats.org/markup-compatibility/2006">
              <mc:Choice xmlns:v="urn:schemas-microsoft-com:vml" Requires="v">
                <p:oleObj name="Equation" r:id="rId3" imgW="2870200" imgH="711200" progId="Equation.3">
                  <p:embed/>
                </p:oleObj>
              </mc:Choice>
              <mc:Fallback>
                <p:oleObj name="Equation" r:id="rId3" imgW="28702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996666"/>
                        <a:ext cx="4800600" cy="1188267"/>
                      </a:xfrm>
                      <a:prstGeom prst="rect">
                        <a:avLst/>
                      </a:prstGeom>
                      <a:noFill/>
                      <a:ln>
                        <a:noFill/>
                      </a:ln>
                    </p:spPr>
                  </p:pic>
                </p:oleObj>
              </mc:Fallback>
            </mc:AlternateContent>
          </a:graphicData>
        </a:graphic>
      </p:graphicFrame>
      <p:grpSp>
        <p:nvGrpSpPr>
          <p:cNvPr id="10" name="Group 1184"/>
          <p:cNvGrpSpPr>
            <a:grpSpLocks/>
          </p:cNvGrpSpPr>
          <p:nvPr/>
        </p:nvGrpSpPr>
        <p:grpSpPr bwMode="auto">
          <a:xfrm>
            <a:off x="304800" y="3423675"/>
            <a:ext cx="3809776" cy="3301806"/>
            <a:chOff x="666" y="21558"/>
            <a:chExt cx="2496" cy="2112"/>
          </a:xfrm>
        </p:grpSpPr>
        <p:pic>
          <p:nvPicPr>
            <p:cNvPr id="11" name="Picture 46"/>
            <p:cNvPicPr>
              <a:picLocks noChangeAspect="1" noChangeArrowheads="1"/>
            </p:cNvPicPr>
            <p:nvPr/>
          </p:nvPicPr>
          <p:blipFill>
            <a:blip r:embed="rId5" cstate="email">
              <a:extLst>
                <a:ext uri="{28A0092B-C50C-407E-A947-70E740481C1C}">
                  <a14:useLocalDpi xmlns:a14="http://schemas.microsoft.com/office/drawing/2010/main" val="0"/>
                </a:ext>
              </a:extLst>
            </a:blip>
            <a:srcRect l="28751" t="23000" r="28125" b="20000"/>
            <a:stretch>
              <a:fillRect/>
            </a:stretch>
          </p:blipFill>
          <p:spPr bwMode="auto">
            <a:xfrm>
              <a:off x="810" y="21558"/>
              <a:ext cx="2352" cy="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7"/>
            <p:cNvSpPr>
              <a:spLocks noChangeArrowheads="1"/>
            </p:cNvSpPr>
            <p:nvPr/>
          </p:nvSpPr>
          <p:spPr bwMode="auto">
            <a:xfrm>
              <a:off x="666" y="23334"/>
              <a:ext cx="288" cy="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457200" eaLnBrk="0" hangingPunct="0">
                <a:spcBef>
                  <a:spcPct val="20000"/>
                </a:spcBef>
                <a:buChar char="•"/>
                <a:defRPr sz="3200">
                  <a:solidFill>
                    <a:schemeClr val="tx1"/>
                  </a:solidFill>
                  <a:latin typeface="Arial" pitchFamily="34" charset="0"/>
                </a:defRPr>
              </a:lvl1pPr>
              <a:lvl2pPr marL="742950" indent="-285750" defTabSz="457200" eaLnBrk="0" hangingPunct="0">
                <a:spcBef>
                  <a:spcPct val="20000"/>
                </a:spcBef>
                <a:buChar char="–"/>
                <a:defRPr sz="2800">
                  <a:solidFill>
                    <a:schemeClr val="tx1"/>
                  </a:solidFill>
                  <a:latin typeface="Arial" pitchFamily="34" charset="0"/>
                </a:defRPr>
              </a:lvl2pPr>
              <a:lvl3pPr marL="1143000" indent="-228600" defTabSz="457200" eaLnBrk="0" hangingPunct="0">
                <a:spcBef>
                  <a:spcPct val="20000"/>
                </a:spcBef>
                <a:buChar char="•"/>
                <a:defRPr sz="2400">
                  <a:solidFill>
                    <a:schemeClr val="tx1"/>
                  </a:solidFill>
                  <a:latin typeface="Arial" pitchFamily="34" charset="0"/>
                </a:defRPr>
              </a:lvl3pPr>
              <a:lvl4pPr marL="1600200" indent="-228600" defTabSz="457200" eaLnBrk="0" hangingPunct="0">
                <a:spcBef>
                  <a:spcPct val="20000"/>
                </a:spcBef>
                <a:buChar char="–"/>
                <a:defRPr sz="2000">
                  <a:solidFill>
                    <a:schemeClr val="tx1"/>
                  </a:solidFill>
                  <a:latin typeface="Arial" pitchFamily="34" charset="0"/>
                </a:defRPr>
              </a:lvl4pPr>
              <a:lvl5pPr marL="2057400" indent="-228600" defTabSz="457200" eaLnBrk="0" hangingPunct="0">
                <a:spcBef>
                  <a:spcPct val="20000"/>
                </a:spcBef>
                <a:buChar char="»"/>
                <a:defRPr sz="2000">
                  <a:solidFill>
                    <a:schemeClr val="tx1"/>
                  </a:solidFill>
                  <a:latin typeface="Arial" pitchFamily="34" charset="0"/>
                </a:defRPr>
              </a:lvl5pPr>
              <a:lvl6pPr marL="2514600" indent="-228600" defTabSz="457200" eaLnBrk="0" fontAlgn="base" hangingPunct="0">
                <a:spcBef>
                  <a:spcPct val="20000"/>
                </a:spcBef>
                <a:spcAft>
                  <a:spcPct val="0"/>
                </a:spcAft>
                <a:buChar char="»"/>
                <a:defRPr sz="2000">
                  <a:solidFill>
                    <a:schemeClr val="tx1"/>
                  </a:solidFill>
                  <a:latin typeface="Arial" pitchFamily="34" charset="0"/>
                </a:defRPr>
              </a:lvl6pPr>
              <a:lvl7pPr marL="2971800" indent="-228600" defTabSz="457200" eaLnBrk="0" fontAlgn="base" hangingPunct="0">
                <a:spcBef>
                  <a:spcPct val="20000"/>
                </a:spcBef>
                <a:spcAft>
                  <a:spcPct val="0"/>
                </a:spcAft>
                <a:buChar char="»"/>
                <a:defRPr sz="2000">
                  <a:solidFill>
                    <a:schemeClr val="tx1"/>
                  </a:solidFill>
                  <a:latin typeface="Arial" pitchFamily="34" charset="0"/>
                </a:defRPr>
              </a:lvl7pPr>
              <a:lvl8pPr marL="3429000" indent="-228600" defTabSz="457200" eaLnBrk="0" fontAlgn="base" hangingPunct="0">
                <a:spcBef>
                  <a:spcPct val="20000"/>
                </a:spcBef>
                <a:spcAft>
                  <a:spcPct val="0"/>
                </a:spcAft>
                <a:buChar char="»"/>
                <a:defRPr sz="2000">
                  <a:solidFill>
                    <a:schemeClr val="tx1"/>
                  </a:solidFill>
                  <a:latin typeface="Arial" pitchFamily="34" charset="0"/>
                </a:defRPr>
              </a:lvl8pPr>
              <a:lvl9pPr marL="3886200" indent="-228600" defTabSz="4572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endParaRPr lang="en-US" altLang="en-US" sz="1800">
                <a:ea typeface="MS PGothic" pitchFamily="34" charset="-128"/>
              </a:endParaRPr>
            </a:p>
          </p:txBody>
        </p:sp>
      </p:grpSp>
      <p:sp>
        <p:nvSpPr>
          <p:cNvPr id="13" name="Text Box 9"/>
          <p:cNvSpPr txBox="1">
            <a:spLocks noChangeArrowheads="1"/>
          </p:cNvSpPr>
          <p:nvPr/>
        </p:nvSpPr>
        <p:spPr bwMode="auto">
          <a:xfrm>
            <a:off x="457200" y="6434138"/>
            <a:ext cx="1298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200" b="1"/>
              <a:t>Freeman (2003)</a:t>
            </a:r>
          </a:p>
        </p:txBody>
      </p:sp>
    </p:spTree>
    <p:extLst>
      <p:ext uri="{BB962C8B-B14F-4D97-AF65-F5344CB8AC3E}">
        <p14:creationId xmlns:p14="http://schemas.microsoft.com/office/powerpoint/2010/main" val="268166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4_L_curve"/>
          <p:cNvPicPr/>
          <p:nvPr/>
        </p:nvPicPr>
        <p:blipFill rotWithShape="1">
          <a:blip r:embed="rId3" cstate="print"/>
          <a:srcRect l="7342" b="7081"/>
          <a:stretch/>
        </p:blipFill>
        <p:spPr bwMode="auto">
          <a:xfrm>
            <a:off x="432264" y="2163091"/>
            <a:ext cx="4432920" cy="4044365"/>
          </a:xfrm>
          <a:prstGeom prst="rect">
            <a:avLst/>
          </a:prstGeom>
          <a:noFill/>
          <a:ln w="9525">
            <a:noFill/>
            <a:miter lim="800000"/>
            <a:headEnd/>
            <a:tailEnd/>
          </a:ln>
        </p:spPr>
      </p:pic>
      <p:sp>
        <p:nvSpPr>
          <p:cNvPr id="3075" name="Text Box 2"/>
          <p:cNvSpPr txBox="1">
            <a:spLocks noChangeArrowheads="1"/>
          </p:cNvSpPr>
          <p:nvPr/>
        </p:nvSpPr>
        <p:spPr bwMode="auto">
          <a:xfrm>
            <a:off x="103614" y="374297"/>
            <a:ext cx="90403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dirty="0">
                <a:solidFill>
                  <a:srgbClr val="16693F"/>
                </a:solidFill>
              </a:rPr>
              <a:t>Parameter values are estimated from the time course expression data using a least squares error function</a:t>
            </a:r>
          </a:p>
        </p:txBody>
      </p:sp>
      <p:sp>
        <p:nvSpPr>
          <p:cNvPr id="2" name="TextBox 1"/>
          <p:cNvSpPr txBox="1"/>
          <p:nvPr/>
        </p:nvSpPr>
        <p:spPr>
          <a:xfrm>
            <a:off x="713410" y="6184655"/>
            <a:ext cx="3754554" cy="369332"/>
          </a:xfrm>
          <a:prstGeom prst="rect">
            <a:avLst/>
          </a:prstGeom>
          <a:noFill/>
        </p:spPr>
        <p:txBody>
          <a:bodyPr wrap="none" rtlCol="0">
            <a:spAutoFit/>
          </a:bodyPr>
          <a:lstStyle/>
          <a:p>
            <a:r>
              <a:rPr lang="en-US" b="1" dirty="0"/>
              <a:t>Parameter </a:t>
            </a:r>
            <a:r>
              <a:rPr lang="en-US" b="1"/>
              <a:t>Penalty Magnitude (</a:t>
            </a:r>
            <a:r>
              <a:rPr lang="en-US" b="1">
                <a:latin typeface="Symbol" panose="05050102010706020507" pitchFamily="18" charset="2"/>
              </a:rPr>
              <a:t>q</a:t>
            </a:r>
            <a:r>
              <a:rPr lang="en-US" b="1"/>
              <a:t>)</a:t>
            </a:r>
            <a:endParaRPr lang="en-US" b="1" dirty="0"/>
          </a:p>
        </p:txBody>
      </p:sp>
      <p:sp>
        <p:nvSpPr>
          <p:cNvPr id="3" name="TextBox 2"/>
          <p:cNvSpPr txBox="1"/>
          <p:nvPr/>
        </p:nvSpPr>
        <p:spPr>
          <a:xfrm rot="16200000">
            <a:off x="-1291639" y="4064953"/>
            <a:ext cx="3159839" cy="369332"/>
          </a:xfrm>
          <a:prstGeom prst="rect">
            <a:avLst/>
          </a:prstGeom>
          <a:noFill/>
        </p:spPr>
        <p:txBody>
          <a:bodyPr wrap="none" rtlCol="0">
            <a:spAutoFit/>
          </a:bodyPr>
          <a:lstStyle/>
          <a:p>
            <a:r>
              <a:rPr lang="en-US" b="1" dirty="0"/>
              <a:t>Least </a:t>
            </a:r>
            <a:r>
              <a:rPr lang="en-US" b="1"/>
              <a:t>Squares Residual (</a:t>
            </a:r>
            <a:r>
              <a:rPr lang="en-US" b="1" i="1">
                <a:latin typeface="Times New Roman" panose="02020603050405020304" pitchFamily="18" charset="0"/>
                <a:cs typeface="Times New Roman" panose="02020603050405020304" pitchFamily="18" charset="0"/>
              </a:rPr>
              <a:t>E</a:t>
            </a:r>
            <a:r>
              <a:rPr lang="en-US" b="1"/>
              <a:t>)</a:t>
            </a:r>
            <a:endParaRPr lang="en-US" b="1" dirty="0"/>
          </a:p>
        </p:txBody>
      </p:sp>
      <p:sp>
        <p:nvSpPr>
          <p:cNvPr id="8" name="Content Placeholder 2"/>
          <p:cNvSpPr>
            <a:spLocks noGrp="1"/>
          </p:cNvSpPr>
          <p:nvPr>
            <p:ph idx="1"/>
          </p:nvPr>
        </p:nvSpPr>
        <p:spPr>
          <a:xfrm>
            <a:off x="4559098" y="2497042"/>
            <a:ext cx="4462984" cy="2657022"/>
          </a:xfrm>
        </p:spPr>
        <p:txBody>
          <a:bodyPr>
            <a:noAutofit/>
          </a:bodyPr>
          <a:lstStyle/>
          <a:p>
            <a:r>
              <a:rPr lang="en-US" sz="1800" b="1"/>
              <a:t>Total number of parameters is </a:t>
            </a:r>
          </a:p>
          <a:p>
            <a:pPr marL="0" indent="0">
              <a:buNone/>
            </a:pPr>
            <a:r>
              <a:rPr lang="en-US" sz="1800" b="1"/>
              <a:t>   (2 X no. of genes) + no. of edges.</a:t>
            </a:r>
          </a:p>
          <a:p>
            <a:r>
              <a:rPr lang="en-US" sz="1800" b="1"/>
              <a:t>A penalty term forces MATLAB’s optimization algorithm to minimize the function.</a:t>
            </a:r>
          </a:p>
          <a:p>
            <a:r>
              <a:rPr lang="en-US" sz="1800" b="1" i="1">
                <a:latin typeface="Symbol" panose="05050102010706020507" pitchFamily="18" charset="2"/>
              </a:rPr>
              <a:t>q </a:t>
            </a:r>
            <a:r>
              <a:rPr lang="en-US" sz="1800" b="1"/>
              <a:t>is the combined production rate, weight, and threshold parameters.</a:t>
            </a:r>
          </a:p>
          <a:p>
            <a:r>
              <a:rPr lang="en-US" sz="1800" b="1" i="1">
                <a:latin typeface="Symbol" panose="05050102010706020507" pitchFamily="18" charset="2"/>
              </a:rPr>
              <a:t>a</a:t>
            </a:r>
            <a:r>
              <a:rPr lang="en-US" sz="1800" b="1">
                <a:latin typeface="Symbol" panose="05050102010706020507" pitchFamily="18" charset="2"/>
              </a:rPr>
              <a:t> </a:t>
            </a:r>
            <a:r>
              <a:rPr lang="en-US" sz="1800" b="1"/>
              <a:t>is determined from the “elbow” of the L-curve.</a:t>
            </a:r>
          </a:p>
          <a:p>
            <a:r>
              <a:rPr lang="en-US" sz="1800" b="1" i="1">
                <a:latin typeface="Times New Roman" panose="02020603050405020304" pitchFamily="18" charset="0"/>
                <a:cs typeface="Times New Roman" panose="02020603050405020304" pitchFamily="18" charset="0"/>
              </a:rPr>
              <a:t>E</a:t>
            </a:r>
            <a:r>
              <a:rPr lang="en-US" sz="1800" b="1"/>
              <a:t> represents the difference between the microarray data and simulated data generated by the model.</a:t>
            </a:r>
          </a:p>
        </p:txBody>
      </p:sp>
      <mc:AlternateContent xmlns:mc="http://schemas.openxmlformats.org/markup-compatibility/2006" xmlns:a14="http://schemas.microsoft.com/office/drawing/2010/main">
        <mc:Choice Requires="a14">
          <p:sp>
            <p:nvSpPr>
              <p:cNvPr id="4" name="Rectangle 3"/>
              <p:cNvSpPr/>
              <p:nvPr/>
            </p:nvSpPr>
            <p:spPr>
              <a:xfrm>
                <a:off x="1393268" y="1336175"/>
                <a:ext cx="6056403" cy="69115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𝑔</m:t>
                              </m:r>
                            </m:sub>
                          </m:sSub>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𝑡</m:t>
                              </m:r>
                            </m:sub>
                          </m:sSub>
                        </m:den>
                      </m:f>
                      <m:nary>
                        <m:naryPr>
                          <m:chr m:val="∑"/>
                          <m:limLoc m:val="subSup"/>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𝑔</m:t>
                              </m:r>
                            </m:sub>
                          </m:sSub>
                        </m:sup>
                        <m:e>
                          <m:nary>
                            <m:naryPr>
                              <m:chr m:val="∑"/>
                              <m:limLoc m:val="subSup"/>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𝑡</m:t>
                                  </m:r>
                                </m:sub>
                              </m:sSub>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𝑑</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e>
                                      </m:d>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𝑐</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e>
                                      </m:d>
                                    </m:e>
                                  </m:d>
                                </m:e>
                                <m:sup>
                                  <m:r>
                                    <a:rPr lang="en-US" i="0">
                                      <a:latin typeface="Cambria Math" panose="02040503050406030204" pitchFamily="18" charset="0"/>
                                    </a:rPr>
                                    <m:t>2</m:t>
                                  </m:r>
                                </m:sup>
                              </m:sSup>
                            </m:e>
                          </m:nary>
                        </m:e>
                      </m:nary>
                      <m:r>
                        <a:rPr lang="en-US" i="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𝜃</m:t>
                              </m:r>
                            </m:e>
                          </m:d>
                        </m:e>
                        <m:sup>
                          <m:r>
                            <a:rPr lang="en-US" i="0">
                              <a:latin typeface="Cambria Math" panose="02040503050406030204" pitchFamily="18" charset="0"/>
                            </a:rPr>
                            <m:t>2</m:t>
                          </m:r>
                        </m:sup>
                      </m:sSup>
                    </m:oMath>
                  </m:oMathPara>
                </a14:m>
                <a:endParaRPr lang="en-US"/>
              </a:p>
            </p:txBody>
          </p:sp>
        </mc:Choice>
        <mc:Fallback xmlns="">
          <p:sp>
            <p:nvSpPr>
              <p:cNvPr id="4" name="Rectangle 3"/>
              <p:cNvSpPr>
                <a:spLocks noRot="1" noChangeAspect="1" noMove="1" noResize="1" noEditPoints="1" noAdjustHandles="1" noChangeArrowheads="1" noChangeShapeType="1" noTextEdit="1"/>
              </p:cNvSpPr>
              <p:nvPr/>
            </p:nvSpPr>
            <p:spPr>
              <a:xfrm>
                <a:off x="1393268" y="1336175"/>
                <a:ext cx="6056403" cy="691151"/>
              </a:xfrm>
              <a:prstGeom prst="rect">
                <a:avLst/>
              </a:prstGeom>
              <a:blipFill rotWithShape="0">
                <a:blip r:embed="rId4"/>
                <a:stretch>
                  <a:fillRect/>
                </a:stretch>
              </a:blipFill>
            </p:spPr>
            <p:txBody>
              <a:bodyPr/>
              <a:lstStyle/>
              <a:p>
                <a:r>
                  <a:rPr lang="en-US">
                    <a:noFill/>
                  </a:rPr>
                  <a:t> </a:t>
                </a:r>
              </a:p>
            </p:txBody>
          </p:sp>
        </mc:Fallback>
      </mc:AlternateContent>
      <p:sp>
        <p:nvSpPr>
          <p:cNvPr id="9" name="Oval 8"/>
          <p:cNvSpPr/>
          <p:nvPr/>
        </p:nvSpPr>
        <p:spPr>
          <a:xfrm>
            <a:off x="2801570" y="2862951"/>
            <a:ext cx="156494" cy="15649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958064" y="2760523"/>
            <a:ext cx="949299" cy="338554"/>
          </a:xfrm>
          <a:prstGeom prst="rect">
            <a:avLst/>
          </a:prstGeom>
          <a:noFill/>
        </p:spPr>
        <p:txBody>
          <a:bodyPr wrap="none" rtlCol="0">
            <a:spAutoFit/>
          </a:bodyPr>
          <a:lstStyle/>
          <a:p>
            <a:r>
              <a:rPr lang="en-US" sz="1600" b="1">
                <a:latin typeface="Symbol" panose="05050102010706020507" pitchFamily="18" charset="2"/>
              </a:rPr>
              <a:t>a</a:t>
            </a:r>
            <a:r>
              <a:rPr lang="en-US" sz="1600" b="1"/>
              <a:t> = 0.02</a:t>
            </a:r>
          </a:p>
        </p:txBody>
      </p:sp>
      <p:sp>
        <p:nvSpPr>
          <p:cNvPr id="11" name="Oval 10"/>
          <p:cNvSpPr/>
          <p:nvPr/>
        </p:nvSpPr>
        <p:spPr>
          <a:xfrm>
            <a:off x="1525298" y="4862081"/>
            <a:ext cx="156494" cy="15649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55413" y="2199429"/>
            <a:ext cx="1976823" cy="307777"/>
          </a:xfrm>
          <a:prstGeom prst="rect">
            <a:avLst/>
          </a:prstGeom>
          <a:noFill/>
        </p:spPr>
        <p:txBody>
          <a:bodyPr wrap="none" rtlCol="0">
            <a:spAutoFit/>
          </a:bodyPr>
          <a:lstStyle/>
          <a:p>
            <a:r>
              <a:rPr lang="en-US" sz="1400" b="1"/>
              <a:t>“First Pass” Network</a:t>
            </a:r>
          </a:p>
        </p:txBody>
      </p:sp>
      <p:sp>
        <p:nvSpPr>
          <p:cNvPr id="14" name="TextBox 13"/>
          <p:cNvSpPr txBox="1"/>
          <p:nvPr/>
        </p:nvSpPr>
        <p:spPr>
          <a:xfrm>
            <a:off x="4264079" y="6583902"/>
            <a:ext cx="4881465" cy="276999"/>
          </a:xfrm>
          <a:prstGeom prst="rect">
            <a:avLst/>
          </a:prstGeom>
          <a:noFill/>
        </p:spPr>
        <p:txBody>
          <a:bodyPr wrap="none" rtlCol="0">
            <a:spAutoFit/>
          </a:bodyPr>
          <a:lstStyle/>
          <a:p>
            <a:r>
              <a:rPr lang="en-US" sz="1200" b="1"/>
              <a:t>Dahlquist et al. (2015) </a:t>
            </a:r>
            <a:r>
              <a:rPr lang="en-US" sz="1200" b="1" i="1"/>
              <a:t>Bulletin of Mathematical Biology</a:t>
            </a:r>
            <a:r>
              <a:rPr lang="en-US" sz="1200" b="1"/>
              <a:t> 77: 1457.</a:t>
            </a:r>
          </a:p>
        </p:txBody>
      </p:sp>
    </p:spTree>
    <p:extLst>
      <p:ext uri="{BB962C8B-B14F-4D97-AF65-F5344CB8AC3E}">
        <p14:creationId xmlns:p14="http://schemas.microsoft.com/office/powerpoint/2010/main" val="1167974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305486"/>
            <a:ext cx="6858000" cy="5143500"/>
          </a:xfrm>
          <a:prstGeom prst="rect">
            <a:avLst/>
          </a:prstGeom>
          <a:ln w="28575">
            <a:solidFill>
              <a:srgbClr val="16693F"/>
            </a:solidFill>
          </a:ln>
        </p:spPr>
      </p:pic>
      <p:sp>
        <p:nvSpPr>
          <p:cNvPr id="2" name="Title 1">
            <a:extLst>
              <a:ext uri="{FF2B5EF4-FFF2-40B4-BE49-F238E27FC236}">
                <a16:creationId xmlns:a16="http://schemas.microsoft.com/office/drawing/2014/main" id="{CF947D7C-B9B0-3D83-5B43-1907B1371F36}"/>
              </a:ext>
            </a:extLst>
          </p:cNvPr>
          <p:cNvSpPr txBox="1">
            <a:spLocks/>
          </p:cNvSpPr>
          <p:nvPr/>
        </p:nvSpPr>
        <p:spPr>
          <a:xfrm>
            <a:off x="138223" y="376097"/>
            <a:ext cx="8239295"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Forward simulation of the model fits the expression data well</a:t>
            </a:r>
          </a:p>
          <a:p>
            <a:endParaRPr lang="en-US" sz="2800" b="1" dirty="0"/>
          </a:p>
        </p:txBody>
      </p:sp>
    </p:spTree>
    <p:extLst>
      <p:ext uri="{BB962C8B-B14F-4D97-AF65-F5344CB8AC3E}">
        <p14:creationId xmlns:p14="http://schemas.microsoft.com/office/powerpoint/2010/main" val="3360454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dirty="0" err="1"/>
              <a:t>GRNsight</a:t>
            </a:r>
            <a:r>
              <a:rPr lang="en-US" sz="2600" b="1" dirty="0"/>
              <a:t> automatically lays out </a:t>
            </a:r>
            <a:r>
              <a:rPr lang="en-US" sz="2600" b="1" dirty="0" err="1"/>
              <a:t>GRNmap</a:t>
            </a:r>
            <a:r>
              <a:rPr lang="en-US" sz="2600" b="1" dirty="0"/>
              <a:t> model results, displaying weight parameters</a:t>
            </a:r>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Tree>
    <p:extLst>
      <p:ext uri="{BB962C8B-B14F-4D97-AF65-F5344CB8AC3E}">
        <p14:creationId xmlns:p14="http://schemas.microsoft.com/office/powerpoint/2010/main" val="489432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4176143" cy="584775"/>
          </a:xfrm>
          <a:prstGeom prst="rect">
            <a:avLst/>
          </a:prstGeom>
          <a:noFill/>
        </p:spPr>
        <p:txBody>
          <a:bodyPr wrap="none" rtlCol="0">
            <a:spAutoFit/>
          </a:bodyPr>
          <a:lstStyle/>
          <a:p>
            <a:r>
              <a:rPr lang="en-US" sz="1600" b="1"/>
              <a:t>Top = wild type microarray data</a:t>
            </a:r>
          </a:p>
          <a:p>
            <a:r>
              <a:rPr lang="en-US" sz="1600" b="1"/>
              <a:t>Bottom = wild type model simulated data</a:t>
            </a:r>
          </a:p>
        </p:txBody>
      </p:sp>
      <p:sp>
        <p:nvSpPr>
          <p:cNvPr id="3" name="Title 1">
            <a:extLst>
              <a:ext uri="{FF2B5EF4-FFF2-40B4-BE49-F238E27FC236}">
                <a16:creationId xmlns:a16="http://schemas.microsoft.com/office/drawing/2014/main" id="{9A1A6891-0CB6-81B8-2760-3F73B45FA1B4}"/>
              </a:ext>
            </a:extLst>
          </p:cNvPr>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dirty="0"/>
              <a:t>Generally, we can see a good concordance between the measured and simulated expression data</a:t>
            </a:r>
          </a:p>
        </p:txBody>
      </p:sp>
    </p:spTree>
    <p:extLst>
      <p:ext uri="{BB962C8B-B14F-4D97-AF65-F5344CB8AC3E}">
        <p14:creationId xmlns:p14="http://schemas.microsoft.com/office/powerpoint/2010/main" val="1745469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A384D8F-D9FD-B447-81AA-80860E173DBD}"/>
              </a:ext>
            </a:extLst>
          </p:cNvPr>
          <p:cNvSpPr txBox="1"/>
          <p:nvPr/>
        </p:nvSpPr>
        <p:spPr>
          <a:xfrm>
            <a:off x="164947"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db1: </a:t>
            </a:r>
            <a:r>
              <a:rPr lang="en-US" sz="1400" b="1" u="sng" dirty="0">
                <a:latin typeface="Arial" panose="020B0604020202020204" pitchFamily="34" charset="0"/>
                <a:cs typeface="Arial" panose="020B0604020202020204" pitchFamily="34" charset="0"/>
              </a:rPr>
              <a:t>16 Genes, 26 Edges</a:t>
            </a:r>
          </a:p>
          <a:p>
            <a:pPr algn="ctr"/>
            <a:r>
              <a:rPr lang="en-US" sz="1400" dirty="0">
                <a:latin typeface="Arial" panose="020B0604020202020204" pitchFamily="34" charset="0"/>
                <a:cs typeface="Arial" panose="020B0604020202020204" pitchFamily="34" charset="0"/>
              </a:rPr>
              <a:t>LSE:minLSE = 1.42</a:t>
            </a:r>
          </a:p>
        </p:txBody>
      </p:sp>
      <p:sp>
        <p:nvSpPr>
          <p:cNvPr id="10" name="TextBox 9">
            <a:extLst>
              <a:ext uri="{FF2B5EF4-FFF2-40B4-BE49-F238E27FC236}">
                <a16:creationId xmlns:a16="http://schemas.microsoft.com/office/drawing/2014/main" id="{AA887F9F-0B37-D04C-86D1-3047BF91768F}"/>
              </a:ext>
            </a:extLst>
          </p:cNvPr>
          <p:cNvSpPr txBox="1"/>
          <p:nvPr/>
        </p:nvSpPr>
        <p:spPr>
          <a:xfrm>
            <a:off x="6168676"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db3: </a:t>
            </a:r>
            <a:r>
              <a:rPr lang="en-US" sz="1400" b="1" u="sng" dirty="0">
                <a:latin typeface="Arial" panose="020B0604020202020204" pitchFamily="34" charset="0"/>
                <a:cs typeface="Arial" panose="020B0604020202020204" pitchFamily="34" charset="0"/>
              </a:rPr>
              <a:t>17 Genes, 32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1.41</a:t>
            </a:r>
          </a:p>
        </p:txBody>
      </p:sp>
      <p:sp>
        <p:nvSpPr>
          <p:cNvPr id="11" name="TextBox 10">
            <a:extLst>
              <a:ext uri="{FF2B5EF4-FFF2-40B4-BE49-F238E27FC236}">
                <a16:creationId xmlns:a16="http://schemas.microsoft.com/office/drawing/2014/main" id="{20493314-0FC3-A444-8A8B-8CCDB5FCEFEE}"/>
              </a:ext>
            </a:extLst>
          </p:cNvPr>
          <p:cNvSpPr txBox="1"/>
          <p:nvPr/>
        </p:nvSpPr>
        <p:spPr>
          <a:xfrm>
            <a:off x="3151527"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db2: </a:t>
            </a:r>
            <a:r>
              <a:rPr lang="en-US" sz="1400" b="1" u="sng" dirty="0">
                <a:latin typeface="Arial" panose="020B0604020202020204" pitchFamily="34" charset="0"/>
                <a:cs typeface="Arial" panose="020B0604020202020204" pitchFamily="34" charset="0"/>
              </a:rPr>
              <a:t>14 Genes, 25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1.36</a:t>
            </a:r>
          </a:p>
        </p:txBody>
      </p:sp>
      <p:sp>
        <p:nvSpPr>
          <p:cNvPr id="12" name="TextBox 11">
            <a:extLst>
              <a:ext uri="{FF2B5EF4-FFF2-40B4-BE49-F238E27FC236}">
                <a16:creationId xmlns:a16="http://schemas.microsoft.com/office/drawing/2014/main" id="{5932A397-35E6-1E43-87CF-7342C81ECBBD}"/>
              </a:ext>
            </a:extLst>
          </p:cNvPr>
          <p:cNvSpPr txBox="1"/>
          <p:nvPr/>
        </p:nvSpPr>
        <p:spPr>
          <a:xfrm>
            <a:off x="164947" y="419842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db4: </a:t>
            </a:r>
            <a:r>
              <a:rPr lang="en-US" sz="1400" b="1" u="sng" dirty="0">
                <a:latin typeface="Arial" panose="020B0604020202020204" pitchFamily="34" charset="0"/>
                <a:cs typeface="Arial" panose="020B0604020202020204" pitchFamily="34" charset="0"/>
              </a:rPr>
              <a:t>14 Genes, 35 Edges</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1.30 </a:t>
            </a:r>
          </a:p>
        </p:txBody>
      </p:sp>
      <p:sp>
        <p:nvSpPr>
          <p:cNvPr id="13" name="TextBox 12">
            <a:extLst>
              <a:ext uri="{FF2B5EF4-FFF2-40B4-BE49-F238E27FC236}">
                <a16:creationId xmlns:a16="http://schemas.microsoft.com/office/drawing/2014/main" id="{47B2562F-3606-374D-861B-5E27808B42F9}"/>
              </a:ext>
            </a:extLst>
          </p:cNvPr>
          <p:cNvSpPr txBox="1"/>
          <p:nvPr/>
        </p:nvSpPr>
        <p:spPr>
          <a:xfrm>
            <a:off x="3151527" y="4196320"/>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db5: </a:t>
            </a:r>
            <a:r>
              <a:rPr lang="en-US" sz="1400" b="1" u="sng" dirty="0">
                <a:latin typeface="Arial" panose="020B0604020202020204" pitchFamily="34" charset="0"/>
                <a:cs typeface="Arial" panose="020B0604020202020204" pitchFamily="34" charset="0"/>
              </a:rPr>
              <a:t>15 Genes, 28 Edges </a:t>
            </a:r>
          </a:p>
          <a:p>
            <a:pPr algn="ctr"/>
            <a:r>
              <a:rPr lang="en-US" sz="1400" dirty="0">
                <a:latin typeface="Arial" panose="020B0604020202020204" pitchFamily="34" charset="0"/>
                <a:cs typeface="Arial" panose="020B0604020202020204" pitchFamily="34" charset="0"/>
              </a:rPr>
              <a:t>LSE:minLSE = 1.43</a:t>
            </a:r>
          </a:p>
        </p:txBody>
      </p:sp>
      <p:sp>
        <p:nvSpPr>
          <p:cNvPr id="14" name="TextBox 13">
            <a:extLst>
              <a:ext uri="{FF2B5EF4-FFF2-40B4-BE49-F238E27FC236}">
                <a16:creationId xmlns:a16="http://schemas.microsoft.com/office/drawing/2014/main" id="{1A332C90-0FB2-BC46-BF44-41C795FDB717}"/>
              </a:ext>
            </a:extLst>
          </p:cNvPr>
          <p:cNvSpPr txBox="1"/>
          <p:nvPr/>
        </p:nvSpPr>
        <p:spPr>
          <a:xfrm>
            <a:off x="6168676" y="4184135"/>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db6: </a:t>
            </a:r>
            <a:r>
              <a:rPr lang="en-US" sz="1400" b="1" u="sng" dirty="0">
                <a:latin typeface="Arial" panose="020B0604020202020204" pitchFamily="34" charset="0"/>
                <a:cs typeface="Arial" panose="020B0604020202020204" pitchFamily="34" charset="0"/>
              </a:rPr>
              <a:t>16 Genes, 27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1.40</a:t>
            </a:r>
          </a:p>
        </p:txBody>
      </p:sp>
      <p:sp>
        <p:nvSpPr>
          <p:cNvPr id="15" name="Title 1"/>
          <p:cNvSpPr txBox="1">
            <a:spLocks/>
          </p:cNvSpPr>
          <p:nvPr/>
        </p:nvSpPr>
        <p:spPr>
          <a:xfrm>
            <a:off x="457200" y="372034"/>
            <a:ext cx="8131630"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err="1"/>
              <a:t>LSE:minLSE</a:t>
            </a:r>
            <a:r>
              <a:rPr lang="en-US" sz="2800" b="1" dirty="0"/>
              <a:t> ratio used to determine relative model performance</a:t>
            </a:r>
          </a:p>
        </p:txBody>
      </p:sp>
      <p:sp>
        <p:nvSpPr>
          <p:cNvPr id="2" name="Rectangle 1"/>
          <p:cNvSpPr/>
          <p:nvPr/>
        </p:nvSpPr>
        <p:spPr>
          <a:xfrm>
            <a:off x="127250" y="3370729"/>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3031818" y="3442444"/>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043956" y="3442444"/>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196356" y="6069103"/>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004922" y="6149785"/>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p:cNvGrpSpPr/>
          <p:nvPr/>
        </p:nvGrpSpPr>
        <p:grpSpPr>
          <a:xfrm>
            <a:off x="60269" y="1927574"/>
            <a:ext cx="2835362" cy="1859696"/>
            <a:chOff x="2432649" y="1932317"/>
            <a:chExt cx="4537494" cy="2976114"/>
          </a:xfrm>
        </p:grpSpPr>
        <p:pic>
          <p:nvPicPr>
            <p:cNvPr id="27" name="Picture 26"/>
            <p:cNvPicPr>
              <a:picLocks noChangeAspect="1"/>
            </p:cNvPicPr>
            <p:nvPr/>
          </p:nvPicPr>
          <p:blipFill rotWithShape="1">
            <a:blip r:embed="rId3"/>
            <a:srcRect l="26604" t="20240" r="23774" b="20583"/>
            <a:stretch/>
          </p:blipFill>
          <p:spPr>
            <a:xfrm>
              <a:off x="2432649" y="1932317"/>
              <a:ext cx="4537494" cy="2976114"/>
            </a:xfrm>
            <a:prstGeom prst="rect">
              <a:avLst/>
            </a:prstGeom>
          </p:spPr>
        </p:pic>
        <p:sp>
          <p:nvSpPr>
            <p:cNvPr id="28" name="Rectangle 27"/>
            <p:cNvSpPr/>
            <p:nvPr/>
          </p:nvSpPr>
          <p:spPr>
            <a:xfrm>
              <a:off x="2441275" y="4002661"/>
              <a:ext cx="569343" cy="8971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3112361" y="1948039"/>
            <a:ext cx="2808410" cy="1757279"/>
            <a:chOff x="2493034" y="2061713"/>
            <a:chExt cx="4494362" cy="2812212"/>
          </a:xfrm>
        </p:grpSpPr>
        <p:pic>
          <p:nvPicPr>
            <p:cNvPr id="30" name="Picture 29"/>
            <p:cNvPicPr>
              <a:picLocks noChangeAspect="1"/>
            </p:cNvPicPr>
            <p:nvPr/>
          </p:nvPicPr>
          <p:blipFill rotWithShape="1">
            <a:blip r:embed="rId4"/>
            <a:srcRect l="27264" t="22813" r="23585" b="21269"/>
            <a:stretch/>
          </p:blipFill>
          <p:spPr>
            <a:xfrm>
              <a:off x="2493034" y="2061713"/>
              <a:ext cx="4494362" cy="2812212"/>
            </a:xfrm>
            <a:prstGeom prst="rect">
              <a:avLst/>
            </a:prstGeom>
          </p:spPr>
        </p:pic>
        <p:sp>
          <p:nvSpPr>
            <p:cNvPr id="31" name="Rectangle 30"/>
            <p:cNvSpPr/>
            <p:nvPr/>
          </p:nvSpPr>
          <p:spPr>
            <a:xfrm>
              <a:off x="2501657" y="4080294"/>
              <a:ext cx="508959" cy="793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p:cNvGrpSpPr/>
          <p:nvPr/>
        </p:nvGrpSpPr>
        <p:grpSpPr>
          <a:xfrm>
            <a:off x="6149600" y="1945886"/>
            <a:ext cx="2803022" cy="1768062"/>
            <a:chOff x="2493031" y="2061712"/>
            <a:chExt cx="4485739" cy="2829469"/>
          </a:xfrm>
        </p:grpSpPr>
        <p:pic>
          <p:nvPicPr>
            <p:cNvPr id="33" name="Picture 32"/>
            <p:cNvPicPr>
              <a:picLocks noChangeAspect="1"/>
            </p:cNvPicPr>
            <p:nvPr/>
          </p:nvPicPr>
          <p:blipFill rotWithShape="1">
            <a:blip r:embed="rId5"/>
            <a:srcRect l="27264" t="22813" r="23679" b="20926"/>
            <a:stretch/>
          </p:blipFill>
          <p:spPr>
            <a:xfrm>
              <a:off x="2493034" y="2061712"/>
              <a:ext cx="4485736" cy="2829465"/>
            </a:xfrm>
            <a:prstGeom prst="rect">
              <a:avLst/>
            </a:prstGeom>
          </p:spPr>
        </p:pic>
        <p:sp>
          <p:nvSpPr>
            <p:cNvPr id="34" name="Rectangle 33"/>
            <p:cNvSpPr/>
            <p:nvPr/>
          </p:nvSpPr>
          <p:spPr>
            <a:xfrm>
              <a:off x="2493031" y="4011287"/>
              <a:ext cx="491706" cy="8798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p:cNvGrpSpPr/>
          <p:nvPr/>
        </p:nvGrpSpPr>
        <p:grpSpPr>
          <a:xfrm>
            <a:off x="125718" y="4702876"/>
            <a:ext cx="2833294" cy="1819005"/>
            <a:chOff x="2461839" y="2018581"/>
            <a:chExt cx="4534184" cy="2910995"/>
          </a:xfrm>
        </p:grpSpPr>
        <p:pic>
          <p:nvPicPr>
            <p:cNvPr id="36" name="Picture 35"/>
            <p:cNvPicPr>
              <a:picLocks noChangeAspect="1"/>
            </p:cNvPicPr>
            <p:nvPr/>
          </p:nvPicPr>
          <p:blipFill rotWithShape="1">
            <a:blip r:embed="rId6"/>
            <a:srcRect l="26981" t="21955" r="23490" b="20755"/>
            <a:stretch/>
          </p:blipFill>
          <p:spPr>
            <a:xfrm>
              <a:off x="2467155" y="2018581"/>
              <a:ext cx="4528868" cy="2881224"/>
            </a:xfrm>
            <a:prstGeom prst="rect">
              <a:avLst/>
            </a:prstGeom>
          </p:spPr>
        </p:pic>
        <p:sp>
          <p:nvSpPr>
            <p:cNvPr id="37" name="Rectangle 36"/>
            <p:cNvSpPr/>
            <p:nvPr/>
          </p:nvSpPr>
          <p:spPr>
            <a:xfrm>
              <a:off x="2467155" y="4109484"/>
              <a:ext cx="212250" cy="5847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759149" y="4306186"/>
              <a:ext cx="101009" cy="2126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467155" y="4883857"/>
              <a:ext cx="430217"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461839" y="4694274"/>
              <a:ext cx="45719" cy="1895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3109279" y="4687761"/>
            <a:ext cx="2813801" cy="1854308"/>
            <a:chOff x="2484408" y="1932317"/>
            <a:chExt cx="4502988" cy="2967491"/>
          </a:xfrm>
        </p:grpSpPr>
        <p:pic>
          <p:nvPicPr>
            <p:cNvPr id="42" name="Picture 41"/>
            <p:cNvPicPr>
              <a:picLocks noChangeAspect="1"/>
            </p:cNvPicPr>
            <p:nvPr/>
          </p:nvPicPr>
          <p:blipFill rotWithShape="1">
            <a:blip r:embed="rId7"/>
            <a:srcRect l="27170" t="20240" r="23585" b="20755"/>
            <a:stretch/>
          </p:blipFill>
          <p:spPr>
            <a:xfrm>
              <a:off x="2484408" y="1932317"/>
              <a:ext cx="4502988" cy="2967488"/>
            </a:xfrm>
            <a:prstGeom prst="rect">
              <a:avLst/>
            </a:prstGeom>
          </p:spPr>
        </p:pic>
        <p:sp>
          <p:nvSpPr>
            <p:cNvPr id="43" name="Rectangle 42"/>
            <p:cNvSpPr/>
            <p:nvPr/>
          </p:nvSpPr>
          <p:spPr>
            <a:xfrm>
              <a:off x="2484408" y="4002661"/>
              <a:ext cx="422694" cy="897147"/>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6118779" y="4724690"/>
            <a:ext cx="2856924" cy="1768061"/>
            <a:chOff x="2432649" y="2061712"/>
            <a:chExt cx="4572000" cy="2829468"/>
          </a:xfrm>
        </p:grpSpPr>
        <p:pic>
          <p:nvPicPr>
            <p:cNvPr id="45" name="Picture 44"/>
            <p:cNvPicPr>
              <a:picLocks noChangeAspect="1"/>
            </p:cNvPicPr>
            <p:nvPr/>
          </p:nvPicPr>
          <p:blipFill rotWithShape="1">
            <a:blip r:embed="rId8"/>
            <a:srcRect l="26603" t="22813" r="23396" b="21098"/>
            <a:stretch/>
          </p:blipFill>
          <p:spPr>
            <a:xfrm>
              <a:off x="2432649" y="2061712"/>
              <a:ext cx="4572000" cy="2820839"/>
            </a:xfrm>
            <a:prstGeom prst="rect">
              <a:avLst/>
            </a:prstGeom>
          </p:spPr>
        </p:pic>
        <p:sp>
          <p:nvSpPr>
            <p:cNvPr id="46" name="Rectangle 45"/>
            <p:cNvSpPr/>
            <p:nvPr/>
          </p:nvSpPr>
          <p:spPr>
            <a:xfrm>
              <a:off x="2432649" y="4045791"/>
              <a:ext cx="465826" cy="8453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9384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3" y="376097"/>
            <a:ext cx="8897711"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700" b="1" dirty="0">
                <a:latin typeface="Arial" panose="020B0604020202020204" pitchFamily="34" charset="0"/>
                <a:cs typeface="Arial" panose="020B0604020202020204" pitchFamily="34" charset="0"/>
              </a:rPr>
              <a:t>Modeling revealed consistent regulatory relationships among sets of transcription factors</a:t>
            </a:r>
          </a:p>
        </p:txBody>
      </p:sp>
      <p:graphicFrame>
        <p:nvGraphicFramePr>
          <p:cNvPr id="4" name="Table 3">
            <a:extLst>
              <a:ext uri="{FF2B5EF4-FFF2-40B4-BE49-F238E27FC236}">
                <a16:creationId xmlns:a16="http://schemas.microsoft.com/office/drawing/2014/main" id="{D5292940-1A04-544B-8DBC-F46CC0191FD2}"/>
              </a:ext>
            </a:extLst>
          </p:cNvPr>
          <p:cNvGraphicFramePr>
            <a:graphicFrameLocks noGrp="1"/>
          </p:cNvGraphicFramePr>
          <p:nvPr/>
        </p:nvGraphicFramePr>
        <p:xfrm>
          <a:off x="138223" y="1464580"/>
          <a:ext cx="7234022" cy="5213302"/>
        </p:xfrm>
        <a:graphic>
          <a:graphicData uri="http://schemas.openxmlformats.org/drawingml/2006/table">
            <a:tbl>
              <a:tblPr/>
              <a:tblGrid>
                <a:gridCol w="1096066">
                  <a:extLst>
                    <a:ext uri="{9D8B030D-6E8A-4147-A177-3AD203B41FA5}">
                      <a16:colId xmlns:a16="http://schemas.microsoft.com/office/drawing/2014/main" val="21414373"/>
                    </a:ext>
                  </a:extLst>
                </a:gridCol>
                <a:gridCol w="434118">
                  <a:extLst>
                    <a:ext uri="{9D8B030D-6E8A-4147-A177-3AD203B41FA5}">
                      <a16:colId xmlns:a16="http://schemas.microsoft.com/office/drawing/2014/main" val="1010719465"/>
                    </a:ext>
                  </a:extLst>
                </a:gridCol>
                <a:gridCol w="431707">
                  <a:extLst>
                    <a:ext uri="{9D8B030D-6E8A-4147-A177-3AD203B41FA5}">
                      <a16:colId xmlns:a16="http://schemas.microsoft.com/office/drawing/2014/main" val="4099157551"/>
                    </a:ext>
                  </a:extLst>
                </a:gridCol>
                <a:gridCol w="431707">
                  <a:extLst>
                    <a:ext uri="{9D8B030D-6E8A-4147-A177-3AD203B41FA5}">
                      <a16:colId xmlns:a16="http://schemas.microsoft.com/office/drawing/2014/main" val="1678469326"/>
                    </a:ext>
                  </a:extLst>
                </a:gridCol>
                <a:gridCol w="431707">
                  <a:extLst>
                    <a:ext uri="{9D8B030D-6E8A-4147-A177-3AD203B41FA5}">
                      <a16:colId xmlns:a16="http://schemas.microsoft.com/office/drawing/2014/main" val="1354811452"/>
                    </a:ext>
                  </a:extLst>
                </a:gridCol>
                <a:gridCol w="431707">
                  <a:extLst>
                    <a:ext uri="{9D8B030D-6E8A-4147-A177-3AD203B41FA5}">
                      <a16:colId xmlns:a16="http://schemas.microsoft.com/office/drawing/2014/main" val="64468640"/>
                    </a:ext>
                  </a:extLst>
                </a:gridCol>
                <a:gridCol w="431707">
                  <a:extLst>
                    <a:ext uri="{9D8B030D-6E8A-4147-A177-3AD203B41FA5}">
                      <a16:colId xmlns:a16="http://schemas.microsoft.com/office/drawing/2014/main" val="2773955095"/>
                    </a:ext>
                  </a:extLst>
                </a:gridCol>
                <a:gridCol w="955061">
                  <a:extLst>
                    <a:ext uri="{9D8B030D-6E8A-4147-A177-3AD203B41FA5}">
                      <a16:colId xmlns:a16="http://schemas.microsoft.com/office/drawing/2014/main" val="3022971936"/>
                    </a:ext>
                  </a:extLst>
                </a:gridCol>
                <a:gridCol w="431707">
                  <a:extLst>
                    <a:ext uri="{9D8B030D-6E8A-4147-A177-3AD203B41FA5}">
                      <a16:colId xmlns:a16="http://schemas.microsoft.com/office/drawing/2014/main" val="136270560"/>
                    </a:ext>
                  </a:extLst>
                </a:gridCol>
                <a:gridCol w="431707">
                  <a:extLst>
                    <a:ext uri="{9D8B030D-6E8A-4147-A177-3AD203B41FA5}">
                      <a16:colId xmlns:a16="http://schemas.microsoft.com/office/drawing/2014/main" val="3527067450"/>
                    </a:ext>
                  </a:extLst>
                </a:gridCol>
                <a:gridCol w="431707">
                  <a:extLst>
                    <a:ext uri="{9D8B030D-6E8A-4147-A177-3AD203B41FA5}">
                      <a16:colId xmlns:a16="http://schemas.microsoft.com/office/drawing/2014/main" val="3235875458"/>
                    </a:ext>
                  </a:extLst>
                </a:gridCol>
                <a:gridCol w="431707">
                  <a:extLst>
                    <a:ext uri="{9D8B030D-6E8A-4147-A177-3AD203B41FA5}">
                      <a16:colId xmlns:a16="http://schemas.microsoft.com/office/drawing/2014/main" val="662035800"/>
                    </a:ext>
                  </a:extLst>
                </a:gridCol>
                <a:gridCol w="431707">
                  <a:extLst>
                    <a:ext uri="{9D8B030D-6E8A-4147-A177-3AD203B41FA5}">
                      <a16:colId xmlns:a16="http://schemas.microsoft.com/office/drawing/2014/main" val="765586967"/>
                    </a:ext>
                  </a:extLst>
                </a:gridCol>
                <a:gridCol w="431707">
                  <a:extLst>
                    <a:ext uri="{9D8B030D-6E8A-4147-A177-3AD203B41FA5}">
                      <a16:colId xmlns:a16="http://schemas.microsoft.com/office/drawing/2014/main" val="2246780204"/>
                    </a:ext>
                  </a:extLst>
                </a:gridCol>
              </a:tblGrid>
              <a:tr h="143023">
                <a:tc>
                  <a:txBody>
                    <a:bodyPr/>
                    <a:lstStyle/>
                    <a:p>
                      <a:endParaRPr lang="en-US" sz="1000">
                        <a:effectLst/>
                        <a:latin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db1</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db3</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db5</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db6</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db2</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db5</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lgn="ctr">
                        <a:spcBef>
                          <a:spcPts val="0"/>
                        </a:spcBef>
                        <a:spcAft>
                          <a:spcPts val="0"/>
                        </a:spcAft>
                      </a:pPr>
                      <a:r>
                        <a:rPr lang="en-US"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db6</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extLst>
                  <a:ext uri="{0D108BD9-81ED-4DB2-BD59-A6C34878D82A}">
                    <a16:rowId xmlns:a16="http://schemas.microsoft.com/office/drawing/2014/main" val="3158885926"/>
                  </a:ext>
                </a:extLst>
              </a:tr>
              <a:tr h="143023">
                <a:tc>
                  <a:txBody>
                    <a:bodyPr/>
                    <a:lstStyle/>
                    <a:p>
                      <a:pPr marL="0" marR="0" algn="ctr">
                        <a:spcBef>
                          <a:spcPts val="0"/>
                        </a:spcBef>
                        <a:spcAft>
                          <a:spcPts val="0"/>
                        </a:spcAft>
                      </a:pPr>
                      <a:r>
                        <a:rPr lang="en-US"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ABF1-&gt;ASF1</a:t>
                      </a:r>
                      <a:endParaRPr lang="en-US"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6A8A8"/>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MCM1-&gt;SWI4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8E8"/>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0C0E9"/>
                    </a:solidFill>
                  </a:tcPr>
                </a:tc>
                <a:extLst>
                  <a:ext uri="{0D108BD9-81ED-4DB2-BD59-A6C34878D82A}">
                    <a16:rowId xmlns:a16="http://schemas.microsoft.com/office/drawing/2014/main" val="3657575566"/>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ABF1-&gt;ASH1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EC5C5"/>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MCM1-&gt;SWI5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5DBD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4254154853"/>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ABF1-&gt;CST6</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AFA"/>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MCM1-&gt;YHP1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5A7A7"/>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330802478"/>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ABF1-&gt;HMO1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F6FC"/>
                    </a:solidFill>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3D3F0"/>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MCM1-&gt;YOX1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5F5"/>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641578323"/>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ABF1-&gt;MGA2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1B1E4"/>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MSN2-&gt;AFT2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40000"/>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790700355"/>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ABF1-&gt;MSN4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A7F7F"/>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MSN2-&gt;ASF1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4F4"/>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638056309"/>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ABF1-&gt;SFP1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CBDB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MSN2-&gt;ASH1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1D1EF"/>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A3A3DF"/>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971414236"/>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ABF1-&gt;SWI4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3737BA"/>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5050C3"/>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MSN2-&gt;CIN5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CBC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7878D1"/>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6C6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4C4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1E1"/>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5B5BC7"/>
                    </a:solidFill>
                  </a:tcPr>
                </a:tc>
                <a:extLst>
                  <a:ext uri="{0D108BD9-81ED-4DB2-BD59-A6C34878D82A}">
                    <a16:rowId xmlns:a16="http://schemas.microsoft.com/office/drawing/2014/main" val="4124723518"/>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ACE2-&gt;ASH1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0B0E4"/>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8C8EC"/>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MSN2-&gt;CYC8</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09494"/>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024524486"/>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ASH1-&gt;YHP1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6060C8"/>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BF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MSN2-&gt;HAP4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4343B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97B7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6A7A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FCFE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0F0FA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E1E1"/>
                    </a:solidFill>
                  </a:tcPr>
                </a:tc>
                <a:extLst>
                  <a:ext uri="{0D108BD9-81ED-4DB2-BD59-A6C34878D82A}">
                    <a16:rowId xmlns:a16="http://schemas.microsoft.com/office/drawing/2014/main" val="107153037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CIN5-&gt;ASF1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F6FC"/>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MSN2-&gt;MSN4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B9BDC"/>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A1A1DF"/>
                    </a:solidFill>
                  </a:tcPr>
                </a:tc>
                <a:extLst>
                  <a:ext uri="{0D108BD9-81ED-4DB2-BD59-A6C34878D82A}">
                    <a16:rowId xmlns:a16="http://schemas.microsoft.com/office/drawing/2014/main" val="2908971605"/>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CIN5-&gt;CYC8</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3E3"/>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MSN2-&gt;SFP1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DE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CF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7777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2F2FA"/>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3B3E5"/>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66406368"/>
                  </a:ext>
                </a:extLst>
              </a:tr>
              <a:tr h="95349">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CIN5-&gt;HAP4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6F6"/>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CF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5F5"/>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7F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B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7F7"/>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MSN2-&gt;SWI4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5C5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FCFE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8E8ED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9E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DE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4E4"/>
                    </a:solidFill>
                  </a:tcPr>
                </a:tc>
                <a:extLst>
                  <a:ext uri="{0D108BD9-81ED-4DB2-BD59-A6C34878D82A}">
                    <a16:rowId xmlns:a16="http://schemas.microsoft.com/office/drawing/2014/main" val="188885877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CIN5-&gt;SFP1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F7F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6F6"/>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F1F1"/>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MSN2-&gt;TEC1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0F0FA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428483267"/>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CIN5-&gt;STB5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2F2FA"/>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F0FA"/>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F0FA"/>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8E6E6"/>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6C6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4646C0"/>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7ADA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B8383"/>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039320287"/>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CIN5-&gt;TEC1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6F6"/>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MSN2-&gt;YOX1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F1F1"/>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8C8CD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D9DD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C9C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7ABA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074629225"/>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CIN5-&gt;YHP1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F0F0"/>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8F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CF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BF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CFC"/>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SFP1-&gt;SWI5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D9DD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595DA"/>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3232B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494DA"/>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119685612"/>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GCN4-&gt;GLN3</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DE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6464CA"/>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STB5-&gt;HAP4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DCDE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F1F1"/>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AB6B6"/>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179090199"/>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GLN3-&gt;GCN4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DED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BB9B9"/>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STB5-&gt;SFP1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BCBE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9B9E7"/>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CBEB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82630150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GLN3-&gt;MGA2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DFD"/>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EF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FAFD"/>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SWI4-&gt;CYC8</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FAF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904853410"/>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GCR2-&gt;MSN2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4040B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2525B4"/>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DC0C0"/>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77575"/>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8484D5"/>
                    </a:solidFill>
                  </a:tcPr>
                </a:tc>
                <a:tc>
                  <a:txBody>
                    <a:bodyPr/>
                    <a:lstStyle/>
                    <a:p>
                      <a:pPr marL="0" marR="0" algn="ctr">
                        <a:spcBef>
                          <a:spcPts val="0"/>
                        </a:spcBef>
                        <a:spcAft>
                          <a:spcPts val="0"/>
                        </a:spcAft>
                      </a:pPr>
                      <a:r>
                        <a:rPr lang="en-US"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SWI4-&gt;HAP4</a:t>
                      </a:r>
                      <a:endParaRPr lang="en-US"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6767C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6C6CC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7E7ED2"/>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8C8CD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DEDF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2E2EB7"/>
                    </a:solidFill>
                  </a:tcPr>
                </a:tc>
                <a:extLst>
                  <a:ext uri="{0D108BD9-81ED-4DB2-BD59-A6C34878D82A}">
                    <a16:rowId xmlns:a16="http://schemas.microsoft.com/office/drawing/2014/main" val="366980119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HAP4-&gt;GCN4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F1F1"/>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5F5"/>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SWI4-&gt;YHP1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C9C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0000A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5F5F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3B3BB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4B4BC1"/>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815960179"/>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HMO1-&gt;ASF1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EF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SWI4-&gt;YOX1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DC0C0"/>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EF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DF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DCDE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A2A2DF"/>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487797689"/>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HMO1-&gt;CIN5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EF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DED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1E1"/>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AEA"/>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EFEF"/>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5DCDC"/>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SWI5-&gt;ASH1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9595D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4220979148"/>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HMO1-&gt;CYC8</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BFBFE9"/>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SWI5-&gt;TEC1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5A4A4"/>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309137892"/>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HMO1-&gt;GCN4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EF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9D9F2"/>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TEC1-&gt;CIN5</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CDCDEE"/>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44323995"/>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HMO1-&gt;HAP4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4D9D9"/>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DDDF3"/>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3E3F5"/>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BEFEF"/>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BE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F0FA"/>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TEC1-&gt;HAP4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9E9"/>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51605710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HMO1-&gt;HMO1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8E5E5"/>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E0E0"/>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DFDF"/>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DEDE"/>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8E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CEC"/>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TEC1-&gt;MSN2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4E4F5"/>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052236312"/>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HMO1-&gt;HSF1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DFD"/>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TEC1-&gt;SFP1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DF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49557534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HMO1-&gt;MCM1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87878"/>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D05E5E"/>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TEC1-&gt;YHP1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F7FC"/>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127682497"/>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HMO1-&gt;MSN2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AEA"/>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7F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6F6"/>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4F4"/>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BF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7F7"/>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YHP1-&gt;ASF1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EEEF9"/>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941470633"/>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HMO1-&gt;MSN4</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8E5E5"/>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2E2"/>
                    </a:solidFill>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YHP1-&gt;GLN3</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FC8C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8E6E6"/>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CBDBD"/>
                    </a:solidFill>
                  </a:tcPr>
                </a:tc>
                <a:tc>
                  <a:txBody>
                    <a:bodyPr/>
                    <a:lstStyle/>
                    <a:p>
                      <a:pPr marL="0" marR="0">
                        <a:spcBef>
                          <a:spcPts val="0"/>
                        </a:spcBef>
                        <a:spcAft>
                          <a:spcPts val="0"/>
                        </a:spcAft>
                      </a:pPr>
                      <a:r>
                        <a:rPr lang="en-US" sz="9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19696"/>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E9B2B2"/>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3787547695"/>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HMO1-&gt;TEC1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9EBE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YHP1-&gt;RDS3</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7E2E2"/>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1CFCF"/>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1401997356"/>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HMO1-&gt;YOX1</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DF5F5"/>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8E7E7"/>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AECEC"/>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EFBFB"/>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FFDFD"/>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ZAP1-&gt;ACE2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0CBCB"/>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DFDF"/>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4D8D8"/>
                    </a:solidFill>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6E0E0"/>
                    </a:solidFill>
                  </a:tcPr>
                </a:tc>
                <a:extLst>
                  <a:ext uri="{0D108BD9-81ED-4DB2-BD59-A6C34878D82A}">
                    <a16:rowId xmlns:a16="http://schemas.microsoft.com/office/drawing/2014/main" val="417175444"/>
                  </a:ext>
                </a:extLst>
              </a:tr>
              <a:tr h="143023">
                <a:tc>
                  <a:txBody>
                    <a:bodyPr/>
                    <a:lstStyle/>
                    <a:p>
                      <a:pPr marL="0" marR="0" algn="ctr">
                        <a:spcBef>
                          <a:spcPts val="0"/>
                        </a:spcBef>
                        <a:spcAft>
                          <a:spcPts val="0"/>
                        </a:spcAft>
                      </a:pPr>
                      <a:r>
                        <a:rPr lang="en-US"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MCM1-&gt;ACE2</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ctr">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3F3"/>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pPr marL="0" marR="0">
                        <a:spcBef>
                          <a:spcPts val="0"/>
                        </a:spcBef>
                        <a:spcAft>
                          <a:spcPts val="0"/>
                        </a:spcAft>
                      </a:pPr>
                      <a:r>
                        <a:rPr lang="en-US" sz="900">
                          <a:effectLst/>
                          <a:latin typeface="Arial" panose="020B0604020202020204" pitchFamily="34" charset="0"/>
                          <a:ea typeface="Times New Roman" panose="02020603050405020304" pitchFamily="18" charset="0"/>
                          <a:cs typeface="Times New Roman" panose="02020603050405020304" pitchFamily="18" charset="0"/>
                        </a:rPr>
                        <a:t> </a:t>
                      </a:r>
                      <a:endParaRPr lang="en-US"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solidFill>
                      <a:srgbClr val="FCF3F3"/>
                    </a:solidFill>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tc>
                  <a:txBody>
                    <a:bodyPr/>
                    <a:lstStyle/>
                    <a:p>
                      <a:endParaRPr lang="en-US" sz="900" dirty="0">
                        <a:effectLst/>
                        <a:latin typeface="Times New Roman" panose="02020603050405020304" pitchFamily="18" charset="0"/>
                        <a:cs typeface="Times New Roman" panose="02020603050405020304" pitchFamily="18" charset="0"/>
                      </a:endParaRPr>
                    </a:p>
                  </a:txBody>
                  <a:tcPr marL="55984" marR="55984" marT="0" marB="0" anchor="b">
                    <a:lnL>
                      <a:noFill/>
                    </a:lnL>
                    <a:lnR>
                      <a:noFill/>
                    </a:lnR>
                    <a:lnT>
                      <a:noFill/>
                    </a:lnT>
                    <a:lnB>
                      <a:noFill/>
                    </a:lnB>
                  </a:tcPr>
                </a:tc>
                <a:extLst>
                  <a:ext uri="{0D108BD9-81ED-4DB2-BD59-A6C34878D82A}">
                    <a16:rowId xmlns:a16="http://schemas.microsoft.com/office/drawing/2014/main" val="2181033096"/>
                  </a:ext>
                </a:extLst>
              </a:tr>
            </a:tbl>
          </a:graphicData>
        </a:graphic>
      </p:graphicFrame>
      <p:grpSp>
        <p:nvGrpSpPr>
          <p:cNvPr id="6" name="Group 5">
            <a:extLst>
              <a:ext uri="{FF2B5EF4-FFF2-40B4-BE49-F238E27FC236}">
                <a16:creationId xmlns:a16="http://schemas.microsoft.com/office/drawing/2014/main" id="{BC035DE9-BD28-7142-ADDA-FC0F57923220}"/>
              </a:ext>
            </a:extLst>
          </p:cNvPr>
          <p:cNvGrpSpPr/>
          <p:nvPr/>
        </p:nvGrpSpPr>
        <p:grpSpPr>
          <a:xfrm>
            <a:off x="7684827" y="1971486"/>
            <a:ext cx="1351107" cy="4199490"/>
            <a:chOff x="11517099" y="25444349"/>
            <a:chExt cx="1528356" cy="4750406"/>
          </a:xfrm>
        </p:grpSpPr>
        <p:pic>
          <p:nvPicPr>
            <p:cNvPr id="7" name="Picture 6">
              <a:extLst>
                <a:ext uri="{FF2B5EF4-FFF2-40B4-BE49-F238E27FC236}">
                  <a16:creationId xmlns:a16="http://schemas.microsoft.com/office/drawing/2014/main" id="{037006E1-580A-7145-9C84-1E21A683EBE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rot="16200000">
              <a:off x="10236613" y="27635086"/>
              <a:ext cx="4086796" cy="304843"/>
            </a:xfrm>
            <a:prstGeom prst="rect">
              <a:avLst/>
            </a:prstGeom>
          </p:spPr>
        </p:pic>
        <p:sp>
          <p:nvSpPr>
            <p:cNvPr id="8" name="TextBox 7">
              <a:extLst>
                <a:ext uri="{FF2B5EF4-FFF2-40B4-BE49-F238E27FC236}">
                  <a16:creationId xmlns:a16="http://schemas.microsoft.com/office/drawing/2014/main" id="{D45D85F0-35AA-5644-8DD7-C58CE86B663B}"/>
                </a:ext>
              </a:extLst>
            </p:cNvPr>
            <p:cNvSpPr txBox="1"/>
            <p:nvPr/>
          </p:nvSpPr>
          <p:spPr>
            <a:xfrm>
              <a:off x="11517099" y="25444349"/>
              <a:ext cx="1521115" cy="348153"/>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Maximum: 1</a:t>
              </a:r>
            </a:p>
          </p:txBody>
        </p:sp>
        <p:sp>
          <p:nvSpPr>
            <p:cNvPr id="9" name="TextBox 8">
              <a:extLst>
                <a:ext uri="{FF2B5EF4-FFF2-40B4-BE49-F238E27FC236}">
                  <a16:creationId xmlns:a16="http://schemas.microsoft.com/office/drawing/2014/main" id="{968C6523-9F18-C942-B573-DF59D0A8B3E5}"/>
                </a:ext>
              </a:extLst>
            </p:cNvPr>
            <p:cNvSpPr txBox="1"/>
            <p:nvPr/>
          </p:nvSpPr>
          <p:spPr>
            <a:xfrm>
              <a:off x="11532302" y="29846602"/>
              <a:ext cx="1513153" cy="348153"/>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Minimum : -1</a:t>
              </a:r>
            </a:p>
          </p:txBody>
        </p:sp>
      </p:grpSp>
    </p:spTree>
    <p:extLst>
      <p:ext uri="{BB962C8B-B14F-4D97-AF65-F5344CB8AC3E}">
        <p14:creationId xmlns:p14="http://schemas.microsoft.com/office/powerpoint/2010/main" val="4025509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4" y="362650"/>
            <a:ext cx="8777178"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DB5 outperforms 30 random networks containing the same genes and numbers of edges</a:t>
            </a:r>
          </a:p>
        </p:txBody>
      </p:sp>
      <p:grpSp>
        <p:nvGrpSpPr>
          <p:cNvPr id="24" name="Group 23">
            <a:extLst>
              <a:ext uri="{FF2B5EF4-FFF2-40B4-BE49-F238E27FC236}">
                <a16:creationId xmlns:a16="http://schemas.microsoft.com/office/drawing/2014/main" id="{77CC7B3D-9BDC-BB4C-AB45-3B3830688EE7}"/>
              </a:ext>
            </a:extLst>
          </p:cNvPr>
          <p:cNvGrpSpPr/>
          <p:nvPr/>
        </p:nvGrpSpPr>
        <p:grpSpPr>
          <a:xfrm>
            <a:off x="392611" y="4881184"/>
            <a:ext cx="8346696" cy="369332"/>
            <a:chOff x="392612" y="4889866"/>
            <a:chExt cx="8346696" cy="369332"/>
          </a:xfrm>
        </p:grpSpPr>
        <p:sp>
          <p:nvSpPr>
            <p:cNvPr id="14" name="TextBox 13">
              <a:extLst>
                <a:ext uri="{FF2B5EF4-FFF2-40B4-BE49-F238E27FC236}">
                  <a16:creationId xmlns:a16="http://schemas.microsoft.com/office/drawing/2014/main" id="{E6BD0460-89DC-4D4D-9410-DA283F805FEF}"/>
                </a:ext>
              </a:extLst>
            </p:cNvPr>
            <p:cNvSpPr txBox="1"/>
            <p:nvPr/>
          </p:nvSpPr>
          <p:spPr>
            <a:xfrm>
              <a:off x="6754023" y="4889866"/>
              <a:ext cx="1985285" cy="369332"/>
            </a:xfrm>
            <a:prstGeom prst="rect">
              <a:avLst/>
            </a:prstGeom>
            <a:noFill/>
          </p:spPr>
          <p:txBody>
            <a:bodyPr wrap="square" rtlCol="0">
              <a:spAutoFit/>
            </a:bodyPr>
            <a:lstStyle/>
            <a:p>
              <a:pPr algn="ctr"/>
              <a:r>
                <a:rPr lang="en-US" b="1" dirty="0">
                  <a:solidFill>
                    <a:srgbClr val="660066"/>
                  </a:solidFill>
                  <a:latin typeface="Arial" panose="020B0604020202020204" pitchFamily="34" charset="0"/>
                  <a:cs typeface="Arial" panose="020B0604020202020204" pitchFamily="34" charset="0"/>
                </a:rPr>
                <a:t>rand7</a:t>
              </a:r>
            </a:p>
          </p:txBody>
        </p:sp>
        <p:sp>
          <p:nvSpPr>
            <p:cNvPr id="15" name="TextBox 14">
              <a:extLst>
                <a:ext uri="{FF2B5EF4-FFF2-40B4-BE49-F238E27FC236}">
                  <a16:creationId xmlns:a16="http://schemas.microsoft.com/office/drawing/2014/main" id="{AB92FF3F-62B4-3C4E-AA37-70BC4EA5C5FE}"/>
                </a:ext>
              </a:extLst>
            </p:cNvPr>
            <p:cNvSpPr txBox="1"/>
            <p:nvPr/>
          </p:nvSpPr>
          <p:spPr>
            <a:xfrm>
              <a:off x="3491564" y="4889866"/>
              <a:ext cx="2070493" cy="369332"/>
            </a:xfrm>
            <a:prstGeom prst="rect">
              <a:avLst/>
            </a:prstGeom>
            <a:noFill/>
          </p:spPr>
          <p:txBody>
            <a:bodyPr wrap="square" rtlCol="0">
              <a:spAutoFit/>
            </a:bodyPr>
            <a:lstStyle/>
            <a:p>
              <a:pPr algn="ctr"/>
              <a:r>
                <a:rPr lang="en-US" b="1" dirty="0">
                  <a:solidFill>
                    <a:srgbClr val="008000"/>
                  </a:solidFill>
                  <a:latin typeface="Arial" panose="020B0604020202020204" pitchFamily="34" charset="0"/>
                  <a:cs typeface="Arial" panose="020B0604020202020204" pitchFamily="34" charset="0"/>
                </a:rPr>
                <a:t>rand24</a:t>
              </a:r>
            </a:p>
          </p:txBody>
        </p:sp>
        <p:sp>
          <p:nvSpPr>
            <p:cNvPr id="20" name="TextBox 19">
              <a:extLst>
                <a:ext uri="{FF2B5EF4-FFF2-40B4-BE49-F238E27FC236}">
                  <a16:creationId xmlns:a16="http://schemas.microsoft.com/office/drawing/2014/main" id="{335FF2FE-89A7-5A4B-A92A-EB628BE06E1C}"/>
                </a:ext>
              </a:extLst>
            </p:cNvPr>
            <p:cNvSpPr txBox="1"/>
            <p:nvPr/>
          </p:nvSpPr>
          <p:spPr>
            <a:xfrm>
              <a:off x="392612" y="4889866"/>
              <a:ext cx="1892968"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db5</a:t>
              </a:r>
            </a:p>
          </p:txBody>
        </p:sp>
      </p:grpSp>
      <p:grpSp>
        <p:nvGrpSpPr>
          <p:cNvPr id="27" name="Group 26">
            <a:extLst>
              <a:ext uri="{FF2B5EF4-FFF2-40B4-BE49-F238E27FC236}">
                <a16:creationId xmlns:a16="http://schemas.microsoft.com/office/drawing/2014/main" id="{507AE9B3-578C-434A-AC80-3482CB6B8502}"/>
              </a:ext>
            </a:extLst>
          </p:cNvPr>
          <p:cNvGrpSpPr/>
          <p:nvPr/>
        </p:nvGrpSpPr>
        <p:grpSpPr>
          <a:xfrm>
            <a:off x="77957" y="1319775"/>
            <a:ext cx="8897711" cy="3564309"/>
            <a:chOff x="77957" y="3190153"/>
            <a:chExt cx="8897711" cy="3564309"/>
          </a:xfrm>
        </p:grpSpPr>
        <p:graphicFrame>
          <p:nvGraphicFramePr>
            <p:cNvPr id="7" name="Chart 6">
              <a:extLst>
                <a:ext uri="{FF2B5EF4-FFF2-40B4-BE49-F238E27FC236}">
                  <a16:creationId xmlns:a16="http://schemas.microsoft.com/office/drawing/2014/main" id="{9E0DEC69-38E7-AB43-8174-7FE329C62F34}"/>
                </a:ext>
              </a:extLst>
            </p:cNvPr>
            <p:cNvGraphicFramePr>
              <a:graphicFrameLocks/>
            </p:cNvGraphicFramePr>
            <p:nvPr/>
          </p:nvGraphicFramePr>
          <p:xfrm>
            <a:off x="77957" y="3245236"/>
            <a:ext cx="8897711" cy="3509226"/>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Arrow Connector 9">
              <a:extLst>
                <a:ext uri="{FF2B5EF4-FFF2-40B4-BE49-F238E27FC236}">
                  <a16:creationId xmlns:a16="http://schemas.microsoft.com/office/drawing/2014/main" id="{FD62B4EB-A284-AB4A-B40D-F06F8A0BC37A}"/>
                </a:ext>
              </a:extLst>
            </p:cNvPr>
            <p:cNvCxnSpPr/>
            <p:nvPr/>
          </p:nvCxnSpPr>
          <p:spPr>
            <a:xfrm flipH="1">
              <a:off x="7058389" y="4889460"/>
              <a:ext cx="0" cy="182880"/>
            </a:xfrm>
            <a:prstGeom prst="straightConnector1">
              <a:avLst/>
            </a:prstGeom>
            <a:ln w="38100" cmpd="sng">
              <a:solidFill>
                <a:srgbClr val="660066"/>
              </a:solidFill>
              <a:headEnd w="med" len="sm"/>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08DC241-6692-674B-877D-3D2122F0AD13}"/>
                </a:ext>
              </a:extLst>
            </p:cNvPr>
            <p:cNvCxnSpPr>
              <a:cxnSpLocks/>
            </p:cNvCxnSpPr>
            <p:nvPr/>
          </p:nvCxnSpPr>
          <p:spPr>
            <a:xfrm flipH="1">
              <a:off x="3267892" y="3430695"/>
              <a:ext cx="0" cy="182880"/>
            </a:xfrm>
            <a:prstGeom prst="straightConnector1">
              <a:avLst/>
            </a:prstGeom>
            <a:ln w="38100" cmpd="sng">
              <a:solidFill>
                <a:srgbClr val="008000"/>
              </a:solidFill>
              <a:headEnd w="med" len="sm"/>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4135A29-860B-AD4E-94AF-8BA296E0AE2F}"/>
                </a:ext>
              </a:extLst>
            </p:cNvPr>
            <p:cNvSpPr txBox="1"/>
            <p:nvPr/>
          </p:nvSpPr>
          <p:spPr>
            <a:xfrm>
              <a:off x="714006" y="3190153"/>
              <a:ext cx="8040061" cy="307777"/>
            </a:xfrm>
            <a:prstGeom prst="rect">
              <a:avLst/>
            </a:prstGeom>
            <a:noFill/>
          </p:spPr>
          <p:txBody>
            <a:bodyPr wrap="square" rtlCol="0">
              <a:spAutoFit/>
            </a:bodyPr>
            <a:lstStyle/>
            <a:p>
              <a:r>
                <a:rPr lang="en-US" sz="1400" b="1" dirty="0"/>
                <a:t>Ratio of the Observed Least Squares Error to the Minimum Theoretical Least Squares Error</a:t>
              </a:r>
            </a:p>
          </p:txBody>
        </p:sp>
        <p:cxnSp>
          <p:nvCxnSpPr>
            <p:cNvPr id="26" name="Straight Arrow Connector 25">
              <a:extLst>
                <a:ext uri="{FF2B5EF4-FFF2-40B4-BE49-F238E27FC236}">
                  <a16:creationId xmlns:a16="http://schemas.microsoft.com/office/drawing/2014/main" id="{E0E42A38-83C9-A443-9386-FDFC0F675E8E}"/>
                </a:ext>
              </a:extLst>
            </p:cNvPr>
            <p:cNvCxnSpPr/>
            <p:nvPr/>
          </p:nvCxnSpPr>
          <p:spPr>
            <a:xfrm flipH="1">
              <a:off x="1939542" y="4477083"/>
              <a:ext cx="0" cy="182880"/>
            </a:xfrm>
            <a:prstGeom prst="straightConnector1">
              <a:avLst/>
            </a:prstGeom>
            <a:ln w="38100" cmpd="sng">
              <a:solidFill>
                <a:schemeClr val="tx1"/>
              </a:solidFill>
              <a:headEnd w="med" len="sm"/>
              <a:tailEnd type="triangle"/>
            </a:ln>
          </p:spPr>
          <p:style>
            <a:lnRef idx="2">
              <a:schemeClr val="accent1"/>
            </a:lnRef>
            <a:fillRef idx="0">
              <a:schemeClr val="accent1"/>
            </a:fillRef>
            <a:effectRef idx="1">
              <a:schemeClr val="accent1"/>
            </a:effectRef>
            <a:fontRef idx="minor">
              <a:schemeClr val="tx1"/>
            </a:fontRef>
          </p:style>
        </p:cxnSp>
      </p:grpSp>
      <p:pic>
        <p:nvPicPr>
          <p:cNvPr id="16" name="Picture 15"/>
          <p:cNvPicPr>
            <a:picLocks noChangeAspect="1"/>
          </p:cNvPicPr>
          <p:nvPr/>
        </p:nvPicPr>
        <p:blipFill rotWithShape="1">
          <a:blip r:embed="rId4"/>
          <a:srcRect l="30785" t="31551" r="20000" b="9448"/>
          <a:stretch/>
        </p:blipFill>
        <p:spPr>
          <a:xfrm>
            <a:off x="392611" y="5220138"/>
            <a:ext cx="2304397" cy="1519433"/>
          </a:xfrm>
          <a:prstGeom prst="rect">
            <a:avLst/>
          </a:prstGeom>
        </p:spPr>
      </p:pic>
      <p:pic>
        <p:nvPicPr>
          <p:cNvPr id="17" name="Picture 16"/>
          <p:cNvPicPr>
            <a:picLocks noChangeAspect="1"/>
          </p:cNvPicPr>
          <p:nvPr/>
        </p:nvPicPr>
        <p:blipFill rotWithShape="1">
          <a:blip r:embed="rId5"/>
          <a:srcRect l="31078" t="33155" r="19608" b="7843"/>
          <a:stretch/>
        </p:blipFill>
        <p:spPr>
          <a:xfrm>
            <a:off x="6414250" y="5214850"/>
            <a:ext cx="2325058" cy="1530009"/>
          </a:xfrm>
          <a:prstGeom prst="rect">
            <a:avLst/>
          </a:prstGeom>
        </p:spPr>
      </p:pic>
      <p:pic>
        <p:nvPicPr>
          <p:cNvPr id="18" name="Picture 17"/>
          <p:cNvPicPr>
            <a:picLocks noChangeAspect="1"/>
          </p:cNvPicPr>
          <p:nvPr/>
        </p:nvPicPr>
        <p:blipFill rotWithShape="1">
          <a:blip r:embed="rId6"/>
          <a:srcRect l="30981" t="33513" r="20196" b="7842"/>
          <a:stretch/>
        </p:blipFill>
        <p:spPr>
          <a:xfrm>
            <a:off x="3267892" y="5212811"/>
            <a:ext cx="2322113" cy="1534087"/>
          </a:xfrm>
          <a:prstGeom prst="rect">
            <a:avLst/>
          </a:prstGeom>
        </p:spPr>
      </p:pic>
    </p:spTree>
    <p:extLst>
      <p:ext uri="{BB962C8B-B14F-4D97-AF65-F5344CB8AC3E}">
        <p14:creationId xmlns:p14="http://schemas.microsoft.com/office/powerpoint/2010/main" val="104078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4" y="362650"/>
            <a:ext cx="7276990"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In general, random networks that share more connections with DB5 perform better</a:t>
            </a:r>
          </a:p>
        </p:txBody>
      </p:sp>
      <p:graphicFrame>
        <p:nvGraphicFramePr>
          <p:cNvPr id="6" name="Content Placeholder 3">
            <a:extLst>
              <a:ext uri="{FF2B5EF4-FFF2-40B4-BE49-F238E27FC236}">
                <a16:creationId xmlns:a16="http://schemas.microsoft.com/office/drawing/2014/main" id="{400DCBAB-485F-E948-AA54-1DA97153B427}"/>
              </a:ext>
            </a:extLst>
          </p:cNvPr>
          <p:cNvGraphicFramePr>
            <a:graphicFrameLocks/>
          </p:cNvGraphicFramePr>
          <p:nvPr/>
        </p:nvGraphicFramePr>
        <p:xfrm>
          <a:off x="322259" y="1378301"/>
          <a:ext cx="8529637" cy="469097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59A8FAD8-A998-1D48-A453-4A3758DF74ED}"/>
              </a:ext>
            </a:extLst>
          </p:cNvPr>
          <p:cNvSpPr txBox="1"/>
          <p:nvPr/>
        </p:nvSpPr>
        <p:spPr>
          <a:xfrm>
            <a:off x="0" y="6123508"/>
            <a:ext cx="9144000" cy="646331"/>
          </a:xfrm>
          <a:prstGeom prst="rect">
            <a:avLst/>
          </a:prstGeom>
          <a:noFill/>
        </p:spPr>
        <p:txBody>
          <a:bodyPr wrap="square" rtlCol="0">
            <a:spAutoFit/>
          </a:bodyPr>
          <a:lstStyle/>
          <a:p>
            <a:pPr marL="285750" indent="-285750">
              <a:buFont typeface="Arial"/>
              <a:buChar char="•"/>
            </a:pPr>
            <a:r>
              <a:rPr lang="en-US" u="sng" dirty="0"/>
              <a:t>Horizontal Line</a:t>
            </a:r>
            <a:r>
              <a:rPr lang="en-US" dirty="0"/>
              <a:t>: LSE:minLSE ratio of db5 (1.4263).</a:t>
            </a:r>
          </a:p>
          <a:p>
            <a:pPr marL="285750" indent="-285750">
              <a:buFont typeface="Arial"/>
              <a:buChar char="•"/>
            </a:pPr>
            <a:r>
              <a:rPr lang="en-US" u="sng" dirty="0"/>
              <a:t>Vertical Line</a:t>
            </a:r>
            <a:r>
              <a:rPr lang="en-US" dirty="0"/>
              <a:t>: median number of regulatory relationships shared with db5 (2).</a:t>
            </a:r>
          </a:p>
        </p:txBody>
      </p:sp>
    </p:spTree>
    <p:extLst>
      <p:ext uri="{BB962C8B-B14F-4D97-AF65-F5344CB8AC3E}">
        <p14:creationId xmlns:p14="http://schemas.microsoft.com/office/powerpoint/2010/main" val="887221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824753" y="1244166"/>
            <a:ext cx="7528848" cy="4387938"/>
            <a:chOff x="824753" y="1559860"/>
            <a:chExt cx="7528848" cy="4387938"/>
          </a:xfrm>
        </p:grpSpPr>
        <p:pic>
          <p:nvPicPr>
            <p:cNvPr id="17" name="Picture 16"/>
            <p:cNvPicPr>
              <a:picLocks noChangeAspect="1"/>
            </p:cNvPicPr>
            <p:nvPr/>
          </p:nvPicPr>
          <p:blipFill rotWithShape="1">
            <a:blip r:embed="rId3"/>
            <a:srcRect l="24412" t="27628" r="18627" b="12069"/>
            <a:stretch/>
          </p:blipFill>
          <p:spPr>
            <a:xfrm>
              <a:off x="824753" y="1559860"/>
              <a:ext cx="7528848" cy="4383740"/>
            </a:xfrm>
            <a:prstGeom prst="rect">
              <a:avLst/>
            </a:prstGeom>
          </p:spPr>
        </p:pic>
        <p:sp>
          <p:nvSpPr>
            <p:cNvPr id="18" name="Rectangle 17"/>
            <p:cNvSpPr/>
            <p:nvPr/>
          </p:nvSpPr>
          <p:spPr>
            <a:xfrm>
              <a:off x="824753" y="4616823"/>
              <a:ext cx="851647" cy="1330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604682" y="4975412"/>
              <a:ext cx="188259" cy="358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640541" y="5620871"/>
              <a:ext cx="152400" cy="259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5EFA0AD-68BF-A545-8940-5A7029BE6EF4}"/>
              </a:ext>
            </a:extLst>
          </p:cNvPr>
          <p:cNvSpPr txBox="1">
            <a:spLocks/>
          </p:cNvSpPr>
          <p:nvPr/>
        </p:nvSpPr>
        <p:spPr>
          <a:xfrm>
            <a:off x="138223" y="376097"/>
            <a:ext cx="8501483"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700" b="1" dirty="0"/>
              <a:t>A hypothesis network was constructed and contains key regulators that are also paralog pairs</a:t>
            </a:r>
          </a:p>
        </p:txBody>
      </p:sp>
      <p:sp>
        <p:nvSpPr>
          <p:cNvPr id="6" name="TextBox 5">
            <a:extLst>
              <a:ext uri="{FF2B5EF4-FFF2-40B4-BE49-F238E27FC236}">
                <a16:creationId xmlns:a16="http://schemas.microsoft.com/office/drawing/2014/main" id="{4791D136-F9CB-C042-8D2C-08166AA29008}"/>
              </a:ext>
            </a:extLst>
          </p:cNvPr>
          <p:cNvSpPr txBox="1"/>
          <p:nvPr/>
        </p:nvSpPr>
        <p:spPr>
          <a:xfrm>
            <a:off x="448572" y="5629157"/>
            <a:ext cx="8501483" cy="1077218"/>
          </a:xfrm>
          <a:prstGeom prst="rect">
            <a:avLst/>
          </a:prstGeom>
          <a:noFill/>
        </p:spPr>
        <p:txBody>
          <a:bodyPr wrap="square" rtlCol="0">
            <a:spAutoFit/>
          </a:bodyPr>
          <a:lstStyle/>
          <a:p>
            <a:pPr marL="285750" indent="-285750">
              <a:buFont typeface="Arial" panose="020B0604020202020204" pitchFamily="34" charset="0"/>
              <a:buChar char="•"/>
            </a:pPr>
            <a:r>
              <a:rPr lang="en-US" sz="1600" b="1" dirty="0"/>
              <a:t>ACE2/SWI5 and YHP1/YOX1 regulate the cell cycle.</a:t>
            </a:r>
          </a:p>
          <a:p>
            <a:pPr marL="285750" indent="-285750">
              <a:buFont typeface="Arial" panose="020B0604020202020204" pitchFamily="34" charset="0"/>
              <a:buChar char="•"/>
            </a:pPr>
            <a:r>
              <a:rPr lang="en-US" sz="1600" b="1" dirty="0"/>
              <a:t>MSN2/MSN4 regulate the general environmental stress response, repressing ribosome biogenesis.</a:t>
            </a:r>
          </a:p>
          <a:p>
            <a:pPr marL="285750" indent="-285750">
              <a:buFont typeface="Arial" panose="020B0604020202020204" pitchFamily="34" charset="0"/>
              <a:buChar char="•"/>
            </a:pPr>
            <a:r>
              <a:rPr lang="en-US" sz="1600" b="1" dirty="0"/>
              <a:t>HMO1 induces TORC1-dependent upregulation of ribosome biogenesis .</a:t>
            </a:r>
          </a:p>
        </p:txBody>
      </p:sp>
      <p:sp>
        <p:nvSpPr>
          <p:cNvPr id="9" name="Rectangle 8">
            <a:extLst>
              <a:ext uri="{FF2B5EF4-FFF2-40B4-BE49-F238E27FC236}">
                <a16:creationId xmlns:a16="http://schemas.microsoft.com/office/drawing/2014/main" id="{8E2BA8DB-148C-AC46-8578-7BCC7AA8EAB6}"/>
              </a:ext>
            </a:extLst>
          </p:cNvPr>
          <p:cNvSpPr/>
          <p:nvPr/>
        </p:nvSpPr>
        <p:spPr>
          <a:xfrm>
            <a:off x="4292210" y="2223931"/>
            <a:ext cx="521837" cy="193228"/>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67D7ABA-37A0-4F41-8857-90993FF51CFF}"/>
              </a:ext>
            </a:extLst>
          </p:cNvPr>
          <p:cNvSpPr/>
          <p:nvPr/>
        </p:nvSpPr>
        <p:spPr>
          <a:xfrm>
            <a:off x="2246201" y="2935471"/>
            <a:ext cx="532858" cy="217987"/>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67D7ABA-37A0-4F41-8857-90993FF51CFF}"/>
              </a:ext>
            </a:extLst>
          </p:cNvPr>
          <p:cNvSpPr/>
          <p:nvPr/>
        </p:nvSpPr>
        <p:spPr>
          <a:xfrm>
            <a:off x="3097849" y="2926501"/>
            <a:ext cx="532858" cy="217987"/>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E2BA8DB-148C-AC46-8578-7BCC7AA8EAB6}"/>
              </a:ext>
            </a:extLst>
          </p:cNvPr>
          <p:cNvSpPr/>
          <p:nvPr/>
        </p:nvSpPr>
        <p:spPr>
          <a:xfrm>
            <a:off x="4310135" y="3647402"/>
            <a:ext cx="521837" cy="193228"/>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E2BA8DB-148C-AC46-8578-7BCC7AA8EAB6}"/>
              </a:ext>
            </a:extLst>
          </p:cNvPr>
          <p:cNvSpPr/>
          <p:nvPr/>
        </p:nvSpPr>
        <p:spPr>
          <a:xfrm>
            <a:off x="6288034" y="2281482"/>
            <a:ext cx="521837" cy="193228"/>
          </a:xfrm>
          <a:prstGeom prst="rect">
            <a:avLst/>
          </a:prstGeom>
          <a:solidFill>
            <a:schemeClr val="tx2">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E2BA8DB-148C-AC46-8578-7BCC7AA8EAB6}"/>
              </a:ext>
            </a:extLst>
          </p:cNvPr>
          <p:cNvSpPr/>
          <p:nvPr/>
        </p:nvSpPr>
        <p:spPr>
          <a:xfrm>
            <a:off x="6296998" y="3635156"/>
            <a:ext cx="521837" cy="193228"/>
          </a:xfrm>
          <a:prstGeom prst="rect">
            <a:avLst/>
          </a:prstGeom>
          <a:solidFill>
            <a:schemeClr val="tx2">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173ED340-148C-208B-F0BA-ACAA45119847}"/>
              </a:ext>
            </a:extLst>
          </p:cNvPr>
          <p:cNvSpPr txBox="1"/>
          <p:nvPr/>
        </p:nvSpPr>
        <p:spPr>
          <a:xfrm>
            <a:off x="6033247" y="1411728"/>
            <a:ext cx="2696535" cy="369332"/>
          </a:xfrm>
          <a:prstGeom prst="rect">
            <a:avLst/>
          </a:prstGeom>
          <a:noFill/>
        </p:spPr>
        <p:txBody>
          <a:bodyPr wrap="square">
            <a:spAutoFit/>
          </a:bodyPr>
          <a:lstStyle/>
          <a:p>
            <a:r>
              <a:rPr lang="en-US" b="1" dirty="0"/>
              <a:t>15 genes and 34 edges</a:t>
            </a:r>
            <a:endParaRPr lang="en-US" dirty="0"/>
          </a:p>
        </p:txBody>
      </p:sp>
    </p:spTree>
    <p:extLst>
      <p:ext uri="{BB962C8B-B14F-4D97-AF65-F5344CB8AC3E}">
        <p14:creationId xmlns:p14="http://schemas.microsoft.com/office/powerpoint/2010/main" val="48706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4419596" y="2339788"/>
            <a:ext cx="4659858" cy="2726940"/>
            <a:chOff x="5773272" y="2018727"/>
            <a:chExt cx="5208494" cy="3048001"/>
          </a:xfrm>
        </p:grpSpPr>
        <p:pic>
          <p:nvPicPr>
            <p:cNvPr id="14" name="Picture 13"/>
            <p:cNvPicPr>
              <a:picLocks noChangeAspect="1"/>
            </p:cNvPicPr>
            <p:nvPr/>
          </p:nvPicPr>
          <p:blipFill rotWithShape="1">
            <a:blip r:embed="rId3"/>
            <a:srcRect l="24412" t="27450" r="18628" b="11944"/>
            <a:stretch/>
          </p:blipFill>
          <p:spPr>
            <a:xfrm>
              <a:off x="5773272" y="2018727"/>
              <a:ext cx="5208494" cy="3048001"/>
            </a:xfrm>
            <a:prstGeom prst="rect">
              <a:avLst/>
            </a:prstGeom>
          </p:spPr>
        </p:pic>
        <p:sp>
          <p:nvSpPr>
            <p:cNvPr id="17" name="Rectangle 16"/>
            <p:cNvSpPr/>
            <p:nvPr/>
          </p:nvSpPr>
          <p:spPr>
            <a:xfrm>
              <a:off x="5773272" y="4166083"/>
              <a:ext cx="582705" cy="8981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355977" y="4354342"/>
              <a:ext cx="116541" cy="269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355977" y="4829471"/>
              <a:ext cx="116541" cy="234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5EFA0AD-68BF-A545-8940-5A7029BE6EF4}"/>
              </a:ext>
            </a:extLst>
          </p:cNvPr>
          <p:cNvSpPr txBox="1">
            <a:spLocks/>
          </p:cNvSpPr>
          <p:nvPr/>
        </p:nvSpPr>
        <p:spPr>
          <a:xfrm>
            <a:off x="138223" y="376097"/>
            <a:ext cx="8897711"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700" b="1" dirty="0" err="1">
                <a:solidFill>
                  <a:srgbClr val="16693F"/>
                </a:solidFill>
              </a:rPr>
              <a:t>LSE:minLSE</a:t>
            </a:r>
            <a:r>
              <a:rPr lang="en-US" sz="2700" b="1" dirty="0">
                <a:solidFill>
                  <a:srgbClr val="16693F"/>
                </a:solidFill>
              </a:rPr>
              <a:t> from the hypothesis network is smaller than 5 of 6 database-derived networks</a:t>
            </a:r>
          </a:p>
        </p:txBody>
      </p:sp>
      <p:sp>
        <p:nvSpPr>
          <p:cNvPr id="8" name="TextBox 7"/>
          <p:cNvSpPr txBox="1"/>
          <p:nvPr/>
        </p:nvSpPr>
        <p:spPr>
          <a:xfrm>
            <a:off x="474653" y="5111442"/>
            <a:ext cx="8220773" cy="1015663"/>
          </a:xfrm>
          <a:prstGeom prst="rect">
            <a:avLst/>
          </a:prstGeom>
          <a:noFill/>
        </p:spPr>
        <p:txBody>
          <a:bodyPr wrap="square" rtlCol="0">
            <a:spAutoFit/>
          </a:bodyPr>
          <a:lstStyle/>
          <a:p>
            <a:pPr marL="241300" indent="-241300">
              <a:buFont typeface="Arial" panose="020B0604020202020204" pitchFamily="34" charset="0"/>
              <a:buChar char="•"/>
            </a:pPr>
            <a:r>
              <a:rPr lang="en-US" sz="2000" b="1" dirty="0" err="1">
                <a:latin typeface="Arial" panose="020B0604020202020204" pitchFamily="34" charset="0"/>
                <a:cs typeface="Arial" panose="020B0604020202020204" pitchFamily="34" charset="0"/>
              </a:rPr>
              <a:t>LSE:minLSE</a:t>
            </a:r>
            <a:r>
              <a:rPr lang="en-US" sz="2000" b="1" dirty="0">
                <a:latin typeface="Arial" panose="020B0604020202020204" pitchFamily="34" charset="0"/>
                <a:cs typeface="Arial" panose="020B0604020202020204" pitchFamily="34" charset="0"/>
              </a:rPr>
              <a:t> = 1.34</a:t>
            </a:r>
          </a:p>
          <a:p>
            <a:pPr marL="241300" indent="-241300">
              <a:buFont typeface="Arial" panose="020B0604020202020204" pitchFamily="34" charset="0"/>
              <a:buChar char="•"/>
            </a:pPr>
            <a:r>
              <a:rPr lang="en-US" sz="2000" b="1" dirty="0">
                <a:latin typeface="Arial" panose="020B0604020202020204" pitchFamily="34" charset="0"/>
                <a:cs typeface="Arial" panose="020B0604020202020204" pitchFamily="34" charset="0"/>
              </a:rPr>
              <a:t>25 out of 34 (74%) activation or repression relationships predicted correctly.</a:t>
            </a:r>
          </a:p>
        </p:txBody>
      </p:sp>
      <p:sp>
        <p:nvSpPr>
          <p:cNvPr id="3" name="TextBox 2"/>
          <p:cNvSpPr txBox="1"/>
          <p:nvPr/>
        </p:nvSpPr>
        <p:spPr>
          <a:xfrm>
            <a:off x="1416424" y="1604682"/>
            <a:ext cx="1428596" cy="369332"/>
          </a:xfrm>
          <a:prstGeom prst="rect">
            <a:avLst/>
          </a:prstGeom>
          <a:noFill/>
        </p:spPr>
        <p:txBody>
          <a:bodyPr wrap="none" rtlCol="0">
            <a:spAutoFit/>
          </a:bodyPr>
          <a:lstStyle/>
          <a:p>
            <a:r>
              <a:rPr lang="en-US" b="1"/>
              <a:t>Hypothesis</a:t>
            </a:r>
          </a:p>
        </p:txBody>
      </p:sp>
      <p:sp>
        <p:nvSpPr>
          <p:cNvPr id="9" name="TextBox 8"/>
          <p:cNvSpPr txBox="1"/>
          <p:nvPr/>
        </p:nvSpPr>
        <p:spPr>
          <a:xfrm>
            <a:off x="5670674" y="1604682"/>
            <a:ext cx="2095445" cy="369332"/>
          </a:xfrm>
          <a:prstGeom prst="rect">
            <a:avLst/>
          </a:prstGeom>
          <a:noFill/>
        </p:spPr>
        <p:txBody>
          <a:bodyPr wrap="none" rtlCol="0">
            <a:spAutoFit/>
          </a:bodyPr>
          <a:lstStyle/>
          <a:p>
            <a:r>
              <a:rPr lang="en-US" b="1"/>
              <a:t>Modeling Results</a:t>
            </a:r>
          </a:p>
        </p:txBody>
      </p:sp>
      <p:grpSp>
        <p:nvGrpSpPr>
          <p:cNvPr id="22" name="Group 21"/>
          <p:cNvGrpSpPr/>
          <p:nvPr/>
        </p:nvGrpSpPr>
        <p:grpSpPr>
          <a:xfrm>
            <a:off x="-8965" y="2339788"/>
            <a:ext cx="4659858" cy="2726940"/>
            <a:chOff x="-8965" y="2339788"/>
            <a:chExt cx="4659858" cy="2726940"/>
          </a:xfrm>
        </p:grpSpPr>
        <p:pic>
          <p:nvPicPr>
            <p:cNvPr id="13" name="Picture 12"/>
            <p:cNvPicPr>
              <a:picLocks noChangeAspect="1"/>
            </p:cNvPicPr>
            <p:nvPr/>
          </p:nvPicPr>
          <p:blipFill rotWithShape="1">
            <a:blip r:embed="rId4"/>
            <a:srcRect l="24412" t="27628" r="18627" b="12798"/>
            <a:stretch/>
          </p:blipFill>
          <p:spPr>
            <a:xfrm>
              <a:off x="-8965" y="2339788"/>
              <a:ext cx="4659858" cy="2680447"/>
            </a:xfrm>
            <a:prstGeom prst="rect">
              <a:avLst/>
            </a:prstGeom>
          </p:spPr>
        </p:pic>
        <p:sp>
          <p:nvSpPr>
            <p:cNvPr id="7" name="Rectangle 6"/>
            <p:cNvSpPr/>
            <p:nvPr/>
          </p:nvSpPr>
          <p:spPr>
            <a:xfrm>
              <a:off x="-8965" y="4263194"/>
              <a:ext cx="521326" cy="803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12361" y="4423602"/>
              <a:ext cx="104265" cy="241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12361" y="4856704"/>
              <a:ext cx="104265" cy="210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9979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 up of a map&#10;&#10;Description automatically generated">
            <a:extLst>
              <a:ext uri="{FF2B5EF4-FFF2-40B4-BE49-F238E27FC236}">
                <a16:creationId xmlns:a16="http://schemas.microsoft.com/office/drawing/2014/main" id="{9BA36501-51A7-CE4C-9512-CDEFFA652A87}"/>
              </a:ext>
            </a:extLst>
          </p:cNvPr>
          <p:cNvPicPr>
            <a:picLocks noChangeAspect="1"/>
          </p:cNvPicPr>
          <p:nvPr/>
        </p:nvPicPr>
        <p:blipFill>
          <a:blip r:embed="rId2"/>
          <a:stretch>
            <a:fillRect/>
          </a:stretch>
        </p:blipFill>
        <p:spPr>
          <a:xfrm>
            <a:off x="1664147" y="2125267"/>
            <a:ext cx="5845862" cy="3263503"/>
          </a:xfrm>
          <a:prstGeom prst="rect">
            <a:avLst/>
          </a:prstGeom>
        </p:spPr>
      </p:pic>
      <p:sp>
        <p:nvSpPr>
          <p:cNvPr id="7" name="Title 1">
            <a:extLst>
              <a:ext uri="{FF2B5EF4-FFF2-40B4-BE49-F238E27FC236}">
                <a16:creationId xmlns:a16="http://schemas.microsoft.com/office/drawing/2014/main" id="{123B7863-A4F1-1FCF-5251-73C1DAC695CF}"/>
              </a:ext>
            </a:extLst>
          </p:cNvPr>
          <p:cNvSpPr txBox="1">
            <a:spLocks/>
          </p:cNvSpPr>
          <p:nvPr/>
        </p:nvSpPr>
        <p:spPr>
          <a:xfrm>
            <a:off x="138223" y="376097"/>
            <a:ext cx="8897711"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700" b="1" dirty="0">
                <a:solidFill>
                  <a:srgbClr val="16693F"/>
                </a:solidFill>
              </a:rPr>
              <a:t>Another approach was to systematically delete each of the 28 edges and re-estimate the parameters</a:t>
            </a:r>
          </a:p>
        </p:txBody>
      </p:sp>
    </p:spTree>
    <p:extLst>
      <p:ext uri="{BB962C8B-B14F-4D97-AF65-F5344CB8AC3E}">
        <p14:creationId xmlns:p14="http://schemas.microsoft.com/office/powerpoint/2010/main" val="2292305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778776886"/>
              </p:ext>
            </p:extLst>
          </p:nvPr>
        </p:nvGraphicFramePr>
        <p:xfrm>
          <a:off x="219075" y="2083594"/>
          <a:ext cx="8421292" cy="3643313"/>
        </p:xfrm>
        <a:graphic>
          <a:graphicData uri="http://schemas.openxmlformats.org/drawingml/2006/chart">
            <c:chart xmlns:c="http://schemas.openxmlformats.org/drawingml/2006/chart" xmlns:r="http://schemas.openxmlformats.org/officeDocument/2006/relationships" r:id="rId3"/>
          </a:graphicData>
        </a:graphic>
      </p:graphicFrame>
      <p:sp>
        <p:nvSpPr>
          <p:cNvPr id="8" name="Title 1">
            <a:extLst>
              <a:ext uri="{FF2B5EF4-FFF2-40B4-BE49-F238E27FC236}">
                <a16:creationId xmlns:a16="http://schemas.microsoft.com/office/drawing/2014/main" id="{DA96CB31-1A9C-52E7-2E14-C84512AFBB9E}"/>
              </a:ext>
            </a:extLst>
          </p:cNvPr>
          <p:cNvSpPr txBox="1">
            <a:spLocks/>
          </p:cNvSpPr>
          <p:nvPr/>
        </p:nvSpPr>
        <p:spPr>
          <a:xfrm>
            <a:off x="219075" y="376097"/>
            <a:ext cx="5581090"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err="1">
                <a:solidFill>
                  <a:srgbClr val="16693F"/>
                </a:solidFill>
              </a:rPr>
              <a:t>LSE:minLSE</a:t>
            </a:r>
            <a:r>
              <a:rPr lang="en-US" sz="2800" b="1" dirty="0">
                <a:solidFill>
                  <a:srgbClr val="16693F"/>
                </a:solidFill>
              </a:rPr>
              <a:t> ratio compared for 28-edge deletion networks</a:t>
            </a:r>
          </a:p>
        </p:txBody>
      </p:sp>
    </p:spTree>
    <p:extLst>
      <p:ext uri="{BB962C8B-B14F-4D97-AF65-F5344CB8AC3E}">
        <p14:creationId xmlns:p14="http://schemas.microsoft.com/office/powerpoint/2010/main" val="3002999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cell phone&#10;&#10;Description automatically generated">
            <a:extLst>
              <a:ext uri="{FF2B5EF4-FFF2-40B4-BE49-F238E27FC236}">
                <a16:creationId xmlns:a16="http://schemas.microsoft.com/office/drawing/2014/main" id="{F7F0A8A0-44AA-3E4D-B9A9-A0C880C29C91}"/>
              </a:ext>
            </a:extLst>
          </p:cNvPr>
          <p:cNvPicPr>
            <a:picLocks noChangeAspect="1"/>
          </p:cNvPicPr>
          <p:nvPr/>
        </p:nvPicPr>
        <p:blipFill rotWithShape="1">
          <a:blip r:embed="rId3"/>
          <a:srcRect l="6618" t="18023" r="2450" b="22674"/>
          <a:stretch/>
        </p:blipFill>
        <p:spPr>
          <a:xfrm>
            <a:off x="407405" y="1379823"/>
            <a:ext cx="8408541" cy="971730"/>
          </a:xfrm>
          <a:prstGeom prst="rect">
            <a:avLst/>
          </a:prstGeom>
        </p:spPr>
      </p:pic>
      <p:pic>
        <p:nvPicPr>
          <p:cNvPr id="5" name="Content Placeholder 4">
            <a:extLst>
              <a:ext uri="{FF2B5EF4-FFF2-40B4-BE49-F238E27FC236}">
                <a16:creationId xmlns:a16="http://schemas.microsoft.com/office/drawing/2014/main" id="{4E24BF9E-36A2-964D-8471-4683A30BB218}"/>
              </a:ext>
            </a:extLst>
          </p:cNvPr>
          <p:cNvPicPr>
            <a:picLocks noGrp="1" noChangeAspect="1"/>
          </p:cNvPicPr>
          <p:nvPr>
            <p:ph idx="1"/>
          </p:nvPr>
        </p:nvPicPr>
        <p:blipFill rotWithShape="1">
          <a:blip r:embed="rId4"/>
          <a:srcRect l="5858" t="15082" b="6319"/>
          <a:stretch/>
        </p:blipFill>
        <p:spPr>
          <a:xfrm>
            <a:off x="449709" y="2351553"/>
            <a:ext cx="8286887" cy="3028950"/>
          </a:xfrm>
        </p:spPr>
      </p:pic>
      <p:sp>
        <p:nvSpPr>
          <p:cNvPr id="3" name="Rectangle 2">
            <a:extLst>
              <a:ext uri="{FF2B5EF4-FFF2-40B4-BE49-F238E27FC236}">
                <a16:creationId xmlns:a16="http://schemas.microsoft.com/office/drawing/2014/main" id="{8FF22E3C-8327-9641-B68D-E0C2A2B40B59}"/>
              </a:ext>
            </a:extLst>
          </p:cNvPr>
          <p:cNvSpPr/>
          <p:nvPr/>
        </p:nvSpPr>
        <p:spPr>
          <a:xfrm>
            <a:off x="463996" y="1394515"/>
            <a:ext cx="293240"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AC86902F-39F8-AE48-AAFB-7B54F9A306B2}"/>
              </a:ext>
            </a:extLst>
          </p:cNvPr>
          <p:cNvSpPr/>
          <p:nvPr/>
        </p:nvSpPr>
        <p:spPr>
          <a:xfrm>
            <a:off x="757237" y="1394515"/>
            <a:ext cx="1128713"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E1AF7B06-0084-A247-819E-2037ED9BD280}"/>
              </a:ext>
            </a:extLst>
          </p:cNvPr>
          <p:cNvSpPr/>
          <p:nvPr/>
        </p:nvSpPr>
        <p:spPr>
          <a:xfrm>
            <a:off x="1900237" y="1394515"/>
            <a:ext cx="3100388"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6779D78A-8558-5548-844A-E441757B5F53}"/>
              </a:ext>
            </a:extLst>
          </p:cNvPr>
          <p:cNvSpPr/>
          <p:nvPr/>
        </p:nvSpPr>
        <p:spPr>
          <a:xfrm>
            <a:off x="5000626" y="1394515"/>
            <a:ext cx="278954"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205FCC08-32C4-544E-BBE1-EAEF84087430}"/>
              </a:ext>
            </a:extLst>
          </p:cNvPr>
          <p:cNvSpPr/>
          <p:nvPr/>
        </p:nvSpPr>
        <p:spPr>
          <a:xfrm>
            <a:off x="5293866" y="1394515"/>
            <a:ext cx="3457016"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10" name="TextBox 9">
            <a:extLst>
              <a:ext uri="{FF2B5EF4-FFF2-40B4-BE49-F238E27FC236}">
                <a16:creationId xmlns:a16="http://schemas.microsoft.com/office/drawing/2014/main" id="{61D5E4A4-064E-0D46-AEAF-18B030E34B16}"/>
              </a:ext>
            </a:extLst>
          </p:cNvPr>
          <p:cNvSpPr txBox="1"/>
          <p:nvPr/>
        </p:nvSpPr>
        <p:spPr>
          <a:xfrm>
            <a:off x="499123" y="1394516"/>
            <a:ext cx="278954" cy="323165"/>
          </a:xfrm>
          <a:prstGeom prst="rect">
            <a:avLst/>
          </a:prstGeom>
          <a:noFill/>
        </p:spPr>
        <p:txBody>
          <a:bodyPr wrap="square" rtlCol="0">
            <a:spAutoFit/>
          </a:bodyPr>
          <a:lstStyle/>
          <a:p>
            <a:r>
              <a:rPr lang="en-US" sz="1500" b="1" dirty="0"/>
              <a:t>1</a:t>
            </a:r>
          </a:p>
        </p:txBody>
      </p:sp>
      <p:sp>
        <p:nvSpPr>
          <p:cNvPr id="11" name="TextBox 10">
            <a:extLst>
              <a:ext uri="{FF2B5EF4-FFF2-40B4-BE49-F238E27FC236}">
                <a16:creationId xmlns:a16="http://schemas.microsoft.com/office/drawing/2014/main" id="{2DA2ED0C-3D0A-2943-BB20-48664E60D9DA}"/>
              </a:ext>
            </a:extLst>
          </p:cNvPr>
          <p:cNvSpPr txBox="1"/>
          <p:nvPr/>
        </p:nvSpPr>
        <p:spPr>
          <a:xfrm>
            <a:off x="1230749" y="1380273"/>
            <a:ext cx="278954" cy="323165"/>
          </a:xfrm>
          <a:prstGeom prst="rect">
            <a:avLst/>
          </a:prstGeom>
          <a:noFill/>
        </p:spPr>
        <p:txBody>
          <a:bodyPr wrap="square" rtlCol="0">
            <a:spAutoFit/>
          </a:bodyPr>
          <a:lstStyle/>
          <a:p>
            <a:r>
              <a:rPr lang="en-US" sz="1500" b="1" dirty="0"/>
              <a:t>2</a:t>
            </a:r>
          </a:p>
        </p:txBody>
      </p:sp>
      <p:sp>
        <p:nvSpPr>
          <p:cNvPr id="12" name="TextBox 11">
            <a:extLst>
              <a:ext uri="{FF2B5EF4-FFF2-40B4-BE49-F238E27FC236}">
                <a16:creationId xmlns:a16="http://schemas.microsoft.com/office/drawing/2014/main" id="{26D7976F-D9A9-AF4B-83DF-C7A55FA5268F}"/>
              </a:ext>
            </a:extLst>
          </p:cNvPr>
          <p:cNvSpPr txBox="1"/>
          <p:nvPr/>
        </p:nvSpPr>
        <p:spPr>
          <a:xfrm>
            <a:off x="3318098" y="1379823"/>
            <a:ext cx="278954" cy="323165"/>
          </a:xfrm>
          <a:prstGeom prst="rect">
            <a:avLst/>
          </a:prstGeom>
          <a:noFill/>
        </p:spPr>
        <p:txBody>
          <a:bodyPr wrap="square" rtlCol="0">
            <a:spAutoFit/>
          </a:bodyPr>
          <a:lstStyle/>
          <a:p>
            <a:r>
              <a:rPr lang="en-US" sz="1500" b="1" dirty="0"/>
              <a:t>3</a:t>
            </a:r>
          </a:p>
        </p:txBody>
      </p:sp>
      <p:sp>
        <p:nvSpPr>
          <p:cNvPr id="13" name="TextBox 12">
            <a:extLst>
              <a:ext uri="{FF2B5EF4-FFF2-40B4-BE49-F238E27FC236}">
                <a16:creationId xmlns:a16="http://schemas.microsoft.com/office/drawing/2014/main" id="{C9E61868-6E7B-3C4C-9C68-637EE0591441}"/>
              </a:ext>
            </a:extLst>
          </p:cNvPr>
          <p:cNvSpPr txBox="1"/>
          <p:nvPr/>
        </p:nvSpPr>
        <p:spPr>
          <a:xfrm>
            <a:off x="5029196" y="1379823"/>
            <a:ext cx="278954" cy="323165"/>
          </a:xfrm>
          <a:prstGeom prst="rect">
            <a:avLst/>
          </a:prstGeom>
          <a:noFill/>
        </p:spPr>
        <p:txBody>
          <a:bodyPr wrap="square" rtlCol="0">
            <a:spAutoFit/>
          </a:bodyPr>
          <a:lstStyle/>
          <a:p>
            <a:r>
              <a:rPr lang="en-US" sz="1500" b="1" dirty="0"/>
              <a:t>4</a:t>
            </a:r>
          </a:p>
        </p:txBody>
      </p:sp>
      <p:sp>
        <p:nvSpPr>
          <p:cNvPr id="14" name="TextBox 13">
            <a:extLst>
              <a:ext uri="{FF2B5EF4-FFF2-40B4-BE49-F238E27FC236}">
                <a16:creationId xmlns:a16="http://schemas.microsoft.com/office/drawing/2014/main" id="{6B353529-0063-2B4D-9218-153432D9C7BC}"/>
              </a:ext>
            </a:extLst>
          </p:cNvPr>
          <p:cNvSpPr txBox="1"/>
          <p:nvPr/>
        </p:nvSpPr>
        <p:spPr>
          <a:xfrm>
            <a:off x="6743419" y="1379823"/>
            <a:ext cx="278954" cy="323165"/>
          </a:xfrm>
          <a:prstGeom prst="rect">
            <a:avLst/>
          </a:prstGeom>
          <a:noFill/>
        </p:spPr>
        <p:txBody>
          <a:bodyPr wrap="square" rtlCol="0">
            <a:spAutoFit/>
          </a:bodyPr>
          <a:lstStyle/>
          <a:p>
            <a:r>
              <a:rPr lang="en-US" sz="1500" b="1" dirty="0"/>
              <a:t>5</a:t>
            </a:r>
          </a:p>
        </p:txBody>
      </p:sp>
      <p:sp>
        <p:nvSpPr>
          <p:cNvPr id="2" name="Title 1">
            <a:extLst>
              <a:ext uri="{FF2B5EF4-FFF2-40B4-BE49-F238E27FC236}">
                <a16:creationId xmlns:a16="http://schemas.microsoft.com/office/drawing/2014/main" id="{3D29112D-890E-B20F-85F4-2D7D88F33DF1}"/>
              </a:ext>
            </a:extLst>
          </p:cNvPr>
          <p:cNvSpPr txBox="1">
            <a:spLocks/>
          </p:cNvSpPr>
          <p:nvPr/>
        </p:nvSpPr>
        <p:spPr>
          <a:xfrm>
            <a:off x="362514" y="376097"/>
            <a:ext cx="7329207"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solidFill>
                  <a:srgbClr val="16693F"/>
                </a:solidFill>
              </a:rPr>
              <a:t>A heatmap of the weight parameters reveals 5 major groupings</a:t>
            </a:r>
          </a:p>
        </p:txBody>
      </p:sp>
    </p:spTree>
    <p:extLst>
      <p:ext uri="{BB962C8B-B14F-4D97-AF65-F5344CB8AC3E}">
        <p14:creationId xmlns:p14="http://schemas.microsoft.com/office/powerpoint/2010/main" val="2484055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cell phone&#10;&#10;Description automatically generated">
            <a:extLst>
              <a:ext uri="{FF2B5EF4-FFF2-40B4-BE49-F238E27FC236}">
                <a16:creationId xmlns:a16="http://schemas.microsoft.com/office/drawing/2014/main" id="{F7F0A8A0-44AA-3E4D-B9A9-A0C880C29C91}"/>
              </a:ext>
            </a:extLst>
          </p:cNvPr>
          <p:cNvPicPr>
            <a:picLocks noChangeAspect="1"/>
          </p:cNvPicPr>
          <p:nvPr/>
        </p:nvPicPr>
        <p:blipFill rotWithShape="1">
          <a:blip r:embed="rId3"/>
          <a:srcRect l="6618" t="18023" r="2450" b="22674"/>
          <a:stretch/>
        </p:blipFill>
        <p:spPr>
          <a:xfrm>
            <a:off x="407405" y="1379823"/>
            <a:ext cx="8408541" cy="971730"/>
          </a:xfrm>
          <a:prstGeom prst="rect">
            <a:avLst/>
          </a:prstGeom>
        </p:spPr>
      </p:pic>
      <p:pic>
        <p:nvPicPr>
          <p:cNvPr id="5" name="Content Placeholder 4">
            <a:extLst>
              <a:ext uri="{FF2B5EF4-FFF2-40B4-BE49-F238E27FC236}">
                <a16:creationId xmlns:a16="http://schemas.microsoft.com/office/drawing/2014/main" id="{4E24BF9E-36A2-964D-8471-4683A30BB218}"/>
              </a:ext>
            </a:extLst>
          </p:cNvPr>
          <p:cNvPicPr>
            <a:picLocks noGrp="1" noChangeAspect="1"/>
          </p:cNvPicPr>
          <p:nvPr>
            <p:ph idx="1"/>
          </p:nvPr>
        </p:nvPicPr>
        <p:blipFill rotWithShape="1">
          <a:blip r:embed="rId4"/>
          <a:srcRect l="5858" t="15082" b="6319"/>
          <a:stretch/>
        </p:blipFill>
        <p:spPr>
          <a:xfrm>
            <a:off x="449709" y="2351553"/>
            <a:ext cx="8286887" cy="3028950"/>
          </a:xfrm>
        </p:spPr>
      </p:pic>
      <p:sp>
        <p:nvSpPr>
          <p:cNvPr id="3" name="Rectangle 2">
            <a:extLst>
              <a:ext uri="{FF2B5EF4-FFF2-40B4-BE49-F238E27FC236}">
                <a16:creationId xmlns:a16="http://schemas.microsoft.com/office/drawing/2014/main" id="{8FF22E3C-8327-9641-B68D-E0C2A2B40B59}"/>
              </a:ext>
            </a:extLst>
          </p:cNvPr>
          <p:cNvSpPr/>
          <p:nvPr/>
        </p:nvSpPr>
        <p:spPr>
          <a:xfrm>
            <a:off x="463996" y="1394515"/>
            <a:ext cx="293240"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AC86902F-39F8-AE48-AAFB-7B54F9A306B2}"/>
              </a:ext>
            </a:extLst>
          </p:cNvPr>
          <p:cNvSpPr/>
          <p:nvPr/>
        </p:nvSpPr>
        <p:spPr>
          <a:xfrm>
            <a:off x="757237" y="1394515"/>
            <a:ext cx="1128713"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E1AF7B06-0084-A247-819E-2037ED9BD280}"/>
              </a:ext>
            </a:extLst>
          </p:cNvPr>
          <p:cNvSpPr/>
          <p:nvPr/>
        </p:nvSpPr>
        <p:spPr>
          <a:xfrm>
            <a:off x="1900237" y="1394515"/>
            <a:ext cx="3100388"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8" name="Rectangle 7">
            <a:extLst>
              <a:ext uri="{FF2B5EF4-FFF2-40B4-BE49-F238E27FC236}">
                <a16:creationId xmlns:a16="http://schemas.microsoft.com/office/drawing/2014/main" id="{6779D78A-8558-5548-844A-E441757B5F53}"/>
              </a:ext>
            </a:extLst>
          </p:cNvPr>
          <p:cNvSpPr/>
          <p:nvPr/>
        </p:nvSpPr>
        <p:spPr>
          <a:xfrm>
            <a:off x="5000626" y="1394515"/>
            <a:ext cx="278954"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9" name="Rectangle 8">
            <a:extLst>
              <a:ext uri="{FF2B5EF4-FFF2-40B4-BE49-F238E27FC236}">
                <a16:creationId xmlns:a16="http://schemas.microsoft.com/office/drawing/2014/main" id="{205FCC08-32C4-544E-BBE1-EAEF84087430}"/>
              </a:ext>
            </a:extLst>
          </p:cNvPr>
          <p:cNvSpPr/>
          <p:nvPr/>
        </p:nvSpPr>
        <p:spPr>
          <a:xfrm>
            <a:off x="5293866" y="1394515"/>
            <a:ext cx="3457016" cy="3985988"/>
          </a:xfrm>
          <a:prstGeom prst="rect">
            <a:avLst/>
          </a:prstGeom>
          <a:noFill/>
          <a:ln w="5715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sz="1350"/>
          </a:p>
        </p:txBody>
      </p:sp>
      <p:sp>
        <p:nvSpPr>
          <p:cNvPr id="10" name="TextBox 9">
            <a:extLst>
              <a:ext uri="{FF2B5EF4-FFF2-40B4-BE49-F238E27FC236}">
                <a16:creationId xmlns:a16="http://schemas.microsoft.com/office/drawing/2014/main" id="{61D5E4A4-064E-0D46-AEAF-18B030E34B16}"/>
              </a:ext>
            </a:extLst>
          </p:cNvPr>
          <p:cNvSpPr txBox="1"/>
          <p:nvPr/>
        </p:nvSpPr>
        <p:spPr>
          <a:xfrm>
            <a:off x="499123" y="1394516"/>
            <a:ext cx="278954" cy="323165"/>
          </a:xfrm>
          <a:prstGeom prst="rect">
            <a:avLst/>
          </a:prstGeom>
          <a:noFill/>
        </p:spPr>
        <p:txBody>
          <a:bodyPr wrap="square" rtlCol="0">
            <a:spAutoFit/>
          </a:bodyPr>
          <a:lstStyle/>
          <a:p>
            <a:r>
              <a:rPr lang="en-US" sz="1500" b="1" dirty="0"/>
              <a:t>1</a:t>
            </a:r>
          </a:p>
        </p:txBody>
      </p:sp>
      <p:sp>
        <p:nvSpPr>
          <p:cNvPr id="11" name="TextBox 10">
            <a:extLst>
              <a:ext uri="{FF2B5EF4-FFF2-40B4-BE49-F238E27FC236}">
                <a16:creationId xmlns:a16="http://schemas.microsoft.com/office/drawing/2014/main" id="{2DA2ED0C-3D0A-2943-BB20-48664E60D9DA}"/>
              </a:ext>
            </a:extLst>
          </p:cNvPr>
          <p:cNvSpPr txBox="1"/>
          <p:nvPr/>
        </p:nvSpPr>
        <p:spPr>
          <a:xfrm>
            <a:off x="1230749" y="1380273"/>
            <a:ext cx="278954" cy="323165"/>
          </a:xfrm>
          <a:prstGeom prst="rect">
            <a:avLst/>
          </a:prstGeom>
          <a:noFill/>
        </p:spPr>
        <p:txBody>
          <a:bodyPr wrap="square" rtlCol="0">
            <a:spAutoFit/>
          </a:bodyPr>
          <a:lstStyle/>
          <a:p>
            <a:r>
              <a:rPr lang="en-US" sz="1500" b="1" dirty="0"/>
              <a:t>2</a:t>
            </a:r>
          </a:p>
        </p:txBody>
      </p:sp>
      <p:sp>
        <p:nvSpPr>
          <p:cNvPr id="12" name="TextBox 11">
            <a:extLst>
              <a:ext uri="{FF2B5EF4-FFF2-40B4-BE49-F238E27FC236}">
                <a16:creationId xmlns:a16="http://schemas.microsoft.com/office/drawing/2014/main" id="{26D7976F-D9A9-AF4B-83DF-C7A55FA5268F}"/>
              </a:ext>
            </a:extLst>
          </p:cNvPr>
          <p:cNvSpPr txBox="1"/>
          <p:nvPr/>
        </p:nvSpPr>
        <p:spPr>
          <a:xfrm>
            <a:off x="3318098" y="1379823"/>
            <a:ext cx="278954" cy="323165"/>
          </a:xfrm>
          <a:prstGeom prst="rect">
            <a:avLst/>
          </a:prstGeom>
          <a:noFill/>
        </p:spPr>
        <p:txBody>
          <a:bodyPr wrap="square" rtlCol="0">
            <a:spAutoFit/>
          </a:bodyPr>
          <a:lstStyle/>
          <a:p>
            <a:r>
              <a:rPr lang="en-US" sz="1500" b="1" dirty="0"/>
              <a:t>3</a:t>
            </a:r>
          </a:p>
        </p:txBody>
      </p:sp>
      <p:sp>
        <p:nvSpPr>
          <p:cNvPr id="13" name="TextBox 12">
            <a:extLst>
              <a:ext uri="{FF2B5EF4-FFF2-40B4-BE49-F238E27FC236}">
                <a16:creationId xmlns:a16="http://schemas.microsoft.com/office/drawing/2014/main" id="{C9E61868-6E7B-3C4C-9C68-637EE0591441}"/>
              </a:ext>
            </a:extLst>
          </p:cNvPr>
          <p:cNvSpPr txBox="1"/>
          <p:nvPr/>
        </p:nvSpPr>
        <p:spPr>
          <a:xfrm>
            <a:off x="5029196" y="1379823"/>
            <a:ext cx="278954" cy="323165"/>
          </a:xfrm>
          <a:prstGeom prst="rect">
            <a:avLst/>
          </a:prstGeom>
          <a:noFill/>
        </p:spPr>
        <p:txBody>
          <a:bodyPr wrap="square" rtlCol="0">
            <a:spAutoFit/>
          </a:bodyPr>
          <a:lstStyle/>
          <a:p>
            <a:r>
              <a:rPr lang="en-US" sz="1500" b="1" dirty="0"/>
              <a:t>4</a:t>
            </a:r>
          </a:p>
        </p:txBody>
      </p:sp>
      <p:sp>
        <p:nvSpPr>
          <p:cNvPr id="14" name="TextBox 13">
            <a:extLst>
              <a:ext uri="{FF2B5EF4-FFF2-40B4-BE49-F238E27FC236}">
                <a16:creationId xmlns:a16="http://schemas.microsoft.com/office/drawing/2014/main" id="{6B353529-0063-2B4D-9218-153432D9C7BC}"/>
              </a:ext>
            </a:extLst>
          </p:cNvPr>
          <p:cNvSpPr txBox="1"/>
          <p:nvPr/>
        </p:nvSpPr>
        <p:spPr>
          <a:xfrm>
            <a:off x="6743419" y="1379823"/>
            <a:ext cx="278954" cy="323165"/>
          </a:xfrm>
          <a:prstGeom prst="rect">
            <a:avLst/>
          </a:prstGeom>
          <a:noFill/>
        </p:spPr>
        <p:txBody>
          <a:bodyPr wrap="square" rtlCol="0">
            <a:spAutoFit/>
          </a:bodyPr>
          <a:lstStyle/>
          <a:p>
            <a:r>
              <a:rPr lang="en-US" sz="1500" b="1" dirty="0"/>
              <a:t>5</a:t>
            </a:r>
          </a:p>
        </p:txBody>
      </p:sp>
      <p:sp>
        <p:nvSpPr>
          <p:cNvPr id="4" name="Title 1">
            <a:extLst>
              <a:ext uri="{FF2B5EF4-FFF2-40B4-BE49-F238E27FC236}">
                <a16:creationId xmlns:a16="http://schemas.microsoft.com/office/drawing/2014/main" id="{D699FA3B-8A9C-0069-EE81-31503E4DD864}"/>
              </a:ext>
            </a:extLst>
          </p:cNvPr>
          <p:cNvSpPr txBox="1">
            <a:spLocks/>
          </p:cNvSpPr>
          <p:nvPr/>
        </p:nvSpPr>
        <p:spPr>
          <a:xfrm>
            <a:off x="362514" y="376097"/>
            <a:ext cx="7329207"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solidFill>
                  <a:srgbClr val="16693F"/>
                </a:solidFill>
              </a:rPr>
              <a:t>One network from each group was selected for further analysis</a:t>
            </a:r>
          </a:p>
        </p:txBody>
      </p:sp>
      <p:sp>
        <p:nvSpPr>
          <p:cNvPr id="15" name="Rectangle 14">
            <a:extLst>
              <a:ext uri="{FF2B5EF4-FFF2-40B4-BE49-F238E27FC236}">
                <a16:creationId xmlns:a16="http://schemas.microsoft.com/office/drawing/2014/main" id="{6AC0E7CB-CFD7-0669-D2BA-E02A80DCEF35}"/>
              </a:ext>
            </a:extLst>
          </p:cNvPr>
          <p:cNvSpPr/>
          <p:nvPr/>
        </p:nvSpPr>
        <p:spPr>
          <a:xfrm>
            <a:off x="476604" y="1397753"/>
            <a:ext cx="278954" cy="3985988"/>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0307BF6-D348-5DEF-9965-0D7345B04D9B}"/>
              </a:ext>
            </a:extLst>
          </p:cNvPr>
          <p:cNvSpPr/>
          <p:nvPr/>
        </p:nvSpPr>
        <p:spPr>
          <a:xfrm>
            <a:off x="1292398" y="1397748"/>
            <a:ext cx="278954" cy="3985988"/>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52794E-D878-FA30-A59F-A39DE3921309}"/>
              </a:ext>
            </a:extLst>
          </p:cNvPr>
          <p:cNvSpPr/>
          <p:nvPr/>
        </p:nvSpPr>
        <p:spPr>
          <a:xfrm>
            <a:off x="2708813" y="1397753"/>
            <a:ext cx="278954" cy="3985988"/>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724E92-EAE5-5365-AF6F-61BF7092F202}"/>
              </a:ext>
            </a:extLst>
          </p:cNvPr>
          <p:cNvSpPr/>
          <p:nvPr/>
        </p:nvSpPr>
        <p:spPr>
          <a:xfrm>
            <a:off x="5012750" y="1397749"/>
            <a:ext cx="278954" cy="3985988"/>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BAA3760-CBF9-1D77-BCF8-2BFF77E9549C}"/>
              </a:ext>
            </a:extLst>
          </p:cNvPr>
          <p:cNvSpPr/>
          <p:nvPr/>
        </p:nvSpPr>
        <p:spPr>
          <a:xfrm>
            <a:off x="8455197" y="1397745"/>
            <a:ext cx="278954" cy="3985988"/>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4DCD47F6-5AA9-649D-49BD-5026BC33FB8B}"/>
              </a:ext>
            </a:extLst>
          </p:cNvPr>
          <p:cNvSpPr txBox="1">
            <a:spLocks/>
          </p:cNvSpPr>
          <p:nvPr/>
        </p:nvSpPr>
        <p:spPr>
          <a:xfrm>
            <a:off x="425269" y="5510058"/>
            <a:ext cx="3457017" cy="1087966"/>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sz="1800" dirty="0"/>
              <a:t>1) Edge ZAP1</a:t>
            </a:r>
            <a:r>
              <a:rPr lang="en-US" sz="1800" dirty="0">
                <a:sym typeface="Wingdings" pitchFamily="2" charset="2"/>
              </a:rPr>
              <a:t>ACE2 deleted</a:t>
            </a:r>
          </a:p>
          <a:p>
            <a:pPr marL="0" indent="0">
              <a:buFont typeface="Arial" pitchFamily="34" charset="0"/>
              <a:buNone/>
            </a:pPr>
            <a:r>
              <a:rPr lang="en-US" sz="1800" dirty="0">
                <a:sym typeface="Wingdings" pitchFamily="2" charset="2"/>
              </a:rPr>
              <a:t>2) Edge HMO1CIN5 deleted</a:t>
            </a:r>
          </a:p>
          <a:p>
            <a:pPr marL="0" indent="0">
              <a:buFont typeface="Arial" pitchFamily="34" charset="0"/>
              <a:buNone/>
            </a:pPr>
            <a:r>
              <a:rPr lang="en-US" sz="1800" dirty="0">
                <a:sym typeface="Wingdings" pitchFamily="2" charset="2"/>
              </a:rPr>
              <a:t>3) Edge MSN2YHP1 deleted</a:t>
            </a:r>
          </a:p>
        </p:txBody>
      </p:sp>
      <p:sp>
        <p:nvSpPr>
          <p:cNvPr id="22" name="Content Placeholder 2">
            <a:extLst>
              <a:ext uri="{FF2B5EF4-FFF2-40B4-BE49-F238E27FC236}">
                <a16:creationId xmlns:a16="http://schemas.microsoft.com/office/drawing/2014/main" id="{73D5F9A3-4D87-7208-5C2D-DDB78F599BD7}"/>
              </a:ext>
            </a:extLst>
          </p:cNvPr>
          <p:cNvSpPr txBox="1">
            <a:spLocks/>
          </p:cNvSpPr>
          <p:nvPr/>
        </p:nvSpPr>
        <p:spPr>
          <a:xfrm>
            <a:off x="4952522" y="5510058"/>
            <a:ext cx="3457017" cy="748591"/>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sz="1800" dirty="0">
                <a:sym typeface="Wingdings" pitchFamily="2" charset="2"/>
              </a:rPr>
              <a:t>4) Edge GCR2MSN2 deleted</a:t>
            </a:r>
          </a:p>
          <a:p>
            <a:pPr marL="0" indent="0">
              <a:buFont typeface="Arial" pitchFamily="34" charset="0"/>
              <a:buNone/>
            </a:pPr>
            <a:r>
              <a:rPr lang="en-US" sz="1800" dirty="0">
                <a:sym typeface="Wingdings" pitchFamily="2" charset="2"/>
              </a:rPr>
              <a:t>5) Edge SWI5ASH1 deleted</a:t>
            </a:r>
            <a:endParaRPr lang="en-US" sz="1800" dirty="0"/>
          </a:p>
        </p:txBody>
      </p:sp>
    </p:spTree>
    <p:extLst>
      <p:ext uri="{BB962C8B-B14F-4D97-AF65-F5344CB8AC3E}">
        <p14:creationId xmlns:p14="http://schemas.microsoft.com/office/powerpoint/2010/main" val="1000422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map&#10;&#10;Description automatically generated">
            <a:extLst>
              <a:ext uri="{FF2B5EF4-FFF2-40B4-BE49-F238E27FC236}">
                <a16:creationId xmlns:a16="http://schemas.microsoft.com/office/drawing/2014/main" id="{C4C3F5F1-1525-4D4B-8720-1C38EE67DD5B}"/>
              </a:ext>
            </a:extLst>
          </p:cNvPr>
          <p:cNvPicPr>
            <a:picLocks noChangeAspect="1"/>
          </p:cNvPicPr>
          <p:nvPr/>
        </p:nvPicPr>
        <p:blipFill>
          <a:blip r:embed="rId3"/>
          <a:stretch>
            <a:fillRect/>
          </a:stretch>
        </p:blipFill>
        <p:spPr>
          <a:xfrm>
            <a:off x="172684" y="2758235"/>
            <a:ext cx="4399316" cy="2455956"/>
          </a:xfrm>
          <a:prstGeom prst="rect">
            <a:avLst/>
          </a:prstGeom>
        </p:spPr>
      </p:pic>
      <p:sp>
        <p:nvSpPr>
          <p:cNvPr id="5" name="TextBox 4">
            <a:extLst>
              <a:ext uri="{FF2B5EF4-FFF2-40B4-BE49-F238E27FC236}">
                <a16:creationId xmlns:a16="http://schemas.microsoft.com/office/drawing/2014/main" id="{F2D58FD0-F4D7-3947-9234-F81DE72C1475}"/>
              </a:ext>
            </a:extLst>
          </p:cNvPr>
          <p:cNvSpPr txBox="1"/>
          <p:nvPr/>
        </p:nvSpPr>
        <p:spPr>
          <a:xfrm>
            <a:off x="1482791" y="2045030"/>
            <a:ext cx="1779102" cy="369332"/>
          </a:xfrm>
          <a:prstGeom prst="rect">
            <a:avLst/>
          </a:prstGeom>
          <a:noFill/>
        </p:spPr>
        <p:txBody>
          <a:bodyPr wrap="square" rtlCol="0">
            <a:spAutoFit/>
          </a:bodyPr>
          <a:lstStyle/>
          <a:p>
            <a:r>
              <a:rPr lang="en-US" dirty="0"/>
              <a:t>Intact Network</a:t>
            </a:r>
          </a:p>
        </p:txBody>
      </p:sp>
      <p:pic>
        <p:nvPicPr>
          <p:cNvPr id="6" name="Picture 5" descr="A picture containing text, map&#10;&#10;Description automatically generated">
            <a:extLst>
              <a:ext uri="{FF2B5EF4-FFF2-40B4-BE49-F238E27FC236}">
                <a16:creationId xmlns:a16="http://schemas.microsoft.com/office/drawing/2014/main" id="{012BA402-048B-2546-A7F4-BFA6C7A57825}"/>
              </a:ext>
            </a:extLst>
          </p:cNvPr>
          <p:cNvPicPr>
            <a:picLocks noChangeAspect="1"/>
          </p:cNvPicPr>
          <p:nvPr/>
        </p:nvPicPr>
        <p:blipFill>
          <a:blip r:embed="rId4"/>
          <a:stretch>
            <a:fillRect/>
          </a:stretch>
        </p:blipFill>
        <p:spPr>
          <a:xfrm>
            <a:off x="4629150" y="2786810"/>
            <a:ext cx="4472767" cy="2455956"/>
          </a:xfrm>
          <a:prstGeom prst="rect">
            <a:avLst/>
          </a:prstGeom>
        </p:spPr>
      </p:pic>
      <p:sp>
        <p:nvSpPr>
          <p:cNvPr id="7" name="TextBox 6">
            <a:extLst>
              <a:ext uri="{FF2B5EF4-FFF2-40B4-BE49-F238E27FC236}">
                <a16:creationId xmlns:a16="http://schemas.microsoft.com/office/drawing/2014/main" id="{5496A652-7ADC-F942-A5CF-C874B8F2EF6A}"/>
              </a:ext>
            </a:extLst>
          </p:cNvPr>
          <p:cNvSpPr txBox="1"/>
          <p:nvPr/>
        </p:nvSpPr>
        <p:spPr>
          <a:xfrm>
            <a:off x="5487249" y="4518622"/>
            <a:ext cx="266541" cy="461665"/>
          </a:xfrm>
          <a:prstGeom prst="rect">
            <a:avLst/>
          </a:prstGeom>
          <a:noFill/>
        </p:spPr>
        <p:txBody>
          <a:bodyPr wrap="square" rtlCol="0">
            <a:spAutoFit/>
          </a:bodyPr>
          <a:lstStyle/>
          <a:p>
            <a:r>
              <a:rPr lang="en-US" sz="2400" dirty="0"/>
              <a:t>*</a:t>
            </a:r>
          </a:p>
        </p:txBody>
      </p:sp>
      <p:sp>
        <p:nvSpPr>
          <p:cNvPr id="8" name="TextBox 7">
            <a:extLst>
              <a:ext uri="{FF2B5EF4-FFF2-40B4-BE49-F238E27FC236}">
                <a16:creationId xmlns:a16="http://schemas.microsoft.com/office/drawing/2014/main" id="{341B2F1A-93D0-3B48-92D7-8F4CAD5076F7}"/>
              </a:ext>
            </a:extLst>
          </p:cNvPr>
          <p:cNvSpPr txBox="1"/>
          <p:nvPr/>
        </p:nvSpPr>
        <p:spPr>
          <a:xfrm>
            <a:off x="7454100" y="3209607"/>
            <a:ext cx="266541" cy="461665"/>
          </a:xfrm>
          <a:prstGeom prst="rect">
            <a:avLst/>
          </a:prstGeom>
          <a:noFill/>
        </p:spPr>
        <p:txBody>
          <a:bodyPr wrap="square" rtlCol="0">
            <a:spAutoFit/>
          </a:bodyPr>
          <a:lstStyle/>
          <a:p>
            <a:r>
              <a:rPr lang="en-US" sz="2400" dirty="0"/>
              <a:t>*</a:t>
            </a:r>
          </a:p>
        </p:txBody>
      </p:sp>
      <p:sp>
        <p:nvSpPr>
          <p:cNvPr id="9" name="TextBox 8">
            <a:extLst>
              <a:ext uri="{FF2B5EF4-FFF2-40B4-BE49-F238E27FC236}">
                <a16:creationId xmlns:a16="http://schemas.microsoft.com/office/drawing/2014/main" id="{4A12B027-DDE7-4C49-AF44-8A8EE7EFCBB2}"/>
              </a:ext>
            </a:extLst>
          </p:cNvPr>
          <p:cNvSpPr txBox="1"/>
          <p:nvPr/>
        </p:nvSpPr>
        <p:spPr>
          <a:xfrm>
            <a:off x="8215409" y="3686826"/>
            <a:ext cx="266541" cy="461665"/>
          </a:xfrm>
          <a:prstGeom prst="rect">
            <a:avLst/>
          </a:prstGeom>
          <a:noFill/>
        </p:spPr>
        <p:txBody>
          <a:bodyPr wrap="square" rtlCol="0">
            <a:spAutoFit/>
          </a:bodyPr>
          <a:lstStyle/>
          <a:p>
            <a:r>
              <a:rPr lang="en-US" sz="2400" dirty="0"/>
              <a:t>*</a:t>
            </a:r>
          </a:p>
        </p:txBody>
      </p:sp>
      <p:sp>
        <p:nvSpPr>
          <p:cNvPr id="10" name="TextBox 9">
            <a:extLst>
              <a:ext uri="{FF2B5EF4-FFF2-40B4-BE49-F238E27FC236}">
                <a16:creationId xmlns:a16="http://schemas.microsoft.com/office/drawing/2014/main" id="{BECEC218-A1E1-754B-8B70-7A183019FA64}"/>
              </a:ext>
            </a:extLst>
          </p:cNvPr>
          <p:cNvSpPr txBox="1"/>
          <p:nvPr/>
        </p:nvSpPr>
        <p:spPr>
          <a:xfrm>
            <a:off x="7696820" y="2967956"/>
            <a:ext cx="266541" cy="461665"/>
          </a:xfrm>
          <a:prstGeom prst="rect">
            <a:avLst/>
          </a:prstGeom>
          <a:noFill/>
        </p:spPr>
        <p:txBody>
          <a:bodyPr wrap="square" rtlCol="0">
            <a:spAutoFit/>
          </a:bodyPr>
          <a:lstStyle/>
          <a:p>
            <a:r>
              <a:rPr lang="en-US" sz="2400" dirty="0"/>
              <a:t>*</a:t>
            </a:r>
          </a:p>
        </p:txBody>
      </p:sp>
      <p:sp>
        <p:nvSpPr>
          <p:cNvPr id="11" name="TextBox 10">
            <a:extLst>
              <a:ext uri="{FF2B5EF4-FFF2-40B4-BE49-F238E27FC236}">
                <a16:creationId xmlns:a16="http://schemas.microsoft.com/office/drawing/2014/main" id="{82D61BC3-77D5-C842-B2C2-9CF3E7B11A03}"/>
              </a:ext>
            </a:extLst>
          </p:cNvPr>
          <p:cNvSpPr txBox="1"/>
          <p:nvPr/>
        </p:nvSpPr>
        <p:spPr>
          <a:xfrm>
            <a:off x="8737464" y="3090749"/>
            <a:ext cx="266541" cy="461665"/>
          </a:xfrm>
          <a:prstGeom prst="rect">
            <a:avLst/>
          </a:prstGeom>
          <a:noFill/>
        </p:spPr>
        <p:txBody>
          <a:bodyPr wrap="square" rtlCol="0">
            <a:spAutoFit/>
          </a:bodyPr>
          <a:lstStyle/>
          <a:p>
            <a:r>
              <a:rPr lang="en-US" sz="2400" dirty="0"/>
              <a:t>*</a:t>
            </a:r>
          </a:p>
        </p:txBody>
      </p:sp>
      <p:sp>
        <p:nvSpPr>
          <p:cNvPr id="12" name="TextBox 11">
            <a:extLst>
              <a:ext uri="{FF2B5EF4-FFF2-40B4-BE49-F238E27FC236}">
                <a16:creationId xmlns:a16="http://schemas.microsoft.com/office/drawing/2014/main" id="{D1DA28B5-195E-604A-9981-30D80E16C753}"/>
              </a:ext>
            </a:extLst>
          </p:cNvPr>
          <p:cNvSpPr txBox="1"/>
          <p:nvPr/>
        </p:nvSpPr>
        <p:spPr>
          <a:xfrm>
            <a:off x="6640055" y="4321764"/>
            <a:ext cx="266541" cy="461665"/>
          </a:xfrm>
          <a:prstGeom prst="rect">
            <a:avLst/>
          </a:prstGeom>
          <a:noFill/>
        </p:spPr>
        <p:txBody>
          <a:bodyPr wrap="square" rtlCol="0">
            <a:spAutoFit/>
          </a:bodyPr>
          <a:lstStyle/>
          <a:p>
            <a:r>
              <a:rPr lang="en-US" sz="2400" dirty="0"/>
              <a:t>*</a:t>
            </a:r>
          </a:p>
        </p:txBody>
      </p:sp>
      <p:sp>
        <p:nvSpPr>
          <p:cNvPr id="13" name="TextBox 12">
            <a:extLst>
              <a:ext uri="{FF2B5EF4-FFF2-40B4-BE49-F238E27FC236}">
                <a16:creationId xmlns:a16="http://schemas.microsoft.com/office/drawing/2014/main" id="{C2DEE676-6EE3-0445-A2B2-B3188BA8FE32}"/>
              </a:ext>
            </a:extLst>
          </p:cNvPr>
          <p:cNvSpPr txBox="1"/>
          <p:nvPr/>
        </p:nvSpPr>
        <p:spPr>
          <a:xfrm>
            <a:off x="6975525" y="3440247"/>
            <a:ext cx="266541"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DC9EEF31-A6B8-B341-A2F5-3489E0B8562F}"/>
              </a:ext>
            </a:extLst>
          </p:cNvPr>
          <p:cNvSpPr txBox="1"/>
          <p:nvPr/>
        </p:nvSpPr>
        <p:spPr>
          <a:xfrm>
            <a:off x="4972050" y="2045030"/>
            <a:ext cx="4020637" cy="369332"/>
          </a:xfrm>
          <a:prstGeom prst="rect">
            <a:avLst/>
          </a:prstGeom>
          <a:noFill/>
        </p:spPr>
        <p:txBody>
          <a:bodyPr wrap="square" rtlCol="0">
            <a:spAutoFit/>
          </a:bodyPr>
          <a:lstStyle/>
          <a:p>
            <a:r>
              <a:rPr lang="en-US" dirty="0"/>
              <a:t>Group 2: Edge HMO1</a:t>
            </a:r>
            <a:r>
              <a:rPr lang="en-US" dirty="0">
                <a:sym typeface="Wingdings" pitchFamily="2" charset="2"/>
              </a:rPr>
              <a:t>CIN5 deleted</a:t>
            </a:r>
            <a:endParaRPr lang="en-US" dirty="0"/>
          </a:p>
        </p:txBody>
      </p:sp>
      <p:sp>
        <p:nvSpPr>
          <p:cNvPr id="15" name="TextBox 14">
            <a:extLst>
              <a:ext uri="{FF2B5EF4-FFF2-40B4-BE49-F238E27FC236}">
                <a16:creationId xmlns:a16="http://schemas.microsoft.com/office/drawing/2014/main" id="{78A814BE-23DF-8B42-B9E6-4F234407DED8}"/>
              </a:ext>
            </a:extLst>
          </p:cNvPr>
          <p:cNvSpPr txBox="1"/>
          <p:nvPr/>
        </p:nvSpPr>
        <p:spPr>
          <a:xfrm>
            <a:off x="1456395" y="5357551"/>
            <a:ext cx="3083814" cy="369332"/>
          </a:xfrm>
          <a:prstGeom prst="rect">
            <a:avLst/>
          </a:prstGeom>
          <a:noFill/>
        </p:spPr>
        <p:txBody>
          <a:bodyPr wrap="square" rtlCol="0">
            <a:spAutoFit/>
          </a:bodyPr>
          <a:lstStyle/>
          <a:p>
            <a:r>
              <a:rPr lang="en-US" dirty="0" err="1"/>
              <a:t>LSE:minLSE</a:t>
            </a:r>
            <a:r>
              <a:rPr lang="en-US" dirty="0"/>
              <a:t> = 1.41 </a:t>
            </a:r>
          </a:p>
        </p:txBody>
      </p:sp>
      <p:sp>
        <p:nvSpPr>
          <p:cNvPr id="16" name="TextBox 15">
            <a:extLst>
              <a:ext uri="{FF2B5EF4-FFF2-40B4-BE49-F238E27FC236}">
                <a16:creationId xmlns:a16="http://schemas.microsoft.com/office/drawing/2014/main" id="{8F85584C-75B8-874D-965F-9DEE1CA34E2F}"/>
              </a:ext>
            </a:extLst>
          </p:cNvPr>
          <p:cNvSpPr txBox="1"/>
          <p:nvPr/>
        </p:nvSpPr>
        <p:spPr>
          <a:xfrm>
            <a:off x="5940689" y="5357551"/>
            <a:ext cx="3083814" cy="369332"/>
          </a:xfrm>
          <a:prstGeom prst="rect">
            <a:avLst/>
          </a:prstGeom>
          <a:noFill/>
        </p:spPr>
        <p:txBody>
          <a:bodyPr wrap="square" rtlCol="0">
            <a:spAutoFit/>
          </a:bodyPr>
          <a:lstStyle/>
          <a:p>
            <a:r>
              <a:rPr lang="en-US" dirty="0" err="1"/>
              <a:t>LSE:minLSE</a:t>
            </a:r>
            <a:r>
              <a:rPr lang="en-US" dirty="0"/>
              <a:t> = 1.40 </a:t>
            </a:r>
          </a:p>
        </p:txBody>
      </p:sp>
      <p:sp>
        <p:nvSpPr>
          <p:cNvPr id="17" name="TextBox 16">
            <a:extLst>
              <a:ext uri="{FF2B5EF4-FFF2-40B4-BE49-F238E27FC236}">
                <a16:creationId xmlns:a16="http://schemas.microsoft.com/office/drawing/2014/main" id="{5E3A144F-C7C5-BA48-B02F-F9CB7DAC1956}"/>
              </a:ext>
            </a:extLst>
          </p:cNvPr>
          <p:cNvSpPr txBox="1"/>
          <p:nvPr/>
        </p:nvSpPr>
        <p:spPr>
          <a:xfrm>
            <a:off x="3243565" y="3001665"/>
            <a:ext cx="266541" cy="461665"/>
          </a:xfrm>
          <a:prstGeom prst="rect">
            <a:avLst/>
          </a:prstGeom>
          <a:noFill/>
        </p:spPr>
        <p:txBody>
          <a:bodyPr wrap="square" rtlCol="0">
            <a:spAutoFit/>
          </a:bodyPr>
          <a:lstStyle/>
          <a:p>
            <a:r>
              <a:rPr lang="en-US" sz="2400" dirty="0"/>
              <a:t>*</a:t>
            </a:r>
          </a:p>
        </p:txBody>
      </p:sp>
      <p:sp>
        <p:nvSpPr>
          <p:cNvPr id="18" name="TextBox 17">
            <a:extLst>
              <a:ext uri="{FF2B5EF4-FFF2-40B4-BE49-F238E27FC236}">
                <a16:creationId xmlns:a16="http://schemas.microsoft.com/office/drawing/2014/main" id="{AEB87849-1269-734A-BC4D-EA667F28EBBB}"/>
              </a:ext>
            </a:extLst>
          </p:cNvPr>
          <p:cNvSpPr txBox="1"/>
          <p:nvPr/>
        </p:nvSpPr>
        <p:spPr>
          <a:xfrm>
            <a:off x="4200764" y="3001665"/>
            <a:ext cx="266541" cy="461665"/>
          </a:xfrm>
          <a:prstGeom prst="rect">
            <a:avLst/>
          </a:prstGeom>
          <a:noFill/>
        </p:spPr>
        <p:txBody>
          <a:bodyPr wrap="square" rtlCol="0">
            <a:spAutoFit/>
          </a:bodyPr>
          <a:lstStyle/>
          <a:p>
            <a:r>
              <a:rPr lang="en-US" sz="2400" dirty="0"/>
              <a:t>*</a:t>
            </a:r>
          </a:p>
        </p:txBody>
      </p:sp>
      <p:sp>
        <p:nvSpPr>
          <p:cNvPr id="19" name="TextBox 18">
            <a:extLst>
              <a:ext uri="{FF2B5EF4-FFF2-40B4-BE49-F238E27FC236}">
                <a16:creationId xmlns:a16="http://schemas.microsoft.com/office/drawing/2014/main" id="{4895429C-B570-2F46-B6BB-F30F1AF1A2ED}"/>
              </a:ext>
            </a:extLst>
          </p:cNvPr>
          <p:cNvSpPr txBox="1"/>
          <p:nvPr/>
        </p:nvSpPr>
        <p:spPr>
          <a:xfrm>
            <a:off x="3083041" y="3182166"/>
            <a:ext cx="266541" cy="461665"/>
          </a:xfrm>
          <a:prstGeom prst="rect">
            <a:avLst/>
          </a:prstGeom>
          <a:noFill/>
        </p:spPr>
        <p:txBody>
          <a:bodyPr wrap="square" rtlCol="0">
            <a:spAutoFit/>
          </a:bodyPr>
          <a:lstStyle/>
          <a:p>
            <a:r>
              <a:rPr lang="en-US" sz="2400" dirty="0"/>
              <a:t>*</a:t>
            </a:r>
          </a:p>
        </p:txBody>
      </p:sp>
      <p:sp>
        <p:nvSpPr>
          <p:cNvPr id="20" name="TextBox 19">
            <a:extLst>
              <a:ext uri="{FF2B5EF4-FFF2-40B4-BE49-F238E27FC236}">
                <a16:creationId xmlns:a16="http://schemas.microsoft.com/office/drawing/2014/main" id="{4743AF24-CD24-D945-B5E1-F3FBC347A99E}"/>
              </a:ext>
            </a:extLst>
          </p:cNvPr>
          <p:cNvSpPr txBox="1"/>
          <p:nvPr/>
        </p:nvSpPr>
        <p:spPr>
          <a:xfrm>
            <a:off x="2429449" y="3401457"/>
            <a:ext cx="266541" cy="461665"/>
          </a:xfrm>
          <a:prstGeom prst="rect">
            <a:avLst/>
          </a:prstGeom>
          <a:noFill/>
        </p:spPr>
        <p:txBody>
          <a:bodyPr wrap="square" rtlCol="0">
            <a:spAutoFit/>
          </a:bodyPr>
          <a:lstStyle/>
          <a:p>
            <a:r>
              <a:rPr lang="en-US" sz="2400" dirty="0"/>
              <a:t>*</a:t>
            </a:r>
          </a:p>
        </p:txBody>
      </p:sp>
      <p:sp>
        <p:nvSpPr>
          <p:cNvPr id="21" name="TextBox 20">
            <a:extLst>
              <a:ext uri="{FF2B5EF4-FFF2-40B4-BE49-F238E27FC236}">
                <a16:creationId xmlns:a16="http://schemas.microsoft.com/office/drawing/2014/main" id="{36856669-2653-4F4B-A6DF-2B32363B1820}"/>
              </a:ext>
            </a:extLst>
          </p:cNvPr>
          <p:cNvSpPr txBox="1"/>
          <p:nvPr/>
        </p:nvSpPr>
        <p:spPr>
          <a:xfrm>
            <a:off x="3641520" y="3672538"/>
            <a:ext cx="266541" cy="461665"/>
          </a:xfrm>
          <a:prstGeom prst="rect">
            <a:avLst/>
          </a:prstGeom>
          <a:noFill/>
        </p:spPr>
        <p:txBody>
          <a:bodyPr wrap="square" rtlCol="0">
            <a:spAutoFit/>
          </a:bodyPr>
          <a:lstStyle/>
          <a:p>
            <a:r>
              <a:rPr lang="en-US" sz="2400" dirty="0"/>
              <a:t>*</a:t>
            </a:r>
          </a:p>
        </p:txBody>
      </p:sp>
      <p:sp>
        <p:nvSpPr>
          <p:cNvPr id="22" name="TextBox 21">
            <a:extLst>
              <a:ext uri="{FF2B5EF4-FFF2-40B4-BE49-F238E27FC236}">
                <a16:creationId xmlns:a16="http://schemas.microsoft.com/office/drawing/2014/main" id="{8884804F-2B58-BD4E-9C27-0F404EB2A034}"/>
              </a:ext>
            </a:extLst>
          </p:cNvPr>
          <p:cNvSpPr txBox="1"/>
          <p:nvPr/>
        </p:nvSpPr>
        <p:spPr>
          <a:xfrm>
            <a:off x="2105801" y="4299331"/>
            <a:ext cx="266541" cy="461665"/>
          </a:xfrm>
          <a:prstGeom prst="rect">
            <a:avLst/>
          </a:prstGeom>
          <a:noFill/>
        </p:spPr>
        <p:txBody>
          <a:bodyPr wrap="square" rtlCol="0">
            <a:spAutoFit/>
          </a:bodyPr>
          <a:lstStyle/>
          <a:p>
            <a:r>
              <a:rPr lang="en-US" sz="2400" dirty="0"/>
              <a:t>*</a:t>
            </a:r>
          </a:p>
        </p:txBody>
      </p:sp>
      <p:sp>
        <p:nvSpPr>
          <p:cNvPr id="23" name="TextBox 22">
            <a:extLst>
              <a:ext uri="{FF2B5EF4-FFF2-40B4-BE49-F238E27FC236}">
                <a16:creationId xmlns:a16="http://schemas.microsoft.com/office/drawing/2014/main" id="{D7017D42-DA56-F647-A5E2-6DFF01375B01}"/>
              </a:ext>
            </a:extLst>
          </p:cNvPr>
          <p:cNvSpPr txBox="1"/>
          <p:nvPr/>
        </p:nvSpPr>
        <p:spPr>
          <a:xfrm>
            <a:off x="1086265" y="4442103"/>
            <a:ext cx="266541" cy="461665"/>
          </a:xfrm>
          <a:prstGeom prst="rect">
            <a:avLst/>
          </a:prstGeom>
          <a:noFill/>
        </p:spPr>
        <p:txBody>
          <a:bodyPr wrap="square" rtlCol="0">
            <a:spAutoFit/>
          </a:bodyPr>
          <a:lstStyle/>
          <a:p>
            <a:r>
              <a:rPr lang="en-US" sz="2400" dirty="0"/>
              <a:t>*</a:t>
            </a:r>
          </a:p>
        </p:txBody>
      </p:sp>
      <p:sp>
        <p:nvSpPr>
          <p:cNvPr id="24" name="Title 1">
            <a:extLst>
              <a:ext uri="{FF2B5EF4-FFF2-40B4-BE49-F238E27FC236}">
                <a16:creationId xmlns:a16="http://schemas.microsoft.com/office/drawing/2014/main" id="{9CF8BFF0-B31E-3F6D-5F65-E0C67C5C4543}"/>
              </a:ext>
            </a:extLst>
          </p:cNvPr>
          <p:cNvSpPr txBox="1">
            <a:spLocks/>
          </p:cNvSpPr>
          <p:nvPr/>
        </p:nvSpPr>
        <p:spPr>
          <a:xfrm>
            <a:off x="362514" y="376097"/>
            <a:ext cx="7329207"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solidFill>
                  <a:srgbClr val="16693F"/>
                </a:solidFill>
              </a:rPr>
              <a:t>HMO1, CIN5, and MSN2 are central hubs in the network </a:t>
            </a:r>
          </a:p>
        </p:txBody>
      </p:sp>
      <p:sp>
        <p:nvSpPr>
          <p:cNvPr id="27" name="Rectangle 26">
            <a:extLst>
              <a:ext uri="{FF2B5EF4-FFF2-40B4-BE49-F238E27FC236}">
                <a16:creationId xmlns:a16="http://schemas.microsoft.com/office/drawing/2014/main" id="{C6DD1E58-B965-9AD7-B088-FEA035227637}"/>
              </a:ext>
            </a:extLst>
          </p:cNvPr>
          <p:cNvSpPr/>
          <p:nvPr/>
        </p:nvSpPr>
        <p:spPr>
          <a:xfrm>
            <a:off x="2962275" y="2958431"/>
            <a:ext cx="120766" cy="584458"/>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2266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grpSp>
        <p:nvGrpSpPr>
          <p:cNvPr id="7" name="Group 6"/>
          <p:cNvGrpSpPr/>
          <p:nvPr/>
        </p:nvGrpSpPr>
        <p:grpSpPr>
          <a:xfrm>
            <a:off x="3361021" y="5796803"/>
            <a:ext cx="2509815" cy="923619"/>
            <a:chOff x="3313295" y="5796803"/>
            <a:chExt cx="2509815" cy="923619"/>
          </a:xfrm>
        </p:grpSpPr>
        <p:sp>
          <p:nvSpPr>
            <p:cNvPr id="28"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9"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Dynamical systems modeling using GRNmap</a:t>
              </a:r>
              <a:endParaRPr lang="en-US" altLang="en-US" sz="1800" b="1" dirty="0">
                <a:solidFill>
                  <a:schemeClr val="bg1"/>
                </a:solidFill>
              </a:endParaRPr>
            </a:p>
          </p:txBody>
        </p:sp>
      </p:grpSp>
      <p:grpSp>
        <p:nvGrpSpPr>
          <p:cNvPr id="8" name="Group 7"/>
          <p:cNvGrpSpPr/>
          <p:nvPr/>
        </p:nvGrpSpPr>
        <p:grpSpPr>
          <a:xfrm>
            <a:off x="539706" y="4545708"/>
            <a:ext cx="2509815" cy="923619"/>
            <a:chOff x="534387" y="4504947"/>
            <a:chExt cx="2509815" cy="923619"/>
          </a:xfrm>
        </p:grpSpPr>
        <p:sp>
          <p:nvSpPr>
            <p:cNvPr id="31" name="Rounded Rectangle 1"/>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2" name="TextBox 5"/>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Visualization of  modeling results using GRNsight</a:t>
              </a:r>
              <a:endParaRPr lang="en-US" altLang="en-US" sz="1800" b="1" dirty="0">
                <a:solidFill>
                  <a:schemeClr val="bg1"/>
                </a:solidFill>
              </a:endParaRPr>
            </a:p>
          </p:txBody>
        </p:sp>
      </p:grpSp>
      <p:grpSp>
        <p:nvGrpSpPr>
          <p:cNvPr id="9" name="Group 8"/>
          <p:cNvGrpSpPr/>
          <p:nvPr/>
        </p:nvGrpSpPr>
        <p:grpSpPr>
          <a:xfrm>
            <a:off x="539706" y="2722333"/>
            <a:ext cx="2509815" cy="923619"/>
            <a:chOff x="545024" y="2899435"/>
            <a:chExt cx="2509815" cy="923619"/>
          </a:xfrm>
        </p:grpSpPr>
        <p:sp>
          <p:nvSpPr>
            <p:cNvPr id="36" name="Rounded Rectangle 1"/>
            <p:cNvSpPr>
              <a:spLocks noChangeArrowheads="1"/>
            </p:cNvSpPr>
            <p:nvPr/>
          </p:nvSpPr>
          <p:spPr bwMode="auto">
            <a:xfrm>
              <a:off x="545024" y="2899435"/>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8" name="TextBox 5"/>
            <p:cNvSpPr txBox="1">
              <a:spLocks noChangeArrowheads="1"/>
            </p:cNvSpPr>
            <p:nvPr/>
          </p:nvSpPr>
          <p:spPr bwMode="auto">
            <a:xfrm>
              <a:off x="648200" y="2899579"/>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Interpretation, </a:t>
              </a:r>
            </a:p>
            <a:p>
              <a:pPr algn="ctr" eaLnBrk="1" hangingPunct="1">
                <a:spcBef>
                  <a:spcPct val="0"/>
                </a:spcBef>
                <a:buFontTx/>
                <a:buNone/>
              </a:pPr>
              <a:r>
                <a:rPr lang="en-US" altLang="en-US" sz="1800" b="1">
                  <a:solidFill>
                    <a:schemeClr val="bg1"/>
                  </a:solidFill>
                </a:rPr>
                <a:t>new questions, new experiments</a:t>
              </a:r>
              <a:endParaRPr lang="en-US" altLang="en-US" sz="1800" b="1" dirty="0">
                <a:solidFill>
                  <a:schemeClr val="bg1"/>
                </a:solidFill>
              </a:endParaRPr>
            </a:p>
          </p:txBody>
        </p:sp>
      </p:grpSp>
      <p:cxnSp>
        <p:nvCxnSpPr>
          <p:cNvPr id="46" name="Straight Arrow Connector 45"/>
          <p:cNvCxnSpPr/>
          <p:nvPr/>
        </p:nvCxnSpPr>
        <p:spPr bwMode="auto">
          <a:xfrm flipV="1">
            <a:off x="1794613"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bwMode="auto">
          <a:xfrm flipH="1">
            <a:off x="6182623"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bwMode="auto">
          <a:xfrm flipV="1">
            <a:off x="1954108"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51"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91249" y="4305930"/>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2" descr="ColdShockArrays"/>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4"/>
          <a:srcRect l="2236" t="13149" r="4919" b="13625"/>
          <a:stretch/>
        </p:blipFill>
        <p:spPr>
          <a:xfrm>
            <a:off x="7202082" y="1222149"/>
            <a:ext cx="1858009" cy="1099053"/>
          </a:xfrm>
          <a:prstGeom prst="rect">
            <a:avLst/>
          </a:prstGeom>
        </p:spPr>
      </p:pic>
      <p:cxnSp>
        <p:nvCxnSpPr>
          <p:cNvPr id="48" name="Straight Arrow Connector 47"/>
          <p:cNvCxnSpPr/>
          <p:nvPr/>
        </p:nvCxnSpPr>
        <p:spPr bwMode="auto">
          <a:xfrm flipH="1" flipV="1">
            <a:off x="1954108"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12" name="Group 11"/>
          <p:cNvGrpSpPr/>
          <p:nvPr/>
        </p:nvGrpSpPr>
        <p:grpSpPr>
          <a:xfrm>
            <a:off x="754379" y="1435748"/>
            <a:ext cx="1480410" cy="789758"/>
            <a:chOff x="-914930" y="1531444"/>
            <a:chExt cx="2310796" cy="1232746"/>
          </a:xfrm>
        </p:grpSpPr>
        <p:pic>
          <p:nvPicPr>
            <p:cNvPr id="55" name="Picture 8" descr="C:\Users\GRNmap\Desktop\wt_dnrg1_dphd1_20150922\wt_15deg_20150926.JPG"/>
            <p:cNvPicPr>
              <a:picLocks noChangeAspect="1" noChangeArrowheads="1"/>
            </p:cNvPicPr>
            <p:nvPr/>
          </p:nvPicPr>
          <p:blipFill rotWithShape="1">
            <a:blip r:embed="rId5" cstate="email">
              <a:extLst>
                <a:ext uri="{28A0092B-C50C-407E-A947-70E740481C1C}">
                  <a14:useLocalDpi xmlns:a14="http://schemas.microsoft.com/office/drawing/2010/main" val="0"/>
                </a:ext>
              </a:extLst>
            </a:blip>
            <a:srcRect l="4761" t="58155" r="18423" b="29318"/>
            <a:stretch/>
          </p:blipFill>
          <p:spPr bwMode="auto">
            <a:xfrm>
              <a:off x="-912362" y="1531444"/>
              <a:ext cx="2305659" cy="58169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C:\Users\GRNmap\Desktop\wt_dash1_dgcr2_20160120\dash1_15deg_day5_20160124.JPG"/>
            <p:cNvPicPr>
              <a:picLocks noChangeAspect="1" noChangeArrowheads="1"/>
            </p:cNvPicPr>
            <p:nvPr/>
          </p:nvPicPr>
          <p:blipFill rotWithShape="1">
            <a:blip r:embed="rId6" cstate="email">
              <a:extLst>
                <a:ext uri="{28A0092B-C50C-407E-A947-70E740481C1C}">
                  <a14:useLocalDpi xmlns:a14="http://schemas.microsoft.com/office/drawing/2010/main" val="0"/>
                </a:ext>
              </a:extLst>
            </a:blip>
            <a:srcRect l="19504" t="6155" r="65086" b="1380"/>
            <a:stretch/>
          </p:blipFill>
          <p:spPr bwMode="auto">
            <a:xfrm rot="5400000">
              <a:off x="-48683" y="1319642"/>
              <a:ext cx="578301" cy="2310796"/>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p:cNvSpPr txBox="1"/>
          <p:nvPr/>
        </p:nvSpPr>
        <p:spPr>
          <a:xfrm>
            <a:off x="93297" y="1871325"/>
            <a:ext cx="752129" cy="307777"/>
          </a:xfrm>
          <a:prstGeom prst="rect">
            <a:avLst/>
          </a:prstGeom>
          <a:noFill/>
        </p:spPr>
        <p:txBody>
          <a:bodyPr wrap="none" rtlCol="0">
            <a:spAutoFit/>
          </a:bodyPr>
          <a:lstStyle/>
          <a:p>
            <a:r>
              <a:rPr lang="en-US" sz="1400" b="1" i="1">
                <a:latin typeface="Symbol" panose="05050102010706020507" pitchFamily="18" charset="2"/>
              </a:rPr>
              <a:t>D</a:t>
            </a:r>
            <a:r>
              <a:rPr lang="en-US" sz="1400" b="1" i="1"/>
              <a:t>ash1</a:t>
            </a:r>
            <a:r>
              <a:rPr lang="en-US" sz="1400" b="1"/>
              <a:t> </a:t>
            </a:r>
          </a:p>
        </p:txBody>
      </p:sp>
      <p:sp>
        <p:nvSpPr>
          <p:cNvPr id="14" name="Rectangle 13"/>
          <p:cNvSpPr/>
          <p:nvPr/>
        </p:nvSpPr>
        <p:spPr>
          <a:xfrm>
            <a:off x="2159339" y="1641033"/>
            <a:ext cx="641522" cy="338554"/>
          </a:xfrm>
          <a:prstGeom prst="rect">
            <a:avLst/>
          </a:prstGeom>
        </p:spPr>
        <p:txBody>
          <a:bodyPr wrap="none">
            <a:spAutoFit/>
          </a:bodyPr>
          <a:lstStyle/>
          <a:p>
            <a:r>
              <a:rPr lang="en-US" sz="1600" b="1"/>
              <a:t>15°C</a:t>
            </a:r>
          </a:p>
        </p:txBody>
      </p:sp>
      <p:sp>
        <p:nvSpPr>
          <p:cNvPr id="15" name="TextBox 14"/>
          <p:cNvSpPr txBox="1"/>
          <p:nvPr/>
        </p:nvSpPr>
        <p:spPr>
          <a:xfrm>
            <a:off x="408823" y="1470906"/>
            <a:ext cx="383438" cy="307777"/>
          </a:xfrm>
          <a:prstGeom prst="rect">
            <a:avLst/>
          </a:prstGeom>
          <a:noFill/>
        </p:spPr>
        <p:txBody>
          <a:bodyPr wrap="none" rtlCol="0">
            <a:spAutoFit/>
          </a:bodyPr>
          <a:lstStyle/>
          <a:p>
            <a:r>
              <a:rPr lang="en-US" sz="1400" b="1"/>
              <a:t>wt</a:t>
            </a:r>
          </a:p>
        </p:txBody>
      </p:sp>
      <p:grpSp>
        <p:nvGrpSpPr>
          <p:cNvPr id="37" name="Group 36"/>
          <p:cNvGrpSpPr/>
          <p:nvPr/>
        </p:nvGrpSpPr>
        <p:grpSpPr>
          <a:xfrm>
            <a:off x="342148" y="5736566"/>
            <a:ext cx="1611841" cy="879894"/>
            <a:chOff x="3096883" y="3252158"/>
            <a:chExt cx="5357004" cy="2924355"/>
          </a:xfrm>
        </p:grpSpPr>
        <p:pic>
          <p:nvPicPr>
            <p:cNvPr id="39" name="Picture 38"/>
            <p:cNvPicPr>
              <a:picLocks noChangeAspect="1"/>
            </p:cNvPicPr>
            <p:nvPr/>
          </p:nvPicPr>
          <p:blipFill rotWithShape="1">
            <a:blip r:embed="rId7"/>
            <a:srcRect l="33867" t="47104" r="7548" b="5013"/>
            <a:stretch/>
          </p:blipFill>
          <p:spPr>
            <a:xfrm>
              <a:off x="3096883" y="3252158"/>
              <a:ext cx="5357004" cy="2924355"/>
            </a:xfrm>
            <a:prstGeom prst="rect">
              <a:avLst/>
            </a:prstGeom>
          </p:spPr>
        </p:pic>
        <p:sp>
          <p:nvSpPr>
            <p:cNvPr id="40" name="Rectangle 39"/>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Box 4">
            <a:extLst>
              <a:ext uri="{FF2B5EF4-FFF2-40B4-BE49-F238E27FC236}">
                <a16:creationId xmlns:a16="http://schemas.microsoft.com/office/drawing/2014/main" id="{CDFAAEA0-EC08-A5CE-FCCE-6E317F3BA01D}"/>
              </a:ext>
            </a:extLst>
          </p:cNvPr>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spTree>
    <p:extLst>
      <p:ext uri="{BB962C8B-B14F-4D97-AF65-F5344CB8AC3E}">
        <p14:creationId xmlns:p14="http://schemas.microsoft.com/office/powerpoint/2010/main" val="3061581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457200" y="533400"/>
            <a:ext cx="8229600" cy="990600"/>
          </a:xfrm>
          <a:prstGeom prst="rect">
            <a:avLst/>
          </a:prstGeom>
        </p:spPr>
        <p:txBody>
          <a:bodyP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200" b="1"/>
              <a:t>Conclusions</a:t>
            </a:r>
            <a:endParaRPr lang="en-US" sz="3200" b="1" dirty="0"/>
          </a:p>
        </p:txBody>
      </p:sp>
      <p:sp>
        <p:nvSpPr>
          <p:cNvPr id="15" name="Content Placeholder 2"/>
          <p:cNvSpPr txBox="1">
            <a:spLocks/>
          </p:cNvSpPr>
          <p:nvPr/>
        </p:nvSpPr>
        <p:spPr>
          <a:xfrm>
            <a:off x="490569" y="1524000"/>
            <a:ext cx="8196231" cy="4924926"/>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344488" indent="-344488">
              <a:buFont typeface="+mj-lt"/>
              <a:buAutoNum type="arabicPeriod"/>
            </a:pPr>
            <a:r>
              <a:rPr lang="en-US" b="1" dirty="0">
                <a:solidFill>
                  <a:srgbClr val="16693F"/>
                </a:solidFill>
              </a:rPr>
              <a:t>Which transcription factors control the early response to cold shock?</a:t>
            </a:r>
          </a:p>
          <a:p>
            <a:pPr lvl="1"/>
            <a:r>
              <a:rPr lang="en-US" b="1" dirty="0"/>
              <a:t>Experimental and modeling results suggest Cin5, Gln3, Hap4, Hmo1, Msn2, and Swi4 play important roles.</a:t>
            </a:r>
          </a:p>
          <a:p>
            <a:pPr lvl="1"/>
            <a:endParaRPr lang="en-US" b="1" dirty="0"/>
          </a:p>
          <a:p>
            <a:pPr marL="344488" indent="-344488">
              <a:buFont typeface="+mj-lt"/>
              <a:buAutoNum type="arabicPeriod"/>
            </a:pPr>
            <a:r>
              <a:rPr lang="en-US" b="1" dirty="0">
                <a:solidFill>
                  <a:srgbClr val="16693F"/>
                </a:solidFill>
              </a:rPr>
              <a:t>What are their relative levels of influence?</a:t>
            </a:r>
          </a:p>
          <a:p>
            <a:pPr lvl="1"/>
            <a:r>
              <a:rPr lang="en-US" b="1" dirty="0"/>
              <a:t>Expression of target genes is regulated by a balance of activating and repressing transcription factors.</a:t>
            </a:r>
          </a:p>
          <a:p>
            <a:pPr lvl="1"/>
            <a:endParaRPr lang="en-US" b="1" dirty="0">
              <a:solidFill>
                <a:srgbClr val="16693F"/>
              </a:solidFill>
            </a:endParaRPr>
          </a:p>
          <a:p>
            <a:pPr marL="344488" indent="-344488">
              <a:buFont typeface="+mj-lt"/>
              <a:buAutoNum type="arabicPeriod"/>
            </a:pPr>
            <a:r>
              <a:rPr lang="en-US" b="1" dirty="0">
                <a:solidFill>
                  <a:srgbClr val="16693F"/>
                </a:solidFill>
              </a:rPr>
              <a:t>What are the indirect effects of other transcription factors in the gene regulatory network?</a:t>
            </a:r>
          </a:p>
          <a:p>
            <a:pPr lvl="1"/>
            <a:r>
              <a:rPr lang="en-US" b="1" dirty="0"/>
              <a:t>Different approaches to analysis have highlighted the importance of certain edges in the network.</a:t>
            </a:r>
          </a:p>
        </p:txBody>
      </p:sp>
    </p:spTree>
    <p:extLst>
      <p:ext uri="{BB962C8B-B14F-4D97-AF65-F5344CB8AC3E}">
        <p14:creationId xmlns:p14="http://schemas.microsoft.com/office/powerpoint/2010/main" val="2305380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65864" y="431103"/>
            <a:ext cx="8229600" cy="896956"/>
          </a:xfrm>
          <a:prstGeom prst="rect">
            <a:avLst/>
          </a:prstGeom>
        </p:spPr>
        <p:txBody>
          <a:bodyPr>
            <a:normAutofit fontScale="97500"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err="1"/>
              <a:t>GRNsight</a:t>
            </a:r>
            <a:r>
              <a:rPr lang="en-US" sz="2800" b="1" dirty="0"/>
              <a:t>: http://dondi.github.io/GRNsight/</a:t>
            </a:r>
            <a:br>
              <a:rPr lang="en-US" sz="2800" b="1" dirty="0"/>
            </a:br>
            <a:r>
              <a:rPr lang="en-US" sz="2800" b="1" dirty="0" err="1"/>
              <a:t>GRNmap</a:t>
            </a:r>
            <a:r>
              <a:rPr lang="en-US" sz="2800" b="1" dirty="0"/>
              <a:t>:  http://kdahlquist.github.io/GRNmap</a:t>
            </a:r>
          </a:p>
        </p:txBody>
      </p:sp>
      <p:sp>
        <p:nvSpPr>
          <p:cNvPr id="5" name="TextBox 4"/>
          <p:cNvSpPr txBox="1"/>
          <p:nvPr/>
        </p:nvSpPr>
        <p:spPr>
          <a:xfrm>
            <a:off x="479112" y="4229647"/>
            <a:ext cx="8216352" cy="523220"/>
          </a:xfrm>
          <a:prstGeom prst="rect">
            <a:avLst/>
          </a:prstGeom>
          <a:noFill/>
        </p:spPr>
        <p:txBody>
          <a:bodyPr wrap="none" rtlCol="0">
            <a:spAutoFit/>
          </a:bodyPr>
          <a:lstStyle/>
          <a:p>
            <a:r>
              <a:rPr lang="en-US" sz="1400" b="1" u="sng" dirty="0"/>
              <a:t>Funding</a:t>
            </a:r>
          </a:p>
          <a:p>
            <a:r>
              <a:rPr lang="en-US" sz="1400" dirty="0"/>
              <a:t>NSF RUI, </a:t>
            </a:r>
            <a:r>
              <a:rPr lang="en-US" sz="1400" dirty="0" err="1"/>
              <a:t>Kadner</a:t>
            </a:r>
            <a:r>
              <a:rPr lang="en-US" sz="1400" dirty="0"/>
              <a:t>-Pitts Research Grant, SURP, Honors Program, Rains Research Assistant Program </a:t>
            </a:r>
          </a:p>
        </p:txBody>
      </p:sp>
      <p:sp>
        <p:nvSpPr>
          <p:cNvPr id="7" name="TextBox 6">
            <a:extLst>
              <a:ext uri="{FF2B5EF4-FFF2-40B4-BE49-F238E27FC236}">
                <a16:creationId xmlns:a16="http://schemas.microsoft.com/office/drawing/2014/main" id="{C28F8947-9B85-286D-0135-4C16A383B906}"/>
              </a:ext>
            </a:extLst>
          </p:cNvPr>
          <p:cNvSpPr txBox="1"/>
          <p:nvPr/>
        </p:nvSpPr>
        <p:spPr>
          <a:xfrm>
            <a:off x="465864" y="1480458"/>
            <a:ext cx="5506636" cy="2308324"/>
          </a:xfrm>
          <a:prstGeom prst="rect">
            <a:avLst/>
          </a:prstGeom>
          <a:noFill/>
        </p:spPr>
        <p:txBody>
          <a:bodyPr wrap="none" rtlCol="0">
            <a:spAutoFit/>
          </a:bodyPr>
          <a:lstStyle/>
          <a:p>
            <a:r>
              <a:rPr lang="en-US" b="1" dirty="0"/>
              <a:t>Ben G. Fitzpatrick (LMU Mathematics)</a:t>
            </a:r>
          </a:p>
          <a:p>
            <a:r>
              <a:rPr lang="en-US" b="1" dirty="0"/>
              <a:t>John David N. Dionisio (LMU Computer Science)</a:t>
            </a:r>
          </a:p>
          <a:p>
            <a:endParaRPr lang="en-US" dirty="0"/>
          </a:p>
          <a:p>
            <a:r>
              <a:rPr lang="en-US" u="sng" dirty="0"/>
              <a:t>Current students:</a:t>
            </a:r>
          </a:p>
          <a:p>
            <a:r>
              <a:rPr lang="en-US" dirty="0"/>
              <a:t>Nikki C. Chun (Biology '26)</a:t>
            </a:r>
          </a:p>
          <a:p>
            <a:r>
              <a:rPr lang="en-US" dirty="0" err="1"/>
              <a:t>A'Kaia</a:t>
            </a:r>
            <a:r>
              <a:rPr lang="en-US" dirty="0"/>
              <a:t> Phelps (Computer Science '26)</a:t>
            </a:r>
          </a:p>
          <a:p>
            <a:r>
              <a:rPr lang="en-US" dirty="0"/>
              <a:t>Ngoc K. Tran (Computer Science '26)</a:t>
            </a:r>
          </a:p>
          <a:p>
            <a:r>
              <a:rPr lang="en-US" dirty="0"/>
              <a:t>Cecilia J. Zaragoza (Computer Science '26)</a:t>
            </a:r>
          </a:p>
        </p:txBody>
      </p:sp>
    </p:spTree>
    <p:extLst>
      <p:ext uri="{BB962C8B-B14F-4D97-AF65-F5344CB8AC3E}">
        <p14:creationId xmlns:p14="http://schemas.microsoft.com/office/powerpoint/2010/main" val="762452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745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799655" y="2081521"/>
            <a:ext cx="3931192" cy="3395464"/>
          </a:xfrm>
          <a:prstGeom prst="rect">
            <a:avLst/>
          </a:prstGeom>
        </p:spPr>
      </p:pic>
      <p:pic>
        <p:nvPicPr>
          <p:cNvPr id="10" name="Picture 9"/>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86979" y="2081521"/>
            <a:ext cx="3931192" cy="3395464"/>
          </a:xfrm>
          <a:prstGeom prst="rect">
            <a:avLst/>
          </a:prstGeom>
        </p:spPr>
      </p:pic>
      <p:sp>
        <p:nvSpPr>
          <p:cNvPr id="5" name="TextBox 4"/>
          <p:cNvSpPr txBox="1"/>
          <p:nvPr/>
        </p:nvSpPr>
        <p:spPr>
          <a:xfrm>
            <a:off x="11966" y="2238166"/>
            <a:ext cx="4440429" cy="2252924"/>
          </a:xfrm>
          <a:prstGeom prst="rect">
            <a:avLst/>
          </a:prstGeom>
          <a:noFill/>
        </p:spPr>
        <p:txBody>
          <a:bodyPr wrap="square" rtlCol="0">
            <a:spAutoFit/>
          </a:bodyPr>
          <a:lstStyle/>
          <a:p>
            <a:pPr marL="742950" lvl="1" indent="-285750">
              <a:lnSpc>
                <a:spcPct val="90000"/>
              </a:lnSpc>
              <a:spcBef>
                <a:spcPct val="20000"/>
              </a:spcBef>
              <a:buFont typeface="Arial" panose="020B0604020202020204" pitchFamily="34" charset="0"/>
              <a:buChar char="–"/>
            </a:pPr>
            <a:r>
              <a:rPr lang="en-US" altLang="en-US" b="1" dirty="0">
                <a:solidFill>
                  <a:schemeClr val="bg1"/>
                </a:solidFill>
                <a:latin typeface="Arial"/>
                <a:cs typeface="Arial"/>
              </a:rPr>
              <a:t>response very well-characterized</a:t>
            </a:r>
          </a:p>
          <a:p>
            <a:pPr marL="742950" lvl="1" indent="-285750">
              <a:lnSpc>
                <a:spcPct val="90000"/>
              </a:lnSpc>
              <a:spcBef>
                <a:spcPct val="20000"/>
              </a:spcBef>
              <a:buFont typeface="Arial" panose="020B0604020202020204" pitchFamily="34" charset="0"/>
              <a:buChar char="–"/>
            </a:pPr>
            <a:r>
              <a:rPr lang="en-US" altLang="en-US" b="1" dirty="0">
                <a:solidFill>
                  <a:schemeClr val="bg1"/>
                </a:solidFill>
                <a:latin typeface="Arial"/>
                <a:cs typeface="Arial"/>
              </a:rPr>
              <a:t>proteins denature due to heat</a:t>
            </a:r>
          </a:p>
          <a:p>
            <a:pPr marL="742950" lvl="1" indent="-285750">
              <a:lnSpc>
                <a:spcPct val="90000"/>
              </a:lnSpc>
              <a:spcBef>
                <a:spcPct val="20000"/>
              </a:spcBef>
              <a:buFont typeface="Arial" panose="020B0604020202020204" pitchFamily="34" charset="0"/>
              <a:buChar char="–"/>
            </a:pPr>
            <a:r>
              <a:rPr lang="en-US" altLang="en-US" b="1">
                <a:solidFill>
                  <a:schemeClr val="bg1"/>
                </a:solidFill>
                <a:latin typeface="Arial"/>
                <a:cs typeface="Arial"/>
              </a:rPr>
              <a:t>heat </a:t>
            </a:r>
            <a:r>
              <a:rPr lang="en-US" altLang="en-US" b="1" dirty="0">
                <a:solidFill>
                  <a:schemeClr val="bg1"/>
                </a:solidFill>
                <a:latin typeface="Arial"/>
                <a:cs typeface="Arial"/>
              </a:rPr>
              <a:t>shock </a:t>
            </a:r>
            <a:r>
              <a:rPr lang="en-US" altLang="en-US" b="1">
                <a:solidFill>
                  <a:schemeClr val="bg1"/>
                </a:solidFill>
                <a:latin typeface="Arial"/>
                <a:cs typeface="Arial"/>
              </a:rPr>
              <a:t>proteins (chaperonins) induced that assist with </a:t>
            </a:r>
            <a:r>
              <a:rPr lang="en-US" altLang="en-US" b="1" dirty="0">
                <a:solidFill>
                  <a:schemeClr val="bg1"/>
                </a:solidFill>
                <a:latin typeface="Arial"/>
                <a:cs typeface="Arial"/>
              </a:rPr>
              <a:t>protein folding</a:t>
            </a:r>
          </a:p>
          <a:p>
            <a:pPr marL="742950" lvl="1" indent="-285750">
              <a:lnSpc>
                <a:spcPct val="90000"/>
              </a:lnSpc>
              <a:spcBef>
                <a:spcPct val="20000"/>
              </a:spcBef>
              <a:buFont typeface="Arial" panose="020B0604020202020204" pitchFamily="34" charset="0"/>
              <a:buChar char="–"/>
            </a:pPr>
            <a:r>
              <a:rPr lang="en-US" altLang="en-US" b="1" dirty="0">
                <a:solidFill>
                  <a:schemeClr val="bg1"/>
                </a:solidFill>
                <a:latin typeface="Arial"/>
                <a:cs typeface="Arial"/>
              </a:rPr>
              <a:t>conserved in all organisms (prokaryotes, eukaryotes)</a:t>
            </a:r>
          </a:p>
        </p:txBody>
      </p:sp>
      <p:sp>
        <p:nvSpPr>
          <p:cNvPr id="6" name="TextBox 5"/>
          <p:cNvSpPr txBox="1"/>
          <p:nvPr/>
        </p:nvSpPr>
        <p:spPr>
          <a:xfrm>
            <a:off x="1276082" y="1628624"/>
            <a:ext cx="2187262" cy="472396"/>
          </a:xfrm>
          <a:prstGeom prst="rect">
            <a:avLst/>
          </a:prstGeom>
          <a:noFill/>
        </p:spPr>
        <p:txBody>
          <a:bodyPr wrap="square" rtlCol="0">
            <a:spAutoFit/>
          </a:bodyPr>
          <a:lstStyle/>
          <a:p>
            <a:pPr algn="ctr"/>
            <a:r>
              <a:rPr lang="en-US" sz="2400" b="1" dirty="0">
                <a:solidFill>
                  <a:srgbClr val="C00000"/>
                </a:solidFill>
                <a:latin typeface="Arial"/>
                <a:cs typeface="Arial"/>
              </a:rPr>
              <a:t>Heat shock</a:t>
            </a:r>
          </a:p>
        </p:txBody>
      </p:sp>
      <p:sp>
        <p:nvSpPr>
          <p:cNvPr id="7" name="TextBox 6"/>
          <p:cNvSpPr txBox="1"/>
          <p:nvPr/>
        </p:nvSpPr>
        <p:spPr>
          <a:xfrm>
            <a:off x="3048000" y="3696749"/>
            <a:ext cx="184731" cy="369332"/>
          </a:xfrm>
          <a:prstGeom prst="rect">
            <a:avLst/>
          </a:prstGeom>
          <a:noFill/>
        </p:spPr>
        <p:txBody>
          <a:bodyPr wrap="none" rtlCol="0">
            <a:spAutoFit/>
          </a:bodyPr>
          <a:lstStyle/>
          <a:p>
            <a:endParaRPr lang="en-US" dirty="0"/>
          </a:p>
        </p:txBody>
      </p:sp>
      <p:sp>
        <p:nvSpPr>
          <p:cNvPr id="9" name="TextBox 8"/>
          <p:cNvSpPr txBox="1"/>
          <p:nvPr/>
        </p:nvSpPr>
        <p:spPr>
          <a:xfrm>
            <a:off x="4387442" y="2238166"/>
            <a:ext cx="4420998" cy="3167021"/>
          </a:xfrm>
          <a:prstGeom prst="rect">
            <a:avLst/>
          </a:prstGeom>
          <a:noFill/>
        </p:spPr>
        <p:txBody>
          <a:bodyPr wrap="square" rtlCol="0">
            <a:spAutoFit/>
          </a:bodyPr>
          <a:lstStyle/>
          <a:p>
            <a:pPr marL="742950" lvl="1" indent="-285750">
              <a:lnSpc>
                <a:spcPct val="90000"/>
              </a:lnSpc>
              <a:spcBef>
                <a:spcPct val="20000"/>
              </a:spcBef>
              <a:buFont typeface="Arial" panose="020B0604020202020204" pitchFamily="34" charset="0"/>
              <a:buChar char="–"/>
            </a:pPr>
            <a:r>
              <a:rPr lang="en-US" altLang="en-US" b="1" dirty="0">
                <a:solidFill>
                  <a:schemeClr val="bg1"/>
                </a:solidFill>
                <a:latin typeface="Arial"/>
                <a:cs typeface="Arial"/>
              </a:rPr>
              <a:t>response less well-characterized</a:t>
            </a:r>
          </a:p>
          <a:p>
            <a:pPr marL="742950" lvl="1" indent="-285750">
              <a:lnSpc>
                <a:spcPct val="90000"/>
              </a:lnSpc>
              <a:spcBef>
                <a:spcPct val="20000"/>
              </a:spcBef>
              <a:buFont typeface="Arial" panose="020B0604020202020204" pitchFamily="34" charset="0"/>
              <a:buChar char="–"/>
            </a:pPr>
            <a:r>
              <a:rPr lang="en-US" altLang="en-US" b="1">
                <a:solidFill>
                  <a:schemeClr val="bg1"/>
                </a:solidFill>
                <a:latin typeface="Arial"/>
                <a:cs typeface="Arial"/>
              </a:rPr>
              <a:t>membrane fluidity decreased</a:t>
            </a:r>
            <a:endParaRPr lang="en-US" altLang="en-US" b="1" dirty="0">
              <a:solidFill>
                <a:schemeClr val="bg1"/>
              </a:solidFill>
              <a:latin typeface="Arial"/>
              <a:cs typeface="Arial"/>
            </a:endParaRPr>
          </a:p>
          <a:p>
            <a:pPr marL="742950" lvl="1" indent="-285750">
              <a:lnSpc>
                <a:spcPct val="90000"/>
              </a:lnSpc>
              <a:spcBef>
                <a:spcPct val="20000"/>
              </a:spcBef>
              <a:buFont typeface="Arial" panose="020B0604020202020204" pitchFamily="34" charset="0"/>
              <a:buChar char="–"/>
            </a:pPr>
            <a:r>
              <a:rPr lang="en-US" altLang="en-US" b="1">
                <a:solidFill>
                  <a:schemeClr val="bg1"/>
                </a:solidFill>
                <a:latin typeface="Arial"/>
                <a:cs typeface="Arial"/>
              </a:rPr>
              <a:t>DNA </a:t>
            </a:r>
            <a:r>
              <a:rPr lang="en-US" altLang="en-US" b="1" dirty="0">
                <a:solidFill>
                  <a:schemeClr val="bg1"/>
                </a:solidFill>
                <a:latin typeface="Arial"/>
                <a:cs typeface="Arial"/>
              </a:rPr>
              <a:t>and RNA </a:t>
            </a:r>
            <a:r>
              <a:rPr lang="en-US" altLang="en-US" b="1">
                <a:solidFill>
                  <a:schemeClr val="bg1"/>
                </a:solidFill>
                <a:latin typeface="Arial"/>
                <a:cs typeface="Arial"/>
              </a:rPr>
              <a:t>secondary structures stabilized</a:t>
            </a:r>
            <a:endParaRPr lang="en-US" altLang="en-US" b="1" dirty="0">
              <a:solidFill>
                <a:schemeClr val="bg1"/>
              </a:solidFill>
              <a:latin typeface="Arial"/>
              <a:cs typeface="Arial"/>
            </a:endParaRPr>
          </a:p>
          <a:p>
            <a:pPr marL="742950" lvl="1" indent="-285750">
              <a:lnSpc>
                <a:spcPct val="90000"/>
              </a:lnSpc>
              <a:spcBef>
                <a:spcPct val="20000"/>
              </a:spcBef>
              <a:buFont typeface="Arial" panose="020B0604020202020204" pitchFamily="34" charset="0"/>
              <a:buChar char="–"/>
            </a:pPr>
            <a:r>
              <a:rPr lang="en-US" altLang="en-US" b="1">
                <a:solidFill>
                  <a:schemeClr val="bg1"/>
                </a:solidFill>
                <a:latin typeface="Arial"/>
                <a:cs typeface="Arial"/>
              </a:rPr>
              <a:t>ribosome </a:t>
            </a:r>
            <a:r>
              <a:rPr lang="en-US" altLang="en-US" b="1" dirty="0">
                <a:solidFill>
                  <a:schemeClr val="bg1"/>
                </a:solidFill>
                <a:latin typeface="Arial"/>
                <a:cs typeface="Arial"/>
              </a:rPr>
              <a:t>function and </a:t>
            </a:r>
            <a:r>
              <a:rPr lang="en-US" altLang="en-US" b="1">
                <a:solidFill>
                  <a:schemeClr val="bg1"/>
                </a:solidFill>
                <a:latin typeface="Arial"/>
                <a:cs typeface="Arial"/>
              </a:rPr>
              <a:t>protein synthesis impaired</a:t>
            </a:r>
            <a:endParaRPr lang="en-US" altLang="en-US" b="1" dirty="0">
              <a:solidFill>
                <a:schemeClr val="bg1"/>
              </a:solidFill>
              <a:latin typeface="Arial"/>
              <a:cs typeface="Arial"/>
            </a:endParaRPr>
          </a:p>
          <a:p>
            <a:pPr marL="742950" lvl="1" indent="-285750">
              <a:lnSpc>
                <a:spcPct val="90000"/>
              </a:lnSpc>
              <a:spcBef>
                <a:spcPct val="20000"/>
              </a:spcBef>
              <a:buFont typeface="Arial" panose="020B0604020202020204" pitchFamily="34" charset="0"/>
              <a:buChar char="–"/>
            </a:pPr>
            <a:r>
              <a:rPr lang="en-US" altLang="en-US" b="1">
                <a:solidFill>
                  <a:schemeClr val="bg1"/>
                </a:solidFill>
                <a:latin typeface="Arial"/>
                <a:cs typeface="Arial"/>
              </a:rPr>
              <a:t>enzymatic activities decreased</a:t>
            </a:r>
            <a:endParaRPr lang="en-US" altLang="en-US" b="1" dirty="0">
              <a:solidFill>
                <a:schemeClr val="bg1"/>
              </a:solidFill>
              <a:latin typeface="Arial"/>
              <a:cs typeface="Arial"/>
            </a:endParaRPr>
          </a:p>
          <a:p>
            <a:pPr marL="742950" lvl="1" indent="-285750">
              <a:lnSpc>
                <a:spcPct val="90000"/>
              </a:lnSpc>
              <a:spcBef>
                <a:spcPct val="20000"/>
              </a:spcBef>
              <a:buFont typeface="Arial" panose="020B0604020202020204" pitchFamily="34" charset="0"/>
              <a:buChar char="–"/>
            </a:pPr>
            <a:r>
              <a:rPr lang="en-US" altLang="en-US" b="1" dirty="0">
                <a:solidFill>
                  <a:schemeClr val="bg1"/>
                </a:solidFill>
                <a:latin typeface="Arial"/>
                <a:cs typeface="Arial"/>
              </a:rPr>
              <a:t>no equivalent set of cold shock proteins that are conserved in</a:t>
            </a:r>
          </a:p>
          <a:p>
            <a:pPr marL="742950" lvl="1" indent="-285750">
              <a:lnSpc>
                <a:spcPct val="90000"/>
              </a:lnSpc>
              <a:spcBef>
                <a:spcPct val="20000"/>
              </a:spcBef>
            </a:pPr>
            <a:r>
              <a:rPr lang="en-US" altLang="en-US" b="1" dirty="0">
                <a:solidFill>
                  <a:schemeClr val="bg1"/>
                </a:solidFill>
                <a:latin typeface="Arial"/>
                <a:cs typeface="Arial"/>
              </a:rPr>
              <a:t>	all organisms</a:t>
            </a:r>
          </a:p>
        </p:txBody>
      </p:sp>
      <p:sp>
        <p:nvSpPr>
          <p:cNvPr id="11" name="TextBox 10"/>
          <p:cNvSpPr txBox="1"/>
          <p:nvPr/>
        </p:nvSpPr>
        <p:spPr>
          <a:xfrm>
            <a:off x="5715000" y="1628624"/>
            <a:ext cx="2133600" cy="461664"/>
          </a:xfrm>
          <a:prstGeom prst="rect">
            <a:avLst/>
          </a:prstGeom>
          <a:noFill/>
        </p:spPr>
        <p:txBody>
          <a:bodyPr wrap="square" rtlCol="0">
            <a:spAutoFit/>
          </a:bodyPr>
          <a:lstStyle/>
          <a:p>
            <a:pPr algn="ctr"/>
            <a:r>
              <a:rPr lang="en-US" sz="2400" b="1" dirty="0">
                <a:solidFill>
                  <a:srgbClr val="002060"/>
                </a:solidFill>
                <a:latin typeface="Arial"/>
                <a:cs typeface="Arial"/>
              </a:rPr>
              <a:t>Cold shock</a:t>
            </a:r>
          </a:p>
        </p:txBody>
      </p:sp>
      <p:sp>
        <p:nvSpPr>
          <p:cNvPr id="12" name="Title 1"/>
          <p:cNvSpPr txBox="1">
            <a:spLocks/>
          </p:cNvSpPr>
          <p:nvPr/>
        </p:nvSpPr>
        <p:spPr>
          <a:xfrm>
            <a:off x="457200" y="365620"/>
            <a:ext cx="8229600"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200" b="1" dirty="0"/>
              <a:t>Cold shock is an environmental stress</a:t>
            </a:r>
          </a:p>
          <a:p>
            <a:r>
              <a:rPr lang="en-US" sz="3200" b="1" dirty="0"/>
              <a:t>that is not well-studied</a:t>
            </a:r>
          </a:p>
        </p:txBody>
      </p:sp>
    </p:spTree>
    <p:extLst>
      <p:ext uri="{BB962C8B-B14F-4D97-AF65-F5344CB8AC3E}">
        <p14:creationId xmlns:p14="http://schemas.microsoft.com/office/powerpoint/2010/main" val="42591369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709" y="320300"/>
            <a:ext cx="8166962" cy="990600"/>
          </a:xfrm>
        </p:spPr>
        <p:txBody>
          <a:bodyPr>
            <a:normAutofit/>
          </a:bodyPr>
          <a:lstStyle/>
          <a:p>
            <a:r>
              <a:rPr lang="en-US" sz="2800" b="1"/>
              <a:t>A First Pass at a “Medium-Scale</a:t>
            </a:r>
            <a:r>
              <a:rPr lang="en-US" sz="2800" b="1" dirty="0"/>
              <a:t>” Gene Regulatory Network that Regulates the Cold Shock Response</a:t>
            </a:r>
          </a:p>
        </p:txBody>
      </p:sp>
      <p:pic>
        <p:nvPicPr>
          <p:cNvPr id="7170" name="Picture 2" descr="https://static-content.springer.com/image/art%3A10.1007%2Fs11538-015-0092-6/MediaObjects/11538_2015_92_Fig1_HTML.gif"/>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1328" y="1619246"/>
            <a:ext cx="4916139" cy="45795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592" y="6503217"/>
            <a:ext cx="5638082" cy="307777"/>
          </a:xfrm>
          <a:prstGeom prst="rect">
            <a:avLst/>
          </a:prstGeom>
          <a:noFill/>
        </p:spPr>
        <p:txBody>
          <a:bodyPr wrap="none" rtlCol="0">
            <a:spAutoFit/>
          </a:bodyPr>
          <a:lstStyle/>
          <a:p>
            <a:r>
              <a:rPr lang="en-US" sz="1400" b="1"/>
              <a:t>Dahlquist et al. (2015) </a:t>
            </a:r>
            <a:r>
              <a:rPr lang="en-US" sz="1400" b="1" i="1"/>
              <a:t>Bulletin of Mathematical Biology</a:t>
            </a:r>
            <a:r>
              <a:rPr lang="en-US" sz="1400" b="1"/>
              <a:t> 77: 1457.</a:t>
            </a:r>
          </a:p>
        </p:txBody>
      </p:sp>
      <p:sp>
        <p:nvSpPr>
          <p:cNvPr id="6" name="Content Placeholder 2"/>
          <p:cNvSpPr txBox="1">
            <a:spLocks/>
          </p:cNvSpPr>
          <p:nvPr/>
        </p:nvSpPr>
        <p:spPr>
          <a:xfrm>
            <a:off x="5217468" y="1711099"/>
            <a:ext cx="3348562" cy="3316206"/>
          </a:xfrm>
          <a:prstGeom prst="rect">
            <a:avLst/>
          </a:prstGeom>
        </p:spPr>
        <p:txBody>
          <a:bodyPr vert="horz" lIns="91440" tIns="45720" rIns="91440" bIns="45720" rtlCol="0">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2000" b="1"/>
              <a:t>Each node represents one gene encoding one transcription factor.</a:t>
            </a:r>
          </a:p>
          <a:p>
            <a:r>
              <a:rPr lang="en-US" sz="2000" b="1"/>
              <a:t>Each edge represents a regulatory relationship, either activation or repression.</a:t>
            </a:r>
          </a:p>
          <a:p>
            <a:r>
              <a:rPr lang="en-US" sz="2000" b="1"/>
              <a:t>Network structure based on Lee et al. (2002) data.</a:t>
            </a:r>
          </a:p>
        </p:txBody>
      </p:sp>
      <p:pic>
        <p:nvPicPr>
          <p:cNvPr id="7" name="Picture 6"/>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857340" y="4679951"/>
            <a:ext cx="2048684" cy="2131043"/>
          </a:xfrm>
          <a:prstGeom prst="rect">
            <a:avLst/>
          </a:prstGeom>
        </p:spPr>
      </p:pic>
    </p:spTree>
    <p:extLst>
      <p:ext uri="{BB962C8B-B14F-4D97-AF65-F5344CB8AC3E}">
        <p14:creationId xmlns:p14="http://schemas.microsoft.com/office/powerpoint/2010/main" val="4129972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4412" t="27628" r="18627" b="11765"/>
          <a:stretch/>
        </p:blipFill>
        <p:spPr>
          <a:xfrm>
            <a:off x="2232213" y="2303928"/>
            <a:ext cx="5208494" cy="3048001"/>
          </a:xfrm>
          <a:prstGeom prst="rect">
            <a:avLst/>
          </a:prstGeom>
        </p:spPr>
      </p:pic>
    </p:spTree>
    <p:extLst>
      <p:ext uri="{BB962C8B-B14F-4D97-AF65-F5344CB8AC3E}">
        <p14:creationId xmlns:p14="http://schemas.microsoft.com/office/powerpoint/2010/main" val="3221616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4412" t="27450" r="18628" b="11944"/>
          <a:stretch/>
        </p:blipFill>
        <p:spPr>
          <a:xfrm>
            <a:off x="2232212" y="2294964"/>
            <a:ext cx="5208494" cy="3048001"/>
          </a:xfrm>
          <a:prstGeom prst="rect">
            <a:avLst/>
          </a:prstGeom>
        </p:spPr>
      </p:pic>
    </p:spTree>
    <p:extLst>
      <p:ext uri="{BB962C8B-B14F-4D97-AF65-F5344CB8AC3E}">
        <p14:creationId xmlns:p14="http://schemas.microsoft.com/office/powerpoint/2010/main" val="2259225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03614" y="374297"/>
            <a:ext cx="90403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a:solidFill>
                  <a:srgbClr val="16693F"/>
                </a:solidFill>
              </a:rPr>
              <a:t>An Alpha Value of 0.02 Is Also Reasonable for DB1-DB6</a:t>
            </a:r>
            <a:endParaRPr lang="en-US" altLang="en-US" dirty="0">
              <a:solidFill>
                <a:srgbClr val="16693F"/>
              </a:solidFill>
            </a:endParaRPr>
          </a:p>
        </p:txBody>
      </p:sp>
      <p:sp>
        <p:nvSpPr>
          <p:cNvPr id="8" name="Content Placeholder 2"/>
          <p:cNvSpPr>
            <a:spLocks noGrp="1"/>
          </p:cNvSpPr>
          <p:nvPr>
            <p:ph idx="1"/>
          </p:nvPr>
        </p:nvSpPr>
        <p:spPr>
          <a:xfrm>
            <a:off x="4559098" y="2497042"/>
            <a:ext cx="4136667" cy="2657022"/>
          </a:xfrm>
        </p:spPr>
        <p:txBody>
          <a:bodyPr>
            <a:noAutofit/>
          </a:bodyPr>
          <a:lstStyle/>
          <a:p>
            <a:r>
              <a:rPr lang="en-US" sz="1800" b="1"/>
              <a:t>Data for wt and 5 deletion strains are used.</a:t>
            </a:r>
          </a:p>
          <a:p>
            <a:endParaRPr lang="en-US" sz="800" b="1"/>
          </a:p>
          <a:p>
            <a:r>
              <a:rPr lang="en-US" sz="1800" b="1"/>
              <a:t>We also experimented with larger networks of up to 35 genes.</a:t>
            </a:r>
          </a:p>
          <a:p>
            <a:endParaRPr lang="en-US" sz="800" b="1"/>
          </a:p>
          <a:p>
            <a:r>
              <a:rPr lang="en-US" sz="1800" b="1"/>
              <a:t>This penalized least squares approach is really good at getting the parameters to minimize...</a:t>
            </a:r>
          </a:p>
          <a:p>
            <a:endParaRPr lang="en-US" sz="800" b="1"/>
          </a:p>
          <a:p>
            <a:r>
              <a:rPr lang="en-US" sz="1800" b="1"/>
              <a:t>...but, we doubted the results and our ability to interpret them when networks got much larger than ~15 genes.</a:t>
            </a:r>
          </a:p>
        </p:txBody>
      </p:sp>
      <p:sp>
        <p:nvSpPr>
          <p:cNvPr id="4" name="Oval 3"/>
          <p:cNvSpPr/>
          <p:nvPr/>
        </p:nvSpPr>
        <p:spPr>
          <a:xfrm>
            <a:off x="2801570" y="2862951"/>
            <a:ext cx="156494" cy="15649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958064" y="2760523"/>
            <a:ext cx="949299" cy="338554"/>
          </a:xfrm>
          <a:prstGeom prst="rect">
            <a:avLst/>
          </a:prstGeom>
          <a:noFill/>
        </p:spPr>
        <p:txBody>
          <a:bodyPr wrap="none" rtlCol="0">
            <a:spAutoFit/>
          </a:bodyPr>
          <a:lstStyle/>
          <a:p>
            <a:r>
              <a:rPr lang="en-US" sz="1600" b="1">
                <a:latin typeface="Symbol" panose="05050102010706020507" pitchFamily="18" charset="2"/>
              </a:rPr>
              <a:t>a</a:t>
            </a:r>
            <a:r>
              <a:rPr lang="en-US" sz="1600" b="1"/>
              <a:t> = 0.02</a:t>
            </a:r>
          </a:p>
        </p:txBody>
      </p:sp>
      <p:sp>
        <p:nvSpPr>
          <p:cNvPr id="11" name="TextBox 10"/>
          <p:cNvSpPr txBox="1"/>
          <p:nvPr/>
        </p:nvSpPr>
        <p:spPr>
          <a:xfrm>
            <a:off x="713410" y="6184655"/>
            <a:ext cx="3754554" cy="369332"/>
          </a:xfrm>
          <a:prstGeom prst="rect">
            <a:avLst/>
          </a:prstGeom>
          <a:noFill/>
        </p:spPr>
        <p:txBody>
          <a:bodyPr wrap="none" rtlCol="0">
            <a:spAutoFit/>
          </a:bodyPr>
          <a:lstStyle/>
          <a:p>
            <a:r>
              <a:rPr lang="en-US" b="1" dirty="0"/>
              <a:t>Parameter </a:t>
            </a:r>
            <a:r>
              <a:rPr lang="en-US" b="1"/>
              <a:t>Penalty Magnitude (</a:t>
            </a:r>
            <a:r>
              <a:rPr lang="en-US" b="1">
                <a:latin typeface="Symbol" panose="05050102010706020507" pitchFamily="18" charset="2"/>
              </a:rPr>
              <a:t>q</a:t>
            </a:r>
            <a:r>
              <a:rPr lang="en-US" b="1"/>
              <a:t>)</a:t>
            </a:r>
            <a:endParaRPr lang="en-US" b="1" dirty="0"/>
          </a:p>
        </p:txBody>
      </p:sp>
      <p:sp>
        <p:nvSpPr>
          <p:cNvPr id="12" name="TextBox 11"/>
          <p:cNvSpPr txBox="1"/>
          <p:nvPr/>
        </p:nvSpPr>
        <p:spPr>
          <a:xfrm rot="16200000">
            <a:off x="-1291639" y="4064953"/>
            <a:ext cx="3159839" cy="369332"/>
          </a:xfrm>
          <a:prstGeom prst="rect">
            <a:avLst/>
          </a:prstGeom>
          <a:noFill/>
        </p:spPr>
        <p:txBody>
          <a:bodyPr wrap="none" rtlCol="0">
            <a:spAutoFit/>
          </a:bodyPr>
          <a:lstStyle/>
          <a:p>
            <a:r>
              <a:rPr lang="en-US" b="1" dirty="0"/>
              <a:t>Least </a:t>
            </a:r>
            <a:r>
              <a:rPr lang="en-US" b="1"/>
              <a:t>Squares Residual (</a:t>
            </a:r>
            <a:r>
              <a:rPr lang="en-US" b="1" i="1">
                <a:latin typeface="Times New Roman" panose="02020603050405020304" pitchFamily="18" charset="0"/>
                <a:cs typeface="Times New Roman" panose="02020603050405020304" pitchFamily="18" charset="0"/>
              </a:rPr>
              <a:t>E</a:t>
            </a:r>
            <a:r>
              <a:rPr lang="en-US" b="1"/>
              <a:t>)</a:t>
            </a:r>
            <a:endParaRPr lang="en-US" b="1" dirty="0"/>
          </a:p>
        </p:txBody>
      </p:sp>
      <mc:AlternateContent xmlns:mc="http://schemas.openxmlformats.org/markup-compatibility/2006" xmlns:a14="http://schemas.microsoft.com/office/drawing/2010/main">
        <mc:Choice Requires="a14">
          <p:sp>
            <p:nvSpPr>
              <p:cNvPr id="13" name="Rectangle 12"/>
              <p:cNvSpPr/>
              <p:nvPr/>
            </p:nvSpPr>
            <p:spPr>
              <a:xfrm>
                <a:off x="1393268" y="1336175"/>
                <a:ext cx="6056403" cy="69115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𝑔</m:t>
                              </m:r>
                            </m:sub>
                          </m:sSub>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𝑡</m:t>
                              </m:r>
                            </m:sub>
                          </m:sSub>
                        </m:den>
                      </m:f>
                      <m:nary>
                        <m:naryPr>
                          <m:chr m:val="∑"/>
                          <m:limLoc m:val="subSup"/>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𝑔</m:t>
                              </m:r>
                            </m:sub>
                          </m:sSub>
                        </m:sup>
                        <m:e>
                          <m:nary>
                            <m:naryPr>
                              <m:chr m:val="∑"/>
                              <m:limLoc m:val="subSup"/>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𝑡</m:t>
                                  </m:r>
                                </m:sub>
                              </m:sSub>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𝑑</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e>
                                      </m:d>
                                      <m:r>
                                        <a:rPr lang="en-US" i="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𝑐</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𝑟</m:t>
                                              </m:r>
                                            </m:sub>
                                          </m:sSub>
                                        </m:e>
                                      </m:d>
                                    </m:e>
                                  </m:d>
                                </m:e>
                                <m:sup>
                                  <m:r>
                                    <a:rPr lang="en-US" i="0">
                                      <a:latin typeface="Cambria Math" panose="02040503050406030204" pitchFamily="18" charset="0"/>
                                    </a:rPr>
                                    <m:t>2</m:t>
                                  </m:r>
                                </m:sup>
                              </m:sSup>
                            </m:e>
                          </m:nary>
                        </m:e>
                      </m:nary>
                      <m:r>
                        <a:rPr lang="en-US" i="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𝜃</m:t>
                              </m:r>
                            </m:e>
                          </m:d>
                        </m:e>
                        <m:sup>
                          <m:r>
                            <a:rPr lang="en-US" i="0">
                              <a:latin typeface="Cambria Math" panose="02040503050406030204" pitchFamily="18" charset="0"/>
                            </a:rPr>
                            <m:t>2</m:t>
                          </m:r>
                        </m:sup>
                      </m:sSup>
                    </m:oMath>
                  </m:oMathPara>
                </a14:m>
                <a:endParaRPr lang="en-US"/>
              </a:p>
            </p:txBody>
          </p:sp>
        </mc:Choice>
        <mc:Fallback xmlns="">
          <p:sp>
            <p:nvSpPr>
              <p:cNvPr id="13" name="Rectangle 12"/>
              <p:cNvSpPr>
                <a:spLocks noRot="1" noChangeAspect="1" noMove="1" noResize="1" noEditPoints="1" noAdjustHandles="1" noChangeArrowheads="1" noChangeShapeType="1" noTextEdit="1"/>
              </p:cNvSpPr>
              <p:nvPr/>
            </p:nvSpPr>
            <p:spPr>
              <a:xfrm>
                <a:off x="1393268" y="1336175"/>
                <a:ext cx="6056403" cy="691151"/>
              </a:xfrm>
              <a:prstGeom prst="rect">
                <a:avLst/>
              </a:prstGeom>
              <a:blipFill rotWithShape="0">
                <a:blip r:embed="rId3"/>
                <a:stretch>
                  <a:fillRect/>
                </a:stretch>
              </a:blipFill>
            </p:spPr>
            <p:txBody>
              <a:bodyPr/>
              <a:lstStyle/>
              <a:p>
                <a:r>
                  <a:rPr lang="en-US">
                    <a:noFill/>
                  </a:rPr>
                  <a:t> </a:t>
                </a:r>
              </a:p>
            </p:txBody>
          </p:sp>
        </mc:Fallback>
      </mc:AlternateContent>
      <p:pic>
        <p:nvPicPr>
          <p:cNvPr id="14" name="Picture 13"/>
          <p:cNvPicPr/>
          <p:nvPr/>
        </p:nvPicPr>
        <p:blipFill rotWithShape="1">
          <a:blip r:embed="rId4"/>
          <a:srcRect l="5321" b="6519"/>
          <a:stretch/>
        </p:blipFill>
        <p:spPr>
          <a:xfrm>
            <a:off x="412373" y="2488077"/>
            <a:ext cx="4304213" cy="3814114"/>
          </a:xfrm>
          <a:prstGeom prst="rect">
            <a:avLst/>
          </a:prstGeom>
        </p:spPr>
      </p:pic>
    </p:spTree>
    <p:extLst>
      <p:ext uri="{BB962C8B-B14F-4D97-AF65-F5344CB8AC3E}">
        <p14:creationId xmlns:p14="http://schemas.microsoft.com/office/powerpoint/2010/main" val="571550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3" y="376097"/>
            <a:ext cx="8239295"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Forward Simulation of the Models Fits the Microarray Data Well (</a:t>
            </a:r>
            <a:r>
              <a:rPr lang="en-US" sz="2800" b="1" i="1" dirty="0"/>
              <a:t>Note that data are noisy!</a:t>
            </a:r>
            <a:r>
              <a:rPr lang="en-US" sz="2800" b="1" dirty="0"/>
              <a:t>)</a:t>
            </a:r>
          </a:p>
          <a:p>
            <a:endParaRPr lang="en-US" sz="2800" b="1" dirty="0"/>
          </a:p>
        </p:txBody>
      </p:sp>
      <p:pic>
        <p:nvPicPr>
          <p:cNvPr id="24" name="Picture 23">
            <a:extLst>
              <a:ext uri="{FF2B5EF4-FFF2-40B4-BE49-F238E27FC236}">
                <a16:creationId xmlns:a16="http://schemas.microsoft.com/office/drawing/2014/main" id="{3895987C-1D84-1745-8E69-E684CE88C5A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8223" y="1437999"/>
            <a:ext cx="3657600" cy="2743200"/>
          </a:xfrm>
          <a:prstGeom prst="rect">
            <a:avLst/>
          </a:prstGeom>
        </p:spPr>
      </p:pic>
      <p:graphicFrame>
        <p:nvGraphicFramePr>
          <p:cNvPr id="25" name="Table 24">
            <a:extLst>
              <a:ext uri="{FF2B5EF4-FFF2-40B4-BE49-F238E27FC236}">
                <a16:creationId xmlns:a16="http://schemas.microsoft.com/office/drawing/2014/main" id="{F5645E59-2161-CC42-9B63-521372F72041}"/>
              </a:ext>
            </a:extLst>
          </p:cNvPr>
          <p:cNvGraphicFramePr>
            <a:graphicFrameLocks noGrp="1"/>
          </p:cNvGraphicFramePr>
          <p:nvPr/>
        </p:nvGraphicFramePr>
        <p:xfrm>
          <a:off x="3513603" y="1381746"/>
          <a:ext cx="850900" cy="1143000"/>
        </p:xfrm>
        <a:graphic>
          <a:graphicData uri="http://schemas.openxmlformats.org/drawingml/2006/table">
            <a:tbl>
              <a:tblPr/>
              <a:tblGrid>
                <a:gridCol w="850900">
                  <a:extLst>
                    <a:ext uri="{9D8B030D-6E8A-4147-A177-3AD203B41FA5}">
                      <a16:colId xmlns:a16="http://schemas.microsoft.com/office/drawing/2014/main" val="20000"/>
                    </a:ext>
                  </a:extLst>
                </a:gridCol>
              </a:tblGrid>
              <a:tr h="257175">
                <a:tc>
                  <a:txBody>
                    <a:bodyPr/>
                    <a:lstStyle/>
                    <a:p>
                      <a:pPr algn="ctr" fontAlgn="ctr"/>
                      <a:r>
                        <a:rPr lang="en-US" sz="800" b="1" i="0" u="none" strike="noStrike">
                          <a:solidFill>
                            <a:srgbClr val="000000"/>
                          </a:solidFill>
                          <a:effectLst/>
                          <a:latin typeface="Arial"/>
                        </a:rPr>
                        <a:t>Within Strain ANOVA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sz="800" b="1" i="0" u="none" strike="noStrike">
                          <a:solidFill>
                            <a:srgbClr val="000000"/>
                          </a:solidFill>
                          <a:effectLst/>
                          <a:latin typeface="Arial"/>
                        </a:rPr>
                        <a:t>0.0298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42875">
                <a:tc>
                  <a:txBody>
                    <a:bodyPr/>
                    <a:lstStyle/>
                    <a:p>
                      <a:pPr algn="ctr" fontAlgn="ctr"/>
                      <a:r>
                        <a:rPr lang="en-US" sz="800" b="1" i="0" u="none" strike="noStrike">
                          <a:solidFill>
                            <a:srgbClr val="336699"/>
                          </a:solidFill>
                          <a:effectLst/>
                          <a:latin typeface="Arial"/>
                        </a:rPr>
                        <a:t>0.4193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2875">
                <a:tc>
                  <a:txBody>
                    <a:bodyPr/>
                    <a:lstStyle/>
                    <a:p>
                      <a:pPr algn="ctr" fontAlgn="ctr"/>
                      <a:r>
                        <a:rPr lang="en-US" sz="800" b="1" i="0" u="none" strike="noStrike">
                          <a:solidFill>
                            <a:srgbClr val="CC0000"/>
                          </a:solidFill>
                          <a:effectLst/>
                          <a:latin typeface="Arial"/>
                        </a:rPr>
                        <a:t>0.4165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2875">
                <a:tc>
                  <a:txBody>
                    <a:bodyPr/>
                    <a:lstStyle/>
                    <a:p>
                      <a:pPr algn="ctr" fontAlgn="ctr"/>
                      <a:r>
                        <a:rPr lang="en-US" sz="800" b="1" i="0" u="none" strike="noStrike">
                          <a:solidFill>
                            <a:srgbClr val="009900"/>
                          </a:solidFill>
                          <a:effectLst/>
                          <a:latin typeface="Arial"/>
                        </a:rPr>
                        <a:t>0.2305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2875">
                <a:tc>
                  <a:txBody>
                    <a:bodyPr/>
                    <a:lstStyle/>
                    <a:p>
                      <a:pPr algn="ctr" fontAlgn="ctr"/>
                      <a:r>
                        <a:rPr lang="en-US" sz="800" b="1" i="0" u="none" strike="noStrike">
                          <a:solidFill>
                            <a:srgbClr val="FF9933"/>
                          </a:solidFill>
                          <a:effectLst/>
                          <a:latin typeface="Arial"/>
                        </a:rPr>
                        <a:t>0.8447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2875">
                <a:tc>
                  <a:txBody>
                    <a:bodyPr/>
                    <a:lstStyle/>
                    <a:p>
                      <a:pPr algn="ctr" fontAlgn="ctr"/>
                      <a:r>
                        <a:rPr lang="en-US" sz="800" b="1" i="0" u="none" strike="noStrike" dirty="0">
                          <a:solidFill>
                            <a:srgbClr val="9900CC"/>
                          </a:solidFill>
                          <a:effectLst/>
                          <a:latin typeface="Arial"/>
                        </a:rPr>
                        <a:t>0.1669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26" name="Picture 25">
            <a:extLst>
              <a:ext uri="{FF2B5EF4-FFF2-40B4-BE49-F238E27FC236}">
                <a16:creationId xmlns:a16="http://schemas.microsoft.com/office/drawing/2014/main" id="{480E83DD-F7CC-5B4E-A16C-2E0161C96309}"/>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570167" y="1411235"/>
            <a:ext cx="3657600" cy="2743200"/>
          </a:xfrm>
          <a:prstGeom prst="rect">
            <a:avLst/>
          </a:prstGeom>
        </p:spPr>
      </p:pic>
      <p:graphicFrame>
        <p:nvGraphicFramePr>
          <p:cNvPr id="27" name="Table 26">
            <a:extLst>
              <a:ext uri="{FF2B5EF4-FFF2-40B4-BE49-F238E27FC236}">
                <a16:creationId xmlns:a16="http://schemas.microsoft.com/office/drawing/2014/main" id="{8FDE7D9A-E501-1945-BC0A-69A47C4EDEDE}"/>
              </a:ext>
            </a:extLst>
          </p:cNvPr>
          <p:cNvGraphicFramePr>
            <a:graphicFrameLocks noGrp="1"/>
          </p:cNvGraphicFramePr>
          <p:nvPr/>
        </p:nvGraphicFramePr>
        <p:xfrm>
          <a:off x="7946408" y="1349373"/>
          <a:ext cx="850900" cy="1143000"/>
        </p:xfrm>
        <a:graphic>
          <a:graphicData uri="http://schemas.openxmlformats.org/drawingml/2006/table">
            <a:tbl>
              <a:tblPr/>
              <a:tblGrid>
                <a:gridCol w="850900">
                  <a:extLst>
                    <a:ext uri="{9D8B030D-6E8A-4147-A177-3AD203B41FA5}">
                      <a16:colId xmlns:a16="http://schemas.microsoft.com/office/drawing/2014/main" val="20000"/>
                    </a:ext>
                  </a:extLst>
                </a:gridCol>
              </a:tblGrid>
              <a:tr h="257175">
                <a:tc>
                  <a:txBody>
                    <a:bodyPr/>
                    <a:lstStyle/>
                    <a:p>
                      <a:pPr algn="ctr" fontAlgn="ctr"/>
                      <a:r>
                        <a:rPr lang="en-US" sz="800" b="1" i="0" u="none" strike="noStrike" dirty="0">
                          <a:solidFill>
                            <a:srgbClr val="000000"/>
                          </a:solidFill>
                          <a:effectLst/>
                          <a:latin typeface="Arial"/>
                        </a:rPr>
                        <a:t>Within Strain ANOVA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sz="800" b="1" i="0" u="none" strike="noStrike">
                          <a:solidFill>
                            <a:srgbClr val="000000"/>
                          </a:solidFill>
                          <a:effectLst/>
                          <a:latin typeface="Arial"/>
                        </a:rPr>
                        <a:t>0.4189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42875">
                <a:tc>
                  <a:txBody>
                    <a:bodyPr/>
                    <a:lstStyle/>
                    <a:p>
                      <a:pPr algn="ctr" fontAlgn="ctr"/>
                      <a:r>
                        <a:rPr lang="en-US" sz="800" b="1" i="0" u="none" strike="noStrike">
                          <a:solidFill>
                            <a:srgbClr val="336699"/>
                          </a:solidFill>
                          <a:effectLst/>
                          <a:latin typeface="Arial"/>
                        </a:rPr>
                        <a:t>0.5468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2875">
                <a:tc>
                  <a:txBody>
                    <a:bodyPr/>
                    <a:lstStyle/>
                    <a:p>
                      <a:pPr algn="ctr" fontAlgn="ctr"/>
                      <a:r>
                        <a:rPr lang="en-US" sz="800" b="1" i="0" u="none" strike="noStrike">
                          <a:solidFill>
                            <a:srgbClr val="CC0000"/>
                          </a:solidFill>
                          <a:effectLst/>
                          <a:latin typeface="Arial"/>
                        </a:rPr>
                        <a:t>0.6094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2875">
                <a:tc>
                  <a:txBody>
                    <a:bodyPr/>
                    <a:lstStyle/>
                    <a:p>
                      <a:pPr algn="ctr" fontAlgn="ctr"/>
                      <a:r>
                        <a:rPr lang="en-US" sz="800" b="1" i="0" u="none" strike="noStrike">
                          <a:solidFill>
                            <a:srgbClr val="009900"/>
                          </a:solidFill>
                          <a:effectLst/>
                          <a:latin typeface="Arial"/>
                        </a:rPr>
                        <a:t>0.5189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2875">
                <a:tc>
                  <a:txBody>
                    <a:bodyPr/>
                    <a:lstStyle/>
                    <a:p>
                      <a:pPr algn="ctr" fontAlgn="ctr"/>
                      <a:r>
                        <a:rPr lang="en-US" sz="800" b="1" i="0" u="none" strike="noStrike" dirty="0">
                          <a:solidFill>
                            <a:srgbClr val="FF9933"/>
                          </a:solidFill>
                          <a:effectLst/>
                          <a:latin typeface="Arial"/>
                        </a:rPr>
                        <a:t>0.9281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2875">
                <a:tc>
                  <a:txBody>
                    <a:bodyPr/>
                    <a:lstStyle/>
                    <a:p>
                      <a:pPr algn="ctr" fontAlgn="ctr"/>
                      <a:r>
                        <a:rPr lang="en-US" sz="800" b="1" i="0" u="none" strike="noStrike" dirty="0">
                          <a:solidFill>
                            <a:srgbClr val="9900CC"/>
                          </a:solidFill>
                          <a:effectLst/>
                          <a:latin typeface="Arial"/>
                        </a:rPr>
                        <a:t>0.1171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28" name="Picture 27">
            <a:extLst>
              <a:ext uri="{FF2B5EF4-FFF2-40B4-BE49-F238E27FC236}">
                <a16:creationId xmlns:a16="http://schemas.microsoft.com/office/drawing/2014/main" id="{527E6279-3B5A-CE4A-B528-9CCDCE72659C}"/>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38223" y="4145961"/>
            <a:ext cx="3657600" cy="2743200"/>
          </a:xfrm>
          <a:prstGeom prst="rect">
            <a:avLst/>
          </a:prstGeom>
        </p:spPr>
      </p:pic>
      <p:graphicFrame>
        <p:nvGraphicFramePr>
          <p:cNvPr id="29" name="Table 28">
            <a:extLst>
              <a:ext uri="{FF2B5EF4-FFF2-40B4-BE49-F238E27FC236}">
                <a16:creationId xmlns:a16="http://schemas.microsoft.com/office/drawing/2014/main" id="{45D6347A-9F07-7942-BC7B-F51B5ECC8FEC}"/>
              </a:ext>
            </a:extLst>
          </p:cNvPr>
          <p:cNvGraphicFramePr>
            <a:graphicFrameLocks noGrp="1"/>
          </p:cNvGraphicFramePr>
          <p:nvPr/>
        </p:nvGraphicFramePr>
        <p:xfrm>
          <a:off x="3513603" y="4083226"/>
          <a:ext cx="850900" cy="1143000"/>
        </p:xfrm>
        <a:graphic>
          <a:graphicData uri="http://schemas.openxmlformats.org/drawingml/2006/table">
            <a:tbl>
              <a:tblPr/>
              <a:tblGrid>
                <a:gridCol w="850900">
                  <a:extLst>
                    <a:ext uri="{9D8B030D-6E8A-4147-A177-3AD203B41FA5}">
                      <a16:colId xmlns:a16="http://schemas.microsoft.com/office/drawing/2014/main" val="20000"/>
                    </a:ext>
                  </a:extLst>
                </a:gridCol>
              </a:tblGrid>
              <a:tr h="257175">
                <a:tc>
                  <a:txBody>
                    <a:bodyPr/>
                    <a:lstStyle/>
                    <a:p>
                      <a:pPr algn="ctr" fontAlgn="ctr"/>
                      <a:r>
                        <a:rPr lang="en-US" sz="800" b="1" i="0" u="none" strike="noStrike">
                          <a:solidFill>
                            <a:srgbClr val="000000"/>
                          </a:solidFill>
                          <a:effectLst/>
                          <a:latin typeface="Arial"/>
                        </a:rPr>
                        <a:t>Within Strain ANOVA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sz="800" b="1" i="0" u="none" strike="noStrike">
                          <a:solidFill>
                            <a:srgbClr val="000000"/>
                          </a:solidFill>
                          <a:effectLst/>
                          <a:latin typeface="Arial"/>
                        </a:rPr>
                        <a:t>0.4097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42875">
                <a:tc>
                  <a:txBody>
                    <a:bodyPr/>
                    <a:lstStyle/>
                    <a:p>
                      <a:pPr algn="ctr" fontAlgn="ctr"/>
                      <a:r>
                        <a:rPr lang="en-US" sz="800" b="1" i="0" u="none" strike="noStrike">
                          <a:solidFill>
                            <a:srgbClr val="336699"/>
                          </a:solidFill>
                          <a:effectLst/>
                          <a:latin typeface="Arial"/>
                        </a:rPr>
                        <a:t>0.0494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2875">
                <a:tc>
                  <a:txBody>
                    <a:bodyPr/>
                    <a:lstStyle/>
                    <a:p>
                      <a:pPr algn="ctr" fontAlgn="ctr"/>
                      <a:r>
                        <a:rPr lang="en-US" sz="800" b="1" i="0" u="none" strike="noStrike">
                          <a:solidFill>
                            <a:srgbClr val="CC0000"/>
                          </a:solidFill>
                          <a:effectLst/>
                          <a:latin typeface="Arial"/>
                        </a:rPr>
                        <a:t>0.0751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2875">
                <a:tc>
                  <a:txBody>
                    <a:bodyPr/>
                    <a:lstStyle/>
                    <a:p>
                      <a:pPr algn="ctr" fontAlgn="ctr"/>
                      <a:r>
                        <a:rPr lang="en-US" sz="800" b="1" i="0" u="none" strike="noStrike">
                          <a:solidFill>
                            <a:srgbClr val="009900"/>
                          </a:solidFill>
                          <a:effectLst/>
                          <a:latin typeface="Arial"/>
                        </a:rPr>
                        <a:t>0.0533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2875">
                <a:tc>
                  <a:txBody>
                    <a:bodyPr/>
                    <a:lstStyle/>
                    <a:p>
                      <a:pPr algn="ctr" fontAlgn="ctr"/>
                      <a:r>
                        <a:rPr lang="en-US" sz="800" b="1" i="0" u="none" strike="noStrike">
                          <a:solidFill>
                            <a:srgbClr val="FF9933"/>
                          </a:solidFill>
                          <a:effectLst/>
                          <a:latin typeface="Arial"/>
                        </a:rPr>
                        <a:t>0.8354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2875">
                <a:tc>
                  <a:txBody>
                    <a:bodyPr/>
                    <a:lstStyle/>
                    <a:p>
                      <a:pPr algn="ctr" fontAlgn="ctr"/>
                      <a:r>
                        <a:rPr lang="en-US" sz="800" b="1" i="0" u="none" strike="noStrike" dirty="0">
                          <a:solidFill>
                            <a:srgbClr val="9900CC"/>
                          </a:solidFill>
                          <a:effectLst/>
                          <a:latin typeface="Arial"/>
                        </a:rPr>
                        <a:t>0.0021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30" name="Picture 29">
            <a:extLst>
              <a:ext uri="{FF2B5EF4-FFF2-40B4-BE49-F238E27FC236}">
                <a16:creationId xmlns:a16="http://schemas.microsoft.com/office/drawing/2014/main" id="{91D1E281-EFEE-7143-8908-726BEAA74FEC}"/>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563222" y="4145961"/>
            <a:ext cx="3657600" cy="2743200"/>
          </a:xfrm>
          <a:prstGeom prst="rect">
            <a:avLst/>
          </a:prstGeom>
        </p:spPr>
      </p:pic>
      <p:graphicFrame>
        <p:nvGraphicFramePr>
          <p:cNvPr id="31" name="Table 30">
            <a:extLst>
              <a:ext uri="{FF2B5EF4-FFF2-40B4-BE49-F238E27FC236}">
                <a16:creationId xmlns:a16="http://schemas.microsoft.com/office/drawing/2014/main" id="{C32F4927-2824-A44F-9CCD-ED942119BF19}"/>
              </a:ext>
            </a:extLst>
          </p:cNvPr>
          <p:cNvGraphicFramePr>
            <a:graphicFrameLocks noGrp="1"/>
          </p:cNvGraphicFramePr>
          <p:nvPr/>
        </p:nvGraphicFramePr>
        <p:xfrm>
          <a:off x="7932961" y="4080604"/>
          <a:ext cx="850900" cy="1143000"/>
        </p:xfrm>
        <a:graphic>
          <a:graphicData uri="http://schemas.openxmlformats.org/drawingml/2006/table">
            <a:tbl>
              <a:tblPr/>
              <a:tblGrid>
                <a:gridCol w="850900">
                  <a:extLst>
                    <a:ext uri="{9D8B030D-6E8A-4147-A177-3AD203B41FA5}">
                      <a16:colId xmlns:a16="http://schemas.microsoft.com/office/drawing/2014/main" val="20000"/>
                    </a:ext>
                  </a:extLst>
                </a:gridCol>
              </a:tblGrid>
              <a:tr h="257175">
                <a:tc>
                  <a:txBody>
                    <a:bodyPr/>
                    <a:lstStyle/>
                    <a:p>
                      <a:pPr algn="ctr" fontAlgn="ctr"/>
                      <a:r>
                        <a:rPr lang="en-US" sz="800" b="1" i="0" u="none" strike="noStrike" dirty="0">
                          <a:solidFill>
                            <a:srgbClr val="000000"/>
                          </a:solidFill>
                          <a:effectLst/>
                          <a:latin typeface="Arial"/>
                        </a:rPr>
                        <a:t>Within Strain ANOVA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ctr" fontAlgn="ctr"/>
                      <a:r>
                        <a:rPr lang="en-US" sz="800" b="1" i="0" u="none" strike="noStrike">
                          <a:solidFill>
                            <a:srgbClr val="000000"/>
                          </a:solidFill>
                          <a:effectLst/>
                          <a:latin typeface="Arial"/>
                        </a:rPr>
                        <a:t>0.1743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42875">
                <a:tc>
                  <a:txBody>
                    <a:bodyPr/>
                    <a:lstStyle/>
                    <a:p>
                      <a:pPr algn="ctr" fontAlgn="ctr"/>
                      <a:r>
                        <a:rPr lang="en-US" sz="800" b="1" i="0" u="none" strike="noStrike">
                          <a:solidFill>
                            <a:srgbClr val="336699"/>
                          </a:solidFill>
                          <a:effectLst/>
                          <a:latin typeface="Arial"/>
                        </a:rPr>
                        <a:t>0.8684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2875">
                <a:tc>
                  <a:txBody>
                    <a:bodyPr/>
                    <a:lstStyle/>
                    <a:p>
                      <a:pPr algn="ctr" fontAlgn="ctr"/>
                      <a:r>
                        <a:rPr lang="en-US" sz="800" b="1" i="0" u="none" strike="noStrike">
                          <a:solidFill>
                            <a:srgbClr val="CC0000"/>
                          </a:solidFill>
                          <a:effectLst/>
                          <a:latin typeface="Arial"/>
                        </a:rPr>
                        <a:t>0.0433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2875">
                <a:tc>
                  <a:txBody>
                    <a:bodyPr/>
                    <a:lstStyle/>
                    <a:p>
                      <a:pPr algn="ctr" fontAlgn="ctr"/>
                      <a:r>
                        <a:rPr lang="en-US" sz="800" b="1" i="0" u="none" strike="noStrike">
                          <a:solidFill>
                            <a:srgbClr val="009900"/>
                          </a:solidFill>
                          <a:effectLst/>
                          <a:latin typeface="Arial"/>
                        </a:rPr>
                        <a:t>0.0084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2875">
                <a:tc>
                  <a:txBody>
                    <a:bodyPr/>
                    <a:lstStyle/>
                    <a:p>
                      <a:pPr algn="ctr" fontAlgn="ctr"/>
                      <a:r>
                        <a:rPr lang="en-US" sz="800" b="1" i="0" u="none" strike="noStrike">
                          <a:solidFill>
                            <a:srgbClr val="FF9933"/>
                          </a:solidFill>
                          <a:effectLst/>
                          <a:latin typeface="Arial"/>
                        </a:rPr>
                        <a:t>0.8152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2875">
                <a:tc>
                  <a:txBody>
                    <a:bodyPr/>
                    <a:lstStyle/>
                    <a:p>
                      <a:pPr algn="ctr" fontAlgn="ctr"/>
                      <a:r>
                        <a:rPr lang="en-US" sz="800" b="1" i="0" u="none" strike="noStrike" dirty="0">
                          <a:solidFill>
                            <a:srgbClr val="9900CC"/>
                          </a:solidFill>
                          <a:effectLst/>
                          <a:latin typeface="Arial"/>
                        </a:rPr>
                        <a:t>0.0653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2" name="TextBox 31">
            <a:extLst>
              <a:ext uri="{FF2B5EF4-FFF2-40B4-BE49-F238E27FC236}">
                <a16:creationId xmlns:a16="http://schemas.microsoft.com/office/drawing/2014/main" id="{7B2C4608-865C-6442-8669-893AD7AED0E3}"/>
              </a:ext>
            </a:extLst>
          </p:cNvPr>
          <p:cNvSpPr txBox="1"/>
          <p:nvPr/>
        </p:nvSpPr>
        <p:spPr>
          <a:xfrm>
            <a:off x="2891118" y="2685940"/>
            <a:ext cx="1672104" cy="235962"/>
          </a:xfrm>
          <a:prstGeom prst="rect">
            <a:avLst/>
          </a:prstGeom>
          <a:noFill/>
        </p:spPr>
        <p:txBody>
          <a:bodyPr wrap="square" rtlCol="0">
            <a:spAutoFit/>
          </a:bodyPr>
          <a:lstStyle/>
          <a:p>
            <a:pPr algn="ctr"/>
            <a:r>
              <a:rPr lang="en-US" sz="1400" b="1" baseline="-25000" dirty="0" err="1"/>
              <a:t>MSE:minMSE</a:t>
            </a:r>
            <a:r>
              <a:rPr lang="en-US" sz="1400" b="1" baseline="-25000" dirty="0"/>
              <a:t> = 0.3695</a:t>
            </a:r>
          </a:p>
        </p:txBody>
      </p:sp>
      <p:sp>
        <p:nvSpPr>
          <p:cNvPr id="33" name="TextBox 32">
            <a:extLst>
              <a:ext uri="{FF2B5EF4-FFF2-40B4-BE49-F238E27FC236}">
                <a16:creationId xmlns:a16="http://schemas.microsoft.com/office/drawing/2014/main" id="{CE2A0C26-661C-6146-AA50-361EB6693695}"/>
              </a:ext>
            </a:extLst>
          </p:cNvPr>
          <p:cNvSpPr txBox="1"/>
          <p:nvPr/>
        </p:nvSpPr>
        <p:spPr>
          <a:xfrm>
            <a:off x="7348201" y="2685940"/>
            <a:ext cx="1672104" cy="235962"/>
          </a:xfrm>
          <a:prstGeom prst="rect">
            <a:avLst/>
          </a:prstGeom>
          <a:noFill/>
        </p:spPr>
        <p:txBody>
          <a:bodyPr wrap="square" rtlCol="0">
            <a:spAutoFit/>
          </a:bodyPr>
          <a:lstStyle/>
          <a:p>
            <a:pPr algn="ctr"/>
            <a:r>
              <a:rPr lang="en-US" sz="1400" b="1" baseline="-25000" dirty="0" err="1"/>
              <a:t>MSE:minMSE</a:t>
            </a:r>
            <a:r>
              <a:rPr lang="en-US" sz="1400" b="1" baseline="-25000" dirty="0"/>
              <a:t> = 0.2209</a:t>
            </a:r>
          </a:p>
        </p:txBody>
      </p:sp>
      <p:sp>
        <p:nvSpPr>
          <p:cNvPr id="34" name="TextBox 33">
            <a:extLst>
              <a:ext uri="{FF2B5EF4-FFF2-40B4-BE49-F238E27FC236}">
                <a16:creationId xmlns:a16="http://schemas.microsoft.com/office/drawing/2014/main" id="{F12EA6DA-299C-974E-B39D-2877F7B5559B}"/>
              </a:ext>
            </a:extLst>
          </p:cNvPr>
          <p:cNvSpPr txBox="1"/>
          <p:nvPr/>
        </p:nvSpPr>
        <p:spPr>
          <a:xfrm>
            <a:off x="2891118" y="5374896"/>
            <a:ext cx="1672104" cy="235962"/>
          </a:xfrm>
          <a:prstGeom prst="rect">
            <a:avLst/>
          </a:prstGeom>
          <a:noFill/>
        </p:spPr>
        <p:txBody>
          <a:bodyPr wrap="square" rtlCol="0">
            <a:spAutoFit/>
          </a:bodyPr>
          <a:lstStyle/>
          <a:p>
            <a:pPr algn="ctr"/>
            <a:r>
              <a:rPr lang="en-US" sz="1400" b="1" baseline="-25000" dirty="0" err="1"/>
              <a:t>MSE:minMSE</a:t>
            </a:r>
            <a:r>
              <a:rPr lang="en-US" sz="1400" b="1" baseline="-25000" dirty="0"/>
              <a:t> = 0.5337</a:t>
            </a:r>
          </a:p>
        </p:txBody>
      </p:sp>
      <p:sp>
        <p:nvSpPr>
          <p:cNvPr id="35" name="TextBox 34">
            <a:extLst>
              <a:ext uri="{FF2B5EF4-FFF2-40B4-BE49-F238E27FC236}">
                <a16:creationId xmlns:a16="http://schemas.microsoft.com/office/drawing/2014/main" id="{FF3C6726-A523-C640-B515-B071718B9FBF}"/>
              </a:ext>
            </a:extLst>
          </p:cNvPr>
          <p:cNvSpPr txBox="1"/>
          <p:nvPr/>
        </p:nvSpPr>
        <p:spPr>
          <a:xfrm>
            <a:off x="7348201" y="5374896"/>
            <a:ext cx="1672104" cy="235962"/>
          </a:xfrm>
          <a:prstGeom prst="rect">
            <a:avLst/>
          </a:prstGeom>
          <a:noFill/>
        </p:spPr>
        <p:txBody>
          <a:bodyPr wrap="square" rtlCol="0">
            <a:spAutoFit/>
          </a:bodyPr>
          <a:lstStyle/>
          <a:p>
            <a:pPr algn="ctr"/>
            <a:r>
              <a:rPr lang="en-US" sz="1400" b="1" baseline="-25000" dirty="0" err="1"/>
              <a:t>MSE:minMSE</a:t>
            </a:r>
            <a:r>
              <a:rPr lang="en-US" sz="1400" b="1" baseline="-25000" dirty="0"/>
              <a:t> = 0.3662</a:t>
            </a:r>
          </a:p>
        </p:txBody>
      </p:sp>
    </p:spTree>
    <p:extLst>
      <p:ext uri="{BB962C8B-B14F-4D97-AF65-F5344CB8AC3E}">
        <p14:creationId xmlns:p14="http://schemas.microsoft.com/office/powerpoint/2010/main" val="1601745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7777" y="2470153"/>
            <a:ext cx="8783609" cy="3031153"/>
          </a:xfrm>
          <a:prstGeom prst="rect">
            <a:avLst/>
          </a:prstGeom>
        </p:spPr>
      </p:pic>
      <p:sp>
        <p:nvSpPr>
          <p:cNvPr id="4" name="Content Placeholder 2"/>
          <p:cNvSpPr txBox="1">
            <a:spLocks/>
          </p:cNvSpPr>
          <p:nvPr/>
        </p:nvSpPr>
        <p:spPr>
          <a:xfrm>
            <a:off x="217778" y="493153"/>
            <a:ext cx="8825554" cy="2161401"/>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US" b="1"/>
              <a:t>The GRNmap Mathematical Model Answers the Questions:</a:t>
            </a:r>
          </a:p>
          <a:p>
            <a:pPr marL="344488" indent="-344488">
              <a:buFont typeface="+mj-lt"/>
              <a:buAutoNum type="arabicPeriod"/>
            </a:pPr>
            <a:r>
              <a:rPr lang="en-US" sz="800" b="1">
                <a:solidFill>
                  <a:srgbClr val="16693F"/>
                </a:solidFill>
              </a:rPr>
              <a:t> </a:t>
            </a:r>
          </a:p>
          <a:p>
            <a:pPr marL="344488" indent="-344488">
              <a:buFont typeface="+mj-lt"/>
              <a:buAutoNum type="arabicPeriod"/>
            </a:pPr>
            <a:r>
              <a:rPr lang="en-US" b="1">
                <a:solidFill>
                  <a:srgbClr val="16693F"/>
                </a:solidFill>
              </a:rPr>
              <a:t>What are the relative levels of influence of each TF?</a:t>
            </a:r>
          </a:p>
          <a:p>
            <a:pPr marL="344488" indent="-344488">
              <a:buFont typeface="+mj-lt"/>
              <a:buAutoNum type="arabicPeriod"/>
            </a:pPr>
            <a:r>
              <a:rPr lang="en-US" b="1">
                <a:solidFill>
                  <a:srgbClr val="16693F"/>
                </a:solidFill>
              </a:rPr>
              <a:t>What are the indirect effects of other transcription factors in the gene regulatory network?</a:t>
            </a:r>
            <a:endParaRPr lang="en-US" b="1" dirty="0">
              <a:solidFill>
                <a:srgbClr val="16693F"/>
              </a:solidFill>
            </a:endParaRPr>
          </a:p>
        </p:txBody>
      </p:sp>
      <p:sp>
        <p:nvSpPr>
          <p:cNvPr id="5" name="Rectangle 4"/>
          <p:cNvSpPr/>
          <p:nvPr/>
        </p:nvSpPr>
        <p:spPr>
          <a:xfrm>
            <a:off x="293615" y="892441"/>
            <a:ext cx="453005" cy="2432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20317" y="5739061"/>
            <a:ext cx="9015610" cy="523220"/>
          </a:xfrm>
          <a:prstGeom prst="rect">
            <a:avLst/>
          </a:prstGeom>
          <a:noFill/>
        </p:spPr>
        <p:txBody>
          <a:bodyPr wrap="none" rtlCol="0">
            <a:spAutoFit/>
          </a:bodyPr>
          <a:lstStyle/>
          <a:p>
            <a:r>
              <a:rPr lang="en-US" sz="2800" b="1"/>
              <a:t>But how do we make sense of these weight values?</a:t>
            </a:r>
          </a:p>
        </p:txBody>
      </p:sp>
    </p:spTree>
    <p:extLst>
      <p:ext uri="{BB962C8B-B14F-4D97-AF65-F5344CB8AC3E}">
        <p14:creationId xmlns:p14="http://schemas.microsoft.com/office/powerpoint/2010/main" val="3414439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222690" y="1371002"/>
            <a:ext cx="2786477" cy="934104"/>
            <a:chOff x="3063195" y="1371002"/>
            <a:chExt cx="2786477" cy="934104"/>
          </a:xfrm>
        </p:grpSpPr>
        <p:sp>
          <p:nvSpPr>
            <p:cNvPr id="14361"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2"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Cold shock microarray data from wt and TF deletion strains</a:t>
              </a:r>
              <a:endParaRPr lang="en-US" altLang="en-US" sz="1800" b="1" dirty="0">
                <a:solidFill>
                  <a:schemeClr val="bg1"/>
                </a:solidFill>
              </a:endParaRPr>
            </a:p>
          </p:txBody>
        </p:sp>
      </p:grpSp>
      <p:cxnSp>
        <p:nvCxnSpPr>
          <p:cNvPr id="30" name="Straight Arrow Connector 29"/>
          <p:cNvCxnSpPr/>
          <p:nvPr/>
        </p:nvCxnSpPr>
        <p:spPr bwMode="auto">
          <a:xfrm>
            <a:off x="6182623" y="1842990"/>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bwMode="auto">
          <a:xfrm>
            <a:off x="7472418" y="3781652"/>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25" name="Text Box 4"/>
          <p:cNvSpPr txBox="1">
            <a:spLocks noChangeArrowheads="1"/>
          </p:cNvSpPr>
          <p:nvPr/>
        </p:nvSpPr>
        <p:spPr bwMode="auto">
          <a:xfrm>
            <a:off x="342148" y="369270"/>
            <a:ext cx="8518499" cy="954107"/>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r>
              <a:rPr lang="en-US" altLang="en-US" sz="2800" dirty="0">
                <a:solidFill>
                  <a:srgbClr val="16693F"/>
                </a:solidFill>
              </a:rPr>
              <a:t>Systems Biology Approach to Understanding the Regulation of the Cold Shock Response in Yeast</a:t>
            </a:r>
            <a:endParaRPr lang="en-US" altLang="en-US" sz="2800" i="1" dirty="0">
              <a:solidFill>
                <a:srgbClr val="16693F"/>
              </a:solidFill>
            </a:endParaRPr>
          </a:p>
        </p:txBody>
      </p:sp>
      <p:grpSp>
        <p:nvGrpSpPr>
          <p:cNvPr id="5" name="Group 4"/>
          <p:cNvGrpSpPr/>
          <p:nvPr/>
        </p:nvGrpSpPr>
        <p:grpSpPr>
          <a:xfrm>
            <a:off x="6217511" y="2722333"/>
            <a:ext cx="2509815" cy="923619"/>
            <a:chOff x="6194471" y="2800422"/>
            <a:chExt cx="2509815" cy="923619"/>
          </a:xfrm>
        </p:grpSpPr>
        <p:sp>
          <p:nvSpPr>
            <p:cNvPr id="23" name="Rounded Rectangle 1"/>
            <p:cNvSpPr>
              <a:spLocks noChangeArrowheads="1"/>
            </p:cNvSpPr>
            <p:nvPr/>
          </p:nvSpPr>
          <p:spPr bwMode="auto">
            <a:xfrm>
              <a:off x="6194471" y="2800422"/>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4360" name="TextBox 5"/>
            <p:cNvSpPr txBox="1">
              <a:spLocks noChangeArrowheads="1"/>
            </p:cNvSpPr>
            <p:nvPr/>
          </p:nvSpPr>
          <p:spPr bwMode="auto">
            <a:xfrm>
              <a:off x="6297647" y="2800566"/>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Normalization, statistical analysis, clustering</a:t>
              </a:r>
              <a:endParaRPr lang="en-US" altLang="en-US" sz="1800" b="1" dirty="0">
                <a:solidFill>
                  <a:schemeClr val="bg1"/>
                </a:solidFill>
              </a:endParaRPr>
            </a:p>
          </p:txBody>
        </p:sp>
      </p:grpSp>
      <p:grpSp>
        <p:nvGrpSpPr>
          <p:cNvPr id="11" name="Group 10"/>
          <p:cNvGrpSpPr/>
          <p:nvPr/>
        </p:nvGrpSpPr>
        <p:grpSpPr>
          <a:xfrm>
            <a:off x="6217511" y="4545708"/>
            <a:ext cx="2509815" cy="923619"/>
            <a:chOff x="6217511" y="4545708"/>
            <a:chExt cx="2509815" cy="923619"/>
          </a:xfrm>
        </p:grpSpPr>
        <p:sp>
          <p:nvSpPr>
            <p:cNvPr id="26"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7"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Derivation of gene regulatory networks from YEASTRACT</a:t>
              </a:r>
              <a:endParaRPr lang="en-US" altLang="en-US" sz="1800" b="1" dirty="0">
                <a:solidFill>
                  <a:schemeClr val="bg1"/>
                </a:solidFill>
              </a:endParaRPr>
            </a:p>
          </p:txBody>
        </p:sp>
      </p:grpSp>
      <p:grpSp>
        <p:nvGrpSpPr>
          <p:cNvPr id="7" name="Group 6"/>
          <p:cNvGrpSpPr/>
          <p:nvPr/>
        </p:nvGrpSpPr>
        <p:grpSpPr>
          <a:xfrm>
            <a:off x="3361021" y="5796803"/>
            <a:ext cx="2509815" cy="923619"/>
            <a:chOff x="3313295" y="5796803"/>
            <a:chExt cx="2509815" cy="923619"/>
          </a:xfrm>
        </p:grpSpPr>
        <p:sp>
          <p:nvSpPr>
            <p:cNvPr id="28"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29"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Dynamical systems modeling using GRNmap</a:t>
              </a:r>
              <a:endParaRPr lang="en-US" altLang="en-US" sz="1800" b="1" dirty="0">
                <a:solidFill>
                  <a:schemeClr val="bg1"/>
                </a:solidFill>
              </a:endParaRPr>
            </a:p>
          </p:txBody>
        </p:sp>
      </p:grpSp>
      <p:grpSp>
        <p:nvGrpSpPr>
          <p:cNvPr id="8" name="Group 7"/>
          <p:cNvGrpSpPr/>
          <p:nvPr/>
        </p:nvGrpSpPr>
        <p:grpSpPr>
          <a:xfrm>
            <a:off x="539706" y="4545708"/>
            <a:ext cx="2509815" cy="923619"/>
            <a:chOff x="534387" y="4504947"/>
            <a:chExt cx="2509815" cy="923619"/>
          </a:xfrm>
        </p:grpSpPr>
        <p:sp>
          <p:nvSpPr>
            <p:cNvPr id="31" name="Rounded Rectangle 1"/>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32" name="TextBox 5"/>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Visualization of  modeling results using GRNsight</a:t>
              </a:r>
              <a:endParaRPr lang="en-US" altLang="en-US" sz="1800" b="1" dirty="0">
                <a:solidFill>
                  <a:schemeClr val="bg1"/>
                </a:solidFill>
              </a:endParaRPr>
            </a:p>
          </p:txBody>
        </p:sp>
      </p:grpSp>
      <p:cxnSp>
        <p:nvCxnSpPr>
          <p:cNvPr id="47" name="Straight Arrow Connector 46"/>
          <p:cNvCxnSpPr/>
          <p:nvPr/>
        </p:nvCxnSpPr>
        <p:spPr bwMode="auto">
          <a:xfrm flipH="1">
            <a:off x="6182623"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51" name="Picture 2" descr="figure01a"/>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91249" y="4305930"/>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2" descr="ColdShockArrays"/>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49284" t="26373" r="23117" b="44420"/>
          <a:stretch/>
        </p:blipFill>
        <p:spPr bwMode="auto">
          <a:xfrm>
            <a:off x="3795833" y="2323753"/>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52"/>
          <p:cNvPicPr/>
          <p:nvPr/>
        </p:nvPicPr>
        <p:blipFill rotWithShape="1">
          <a:blip r:embed="rId4"/>
          <a:srcRect l="2236" t="13149" r="4919" b="13625"/>
          <a:stretch/>
        </p:blipFill>
        <p:spPr>
          <a:xfrm>
            <a:off x="7202082" y="1222149"/>
            <a:ext cx="1858009" cy="1099053"/>
          </a:xfrm>
          <a:prstGeom prst="rect">
            <a:avLst/>
          </a:prstGeom>
        </p:spPr>
      </p:pic>
      <p:cxnSp>
        <p:nvCxnSpPr>
          <p:cNvPr id="48" name="Straight Arrow Connector 47"/>
          <p:cNvCxnSpPr/>
          <p:nvPr/>
        </p:nvCxnSpPr>
        <p:spPr bwMode="auto">
          <a:xfrm flipH="1" flipV="1">
            <a:off x="1954108" y="56210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480064" y="1567424"/>
            <a:ext cx="3111186" cy="2031325"/>
          </a:xfrm>
          <a:prstGeom prst="rect">
            <a:avLst/>
          </a:prstGeom>
          <a:noFill/>
        </p:spPr>
        <p:txBody>
          <a:bodyPr wrap="square" rtlCol="0">
            <a:spAutoFit/>
          </a:bodyPr>
          <a:lstStyle/>
          <a:p>
            <a:r>
              <a:rPr lang="en-US" b="1">
                <a:solidFill>
                  <a:srgbClr val="16693F"/>
                </a:solidFill>
              </a:rPr>
              <a:t>Current GRNsight</a:t>
            </a:r>
          </a:p>
          <a:p>
            <a:r>
              <a:rPr lang="en-US" b="1" u="sng">
                <a:solidFill>
                  <a:srgbClr val="16693F"/>
                </a:solidFill>
              </a:rPr>
              <a:t>Coding Team:</a:t>
            </a:r>
          </a:p>
          <a:p>
            <a:pPr marL="233363" indent="-233363">
              <a:buFont typeface="Arial" panose="020B0604020202020204" pitchFamily="34" charset="0"/>
              <a:buChar char="•"/>
            </a:pPr>
            <a:r>
              <a:rPr lang="en-US" b="1">
                <a:solidFill>
                  <a:srgbClr val="16693F"/>
                </a:solidFill>
              </a:rPr>
              <a:t>Eileen Choe</a:t>
            </a:r>
          </a:p>
          <a:p>
            <a:pPr marL="233363" indent="-233363">
              <a:buFont typeface="Arial" panose="020B0604020202020204" pitchFamily="34" charset="0"/>
              <a:buChar char="•"/>
            </a:pPr>
            <a:r>
              <a:rPr lang="en-US" b="1">
                <a:solidFill>
                  <a:srgbClr val="16693F"/>
                </a:solidFill>
              </a:rPr>
              <a:t>Mihir Samdarshi</a:t>
            </a:r>
          </a:p>
          <a:p>
            <a:pPr marL="233363" indent="-233363">
              <a:buFont typeface="Arial" panose="020B0604020202020204" pitchFamily="34" charset="0"/>
              <a:buChar char="•"/>
            </a:pPr>
            <a:r>
              <a:rPr lang="en-US" b="1">
                <a:solidFill>
                  <a:srgbClr val="16693F"/>
                </a:solidFill>
              </a:rPr>
              <a:t>Jen Shin</a:t>
            </a:r>
          </a:p>
          <a:p>
            <a:pPr marL="233363" indent="-233363">
              <a:buFont typeface="Arial" panose="020B0604020202020204" pitchFamily="34" charset="0"/>
              <a:buChar char="•"/>
            </a:pPr>
            <a:r>
              <a:rPr lang="en-US" b="1">
                <a:solidFill>
                  <a:srgbClr val="16693F"/>
                </a:solidFill>
              </a:rPr>
              <a:t>BIOL 367:  Biological Databases</a:t>
            </a:r>
          </a:p>
        </p:txBody>
      </p:sp>
      <p:grpSp>
        <p:nvGrpSpPr>
          <p:cNvPr id="34" name="Group 33"/>
          <p:cNvGrpSpPr/>
          <p:nvPr/>
        </p:nvGrpSpPr>
        <p:grpSpPr>
          <a:xfrm>
            <a:off x="342148" y="5736566"/>
            <a:ext cx="1611841" cy="879894"/>
            <a:chOff x="3096883" y="3252158"/>
            <a:chExt cx="5357004" cy="2924355"/>
          </a:xfrm>
        </p:grpSpPr>
        <p:pic>
          <p:nvPicPr>
            <p:cNvPr id="35" name="Picture 34"/>
            <p:cNvPicPr>
              <a:picLocks noChangeAspect="1"/>
            </p:cNvPicPr>
            <p:nvPr/>
          </p:nvPicPr>
          <p:blipFill rotWithShape="1">
            <a:blip r:embed="rId5"/>
            <a:srcRect l="33867" t="47104" r="7548" b="5013"/>
            <a:stretch/>
          </p:blipFill>
          <p:spPr>
            <a:xfrm>
              <a:off x="3096883" y="3252158"/>
              <a:ext cx="5357004" cy="2924355"/>
            </a:xfrm>
            <a:prstGeom prst="rect">
              <a:avLst/>
            </a:prstGeom>
          </p:spPr>
        </p:pic>
        <p:sp>
          <p:nvSpPr>
            <p:cNvPr id="36" name="Rectangle 35"/>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5584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81358" cy="990600"/>
          </a:xfrm>
        </p:spPr>
        <p:txBody>
          <a:bodyPr>
            <a:noAutofit/>
          </a:bodyPr>
          <a:lstStyle/>
          <a:p>
            <a:r>
              <a:rPr lang="en-US" sz="2800" b="1"/>
              <a:t>Our “First Pass” GRN Diagram Took Several Hours to Create by Hand in Adobe Illustrator</a:t>
            </a:r>
            <a:endParaRPr lang="en-US" sz="2800" b="1" dirty="0"/>
          </a:p>
        </p:txBody>
      </p:sp>
      <p:pic>
        <p:nvPicPr>
          <p:cNvPr id="5" name="Picture 2" descr="https://static-content.springer.com/image/art%3A10.1007%2Fs11538-015-0092-6/MediaObjects/11538_2015_92_Fig1_HTML.gif"/>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12684" y="1828971"/>
            <a:ext cx="4916139" cy="45795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255118" y="6574935"/>
            <a:ext cx="4881465" cy="276999"/>
          </a:xfrm>
          <a:prstGeom prst="rect">
            <a:avLst/>
          </a:prstGeom>
          <a:noFill/>
        </p:spPr>
        <p:txBody>
          <a:bodyPr wrap="none" rtlCol="0">
            <a:spAutoFit/>
          </a:bodyPr>
          <a:lstStyle/>
          <a:p>
            <a:r>
              <a:rPr lang="en-US" sz="1200" b="1"/>
              <a:t>Dahlquist et al. (2015) </a:t>
            </a:r>
            <a:r>
              <a:rPr lang="en-US" sz="1200" b="1" i="1"/>
              <a:t>Bulletin of Mathematical Biology</a:t>
            </a:r>
            <a:r>
              <a:rPr lang="en-US" sz="1200" b="1"/>
              <a:t> 77: 1457.</a:t>
            </a:r>
          </a:p>
        </p:txBody>
      </p:sp>
    </p:spTree>
    <p:extLst>
      <p:ext uri="{BB962C8B-B14F-4D97-AF65-F5344CB8AC3E}">
        <p14:creationId xmlns:p14="http://schemas.microsoft.com/office/powerpoint/2010/main" val="3890168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t="12781"/>
          <a:stretch/>
        </p:blipFill>
        <p:spPr>
          <a:xfrm>
            <a:off x="0" y="1155939"/>
            <a:ext cx="9144000" cy="5326715"/>
          </a:xfrm>
          <a:prstGeom prst="rect">
            <a:avLst/>
          </a:prstGeom>
        </p:spPr>
      </p:pic>
      <p:sp>
        <p:nvSpPr>
          <p:cNvPr id="7"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GRNsight Rapidly Generates GRN Graphs Using </a:t>
            </a:r>
          </a:p>
          <a:p>
            <a:r>
              <a:rPr lang="en-US" sz="2600" b="1"/>
              <a:t>Our Customizations to the Open Source D3 Library</a:t>
            </a:r>
            <a:endParaRPr lang="en-US" sz="2600" b="1" dirty="0"/>
          </a:p>
        </p:txBody>
      </p:sp>
      <p:sp>
        <p:nvSpPr>
          <p:cNvPr id="4" name="TextBox 3"/>
          <p:cNvSpPr txBox="1"/>
          <p:nvPr/>
        </p:nvSpPr>
        <p:spPr>
          <a:xfrm>
            <a:off x="167272" y="6512314"/>
            <a:ext cx="6917022" cy="307777"/>
          </a:xfrm>
          <a:prstGeom prst="rect">
            <a:avLst/>
          </a:prstGeom>
          <a:noFill/>
        </p:spPr>
        <p:txBody>
          <a:bodyPr wrap="none" rtlCol="0">
            <a:spAutoFit/>
          </a:bodyPr>
          <a:lstStyle/>
          <a:p>
            <a:r>
              <a:rPr lang="en-US" sz="1400" b="1"/>
              <a:t>Dahlquist et al. (2016) </a:t>
            </a:r>
            <a:r>
              <a:rPr lang="en-US" sz="1400" b="1" i="1"/>
              <a:t>PeerJ Computer Science</a:t>
            </a:r>
            <a:r>
              <a:rPr lang="en-US" sz="1400" b="1"/>
              <a:t>; Version 1 available March 2014</a:t>
            </a:r>
          </a:p>
        </p:txBody>
      </p:sp>
    </p:spTree>
    <p:extLst>
      <p:ext uri="{BB962C8B-B14F-4D97-AF65-F5344CB8AC3E}">
        <p14:creationId xmlns:p14="http://schemas.microsoft.com/office/powerpoint/2010/main" val="2495259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Besides the Force Graph Layout,</a:t>
            </a:r>
          </a:p>
          <a:p>
            <a:r>
              <a:rPr lang="en-US" sz="2600" b="1"/>
              <a:t>Users Can Rearrange the Nodes by Hand</a:t>
            </a:r>
            <a:endParaRPr lang="en-US" sz="2600" b="1" dirty="0"/>
          </a:p>
        </p:txBody>
      </p:sp>
      <p:sp>
        <p:nvSpPr>
          <p:cNvPr id="4" name="TextBox 3"/>
          <p:cNvSpPr txBox="1"/>
          <p:nvPr/>
        </p:nvSpPr>
        <p:spPr>
          <a:xfrm>
            <a:off x="167272" y="6512314"/>
            <a:ext cx="4182555" cy="307777"/>
          </a:xfrm>
          <a:prstGeom prst="rect">
            <a:avLst/>
          </a:prstGeom>
          <a:noFill/>
        </p:spPr>
        <p:txBody>
          <a:bodyPr wrap="none" rtlCol="0">
            <a:spAutoFit/>
          </a:bodyPr>
          <a:lstStyle/>
          <a:p>
            <a:r>
              <a:rPr lang="en-US" sz="1400" b="1"/>
              <a:t>Dahlquist et al. (2016) </a:t>
            </a:r>
            <a:r>
              <a:rPr lang="en-US" sz="1400" b="1" i="1"/>
              <a:t>PeerJ Computer Science</a:t>
            </a:r>
          </a:p>
        </p:txBody>
      </p:sp>
      <p:pic>
        <p:nvPicPr>
          <p:cNvPr id="5" name="Picture 4"/>
          <p:cNvPicPr>
            <a:picLocks noChangeAspect="1"/>
          </p:cNvPicPr>
          <p:nvPr/>
        </p:nvPicPr>
        <p:blipFill rotWithShape="1">
          <a:blip r:embed="rId2"/>
          <a:srcRect t="12781"/>
          <a:stretch/>
        </p:blipFill>
        <p:spPr>
          <a:xfrm>
            <a:off x="0" y="1155939"/>
            <a:ext cx="9144000" cy="5326715"/>
          </a:xfrm>
          <a:prstGeom prst="rect">
            <a:avLst/>
          </a:prstGeom>
        </p:spPr>
      </p:pic>
    </p:spTree>
    <p:extLst>
      <p:ext uri="{BB962C8B-B14F-4D97-AF65-F5344CB8AC3E}">
        <p14:creationId xmlns:p14="http://schemas.microsoft.com/office/powerpoint/2010/main" val="3775367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3</a:t>
            </a:r>
            <a:endParaRPr lang="en-US" sz="1400" b="1" i="1"/>
          </a:p>
        </p:txBody>
      </p:sp>
      <p:pic>
        <p:nvPicPr>
          <p:cNvPr id="12" name="Picture 11"/>
          <p:cNvPicPr>
            <a:picLocks noChangeAspect="1"/>
          </p:cNvPicPr>
          <p:nvPr/>
        </p:nvPicPr>
        <p:blipFill rotWithShape="1">
          <a:blip r:embed="rId2"/>
          <a:srcRect t="12781"/>
          <a:stretch/>
        </p:blipFill>
        <p:spPr>
          <a:xfrm>
            <a:off x="0" y="1155939"/>
            <a:ext cx="9144000" cy="5326715"/>
          </a:xfrm>
          <a:prstGeom prst="rect">
            <a:avLst/>
          </a:prstGeom>
        </p:spPr>
      </p:pic>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Or Choose the Convenient Block Layout Option</a:t>
            </a:r>
            <a:endParaRPr lang="en-US" sz="2600" b="1" dirty="0"/>
          </a:p>
        </p:txBody>
      </p:sp>
    </p:spTree>
    <p:extLst>
      <p:ext uri="{BB962C8B-B14F-4D97-AF65-F5344CB8AC3E}">
        <p14:creationId xmlns:p14="http://schemas.microsoft.com/office/powerpoint/2010/main" val="3199692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2811732" cy="307777"/>
          </a:xfrm>
          <a:prstGeom prst="rect">
            <a:avLst/>
          </a:prstGeom>
          <a:noFill/>
        </p:spPr>
        <p:txBody>
          <a:bodyPr wrap="none" rtlCol="0">
            <a:spAutoFit/>
          </a:bodyPr>
          <a:lstStyle/>
          <a:p>
            <a:r>
              <a:rPr lang="en-US" sz="1400" b="1"/>
              <a:t>New color scheme in Version 3</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When Model Results are Loaded, Edge Weight Values </a:t>
            </a:r>
          </a:p>
          <a:p>
            <a:r>
              <a:rPr lang="en-US" sz="2600" b="1"/>
              <a:t>Are Indicated by Color, Thickness, and End Marker</a:t>
            </a:r>
            <a:endParaRPr lang="en-US" sz="2600" b="1" dirty="0"/>
          </a:p>
        </p:txBody>
      </p:sp>
      <p:pic>
        <p:nvPicPr>
          <p:cNvPr id="5" name="Picture 4"/>
          <p:cNvPicPr>
            <a:picLocks noChangeAspect="1"/>
          </p:cNvPicPr>
          <p:nvPr/>
        </p:nvPicPr>
        <p:blipFill rotWithShape="1">
          <a:blip r:embed="rId2"/>
          <a:srcRect t="12781"/>
          <a:stretch/>
        </p:blipFill>
        <p:spPr>
          <a:xfrm>
            <a:off x="0" y="1155939"/>
            <a:ext cx="9144000" cy="5326715"/>
          </a:xfrm>
          <a:prstGeom prst="rect">
            <a:avLst/>
          </a:prstGeom>
        </p:spPr>
      </p:pic>
    </p:spTree>
    <p:extLst>
      <p:ext uri="{BB962C8B-B14F-4D97-AF65-F5344CB8AC3E}">
        <p14:creationId xmlns:p14="http://schemas.microsoft.com/office/powerpoint/2010/main" val="6322811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981102" cy="307777"/>
          </a:xfrm>
          <a:prstGeom prst="rect">
            <a:avLst/>
          </a:prstGeom>
          <a:noFill/>
        </p:spPr>
        <p:txBody>
          <a:bodyPr wrap="none" rtlCol="0">
            <a:spAutoFit/>
          </a:bodyPr>
          <a:lstStyle/>
          <a:p>
            <a:r>
              <a:rPr lang="en-US" sz="1400" b="1"/>
              <a:t>Version 1</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Edge Thicknesses are Normalized to the Largest Magnitude Weight Value</a:t>
            </a:r>
            <a:endParaRPr lang="en-US" sz="2600" b="1" dirty="0"/>
          </a:p>
        </p:txBody>
      </p:sp>
      <p:pic>
        <p:nvPicPr>
          <p:cNvPr id="5" name="Picture 4"/>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861681" cy="338554"/>
          </a:xfrm>
          <a:prstGeom prst="rect">
            <a:avLst/>
          </a:prstGeom>
          <a:noFill/>
        </p:spPr>
        <p:txBody>
          <a:bodyPr wrap="none" rtlCol="0">
            <a:spAutoFit/>
          </a:bodyPr>
          <a:lstStyle/>
          <a:p>
            <a:r>
              <a:rPr lang="en-US" sz="1600" b="1"/>
              <a:t>Normalization Factor = 5.21</a:t>
            </a:r>
          </a:p>
        </p:txBody>
      </p:sp>
    </p:spTree>
    <p:extLst>
      <p:ext uri="{BB962C8B-B14F-4D97-AF65-F5344CB8AC3E}">
        <p14:creationId xmlns:p14="http://schemas.microsoft.com/office/powerpoint/2010/main" val="31403171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And Can Be Modified to Allow Fair Visual Comparison between Different Graphs</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690160" cy="338554"/>
          </a:xfrm>
          <a:prstGeom prst="rect">
            <a:avLst/>
          </a:prstGeom>
          <a:noFill/>
        </p:spPr>
        <p:txBody>
          <a:bodyPr wrap="none" rtlCol="0">
            <a:spAutoFit/>
          </a:bodyPr>
          <a:lstStyle/>
          <a:p>
            <a:r>
              <a:rPr lang="en-US" sz="1600" b="1"/>
              <a:t>Normalization Factor = 10</a:t>
            </a:r>
          </a:p>
        </p:txBody>
      </p:sp>
    </p:spTree>
    <p:extLst>
      <p:ext uri="{BB962C8B-B14F-4D97-AF65-F5344CB8AC3E}">
        <p14:creationId xmlns:p14="http://schemas.microsoft.com/office/powerpoint/2010/main" val="24793252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And Can Be Modified to Allow Fair Visual Comparison between Different Graphs</a:t>
            </a:r>
            <a:endParaRPr lang="en-US" sz="2600" b="1" dirty="0"/>
          </a:p>
        </p:txBody>
      </p:sp>
      <p:pic>
        <p:nvPicPr>
          <p:cNvPr id="7" name="Picture 6"/>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805576" cy="338554"/>
          </a:xfrm>
          <a:prstGeom prst="rect">
            <a:avLst/>
          </a:prstGeom>
          <a:noFill/>
        </p:spPr>
        <p:txBody>
          <a:bodyPr wrap="none" rtlCol="0">
            <a:spAutoFit/>
          </a:bodyPr>
          <a:lstStyle/>
          <a:p>
            <a:r>
              <a:rPr lang="en-US" sz="1600" b="1"/>
              <a:t>Normalization Factor =  2.5</a:t>
            </a:r>
          </a:p>
        </p:txBody>
      </p:sp>
    </p:spTree>
    <p:extLst>
      <p:ext uri="{BB962C8B-B14F-4D97-AF65-F5344CB8AC3E}">
        <p14:creationId xmlns:p14="http://schemas.microsoft.com/office/powerpoint/2010/main" val="28796447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981102" cy="307777"/>
          </a:xfrm>
          <a:prstGeom prst="rect">
            <a:avLst/>
          </a:prstGeom>
          <a:noFill/>
        </p:spPr>
        <p:txBody>
          <a:bodyPr wrap="none" rtlCol="0">
            <a:spAutoFit/>
          </a:bodyPr>
          <a:lstStyle/>
          <a:p>
            <a:r>
              <a:rPr lang="en-US" sz="1400" b="1"/>
              <a:t>Version 1</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Edges with Normalized Weight Values within 5% of 0 </a:t>
            </a:r>
          </a:p>
          <a:p>
            <a:r>
              <a:rPr lang="en-US" sz="2600" b="1"/>
              <a:t>Are Displayed as Gray to Minimize Their Visual Strength</a:t>
            </a:r>
            <a:endParaRPr lang="en-US" sz="2600" b="1" dirty="0"/>
          </a:p>
        </p:txBody>
      </p:sp>
      <p:pic>
        <p:nvPicPr>
          <p:cNvPr id="5" name="Picture 4"/>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919389" cy="584775"/>
          </a:xfrm>
          <a:prstGeom prst="rect">
            <a:avLst/>
          </a:prstGeom>
          <a:noFill/>
        </p:spPr>
        <p:txBody>
          <a:bodyPr wrap="none" rtlCol="0">
            <a:spAutoFit/>
          </a:bodyPr>
          <a:lstStyle/>
          <a:p>
            <a:r>
              <a:rPr lang="en-US" sz="1600" b="1"/>
              <a:t>Normalization Factor =  5.21</a:t>
            </a:r>
          </a:p>
          <a:p>
            <a:r>
              <a:rPr lang="en-US" sz="1600" b="1"/>
              <a:t>Gray Threshold =  5%</a:t>
            </a:r>
          </a:p>
        </p:txBody>
      </p:sp>
    </p:spTree>
    <p:extLst>
      <p:ext uri="{BB962C8B-B14F-4D97-AF65-F5344CB8AC3E}">
        <p14:creationId xmlns:p14="http://schemas.microsoft.com/office/powerpoint/2010/main" val="34845036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Users Can Change the Gray Threshold with a Slider</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861681" cy="584775"/>
          </a:xfrm>
          <a:prstGeom prst="rect">
            <a:avLst/>
          </a:prstGeom>
          <a:noFill/>
        </p:spPr>
        <p:txBody>
          <a:bodyPr wrap="none" rtlCol="0">
            <a:spAutoFit/>
          </a:bodyPr>
          <a:lstStyle/>
          <a:p>
            <a:r>
              <a:rPr lang="en-US" sz="1600" b="1"/>
              <a:t>Normalization Factor = 5.21</a:t>
            </a:r>
          </a:p>
          <a:p>
            <a:r>
              <a:rPr lang="en-US" sz="1600" b="1"/>
              <a:t>Gray Threshold = 10%</a:t>
            </a:r>
          </a:p>
        </p:txBody>
      </p:sp>
    </p:spTree>
    <p:extLst>
      <p:ext uri="{BB962C8B-B14F-4D97-AF65-F5344CB8AC3E}">
        <p14:creationId xmlns:p14="http://schemas.microsoft.com/office/powerpoint/2010/main" val="222014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Users Can Change the Gray Threshold with a Slider</a:t>
            </a:r>
            <a:endParaRPr lang="en-US" sz="2600" b="1" dirty="0"/>
          </a:p>
        </p:txBody>
      </p:sp>
      <p:pic>
        <p:nvPicPr>
          <p:cNvPr id="7" name="Picture 6"/>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861681" cy="584775"/>
          </a:xfrm>
          <a:prstGeom prst="rect">
            <a:avLst/>
          </a:prstGeom>
          <a:noFill/>
        </p:spPr>
        <p:txBody>
          <a:bodyPr wrap="none" rtlCol="0">
            <a:spAutoFit/>
          </a:bodyPr>
          <a:lstStyle/>
          <a:p>
            <a:r>
              <a:rPr lang="en-US" sz="1600" b="1"/>
              <a:t>Normalization Factor = 5.21</a:t>
            </a:r>
          </a:p>
          <a:p>
            <a:r>
              <a:rPr lang="en-US" sz="1600" b="1"/>
              <a:t>Gray Threshold = 25%</a:t>
            </a:r>
          </a:p>
        </p:txBody>
      </p:sp>
    </p:spTree>
    <p:extLst>
      <p:ext uri="{BB962C8B-B14F-4D97-AF65-F5344CB8AC3E}">
        <p14:creationId xmlns:p14="http://schemas.microsoft.com/office/powerpoint/2010/main" val="4209032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2</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Users Can Change the Gray Threshold with a Slider</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861681" cy="584775"/>
          </a:xfrm>
          <a:prstGeom prst="rect">
            <a:avLst/>
          </a:prstGeom>
          <a:noFill/>
        </p:spPr>
        <p:txBody>
          <a:bodyPr wrap="none" rtlCol="0">
            <a:spAutoFit/>
          </a:bodyPr>
          <a:lstStyle/>
          <a:p>
            <a:r>
              <a:rPr lang="en-US" sz="1600" b="1"/>
              <a:t>Normalization Factor = 5.21</a:t>
            </a:r>
          </a:p>
          <a:p>
            <a:r>
              <a:rPr lang="en-US" sz="1600" b="1"/>
              <a:t>Gray Threshold = 50%</a:t>
            </a:r>
          </a:p>
        </p:txBody>
      </p:sp>
    </p:spTree>
    <p:extLst>
      <p:ext uri="{BB962C8B-B14F-4D97-AF65-F5344CB8AC3E}">
        <p14:creationId xmlns:p14="http://schemas.microsoft.com/office/powerpoint/2010/main" val="3733960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3</a:t>
            </a:r>
            <a:endParaRPr lang="en-US" sz="1400" b="1" i="1"/>
          </a:p>
        </p:txBody>
      </p:sp>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Gray Edges Can Also Be Shown as Dashed Lines to Facilitate Visualization by Color Blind Users</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2" name="TextBox 1"/>
          <p:cNvSpPr txBox="1"/>
          <p:nvPr/>
        </p:nvSpPr>
        <p:spPr>
          <a:xfrm>
            <a:off x="3459192" y="1998077"/>
            <a:ext cx="2919389" cy="584775"/>
          </a:xfrm>
          <a:prstGeom prst="rect">
            <a:avLst/>
          </a:prstGeom>
          <a:noFill/>
        </p:spPr>
        <p:txBody>
          <a:bodyPr wrap="none" rtlCol="0">
            <a:spAutoFit/>
          </a:bodyPr>
          <a:lstStyle/>
          <a:p>
            <a:r>
              <a:rPr lang="en-US" sz="1600" b="1"/>
              <a:t>Normalization Factor =  5.21</a:t>
            </a:r>
          </a:p>
          <a:p>
            <a:r>
              <a:rPr lang="en-US" sz="1600" b="1"/>
              <a:t>Gray Threshold =  5%</a:t>
            </a:r>
          </a:p>
        </p:txBody>
      </p:sp>
    </p:spTree>
    <p:extLst>
      <p:ext uri="{BB962C8B-B14F-4D97-AF65-F5344CB8AC3E}">
        <p14:creationId xmlns:p14="http://schemas.microsoft.com/office/powerpoint/2010/main" val="3849016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dirty="0"/>
              <a:t>Generally, We Can See a Good Concordance Between the Measured and Simulated Data for Each Strain</a:t>
            </a:r>
          </a:p>
        </p:txBody>
      </p:sp>
      <p:pic>
        <p:nvPicPr>
          <p:cNvPr id="5" name="Picture 4"/>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853940" cy="584775"/>
          </a:xfrm>
          <a:prstGeom prst="rect">
            <a:avLst/>
          </a:prstGeom>
          <a:noFill/>
        </p:spPr>
        <p:txBody>
          <a:bodyPr wrap="none" rtlCol="0">
            <a:spAutoFit/>
          </a:bodyPr>
          <a:lstStyle/>
          <a:p>
            <a:r>
              <a:rPr lang="en-US" sz="1600" b="1"/>
              <a:t>Top = </a:t>
            </a:r>
            <a:r>
              <a:rPr lang="en-US" sz="1600" b="1" i="1">
                <a:latin typeface="Symbol" panose="05050102010706020507" pitchFamily="18" charset="2"/>
              </a:rPr>
              <a:t>D</a:t>
            </a:r>
            <a:r>
              <a:rPr lang="en-US" sz="1600" b="1" i="1"/>
              <a:t>cin5</a:t>
            </a:r>
            <a:r>
              <a:rPr lang="en-US" sz="1600" b="1"/>
              <a:t> microarray data</a:t>
            </a:r>
          </a:p>
          <a:p>
            <a:r>
              <a:rPr lang="en-US" sz="1600" b="1"/>
              <a:t>Bottom = </a:t>
            </a:r>
            <a:r>
              <a:rPr lang="en-US" sz="1600" b="1" i="1">
                <a:latin typeface="Symbol" panose="05050102010706020507" pitchFamily="18" charset="2"/>
              </a:rPr>
              <a:t>D</a:t>
            </a:r>
            <a:r>
              <a:rPr lang="en-US" sz="1600" b="1" i="1"/>
              <a:t>cin5</a:t>
            </a:r>
            <a:r>
              <a:rPr lang="en-US" sz="1600" b="1"/>
              <a:t> model simulated data</a:t>
            </a:r>
          </a:p>
        </p:txBody>
      </p:sp>
    </p:spTree>
    <p:extLst>
      <p:ext uri="{BB962C8B-B14F-4D97-AF65-F5344CB8AC3E}">
        <p14:creationId xmlns:p14="http://schemas.microsoft.com/office/powerpoint/2010/main" val="13472422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Generally, We Can See a Good Concordance Between the Measured and Simulated Data for Each Strain</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842719" cy="584775"/>
          </a:xfrm>
          <a:prstGeom prst="rect">
            <a:avLst/>
          </a:prstGeom>
          <a:noFill/>
        </p:spPr>
        <p:txBody>
          <a:bodyPr wrap="none" rtlCol="0">
            <a:spAutoFit/>
          </a:bodyPr>
          <a:lstStyle/>
          <a:p>
            <a:r>
              <a:rPr lang="en-US" sz="1600" b="1"/>
              <a:t>Top = </a:t>
            </a:r>
            <a:r>
              <a:rPr lang="en-US" sz="1600" b="1" i="1">
                <a:latin typeface="Symbol" panose="05050102010706020507" pitchFamily="18" charset="2"/>
              </a:rPr>
              <a:t>D</a:t>
            </a:r>
            <a:r>
              <a:rPr lang="en-US" sz="1600" b="1" i="1"/>
              <a:t>gln3</a:t>
            </a:r>
            <a:r>
              <a:rPr lang="en-US" sz="1600" b="1"/>
              <a:t> microarray data</a:t>
            </a:r>
          </a:p>
          <a:p>
            <a:r>
              <a:rPr lang="en-US" sz="1600" b="1"/>
              <a:t>Bottom = </a:t>
            </a:r>
            <a:r>
              <a:rPr lang="en-US" sz="1600" b="1" i="1">
                <a:latin typeface="Symbol" panose="05050102010706020507" pitchFamily="18" charset="2"/>
              </a:rPr>
              <a:t>D</a:t>
            </a:r>
            <a:r>
              <a:rPr lang="en-US" sz="1600" b="1" i="1"/>
              <a:t>gln3</a:t>
            </a:r>
            <a:r>
              <a:rPr lang="en-US" sz="1600" b="1"/>
              <a:t> model simulated data</a:t>
            </a:r>
          </a:p>
        </p:txBody>
      </p:sp>
    </p:spTree>
    <p:extLst>
      <p:ext uri="{BB962C8B-B14F-4D97-AF65-F5344CB8AC3E}">
        <p14:creationId xmlns:p14="http://schemas.microsoft.com/office/powerpoint/2010/main" val="1489366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Generally, We Can See a Good Concordance Between the Measured and Simulated Data for Each Strain</a:t>
            </a:r>
            <a:endParaRPr lang="en-US" sz="2600" b="1" dirty="0"/>
          </a:p>
        </p:txBody>
      </p:sp>
      <p:pic>
        <p:nvPicPr>
          <p:cNvPr id="8" name="Picture 7"/>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898824" cy="584775"/>
          </a:xfrm>
          <a:prstGeom prst="rect">
            <a:avLst/>
          </a:prstGeom>
          <a:noFill/>
        </p:spPr>
        <p:txBody>
          <a:bodyPr wrap="none" rtlCol="0">
            <a:spAutoFit/>
          </a:bodyPr>
          <a:lstStyle/>
          <a:p>
            <a:r>
              <a:rPr lang="en-US" sz="1600" b="1"/>
              <a:t>Top = </a:t>
            </a:r>
            <a:r>
              <a:rPr lang="en-US" sz="1600" b="1" i="1">
                <a:latin typeface="Symbol" panose="05050102010706020507" pitchFamily="18" charset="2"/>
              </a:rPr>
              <a:t>D</a:t>
            </a:r>
            <a:r>
              <a:rPr lang="en-US" sz="1600" b="1" i="1"/>
              <a:t>hap4</a:t>
            </a:r>
            <a:r>
              <a:rPr lang="en-US" sz="1600" b="1"/>
              <a:t> microarray data</a:t>
            </a:r>
          </a:p>
          <a:p>
            <a:r>
              <a:rPr lang="en-US" sz="1600" b="1"/>
              <a:t>Bottom = </a:t>
            </a:r>
            <a:r>
              <a:rPr lang="en-US" sz="1600" b="1" i="1">
                <a:latin typeface="Symbol" panose="05050102010706020507" pitchFamily="18" charset="2"/>
              </a:rPr>
              <a:t>D</a:t>
            </a:r>
            <a:r>
              <a:rPr lang="en-US" sz="1600" b="1" i="1"/>
              <a:t>hap4</a:t>
            </a:r>
            <a:r>
              <a:rPr lang="en-US" sz="1600" b="1"/>
              <a:t> model simulated data</a:t>
            </a:r>
          </a:p>
        </p:txBody>
      </p:sp>
    </p:spTree>
    <p:extLst>
      <p:ext uri="{BB962C8B-B14F-4D97-AF65-F5344CB8AC3E}">
        <p14:creationId xmlns:p14="http://schemas.microsoft.com/office/powerpoint/2010/main" val="2157451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Generally, We Can See a Good Concordance Between the Measured and Simulated Data for Each Strain</a:t>
            </a:r>
            <a:endParaRPr lang="en-US" sz="2600" b="1" dirty="0"/>
          </a:p>
        </p:txBody>
      </p:sp>
      <p:pic>
        <p:nvPicPr>
          <p:cNvPr id="9" name="Picture 8"/>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967753" cy="584775"/>
          </a:xfrm>
          <a:prstGeom prst="rect">
            <a:avLst/>
          </a:prstGeom>
          <a:noFill/>
        </p:spPr>
        <p:txBody>
          <a:bodyPr wrap="none" rtlCol="0">
            <a:spAutoFit/>
          </a:bodyPr>
          <a:lstStyle/>
          <a:p>
            <a:r>
              <a:rPr lang="en-US" sz="1600" b="1"/>
              <a:t>Top = </a:t>
            </a:r>
            <a:r>
              <a:rPr lang="en-US" sz="1600" b="1" i="1">
                <a:latin typeface="Symbol" panose="05050102010706020507" pitchFamily="18" charset="2"/>
              </a:rPr>
              <a:t>D</a:t>
            </a:r>
            <a:r>
              <a:rPr lang="en-US" sz="1600" b="1" i="1"/>
              <a:t>hmo1</a:t>
            </a:r>
            <a:r>
              <a:rPr lang="en-US" sz="1600" b="1"/>
              <a:t> microarray data</a:t>
            </a:r>
          </a:p>
          <a:p>
            <a:r>
              <a:rPr lang="en-US" sz="1600" b="1"/>
              <a:t>Bottom = </a:t>
            </a:r>
            <a:r>
              <a:rPr lang="en-US" sz="1600" b="1" i="1">
                <a:latin typeface="Symbol" panose="05050102010706020507" pitchFamily="18" charset="2"/>
              </a:rPr>
              <a:t>D</a:t>
            </a:r>
            <a:r>
              <a:rPr lang="en-US" sz="1600" b="1" i="1"/>
              <a:t>hmo1</a:t>
            </a:r>
            <a:r>
              <a:rPr lang="en-US" sz="1600" b="1"/>
              <a:t> model simulated data</a:t>
            </a:r>
          </a:p>
        </p:txBody>
      </p:sp>
    </p:spTree>
    <p:extLst>
      <p:ext uri="{BB962C8B-B14F-4D97-AF65-F5344CB8AC3E}">
        <p14:creationId xmlns:p14="http://schemas.microsoft.com/office/powerpoint/2010/main" val="17756278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Generally, We Can See a Good Concordance Between the Measured and Simulated Data for Each Strain</a:t>
            </a:r>
            <a:endParaRPr lang="en-US" sz="2600" b="1" dirty="0"/>
          </a:p>
        </p:txBody>
      </p:sp>
      <p:pic>
        <p:nvPicPr>
          <p:cNvPr id="8" name="Picture 7"/>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974934" cy="584775"/>
          </a:xfrm>
          <a:prstGeom prst="rect">
            <a:avLst/>
          </a:prstGeom>
          <a:noFill/>
        </p:spPr>
        <p:txBody>
          <a:bodyPr wrap="none" rtlCol="0">
            <a:spAutoFit/>
          </a:bodyPr>
          <a:lstStyle/>
          <a:p>
            <a:r>
              <a:rPr lang="en-US" sz="1600" b="1"/>
              <a:t>Top = </a:t>
            </a:r>
            <a:r>
              <a:rPr lang="en-US" sz="1600" b="1" i="1">
                <a:latin typeface="Symbol" panose="05050102010706020507" pitchFamily="18" charset="2"/>
              </a:rPr>
              <a:t>D</a:t>
            </a:r>
            <a:r>
              <a:rPr lang="en-US" sz="1600" b="1" i="1"/>
              <a:t>zap1</a:t>
            </a:r>
            <a:r>
              <a:rPr lang="en-US" sz="1600" b="1"/>
              <a:t> microarray data</a:t>
            </a:r>
          </a:p>
          <a:p>
            <a:r>
              <a:rPr lang="en-US" sz="1600" b="1"/>
              <a:t>Bottom = </a:t>
            </a:r>
            <a:r>
              <a:rPr lang="en-US" sz="1600" b="1" i="1">
                <a:latin typeface="Symbol" panose="05050102010706020507" pitchFamily="18" charset="2"/>
              </a:rPr>
              <a:t>D</a:t>
            </a:r>
            <a:r>
              <a:rPr lang="en-US" sz="1600" b="1" i="1"/>
              <a:t>zap1</a:t>
            </a:r>
            <a:r>
              <a:rPr lang="en-US" sz="1600" b="1"/>
              <a:t> model simulated data</a:t>
            </a:r>
          </a:p>
        </p:txBody>
      </p:sp>
    </p:spTree>
    <p:extLst>
      <p:ext uri="{BB962C8B-B14F-4D97-AF65-F5344CB8AC3E}">
        <p14:creationId xmlns:p14="http://schemas.microsoft.com/office/powerpoint/2010/main" val="4085219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67272" y="291859"/>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We Can Also See that There Are Notable Differences in Expression Between Strains</a:t>
            </a:r>
            <a:endParaRPr lang="en-US" sz="2600" b="1" dirty="0"/>
          </a:p>
        </p:txBody>
      </p:sp>
      <p:pic>
        <p:nvPicPr>
          <p:cNvPr id="6" name="Picture 5"/>
          <p:cNvPicPr>
            <a:picLocks noChangeAspect="1"/>
          </p:cNvPicPr>
          <p:nvPr/>
        </p:nvPicPr>
        <p:blipFill rotWithShape="1">
          <a:blip r:embed="rId2"/>
          <a:srcRect t="12781"/>
          <a:stretch/>
        </p:blipFill>
        <p:spPr>
          <a:xfrm>
            <a:off x="0" y="1155939"/>
            <a:ext cx="9144000" cy="5326715"/>
          </a:xfrm>
          <a:prstGeom prst="rect">
            <a:avLst/>
          </a:prstGeom>
        </p:spPr>
      </p:pic>
      <p:sp>
        <p:nvSpPr>
          <p:cNvPr id="7" name="TextBox 6"/>
          <p:cNvSpPr txBox="1"/>
          <p:nvPr/>
        </p:nvSpPr>
        <p:spPr>
          <a:xfrm>
            <a:off x="3459192" y="1998077"/>
            <a:ext cx="3283271" cy="584775"/>
          </a:xfrm>
          <a:prstGeom prst="rect">
            <a:avLst/>
          </a:prstGeom>
          <a:noFill/>
        </p:spPr>
        <p:txBody>
          <a:bodyPr wrap="none" rtlCol="0">
            <a:spAutoFit/>
          </a:bodyPr>
          <a:lstStyle/>
          <a:p>
            <a:r>
              <a:rPr lang="en-US" sz="1600" b="1"/>
              <a:t>Top = wt microarray data</a:t>
            </a:r>
          </a:p>
          <a:p>
            <a:r>
              <a:rPr lang="en-US" sz="1600" b="1"/>
              <a:t>Bottom = </a:t>
            </a:r>
            <a:r>
              <a:rPr lang="en-US" sz="1600" b="1" i="1">
                <a:latin typeface="Symbol" panose="05050102010706020507" pitchFamily="18" charset="2"/>
              </a:rPr>
              <a:t>D</a:t>
            </a:r>
            <a:r>
              <a:rPr lang="en-US" sz="1600" b="1" i="1"/>
              <a:t>gln3</a:t>
            </a:r>
            <a:r>
              <a:rPr lang="en-US" sz="1600" b="1"/>
              <a:t> microarray data</a:t>
            </a:r>
          </a:p>
        </p:txBody>
      </p:sp>
      <p:sp>
        <p:nvSpPr>
          <p:cNvPr id="2" name="Rectangle 1"/>
          <p:cNvSpPr/>
          <p:nvPr/>
        </p:nvSpPr>
        <p:spPr>
          <a:xfrm>
            <a:off x="4705349" y="4143376"/>
            <a:ext cx="504106" cy="25717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705339" y="5048260"/>
            <a:ext cx="504106" cy="25717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705342" y="5938856"/>
            <a:ext cx="504106" cy="25717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081335" y="5938852"/>
            <a:ext cx="504106" cy="25717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329374" y="5938846"/>
            <a:ext cx="504106" cy="25717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5260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7272" y="6512314"/>
            <a:ext cx="1607876" cy="307777"/>
          </a:xfrm>
          <a:prstGeom prst="rect">
            <a:avLst/>
          </a:prstGeom>
          <a:noFill/>
        </p:spPr>
        <p:txBody>
          <a:bodyPr wrap="none" rtlCol="0">
            <a:spAutoFit/>
          </a:bodyPr>
          <a:lstStyle/>
          <a:p>
            <a:r>
              <a:rPr lang="en-US" sz="1400" b="1"/>
              <a:t>New in Version 3</a:t>
            </a:r>
            <a:endParaRPr lang="en-US" sz="1400" b="1" i="1"/>
          </a:p>
        </p:txBody>
      </p:sp>
      <p:sp>
        <p:nvSpPr>
          <p:cNvPr id="13" name="Title 1"/>
          <p:cNvSpPr txBox="1">
            <a:spLocks/>
          </p:cNvSpPr>
          <p:nvPr/>
        </p:nvSpPr>
        <p:spPr>
          <a:xfrm>
            <a:off x="167272" y="291859"/>
            <a:ext cx="874381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600" b="1"/>
              <a:t>Right-clicking on a Gene Opens a New Web Page with Information Dynamically Retrieved from Source Databases</a:t>
            </a:r>
            <a:endParaRPr lang="en-US" sz="2600" b="1" dirty="0"/>
          </a:p>
        </p:txBody>
      </p:sp>
      <p:pic>
        <p:nvPicPr>
          <p:cNvPr id="17" name="Picture 16"/>
          <p:cNvPicPr>
            <a:picLocks noChangeAspect="1"/>
          </p:cNvPicPr>
          <p:nvPr/>
        </p:nvPicPr>
        <p:blipFill rotWithShape="1">
          <a:blip r:embed="rId2"/>
          <a:srcRect t="12781"/>
          <a:stretch/>
        </p:blipFill>
        <p:spPr>
          <a:xfrm>
            <a:off x="0" y="1155939"/>
            <a:ext cx="9144000" cy="5326715"/>
          </a:xfrm>
          <a:prstGeom prst="rect">
            <a:avLst/>
          </a:prstGeom>
        </p:spPr>
      </p:pic>
    </p:spTree>
    <p:extLst>
      <p:ext uri="{BB962C8B-B14F-4D97-AF65-F5344CB8AC3E}">
        <p14:creationId xmlns:p14="http://schemas.microsoft.com/office/powerpoint/2010/main" val="21438071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A384D8F-D9FD-B447-81AA-80860E173DBD}"/>
              </a:ext>
            </a:extLst>
          </p:cNvPr>
          <p:cNvSpPr txBox="1"/>
          <p:nvPr/>
        </p:nvSpPr>
        <p:spPr>
          <a:xfrm>
            <a:off x="164947"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db1: </a:t>
            </a:r>
            <a:r>
              <a:rPr lang="en-US" sz="1400" b="1" u="sng" dirty="0">
                <a:latin typeface="Arial" panose="020B0604020202020204" pitchFamily="34" charset="0"/>
                <a:cs typeface="Arial" panose="020B0604020202020204" pitchFamily="34" charset="0"/>
              </a:rPr>
              <a:t>16 Genes, 26 Edges</a:t>
            </a:r>
          </a:p>
          <a:p>
            <a:pPr algn="ctr"/>
            <a:r>
              <a:rPr lang="en-US" sz="1400" dirty="0">
                <a:latin typeface="Arial" panose="020B0604020202020204" pitchFamily="34" charset="0"/>
                <a:cs typeface="Arial" panose="020B0604020202020204" pitchFamily="34" charset="0"/>
              </a:rPr>
              <a:t>LSE:minLSE = 1.42</a:t>
            </a:r>
          </a:p>
        </p:txBody>
      </p:sp>
      <p:sp>
        <p:nvSpPr>
          <p:cNvPr id="10" name="TextBox 9">
            <a:extLst>
              <a:ext uri="{FF2B5EF4-FFF2-40B4-BE49-F238E27FC236}">
                <a16:creationId xmlns:a16="http://schemas.microsoft.com/office/drawing/2014/main" id="{AA887F9F-0B37-D04C-86D1-3047BF91768F}"/>
              </a:ext>
            </a:extLst>
          </p:cNvPr>
          <p:cNvSpPr txBox="1"/>
          <p:nvPr/>
        </p:nvSpPr>
        <p:spPr>
          <a:xfrm>
            <a:off x="6168676"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db3: </a:t>
            </a:r>
            <a:r>
              <a:rPr lang="en-US" sz="1400" b="1" u="sng" dirty="0">
                <a:latin typeface="Arial" panose="020B0604020202020204" pitchFamily="34" charset="0"/>
                <a:cs typeface="Arial" panose="020B0604020202020204" pitchFamily="34" charset="0"/>
              </a:rPr>
              <a:t>17 Genes, 32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1.41</a:t>
            </a:r>
          </a:p>
        </p:txBody>
      </p:sp>
      <p:sp>
        <p:nvSpPr>
          <p:cNvPr id="11" name="TextBox 10">
            <a:extLst>
              <a:ext uri="{FF2B5EF4-FFF2-40B4-BE49-F238E27FC236}">
                <a16:creationId xmlns:a16="http://schemas.microsoft.com/office/drawing/2014/main" id="{20493314-0FC3-A444-8A8B-8CCDB5FCEFEE}"/>
              </a:ext>
            </a:extLst>
          </p:cNvPr>
          <p:cNvSpPr txBox="1"/>
          <p:nvPr/>
        </p:nvSpPr>
        <p:spPr>
          <a:xfrm>
            <a:off x="3151527" y="143536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db2: </a:t>
            </a:r>
            <a:r>
              <a:rPr lang="en-US" sz="1400" b="1" u="sng" dirty="0">
                <a:latin typeface="Arial" panose="020B0604020202020204" pitchFamily="34" charset="0"/>
                <a:cs typeface="Arial" panose="020B0604020202020204" pitchFamily="34" charset="0"/>
              </a:rPr>
              <a:t>14 Genes, 25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1.36</a:t>
            </a:r>
          </a:p>
        </p:txBody>
      </p:sp>
      <p:sp>
        <p:nvSpPr>
          <p:cNvPr id="12" name="TextBox 11">
            <a:extLst>
              <a:ext uri="{FF2B5EF4-FFF2-40B4-BE49-F238E27FC236}">
                <a16:creationId xmlns:a16="http://schemas.microsoft.com/office/drawing/2014/main" id="{5932A397-35E6-1E43-87CF-7342C81ECBBD}"/>
              </a:ext>
            </a:extLst>
          </p:cNvPr>
          <p:cNvSpPr txBox="1"/>
          <p:nvPr/>
        </p:nvSpPr>
        <p:spPr>
          <a:xfrm>
            <a:off x="164947" y="4198423"/>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db4: </a:t>
            </a:r>
            <a:r>
              <a:rPr lang="en-US" sz="1400" b="1" u="sng" dirty="0">
                <a:latin typeface="Arial" panose="020B0604020202020204" pitchFamily="34" charset="0"/>
                <a:cs typeface="Arial" panose="020B0604020202020204" pitchFamily="34" charset="0"/>
              </a:rPr>
              <a:t>14 Genes, 35 Edges</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1.30 </a:t>
            </a:r>
          </a:p>
        </p:txBody>
      </p:sp>
      <p:sp>
        <p:nvSpPr>
          <p:cNvPr id="13" name="TextBox 12">
            <a:extLst>
              <a:ext uri="{FF2B5EF4-FFF2-40B4-BE49-F238E27FC236}">
                <a16:creationId xmlns:a16="http://schemas.microsoft.com/office/drawing/2014/main" id="{47B2562F-3606-374D-861B-5E27808B42F9}"/>
              </a:ext>
            </a:extLst>
          </p:cNvPr>
          <p:cNvSpPr txBox="1"/>
          <p:nvPr/>
        </p:nvSpPr>
        <p:spPr>
          <a:xfrm>
            <a:off x="3151527" y="4196320"/>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db5: </a:t>
            </a:r>
            <a:r>
              <a:rPr lang="en-US" sz="1400" b="1" u="sng" dirty="0">
                <a:latin typeface="Arial" panose="020B0604020202020204" pitchFamily="34" charset="0"/>
                <a:cs typeface="Arial" panose="020B0604020202020204" pitchFamily="34" charset="0"/>
              </a:rPr>
              <a:t>15 Genes, 28 Edges </a:t>
            </a:r>
          </a:p>
          <a:p>
            <a:pPr algn="ctr"/>
            <a:r>
              <a:rPr lang="en-US" sz="1400" dirty="0">
                <a:latin typeface="Arial" panose="020B0604020202020204" pitchFamily="34" charset="0"/>
                <a:cs typeface="Arial" panose="020B0604020202020204" pitchFamily="34" charset="0"/>
              </a:rPr>
              <a:t>LSE:minLSE = 1.43</a:t>
            </a:r>
          </a:p>
        </p:txBody>
      </p:sp>
      <p:sp>
        <p:nvSpPr>
          <p:cNvPr id="14" name="TextBox 13">
            <a:extLst>
              <a:ext uri="{FF2B5EF4-FFF2-40B4-BE49-F238E27FC236}">
                <a16:creationId xmlns:a16="http://schemas.microsoft.com/office/drawing/2014/main" id="{1A332C90-0FB2-BC46-BF44-41C795FDB717}"/>
              </a:ext>
            </a:extLst>
          </p:cNvPr>
          <p:cNvSpPr txBox="1"/>
          <p:nvPr/>
        </p:nvSpPr>
        <p:spPr>
          <a:xfrm>
            <a:off x="6168676" y="4184135"/>
            <a:ext cx="2811240" cy="430887"/>
          </a:xfrm>
          <a:prstGeom prst="rect">
            <a:avLst/>
          </a:prstGeom>
          <a:noFill/>
        </p:spPr>
        <p:txBody>
          <a:bodyPr wrap="square" lIns="0" tIns="0" rIns="0" bIns="0" rtlCol="0">
            <a:spAutoFit/>
          </a:bodyPr>
          <a:lstStyle/>
          <a:p>
            <a:pPr algn="ctr"/>
            <a:r>
              <a:rPr lang="en-US" sz="1400" b="1" u="sng">
                <a:latin typeface="Arial" panose="020B0604020202020204" pitchFamily="34" charset="0"/>
                <a:cs typeface="Arial" panose="020B0604020202020204" pitchFamily="34" charset="0"/>
              </a:rPr>
              <a:t>db6: </a:t>
            </a:r>
            <a:r>
              <a:rPr lang="en-US" sz="1400" b="1" u="sng" dirty="0">
                <a:latin typeface="Arial" panose="020B0604020202020204" pitchFamily="34" charset="0"/>
                <a:cs typeface="Arial" panose="020B0604020202020204" pitchFamily="34" charset="0"/>
              </a:rPr>
              <a:t>16 Genes, 27 Edges </a:t>
            </a:r>
          </a:p>
          <a:p>
            <a:pPr algn="ctr"/>
            <a:r>
              <a:rPr lang="en-US" sz="1400" dirty="0" err="1">
                <a:latin typeface="Arial" panose="020B0604020202020204" pitchFamily="34" charset="0"/>
                <a:cs typeface="Arial" panose="020B0604020202020204" pitchFamily="34" charset="0"/>
              </a:rPr>
              <a:t>LSE:minLSE</a:t>
            </a:r>
            <a:r>
              <a:rPr lang="en-US" sz="1400" dirty="0">
                <a:latin typeface="Arial" panose="020B0604020202020204" pitchFamily="34" charset="0"/>
                <a:cs typeface="Arial" panose="020B0604020202020204" pitchFamily="34" charset="0"/>
              </a:rPr>
              <a:t> = 1.40</a:t>
            </a:r>
          </a:p>
        </p:txBody>
      </p:sp>
      <p:sp>
        <p:nvSpPr>
          <p:cNvPr id="15" name="Title 1"/>
          <p:cNvSpPr txBox="1">
            <a:spLocks/>
          </p:cNvSpPr>
          <p:nvPr/>
        </p:nvSpPr>
        <p:spPr>
          <a:xfrm>
            <a:off x="457199" y="372034"/>
            <a:ext cx="8578735" cy="990600"/>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a:t>Back to DB1-DB6:  How Well Do Their Models Perform Relative to Each Other?</a:t>
            </a:r>
            <a:endParaRPr lang="en-US" sz="2800" b="1" dirty="0"/>
          </a:p>
        </p:txBody>
      </p:sp>
      <p:sp>
        <p:nvSpPr>
          <p:cNvPr id="2" name="Rectangle 1"/>
          <p:cNvSpPr/>
          <p:nvPr/>
        </p:nvSpPr>
        <p:spPr>
          <a:xfrm>
            <a:off x="127250" y="3370729"/>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3031818" y="3442444"/>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043956" y="3442444"/>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196356" y="6069103"/>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004922" y="6149785"/>
            <a:ext cx="168585" cy="61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p:cNvGrpSpPr/>
          <p:nvPr/>
        </p:nvGrpSpPr>
        <p:grpSpPr>
          <a:xfrm>
            <a:off x="60269" y="1927574"/>
            <a:ext cx="2835362" cy="1859696"/>
            <a:chOff x="2432649" y="1932317"/>
            <a:chExt cx="4537494" cy="2976114"/>
          </a:xfrm>
        </p:grpSpPr>
        <p:pic>
          <p:nvPicPr>
            <p:cNvPr id="27" name="Picture 26"/>
            <p:cNvPicPr>
              <a:picLocks noChangeAspect="1"/>
            </p:cNvPicPr>
            <p:nvPr/>
          </p:nvPicPr>
          <p:blipFill rotWithShape="1">
            <a:blip r:embed="rId3"/>
            <a:srcRect l="26604" t="20240" r="23774" b="20583"/>
            <a:stretch/>
          </p:blipFill>
          <p:spPr>
            <a:xfrm>
              <a:off x="2432649" y="1932317"/>
              <a:ext cx="4537494" cy="2976114"/>
            </a:xfrm>
            <a:prstGeom prst="rect">
              <a:avLst/>
            </a:prstGeom>
          </p:spPr>
        </p:pic>
        <p:sp>
          <p:nvSpPr>
            <p:cNvPr id="28" name="Rectangle 27"/>
            <p:cNvSpPr/>
            <p:nvPr/>
          </p:nvSpPr>
          <p:spPr>
            <a:xfrm>
              <a:off x="2441275" y="4002661"/>
              <a:ext cx="569343" cy="8971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3112361" y="1948039"/>
            <a:ext cx="2808410" cy="1757279"/>
            <a:chOff x="2493034" y="2061713"/>
            <a:chExt cx="4494362" cy="2812212"/>
          </a:xfrm>
        </p:grpSpPr>
        <p:pic>
          <p:nvPicPr>
            <p:cNvPr id="30" name="Picture 29"/>
            <p:cNvPicPr>
              <a:picLocks noChangeAspect="1"/>
            </p:cNvPicPr>
            <p:nvPr/>
          </p:nvPicPr>
          <p:blipFill rotWithShape="1">
            <a:blip r:embed="rId4"/>
            <a:srcRect l="27264" t="22813" r="23585" b="21269"/>
            <a:stretch/>
          </p:blipFill>
          <p:spPr>
            <a:xfrm>
              <a:off x="2493034" y="2061713"/>
              <a:ext cx="4494362" cy="2812212"/>
            </a:xfrm>
            <a:prstGeom prst="rect">
              <a:avLst/>
            </a:prstGeom>
          </p:spPr>
        </p:pic>
        <p:sp>
          <p:nvSpPr>
            <p:cNvPr id="31" name="Rectangle 30"/>
            <p:cNvSpPr/>
            <p:nvPr/>
          </p:nvSpPr>
          <p:spPr>
            <a:xfrm>
              <a:off x="2501657" y="4080294"/>
              <a:ext cx="508959" cy="7936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p:cNvGrpSpPr/>
          <p:nvPr/>
        </p:nvGrpSpPr>
        <p:grpSpPr>
          <a:xfrm>
            <a:off x="6149600" y="1945886"/>
            <a:ext cx="2803022" cy="1768062"/>
            <a:chOff x="2493031" y="2061712"/>
            <a:chExt cx="4485739" cy="2829469"/>
          </a:xfrm>
        </p:grpSpPr>
        <p:pic>
          <p:nvPicPr>
            <p:cNvPr id="33" name="Picture 32"/>
            <p:cNvPicPr>
              <a:picLocks noChangeAspect="1"/>
            </p:cNvPicPr>
            <p:nvPr/>
          </p:nvPicPr>
          <p:blipFill rotWithShape="1">
            <a:blip r:embed="rId5"/>
            <a:srcRect l="27264" t="22813" r="23679" b="20926"/>
            <a:stretch/>
          </p:blipFill>
          <p:spPr>
            <a:xfrm>
              <a:off x="2493034" y="2061712"/>
              <a:ext cx="4485736" cy="2829465"/>
            </a:xfrm>
            <a:prstGeom prst="rect">
              <a:avLst/>
            </a:prstGeom>
          </p:spPr>
        </p:pic>
        <p:sp>
          <p:nvSpPr>
            <p:cNvPr id="34" name="Rectangle 33"/>
            <p:cNvSpPr/>
            <p:nvPr/>
          </p:nvSpPr>
          <p:spPr>
            <a:xfrm>
              <a:off x="2493031" y="4011287"/>
              <a:ext cx="491706" cy="8798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p:cNvGrpSpPr/>
          <p:nvPr/>
        </p:nvGrpSpPr>
        <p:grpSpPr>
          <a:xfrm>
            <a:off x="125718" y="4702876"/>
            <a:ext cx="2833294" cy="1819005"/>
            <a:chOff x="2461839" y="2018581"/>
            <a:chExt cx="4534184" cy="2910995"/>
          </a:xfrm>
        </p:grpSpPr>
        <p:pic>
          <p:nvPicPr>
            <p:cNvPr id="36" name="Picture 35"/>
            <p:cNvPicPr>
              <a:picLocks noChangeAspect="1"/>
            </p:cNvPicPr>
            <p:nvPr/>
          </p:nvPicPr>
          <p:blipFill rotWithShape="1">
            <a:blip r:embed="rId6"/>
            <a:srcRect l="26981" t="21955" r="23490" b="20755"/>
            <a:stretch/>
          </p:blipFill>
          <p:spPr>
            <a:xfrm>
              <a:off x="2467155" y="2018581"/>
              <a:ext cx="4528868" cy="2881224"/>
            </a:xfrm>
            <a:prstGeom prst="rect">
              <a:avLst/>
            </a:prstGeom>
          </p:spPr>
        </p:pic>
        <p:sp>
          <p:nvSpPr>
            <p:cNvPr id="37" name="Rectangle 36"/>
            <p:cNvSpPr/>
            <p:nvPr/>
          </p:nvSpPr>
          <p:spPr>
            <a:xfrm>
              <a:off x="2467155" y="4109484"/>
              <a:ext cx="212250" cy="5847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759149" y="4306186"/>
              <a:ext cx="101009" cy="2126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467155" y="4883857"/>
              <a:ext cx="430217"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461839" y="4694274"/>
              <a:ext cx="45719" cy="1895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3109279" y="4687761"/>
            <a:ext cx="2813801" cy="1854308"/>
            <a:chOff x="2484408" y="1932317"/>
            <a:chExt cx="4502988" cy="2967491"/>
          </a:xfrm>
        </p:grpSpPr>
        <p:pic>
          <p:nvPicPr>
            <p:cNvPr id="42" name="Picture 41"/>
            <p:cNvPicPr>
              <a:picLocks noChangeAspect="1"/>
            </p:cNvPicPr>
            <p:nvPr/>
          </p:nvPicPr>
          <p:blipFill rotWithShape="1">
            <a:blip r:embed="rId7"/>
            <a:srcRect l="27170" t="20240" r="23585" b="20755"/>
            <a:stretch/>
          </p:blipFill>
          <p:spPr>
            <a:xfrm>
              <a:off x="2484408" y="1932317"/>
              <a:ext cx="4502988" cy="2967488"/>
            </a:xfrm>
            <a:prstGeom prst="rect">
              <a:avLst/>
            </a:prstGeom>
          </p:spPr>
        </p:pic>
        <p:sp>
          <p:nvSpPr>
            <p:cNvPr id="43" name="Rectangle 42"/>
            <p:cNvSpPr/>
            <p:nvPr/>
          </p:nvSpPr>
          <p:spPr>
            <a:xfrm>
              <a:off x="2484408" y="4002661"/>
              <a:ext cx="422694" cy="897147"/>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6118779" y="4724690"/>
            <a:ext cx="2856924" cy="1768061"/>
            <a:chOff x="2432649" y="2061712"/>
            <a:chExt cx="4572000" cy="2829468"/>
          </a:xfrm>
        </p:grpSpPr>
        <p:pic>
          <p:nvPicPr>
            <p:cNvPr id="45" name="Picture 44"/>
            <p:cNvPicPr>
              <a:picLocks noChangeAspect="1"/>
            </p:cNvPicPr>
            <p:nvPr/>
          </p:nvPicPr>
          <p:blipFill rotWithShape="1">
            <a:blip r:embed="rId8"/>
            <a:srcRect l="26603" t="22813" r="23396" b="21098"/>
            <a:stretch/>
          </p:blipFill>
          <p:spPr>
            <a:xfrm>
              <a:off x="2432649" y="2061712"/>
              <a:ext cx="4572000" cy="2820839"/>
            </a:xfrm>
            <a:prstGeom prst="rect">
              <a:avLst/>
            </a:prstGeom>
          </p:spPr>
        </p:pic>
        <p:sp>
          <p:nvSpPr>
            <p:cNvPr id="46" name="Rectangle 45"/>
            <p:cNvSpPr/>
            <p:nvPr/>
          </p:nvSpPr>
          <p:spPr>
            <a:xfrm>
              <a:off x="2432649" y="4045791"/>
              <a:ext cx="465826" cy="8453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56403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3" y="389544"/>
            <a:ext cx="8897711"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Multiple Regression Analyses Identified Determinants of Individual Transcription Factor Model Fits</a:t>
            </a:r>
          </a:p>
        </p:txBody>
      </p:sp>
      <p:graphicFrame>
        <p:nvGraphicFramePr>
          <p:cNvPr id="8" name="Content Placeholder 4">
            <a:extLst>
              <a:ext uri="{FF2B5EF4-FFF2-40B4-BE49-F238E27FC236}">
                <a16:creationId xmlns:a16="http://schemas.microsoft.com/office/drawing/2014/main" id="{C95DF8FD-D6F4-0B4D-944B-527AC2E56057}"/>
              </a:ext>
            </a:extLst>
          </p:cNvPr>
          <p:cNvGraphicFramePr>
            <a:graphicFrameLocks/>
          </p:cNvGraphicFramePr>
          <p:nvPr/>
        </p:nvGraphicFramePr>
        <p:xfrm>
          <a:off x="116149" y="1398950"/>
          <a:ext cx="8941857" cy="3673220"/>
        </p:xfrm>
        <a:graphic>
          <a:graphicData uri="http://schemas.openxmlformats.org/drawingml/2006/table">
            <a:tbl>
              <a:tblPr/>
              <a:tblGrid>
                <a:gridCol w="2276667">
                  <a:extLst>
                    <a:ext uri="{9D8B030D-6E8A-4147-A177-3AD203B41FA5}">
                      <a16:colId xmlns:a16="http://schemas.microsoft.com/office/drawing/2014/main" val="3990147728"/>
                    </a:ext>
                  </a:extLst>
                </a:gridCol>
                <a:gridCol w="508362">
                  <a:extLst>
                    <a:ext uri="{9D8B030D-6E8A-4147-A177-3AD203B41FA5}">
                      <a16:colId xmlns:a16="http://schemas.microsoft.com/office/drawing/2014/main" val="2906151829"/>
                    </a:ext>
                  </a:extLst>
                </a:gridCol>
                <a:gridCol w="508362">
                  <a:extLst>
                    <a:ext uri="{9D8B030D-6E8A-4147-A177-3AD203B41FA5}">
                      <a16:colId xmlns:a16="http://schemas.microsoft.com/office/drawing/2014/main" val="4195183439"/>
                    </a:ext>
                  </a:extLst>
                </a:gridCol>
                <a:gridCol w="508362">
                  <a:extLst>
                    <a:ext uri="{9D8B030D-6E8A-4147-A177-3AD203B41FA5}">
                      <a16:colId xmlns:a16="http://schemas.microsoft.com/office/drawing/2014/main" val="2897674222"/>
                    </a:ext>
                  </a:extLst>
                </a:gridCol>
                <a:gridCol w="508362">
                  <a:extLst>
                    <a:ext uri="{9D8B030D-6E8A-4147-A177-3AD203B41FA5}">
                      <a16:colId xmlns:a16="http://schemas.microsoft.com/office/drawing/2014/main" val="2935257360"/>
                    </a:ext>
                  </a:extLst>
                </a:gridCol>
                <a:gridCol w="508362">
                  <a:extLst>
                    <a:ext uri="{9D8B030D-6E8A-4147-A177-3AD203B41FA5}">
                      <a16:colId xmlns:a16="http://schemas.microsoft.com/office/drawing/2014/main" val="3065383575"/>
                    </a:ext>
                  </a:extLst>
                </a:gridCol>
                <a:gridCol w="508362">
                  <a:extLst>
                    <a:ext uri="{9D8B030D-6E8A-4147-A177-3AD203B41FA5}">
                      <a16:colId xmlns:a16="http://schemas.microsoft.com/office/drawing/2014/main" val="2343946090"/>
                    </a:ext>
                  </a:extLst>
                </a:gridCol>
                <a:gridCol w="282423">
                  <a:extLst>
                    <a:ext uri="{9D8B030D-6E8A-4147-A177-3AD203B41FA5}">
                      <a16:colId xmlns:a16="http://schemas.microsoft.com/office/drawing/2014/main" val="605583575"/>
                    </a:ext>
                  </a:extLst>
                </a:gridCol>
                <a:gridCol w="508362">
                  <a:extLst>
                    <a:ext uri="{9D8B030D-6E8A-4147-A177-3AD203B41FA5}">
                      <a16:colId xmlns:a16="http://schemas.microsoft.com/office/drawing/2014/main" val="2406700556"/>
                    </a:ext>
                  </a:extLst>
                </a:gridCol>
                <a:gridCol w="508362">
                  <a:extLst>
                    <a:ext uri="{9D8B030D-6E8A-4147-A177-3AD203B41FA5}">
                      <a16:colId xmlns:a16="http://schemas.microsoft.com/office/drawing/2014/main" val="479696632"/>
                    </a:ext>
                  </a:extLst>
                </a:gridCol>
                <a:gridCol w="508362">
                  <a:extLst>
                    <a:ext uri="{9D8B030D-6E8A-4147-A177-3AD203B41FA5}">
                      <a16:colId xmlns:a16="http://schemas.microsoft.com/office/drawing/2014/main" val="3696675286"/>
                    </a:ext>
                  </a:extLst>
                </a:gridCol>
                <a:gridCol w="282423">
                  <a:extLst>
                    <a:ext uri="{9D8B030D-6E8A-4147-A177-3AD203B41FA5}">
                      <a16:colId xmlns:a16="http://schemas.microsoft.com/office/drawing/2014/main" val="596739144"/>
                    </a:ext>
                  </a:extLst>
                </a:gridCol>
                <a:gridCol w="508362">
                  <a:extLst>
                    <a:ext uri="{9D8B030D-6E8A-4147-A177-3AD203B41FA5}">
                      <a16:colId xmlns:a16="http://schemas.microsoft.com/office/drawing/2014/main" val="1598558182"/>
                    </a:ext>
                  </a:extLst>
                </a:gridCol>
                <a:gridCol w="508362">
                  <a:extLst>
                    <a:ext uri="{9D8B030D-6E8A-4147-A177-3AD203B41FA5}">
                      <a16:colId xmlns:a16="http://schemas.microsoft.com/office/drawing/2014/main" val="3299793907"/>
                    </a:ext>
                  </a:extLst>
                </a:gridCol>
                <a:gridCol w="508362">
                  <a:extLst>
                    <a:ext uri="{9D8B030D-6E8A-4147-A177-3AD203B41FA5}">
                      <a16:colId xmlns:a16="http://schemas.microsoft.com/office/drawing/2014/main" val="1739428494"/>
                    </a:ext>
                  </a:extLst>
                </a:gridCol>
              </a:tblGrid>
              <a:tr h="138147">
                <a:tc>
                  <a:txBody>
                    <a:bodyPr/>
                    <a:lstStyle/>
                    <a:p>
                      <a:pPr algn="l" fontAlgn="b"/>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639" marR="7639" marT="7639" marB="0" anchor="b">
                    <a:lnL>
                      <a:noFill/>
                    </a:lnL>
                    <a:lnR>
                      <a:noFill/>
                    </a:lnR>
                    <a:lnT>
                      <a:noFill/>
                    </a:lnT>
                    <a:lnB w="6350" cap="flat" cmpd="sng" algn="ctr">
                      <a:solidFill>
                        <a:srgbClr val="000000"/>
                      </a:solidFill>
                      <a:prstDash val="solid"/>
                      <a:round/>
                      <a:headEnd type="none" w="med" len="med"/>
                      <a:tailEnd type="none" w="med" len="med"/>
                    </a:lnB>
                  </a:tcPr>
                </a:tc>
                <a:tc gridSpan="6">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Database-Derived Networks</a:t>
                      </a:r>
                    </a:p>
                  </a:txBody>
                  <a:tcPr marL="7639" marR="7639" marT="7639"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cs typeface="Arial" panose="020B0604020202020204" pitchFamily="34" charset="0"/>
                      </a:endParaRPr>
                    </a:p>
                  </a:txBody>
                  <a:tcPr marL="7639" marR="7639" marT="7639" marB="0" anchor="b">
                    <a:lnL>
                      <a:noFill/>
                    </a:lnL>
                    <a:lnR>
                      <a:noFill/>
                    </a:lnR>
                    <a:lnT>
                      <a:noFill/>
                    </a:lnT>
                    <a:lnB>
                      <a:noFill/>
                    </a:lnB>
                  </a:tcPr>
                </a:tc>
                <a:tc gridSpan="3">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3 Best                    Random Networks</a:t>
                      </a:r>
                    </a:p>
                  </a:txBody>
                  <a:tcPr marL="7639" marR="7639" marT="7639"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dirty="0">
                        <a:solidFill>
                          <a:srgbClr val="000000"/>
                        </a:solidFill>
                        <a:effectLst/>
                        <a:latin typeface="Arial" panose="020B0604020202020204" pitchFamily="34" charset="0"/>
                        <a:cs typeface="Arial" panose="020B0604020202020204" pitchFamily="34" charset="0"/>
                      </a:endParaRPr>
                    </a:p>
                  </a:txBody>
                  <a:tcPr marL="7639" marR="7639" marT="7639" marB="0" anchor="b">
                    <a:lnL>
                      <a:noFill/>
                    </a:lnL>
                    <a:lnR>
                      <a:noFill/>
                    </a:lnR>
                    <a:lnT>
                      <a:noFill/>
                    </a:lnT>
                    <a:lnB>
                      <a:noFill/>
                    </a:lnB>
                  </a:tcPr>
                </a:tc>
                <a:tc gridSpan="3">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3 Worst                    Random Networks</a:t>
                      </a:r>
                    </a:p>
                  </a:txBody>
                  <a:tcPr marL="7639" marR="7639" marT="7639"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850644"/>
                  </a:ext>
                </a:extLst>
              </a:tr>
              <a:tr h="161171">
                <a:tc>
                  <a:txBody>
                    <a:bodyPr/>
                    <a:lstStyle/>
                    <a:p>
                      <a:pPr algn="l"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db1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db2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db3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db4</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db5</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db6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rand15</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rand16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rand24</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rand7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rand12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rand31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8269468"/>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ANOVA B&amp;H p-value</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222222"/>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222222"/>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2988026"/>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Average Expression at 15 min.</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222222"/>
                          </a:solidFill>
                          <a:effectLst/>
                          <a:latin typeface="Arial" panose="020B0604020202020204" pitchFamily="34" charset="0"/>
                          <a:cs typeface="Arial" panose="020B0604020202020204" pitchFamily="34" charset="0"/>
                        </a:rPr>
                        <a:t>-0.507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-0.624</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-0.479</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-0.552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-0.528</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-0.626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222222"/>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-0.838</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-0.656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693605423"/>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Average Expression at 30 min.</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8399400"/>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Average Expression at 60 min.</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-0.503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120464"/>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Degradation Rate</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-0.505</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-0.611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1676357"/>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Optimized Production Rate</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0.578</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0.777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0.437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0163571"/>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Optimized Threshold b</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0.883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2353074"/>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Weighted In-degree</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0.617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503963"/>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Weighted Out-degree</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-0.627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0.433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6710675"/>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Eccentricity</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8406931"/>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Closeness Centrality</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dirty="0">
                          <a:solidFill>
                            <a:srgbClr val="000000"/>
                          </a:solidFill>
                          <a:effectLst/>
                          <a:latin typeface="Arial" panose="020B0604020202020204" pitchFamily="34" charset="0"/>
                          <a:cs typeface="Arial" panose="020B0604020202020204" pitchFamily="34" charset="0"/>
                        </a:rPr>
                        <a:t>-0.443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93840"/>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Betweenness Centrality</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B0604020202020204" pitchFamily="34" charset="0"/>
                          <a:cs typeface="Arial" panose="020B0604020202020204" pitchFamily="34" charset="0"/>
                        </a:rPr>
                        <a:t>-0.609</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0.399</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999943"/>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Clustering</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0.522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0.473 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0.501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5311498"/>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Eigenvector Centrality</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-0.384</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-0.533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-0.328</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-0.598</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-0.685</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-0.831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59846407"/>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Modularity Class</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0.510</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7205334"/>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Page Ranks</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dirty="0">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cs typeface="Arial" panose="020B0604020202020204" pitchFamily="34" charset="0"/>
                        </a:rPr>
                        <a:t>0.633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81182025"/>
                  </a:ext>
                </a:extLst>
              </a:tr>
              <a:tr h="161171">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Strong Component Number</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a:t>
                      </a:r>
                    </a:p>
                  </a:txBody>
                  <a:tcPr marL="7639" marR="7639" marT="76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0.633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FF000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-1.033</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00B0F0"/>
                    </a:solidFill>
                  </a:tcPr>
                </a:tc>
                <a:tc>
                  <a:txBody>
                    <a:bodyPr/>
                    <a:lstStyle/>
                    <a:p>
                      <a:pPr algn="ctr" rtl="0" fontAlgn="ctr"/>
                      <a:r>
                        <a:rPr lang="en-US" sz="1100" b="0"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431941610"/>
                  </a:ext>
                </a:extLst>
              </a:tr>
              <a:tr h="161171">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Adjusted R</a:t>
                      </a:r>
                      <a:r>
                        <a:rPr lang="en-US" sz="1100" b="1" i="0" u="none" strike="noStrike" baseline="30000" dirty="0">
                          <a:solidFill>
                            <a:srgbClr val="000000"/>
                          </a:solidFill>
                          <a:effectLst/>
                          <a:latin typeface="Arial" panose="020B0604020202020204" pitchFamily="34" charset="0"/>
                          <a:cs typeface="Arial" panose="020B0604020202020204" pitchFamily="34" charset="0"/>
                        </a:rPr>
                        <a:t>2</a:t>
                      </a:r>
                      <a:endParaRPr lang="en-US" sz="1100" b="1" i="0" u="none" strike="noStrike" dirty="0">
                        <a:solidFill>
                          <a:srgbClr val="000000"/>
                        </a:solidFill>
                        <a:effectLst/>
                        <a:latin typeface="Arial" panose="020B0604020202020204" pitchFamily="34" charset="0"/>
                        <a:cs typeface="Arial" panose="020B0604020202020204" pitchFamily="34" charset="0"/>
                      </a:endParaRP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0.290</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0.525</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0.360</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0.441</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0.350</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0.196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dirty="0">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0.436</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0.552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0.257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Arial" panose="020B0604020202020204" pitchFamily="34" charset="0"/>
                          <a:cs typeface="Arial" panose="020B0604020202020204" pitchFamily="34" charset="0"/>
                        </a:rPr>
                        <a:t> </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0.500</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a:solidFill>
                            <a:srgbClr val="000000"/>
                          </a:solidFill>
                          <a:effectLst/>
                          <a:latin typeface="Arial" panose="020B0604020202020204" pitchFamily="34" charset="0"/>
                          <a:cs typeface="Arial" panose="020B0604020202020204" pitchFamily="34" charset="0"/>
                        </a:rPr>
                        <a:t>0.692</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1" i="0" u="none" strike="noStrike" dirty="0">
                          <a:solidFill>
                            <a:srgbClr val="000000"/>
                          </a:solidFill>
                          <a:effectLst/>
                          <a:latin typeface="Arial" panose="020B0604020202020204" pitchFamily="34" charset="0"/>
                          <a:cs typeface="Arial" panose="020B0604020202020204" pitchFamily="34" charset="0"/>
                        </a:rPr>
                        <a:t>0.437</a:t>
                      </a:r>
                    </a:p>
                  </a:txBody>
                  <a:tcPr marL="7639" marR="7639" marT="76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9251450"/>
                  </a:ext>
                </a:extLst>
              </a:tr>
            </a:tbl>
          </a:graphicData>
        </a:graphic>
      </p:graphicFrame>
      <p:sp>
        <p:nvSpPr>
          <p:cNvPr id="9" name="TextBox 8">
            <a:extLst>
              <a:ext uri="{FF2B5EF4-FFF2-40B4-BE49-F238E27FC236}">
                <a16:creationId xmlns:a16="http://schemas.microsoft.com/office/drawing/2014/main" id="{F3A05708-448F-CF48-97D3-C0AF58C674E8}"/>
              </a:ext>
            </a:extLst>
          </p:cNvPr>
          <p:cNvSpPr txBox="1"/>
          <p:nvPr/>
        </p:nvSpPr>
        <p:spPr>
          <a:xfrm>
            <a:off x="13251" y="5298595"/>
            <a:ext cx="8501483" cy="615553"/>
          </a:xfrm>
          <a:prstGeom prst="rect">
            <a:avLst/>
          </a:prstGeom>
          <a:noFill/>
        </p:spPr>
        <p:txBody>
          <a:bodyPr wrap="square" rtlCol="0">
            <a:spAutoFit/>
          </a:bodyPr>
          <a:lstStyle/>
          <a:p>
            <a:pPr marL="285750" indent="-285750">
              <a:buFont typeface="Arial" panose="020B0604020202020204" pitchFamily="34" charset="0"/>
              <a:buChar char="•"/>
            </a:pPr>
            <a:r>
              <a:rPr lang="en-US" sz="1700" u="sng" dirty="0"/>
              <a:t>Factors that were </a:t>
            </a:r>
            <a:r>
              <a:rPr lang="en-US" sz="1700" b="1" u="sng" dirty="0"/>
              <a:t>not significant</a:t>
            </a:r>
            <a:r>
              <a:rPr lang="en-US" sz="1700" u="sng" dirty="0"/>
              <a:t> predictors of </a:t>
            </a:r>
            <a:r>
              <a:rPr lang="en-US" sz="1700" u="sng" dirty="0" err="1"/>
              <a:t>MSE:minMSE</a:t>
            </a:r>
            <a:r>
              <a:rPr lang="en-US" sz="1700" u="sng" dirty="0"/>
              <a:t> ratio</a:t>
            </a:r>
            <a:r>
              <a:rPr lang="en-US" sz="1700" dirty="0"/>
              <a:t>:                                                  ANOVA B&amp;H p-value, Average Expression at 30 minutes, Eccentricity</a:t>
            </a:r>
          </a:p>
        </p:txBody>
      </p:sp>
      <p:sp>
        <p:nvSpPr>
          <p:cNvPr id="11" name="TextBox 10">
            <a:extLst>
              <a:ext uri="{FF2B5EF4-FFF2-40B4-BE49-F238E27FC236}">
                <a16:creationId xmlns:a16="http://schemas.microsoft.com/office/drawing/2014/main" id="{1C000261-4D25-BE40-B07A-14069B474F44}"/>
              </a:ext>
            </a:extLst>
          </p:cNvPr>
          <p:cNvSpPr txBox="1"/>
          <p:nvPr/>
        </p:nvSpPr>
        <p:spPr>
          <a:xfrm>
            <a:off x="0" y="5966003"/>
            <a:ext cx="7893423" cy="615553"/>
          </a:xfrm>
          <a:prstGeom prst="rect">
            <a:avLst/>
          </a:prstGeom>
          <a:noFill/>
        </p:spPr>
        <p:txBody>
          <a:bodyPr wrap="square" rtlCol="0">
            <a:spAutoFit/>
          </a:bodyPr>
          <a:lstStyle/>
          <a:p>
            <a:pPr marL="285750" indent="-285750">
              <a:buFont typeface="Arial" panose="020B0604020202020204" pitchFamily="34" charset="0"/>
              <a:buChar char="•"/>
            </a:pPr>
            <a:r>
              <a:rPr lang="en-US" sz="1700" u="sng" dirty="0"/>
              <a:t>Factors that were </a:t>
            </a:r>
            <a:r>
              <a:rPr lang="en-US" sz="1700" b="1" u="sng" dirty="0"/>
              <a:t>consistently significant</a:t>
            </a:r>
            <a:r>
              <a:rPr lang="en-US" sz="1700" u="sng" dirty="0"/>
              <a:t> predictors of </a:t>
            </a:r>
            <a:r>
              <a:rPr lang="en-US" sz="1700" u="sng" dirty="0" err="1"/>
              <a:t>MSE:minMSE</a:t>
            </a:r>
            <a:r>
              <a:rPr lang="en-US" sz="1700" u="sng" dirty="0"/>
              <a:t> ratio: </a:t>
            </a:r>
            <a:r>
              <a:rPr lang="en-US" sz="1700" dirty="0"/>
              <a:t>Average Expression at 15 minutes, Eigenvector Centrality </a:t>
            </a:r>
          </a:p>
        </p:txBody>
      </p:sp>
    </p:spTree>
    <p:extLst>
      <p:ext uri="{BB962C8B-B14F-4D97-AF65-F5344CB8AC3E}">
        <p14:creationId xmlns:p14="http://schemas.microsoft.com/office/powerpoint/2010/main" val="25207663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A0AD-68BF-A545-8940-5A7029BE6EF4}"/>
              </a:ext>
            </a:extLst>
          </p:cNvPr>
          <p:cNvSpPr txBox="1">
            <a:spLocks/>
          </p:cNvSpPr>
          <p:nvPr/>
        </p:nvSpPr>
        <p:spPr>
          <a:xfrm>
            <a:off x="138224" y="376097"/>
            <a:ext cx="8548576" cy="1009406"/>
          </a:xfrm>
          <a:prstGeom prst="rect">
            <a:avLst/>
          </a:prstGeom>
        </p:spPr>
        <p:txBody>
          <a:bodyP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800" b="1" dirty="0"/>
              <a:t>Motifs Conserved in the Database-Derived </a:t>
            </a:r>
            <a:r>
              <a:rPr lang="en-US" sz="2800" b="1"/>
              <a:t>Networks Were </a:t>
            </a:r>
            <a:r>
              <a:rPr lang="en-US" sz="2800" b="1" dirty="0"/>
              <a:t>Identified</a:t>
            </a:r>
          </a:p>
        </p:txBody>
      </p:sp>
      <p:pic>
        <p:nvPicPr>
          <p:cNvPr id="6" name="Picture 5">
            <a:extLst>
              <a:ext uri="{FF2B5EF4-FFF2-40B4-BE49-F238E27FC236}">
                <a16:creationId xmlns:a16="http://schemas.microsoft.com/office/drawing/2014/main" id="{4B6CD87A-0459-5A47-BB10-074D4773BD3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37153" y="1862956"/>
            <a:ext cx="4305141" cy="2165616"/>
          </a:xfrm>
          <a:prstGeom prst="rect">
            <a:avLst/>
          </a:prstGeom>
        </p:spPr>
      </p:pic>
      <p:pic>
        <p:nvPicPr>
          <p:cNvPr id="7" name="Picture 6">
            <a:extLst>
              <a:ext uri="{FF2B5EF4-FFF2-40B4-BE49-F238E27FC236}">
                <a16:creationId xmlns:a16="http://schemas.microsoft.com/office/drawing/2014/main" id="{3DA0B803-C2B1-2B4E-842C-15013188D309}"/>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377917" y="4512266"/>
            <a:ext cx="1898676" cy="2090369"/>
          </a:xfrm>
          <a:prstGeom prst="rect">
            <a:avLst/>
          </a:prstGeom>
        </p:spPr>
      </p:pic>
      <p:pic>
        <p:nvPicPr>
          <p:cNvPr id="8" name="Picture 7">
            <a:extLst>
              <a:ext uri="{FF2B5EF4-FFF2-40B4-BE49-F238E27FC236}">
                <a16:creationId xmlns:a16="http://schemas.microsoft.com/office/drawing/2014/main" id="{E9AB43FA-36E1-0145-872A-291C974B8063}"/>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610259" y="4492707"/>
            <a:ext cx="4324275" cy="2071292"/>
          </a:xfrm>
          <a:prstGeom prst="rect">
            <a:avLst/>
          </a:prstGeom>
        </p:spPr>
      </p:pic>
      <p:pic>
        <p:nvPicPr>
          <p:cNvPr id="9" name="Picture 8">
            <a:extLst>
              <a:ext uri="{FF2B5EF4-FFF2-40B4-BE49-F238E27FC236}">
                <a16:creationId xmlns:a16="http://schemas.microsoft.com/office/drawing/2014/main" id="{13EDB7CA-2FEF-674B-9E16-244255D963F0}"/>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51677" y="2652022"/>
            <a:ext cx="4324275" cy="730987"/>
          </a:xfrm>
          <a:prstGeom prst="rect">
            <a:avLst/>
          </a:prstGeom>
        </p:spPr>
      </p:pic>
      <p:sp>
        <p:nvSpPr>
          <p:cNvPr id="10" name="TextBox 9">
            <a:extLst>
              <a:ext uri="{FF2B5EF4-FFF2-40B4-BE49-F238E27FC236}">
                <a16:creationId xmlns:a16="http://schemas.microsoft.com/office/drawing/2014/main" id="{98B3EF75-2C51-DA49-9FB0-D4229D989C25}"/>
              </a:ext>
            </a:extLst>
          </p:cNvPr>
          <p:cNvSpPr txBox="1"/>
          <p:nvPr/>
        </p:nvSpPr>
        <p:spPr>
          <a:xfrm>
            <a:off x="57548" y="1496999"/>
            <a:ext cx="387098" cy="369332"/>
          </a:xfrm>
          <a:prstGeom prst="rect">
            <a:avLst/>
          </a:prstGeom>
          <a:noFill/>
        </p:spPr>
        <p:txBody>
          <a:bodyPr wrap="square" rtlCol="0" anchor="ctr">
            <a:spAutoFit/>
          </a:bodyPr>
          <a:lstStyle/>
          <a:p>
            <a:pPr algn="ctr"/>
            <a:r>
              <a:rPr lang="en-US"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1117C824-F83E-AD41-AA26-C3276D5B8DC0}"/>
              </a:ext>
            </a:extLst>
          </p:cNvPr>
          <p:cNvSpPr txBox="1"/>
          <p:nvPr/>
        </p:nvSpPr>
        <p:spPr>
          <a:xfrm>
            <a:off x="4516130" y="1496993"/>
            <a:ext cx="387099" cy="369332"/>
          </a:xfrm>
          <a:prstGeom prst="rect">
            <a:avLst/>
          </a:prstGeom>
          <a:noFill/>
        </p:spPr>
        <p:txBody>
          <a:bodyPr wrap="square" rtlCol="0" anchor="ctr">
            <a:spAutoFit/>
          </a:bodyPr>
          <a:lstStyle/>
          <a:p>
            <a:pPr algn="ctr"/>
            <a:r>
              <a:rPr lang="en-US" b="1" dirty="0">
                <a:latin typeface="Arial" panose="020B0604020202020204" pitchFamily="34" charset="0"/>
                <a:cs typeface="Arial" panose="020B0604020202020204" pitchFamily="34" charset="0"/>
              </a:rPr>
              <a:t>B</a:t>
            </a:r>
          </a:p>
        </p:txBody>
      </p:sp>
      <p:sp>
        <p:nvSpPr>
          <p:cNvPr id="12" name="TextBox 11">
            <a:extLst>
              <a:ext uri="{FF2B5EF4-FFF2-40B4-BE49-F238E27FC236}">
                <a16:creationId xmlns:a16="http://schemas.microsoft.com/office/drawing/2014/main" id="{CDD3DDFA-43E2-7C4F-BD8F-54F610FFE8FE}"/>
              </a:ext>
            </a:extLst>
          </p:cNvPr>
          <p:cNvSpPr txBox="1"/>
          <p:nvPr/>
        </p:nvSpPr>
        <p:spPr>
          <a:xfrm>
            <a:off x="57547" y="4095753"/>
            <a:ext cx="387099" cy="369332"/>
          </a:xfrm>
          <a:prstGeom prst="rect">
            <a:avLst/>
          </a:prstGeom>
          <a:noFill/>
        </p:spPr>
        <p:txBody>
          <a:bodyPr wrap="square" rtlCol="0" anchor="ctr">
            <a:spAutoFit/>
          </a:bodyPr>
          <a:lstStyle/>
          <a:p>
            <a:pPr algn="ctr"/>
            <a:r>
              <a:rPr lang="en-US" b="1" dirty="0">
                <a:latin typeface="Arial" panose="020B0604020202020204" pitchFamily="34" charset="0"/>
                <a:cs typeface="Arial" panose="020B0604020202020204" pitchFamily="34" charset="0"/>
              </a:rPr>
              <a:t>C</a:t>
            </a:r>
          </a:p>
        </p:txBody>
      </p:sp>
      <p:sp>
        <p:nvSpPr>
          <p:cNvPr id="13" name="TextBox 12">
            <a:extLst>
              <a:ext uri="{FF2B5EF4-FFF2-40B4-BE49-F238E27FC236}">
                <a16:creationId xmlns:a16="http://schemas.microsoft.com/office/drawing/2014/main" id="{DAB26C41-EE45-334D-B7F9-A9EA001200F7}"/>
              </a:ext>
            </a:extLst>
          </p:cNvPr>
          <p:cNvSpPr txBox="1"/>
          <p:nvPr/>
        </p:nvSpPr>
        <p:spPr>
          <a:xfrm>
            <a:off x="4516130" y="4095753"/>
            <a:ext cx="387099" cy="369332"/>
          </a:xfrm>
          <a:prstGeom prst="rect">
            <a:avLst/>
          </a:prstGeom>
          <a:noFill/>
        </p:spPr>
        <p:txBody>
          <a:bodyPr wrap="square" rtlCol="0" anchor="ctr">
            <a:spAutoFit/>
          </a:bodyPr>
          <a:lstStyle/>
          <a:p>
            <a:pPr algn="ctr"/>
            <a:r>
              <a:rPr lang="en-US" b="1" dirty="0">
                <a:latin typeface="Arial" panose="020B0604020202020204" pitchFamily="34" charset="0"/>
                <a:cs typeface="Arial" panose="020B0604020202020204" pitchFamily="34" charset="0"/>
              </a:rPr>
              <a:t>D</a:t>
            </a:r>
          </a:p>
        </p:txBody>
      </p:sp>
      <p:sp>
        <p:nvSpPr>
          <p:cNvPr id="15" name="TextBox 14">
            <a:extLst>
              <a:ext uri="{FF2B5EF4-FFF2-40B4-BE49-F238E27FC236}">
                <a16:creationId xmlns:a16="http://schemas.microsoft.com/office/drawing/2014/main" id="{4A402E54-51AA-3D49-AFAF-448C665A5FEB}"/>
              </a:ext>
            </a:extLst>
          </p:cNvPr>
          <p:cNvSpPr txBox="1"/>
          <p:nvPr/>
        </p:nvSpPr>
        <p:spPr>
          <a:xfrm>
            <a:off x="6570179" y="6211669"/>
            <a:ext cx="2573821" cy="646331"/>
          </a:xfrm>
          <a:prstGeom prst="rect">
            <a:avLst/>
          </a:prstGeom>
          <a:noFill/>
        </p:spPr>
        <p:txBody>
          <a:bodyPr wrap="square" rtlCol="0">
            <a:spAutoFit/>
          </a:bodyPr>
          <a:lstStyle/>
          <a:p>
            <a:r>
              <a:rPr lang="en-US" b="1" dirty="0">
                <a:solidFill>
                  <a:srgbClr val="C00000"/>
                </a:solidFill>
              </a:rPr>
              <a:t>Regulator Chains &amp;</a:t>
            </a:r>
          </a:p>
          <a:p>
            <a:r>
              <a:rPr lang="en-US" b="1" dirty="0">
                <a:solidFill>
                  <a:srgbClr val="C00000"/>
                </a:solidFill>
              </a:rPr>
              <a:t>5 Feedforward Loops</a:t>
            </a:r>
          </a:p>
        </p:txBody>
      </p:sp>
    </p:spTree>
    <p:extLst>
      <p:ext uri="{BB962C8B-B14F-4D97-AF65-F5344CB8AC3E}">
        <p14:creationId xmlns:p14="http://schemas.microsoft.com/office/powerpoint/2010/main" val="16887112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8">
      <a:dk1>
        <a:srgbClr val="000000"/>
      </a:dk1>
      <a:lt1>
        <a:srgbClr val="FFFFFF"/>
      </a:lt1>
      <a:dk2>
        <a:srgbClr val="16693F"/>
      </a:dk2>
      <a:lt2>
        <a:srgbClr val="FFFFFF"/>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3345</TotalTime>
  <Words>4592</Words>
  <Application>Microsoft Office PowerPoint</Application>
  <PresentationFormat>On-screen Show (4:3)</PresentationFormat>
  <Paragraphs>991</Paragraphs>
  <Slides>64</Slides>
  <Notes>18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3" baseType="lpstr">
      <vt:lpstr>MS PGothic</vt:lpstr>
      <vt:lpstr>Arial</vt:lpstr>
      <vt:lpstr>Calibri</vt:lpstr>
      <vt:lpstr>Cambria Math</vt:lpstr>
      <vt:lpstr>Symbol</vt:lpstr>
      <vt:lpstr>Times New Roman</vt:lpstr>
      <vt:lpstr>Wingdings</vt:lpstr>
      <vt:lpstr>Clarity</vt:lpstr>
      <vt:lpstr>Equation</vt:lpstr>
      <vt:lpstr>Dynamical Systems Modeling and Visualization of Yeast Cold Shock  Gene Regulatory Networks</vt:lpstr>
      <vt:lpstr>PowerPoint Presentation</vt:lpstr>
      <vt:lpstr>Yeast respond to cold shock by changing gene expression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GRNmap: Gene Regulatory Network Modeling And Parameter estimation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First Pass at a “Medium-Scale” Gene Regulatory Network that Regulates the Cold Shock Response</vt:lpstr>
      <vt:lpstr>PowerPoint Presentation</vt:lpstr>
      <vt:lpstr>PowerPoint Presentation</vt:lpstr>
      <vt:lpstr>PowerPoint Presentation</vt:lpstr>
      <vt:lpstr>PowerPoint Presentation</vt:lpstr>
      <vt:lpstr>PowerPoint Presentation</vt:lpstr>
      <vt:lpstr>PowerPoint Presentation</vt:lpstr>
      <vt:lpstr>Our “First Pass” GRN Diagram Took Several Hours to Create by Hand in Adobe Illustrator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GRNsight</dc:title>
  <dc:creator>LMU</dc:creator>
  <cp:lastModifiedBy>Dahlquist, Kam</cp:lastModifiedBy>
  <cp:revision>524</cp:revision>
  <cp:lastPrinted>2018-12-07T00:35:24Z</cp:lastPrinted>
  <dcterms:created xsi:type="dcterms:W3CDTF">2014-03-18T20:45:52Z</dcterms:created>
  <dcterms:modified xsi:type="dcterms:W3CDTF">2024-03-16T06:27:26Z</dcterms:modified>
</cp:coreProperties>
</file>